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28600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67712"/>
            <a:ext cx="12188952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"/>
            <a:ext cx="2926080" cy="8229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1097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Performance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64592"/>
            <a:ext cx="36576" cy="65836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6459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EEEE"/>
                </a:solidFill>
              </a:rPr>
              <a:t>BOOK J2  ·  Journée 2  ·  Donateurs français &amp; Don régulier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960120"/>
            <a:ext cx="11521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Le Monde du Don en France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92024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EEEE"/>
                </a:solidFill>
              </a:rPr>
              <a:t>Comprendre qui sont vos donateurs et pourquoi ils donnent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SHY-Performance  ·  Formation FIM  ·  V6-01062026SHY-TE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514600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Aujourd'hui, vous allez comprendre le comportement des donateurs français,
le modèle économique du don régulier et pourquoi il change tout
pour les programmes humanitaires de l'UNICEF.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64008"/>
            <a:ext cx="685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SHY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91440"/>
            <a:ext cx="36576" cy="47548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91440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Journée 2 — Ce que vous allez vivre aujourd'hui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SHY-Performance  ·  Formation FIM  ·  V6-01062026SHY-TE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804672"/>
            <a:ext cx="2910078" cy="27432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841248"/>
            <a:ext cx="276377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DÉCOUVERTE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078992"/>
            <a:ext cx="291007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124712"/>
            <a:ext cx="269062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Vous analysez 3 campagnes
de collecte en France :
deux succès, un échec.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2686" y="804672"/>
            <a:ext cx="2910078" cy="274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5838" y="841248"/>
            <a:ext cx="276377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ANALYSE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2686" y="1078992"/>
            <a:ext cx="291007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2414" y="1124712"/>
            <a:ext cx="269062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'Qu'est-ce qui a fait
la différence ?
Pourquoi ça a marché ?'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1052" y="804672"/>
            <a:ext cx="2910078" cy="274320"/>
          </a:xfrm>
          <a:prstGeom prst="rect">
            <a:avLst/>
          </a:prstGeom>
          <a:solidFill>
            <a:srgbClr val="2A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4204" y="841248"/>
            <a:ext cx="276377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APPORT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31052" y="1078992"/>
            <a:ext cx="291007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7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0780" y="1124712"/>
            <a:ext cx="269062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Portrait du donateur
français. Économie
du don régulier.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9418" y="804672"/>
            <a:ext cx="2910078" cy="2743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2570" y="841248"/>
            <a:ext cx="276377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MISE EN PRATIQUE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9418" y="1078992"/>
            <a:ext cx="291007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69146" y="1124712"/>
            <a:ext cx="269062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Simulation : 'Si 50
français donnent 10€/mois,
quel impact en 1 an ?'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074920"/>
            <a:ext cx="11640312" cy="2743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5111496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Vos 3 réussites à valider aujourd'hui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367528"/>
            <a:ext cx="3843528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404104"/>
            <a:ext cx="3715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✔ Restitution orale de l'étude de cas (5 min)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54423" y="5367528"/>
            <a:ext cx="3843528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45863" y="5404104"/>
            <a:ext cx="3715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✔ Fiche 'Portrait donateur' complétée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4527" y="5367528"/>
            <a:ext cx="3843528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25967" y="5404104"/>
            <a:ext cx="3715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✔ 1 réflexion dans votre livret personnel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64008"/>
            <a:ext cx="685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SHY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91440"/>
            <a:ext cx="36576" cy="47548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91440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Le Donateur Français — Qui est-il vraiment 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SHY-Performance  ·  Formation FIM  ·  V6-01062026SHY-TE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804672"/>
            <a:ext cx="3794760" cy="45720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84124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Profil A
Le Régulier engagé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61872"/>
            <a:ext cx="3794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335024"/>
            <a:ext cx="3520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35–55 ans · CSP+ · Sensible aux causes humanitaires
Donne déjà à 1 ou 2 associations · Cherche un impact mesurable
▶ Votre message : transparence des fonds + chiffres concrets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8807" y="804672"/>
            <a:ext cx="3794760" cy="457200"/>
          </a:xfrm>
          <a:prstGeom prst="rect">
            <a:avLst/>
          </a:prstGeom>
          <a:solidFill>
            <a:srgbClr val="2A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84124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Profil B
Le Curieux bienveillant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78807" y="1261872"/>
            <a:ext cx="3794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A7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5968" y="1335024"/>
            <a:ext cx="3520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25–40 ans · Actif · Empathique mais pressé
N'a jamais fait de don régulier · Sensible aux histoires vraies
▶ Votre message : Impact Story + facilité du prélèvement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3296" y="804672"/>
            <a:ext cx="379476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3" y="84124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Profil C
Le Méfiant converti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83296" y="1261872"/>
            <a:ext cx="3794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0456" y="1335024"/>
            <a:ext cx="3520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40–65 ans · Expérience passée négative avec les ONG
Demande des preuves · Teste votre connaissance du sujet
▶ Votre message : preuves d'audit, rapport annuel public, traçabilité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352544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555"/>
                </a:solidFill>
              </a:rPr>
              <a:t>Données clés France 2024 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663440"/>
            <a:ext cx="2798064" cy="8412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681728"/>
            <a:ext cx="2615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5,2M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138928"/>
            <a:ext cx="2615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EEEE"/>
                </a:solidFill>
              </a:rPr>
              <a:t>donateurs
réguliers en France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82112" y="4663440"/>
            <a:ext cx="2798064" cy="8412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73552" y="4681728"/>
            <a:ext cx="2615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24€/mois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3552" y="5138928"/>
            <a:ext cx="2615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EEEE"/>
                </a:solidFill>
              </a:rPr>
              <a:t>montant moyen
don régulier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9904" y="4663440"/>
            <a:ext cx="2798064" cy="8412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81344" y="4681728"/>
            <a:ext cx="2615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8×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1344" y="5138928"/>
            <a:ext cx="2615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EEEE"/>
                </a:solidFill>
              </a:rPr>
              <a:t>LTV donateur régulier
vs ponctuel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97696" y="4663440"/>
            <a:ext cx="2798064" cy="8412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89136" y="4681728"/>
            <a:ext cx="2615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89136" y="5138928"/>
            <a:ext cx="2615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EEEE"/>
                </a:solidFill>
              </a:rPr>
              <a:t>des Français font
un don chaque année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64008"/>
            <a:ext cx="685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SHY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91440"/>
            <a:ext cx="36576" cy="47548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91440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L'Impact de Votre Travail — Chaque Signature Compte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SHY-Performance  ·  Formation FIM  ·  V6-01062026SHY-TE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80467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555"/>
                </a:solidFill>
              </a:rPr>
              <a:t>Simulation collective — Ce que représente 1 journée de travail 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2240280" cy="45720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261872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Vous signez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91640"/>
            <a:ext cx="224028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78308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5555"/>
                </a:solidFill>
              </a:rPr>
              <a:t>1 don régulier
par heure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2057400"/>
            <a:ext cx="256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080"/>
                </a:solidFill>
              </a:rPr>
              <a:t>=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33472" y="1234440"/>
            <a:ext cx="224028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24912" y="1261872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En 1 journée
(6h actives)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33472" y="1691640"/>
            <a:ext cx="224028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24912" y="178308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8080"/>
                </a:solidFill>
              </a:rPr>
              <a:t>6 nouveaux
donateurs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01183" y="2057400"/>
            <a:ext cx="256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080"/>
                </a:solidFill>
              </a:rPr>
              <a:t>=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92624" y="1234440"/>
            <a:ext cx="2240280" cy="457200"/>
          </a:xfrm>
          <a:prstGeom prst="rect">
            <a:avLst/>
          </a:prstGeom>
          <a:solidFill>
            <a:srgbClr val="2A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84064" y="1261872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À 15€/mois
moyenne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92624" y="1691640"/>
            <a:ext cx="224028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A7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84064" y="178308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A7A50"/>
                </a:solidFill>
              </a:rPr>
              <a:t>90€ collectés
par jour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0336" y="2057400"/>
            <a:ext cx="256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080"/>
                </a:solidFill>
              </a:rPr>
              <a:t>=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51775" y="1234440"/>
            <a:ext cx="224028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43215" y="1261872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Sur 1 an
de fidélité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51775" y="1691640"/>
            <a:ext cx="224028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178308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0000"/>
                </a:solidFill>
              </a:rPr>
              <a:t>1 080€
par donateur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19488" y="2057400"/>
            <a:ext cx="256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080"/>
                </a:solidFill>
              </a:rPr>
              <a:t>=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10928" y="1234440"/>
            <a:ext cx="2240280" cy="457200"/>
          </a:xfrm>
          <a:prstGeom prst="rect">
            <a:avLst/>
          </a:prstGeom>
          <a:solidFill>
            <a:srgbClr val="AA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02367" y="1261872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Impact UNICEF
concret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10928" y="1691640"/>
            <a:ext cx="224028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AA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02367" y="178308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A3300"/>
                </a:solidFill>
              </a:rPr>
              <a:t>6 enfants vaccinés
chaque jour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999232"/>
            <a:ext cx="11640312" cy="9144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79" y="3072384"/>
            <a:ext cx="1136599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Message à intégrer : Vous n'êtes pas en train de 'vendre'. Vous offrez à des personnes bienveillantes un moyen concret, simple et traçable
de transformer leur générosité en impact réel pour des enfants dans le monde entier.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999232"/>
            <a:ext cx="128016" cy="914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4069080"/>
            <a:ext cx="5669280" cy="3291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41148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Don ponctuel (1 fois)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4069080"/>
            <a:ext cx="5669280" cy="3291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64808" y="41148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Don régulier mensuel (votre cible)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453128"/>
            <a:ext cx="5669280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2336" y="4507992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Impact immédiat mais unique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873752"/>
            <a:ext cx="5669280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2336" y="4928616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Valeur moyenne : 30€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294376"/>
            <a:ext cx="5669280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2336" y="5349240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Relation = 1 transaction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5715000"/>
            <a:ext cx="5669280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2336" y="5769864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Coût de collecte élevé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4453128"/>
            <a:ext cx="5669280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83096" y="4507992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Impact continu et planifiable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55080" y="4873752"/>
            <a:ext cx="5669280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83096" y="4928616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Valeur sur 3 ans : 540–900€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55080" y="5294376"/>
            <a:ext cx="5669280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83096" y="5349240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Relation = engagement durable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80" y="5715000"/>
            <a:ext cx="5669280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83096" y="5769864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Rentabilité programme × 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6053328"/>
            <a:ext cx="11640312" cy="34747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79" y="6126480"/>
            <a:ext cx="11365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Votre mission : le don régulier. Toujours. Le don ponctuel est un point de départ, jamais un objectif final.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