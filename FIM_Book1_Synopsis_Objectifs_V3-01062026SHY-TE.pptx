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1124321" cy="1097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D4D"/>
                </a:solidFill>
                <a:latin typeface="Calibri"/>
              </a:rPr>
              <a:t>BOOK 1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560320"/>
            <a:ext cx="36576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669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FIDELIS ×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914400"/>
            <a:ext cx="685800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0972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D4D"/>
                </a:solidFill>
                <a:latin typeface="Calibri"/>
              </a:rPr>
              <a:t>SYNOPSIS &amp;
OBJECTIFS PÉDAGOGIQUES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840480"/>
            <a:ext cx="457200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Formation Initiale Module — Fundraiser UNICEF
SHY-Performance × FIDELIS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Formation Initiale Module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Synopsis de la Formation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Formation Initiale Module (FIM) de 5 jours destinée aux fundraisers SHY-Performance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Mandatés par FIDELIS pour le compte de l'UNICEF France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Campagne : collecte de dons téléphoniques — Prélèvement Automatique Régulier (PPA)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Cause : lutte contre la malnutrition infantile aigüe sévère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Couvre l'intégralité de la chaîne de compétences : cause → script → objections → closing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Pédagogie active : apport théorique + exercice pratique toutes les 20 minutes maximum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Documents officiels de campagne intégrés : script UNICEF, nomenclature Fidelis, grilles KPI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Programme — Vue d'Ensemble 5 Jours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J1 — Fondations &amp; Mission : KPIs, nomenclature, types d'opérations, script accroche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J2 — Monde Associatif &amp; Humanitaire : Loi 1901, histoire, UNICEF, marché de la collecte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J3 — Analyse et Lecture du Script : décryptage des 7 étapes, exercices voix haute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J4 — Traitement des Objections : 15 objections, 5 catégories, méthode AAR, jeux de rôle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J5 — Synthèse Générale &amp; Simulations : révision, simulations terrain, quiz 40Q, certifications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Objectifs Pédagogiques — SAVOIR &amp; SAVOIR-FAIRE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21207" y="1572768"/>
            <a:ext cx="5394960" cy="46634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53949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539496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0876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SAVOIR — Connaissance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57400"/>
            <a:ext cx="52120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Présenter l'UNICEF, sa mission, 75 ans, 190 pays</a:t>
            </a:r>
          </a:p>
          <a:p>
            <a:pPr algn="ctr"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Expliquer la malnutrition &amp; les sachets RUTF (92g)</a:t>
            </a:r>
          </a:p>
          <a:p>
            <a:pPr algn="ctr"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Situer le secteur associatif (Loi 1901, Comité Charte, RGPD, Bloctel)</a:t>
            </a:r>
          </a:p>
          <a:p>
            <a:pPr algn="ctr"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Citer les arguments de légitimité UNICEF (93% terrain, Nobel 1965)</a:t>
            </a:r>
          </a:p>
          <a:p>
            <a:pPr algn="ctr"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Définir la nomenclature métier (CU/H, TX Transfo, PDC, PEL, PA)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64808" y="1572768"/>
            <a:ext cx="5394960" cy="46634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508760"/>
            <a:ext cx="53949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508760"/>
            <a:ext cx="5394960" cy="50292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0876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SAVOIR-FAIRE — Technique d'appel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57400"/>
            <a:ext cx="52120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Appliquer les 5 règles officielles de l'accroche</a:t>
            </a:r>
          </a:p>
          <a:p>
            <a:pPr algn="ctr"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Conduire le script complet en 7 étapes chronométrées</a:t>
            </a:r>
          </a:p>
          <a:p>
            <a:pPr algn="ctr"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Qualifier chaque appel conformément à la nomenclature Fidelis</a:t>
            </a:r>
          </a:p>
          <a:p>
            <a:pPr algn="ctr"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Gérer les 4 modes de validation du don (IBAN / PA ligne / promesse / courrier)</a:t>
            </a:r>
          </a:p>
          <a:p>
            <a:pPr algn="ctr"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Traiter les 15 objections types par la méthode AAR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Objectifs Pédagogiques — SAVOIR-ÊTRE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Maintenir un ton chaleureux, souriant et naturel tout au long de l'appel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Gérer les objections sensibles (accent, source numéro, accusations d'arnaque) avec calme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Transmettre une conviction sincère et personnelle pour la mission UNICEF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Rebondir après un refus sans perdre énergie ni conviction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Respecter le prospect en toutes circonstances — jamais d'insistance agressive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Intégrer et vivre le mantra : 'Le refus d'aujourd'hui peut être le don de demain'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Indicateurs de Performance — KPI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1444752"/>
            <a:ext cx="1783080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KPI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444752"/>
            <a:ext cx="4983480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1536192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Libellé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444752"/>
            <a:ext cx="4069080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1536192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Objectif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03120"/>
            <a:ext cx="1783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94560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CU/H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2103120"/>
            <a:ext cx="4983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40" y="2194560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Contacts Utiles par Heure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2103120"/>
            <a:ext cx="4069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0" y="2194560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9 minimum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761488"/>
            <a:ext cx="1783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852928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TX Transfo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2761488"/>
            <a:ext cx="49834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0" y="2852928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% de PEL/PA parmi les CU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2761488"/>
            <a:ext cx="4069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0" y="2852928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Cible selon association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419856"/>
            <a:ext cx="1783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511296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PDC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0" y="3419856"/>
            <a:ext cx="4983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77440" y="3511296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Plan de Charge mensuel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3419856"/>
            <a:ext cx="4069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0" y="3511296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Volume défini par Fidelis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078224"/>
            <a:ext cx="1783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169664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Qualification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0" y="4078224"/>
            <a:ext cx="49834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77440" y="4169664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Conformité des qualifications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06640" y="4078224"/>
            <a:ext cx="4069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0" y="4169664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50% de la qualité Fidelis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736592"/>
            <a:ext cx="1783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828032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0" y="4736592"/>
            <a:ext cx="4983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77440" y="4828032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Prélèvement En Ligne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06640" y="4736592"/>
            <a:ext cx="4069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0" y="4828032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Mode prioritaire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394960"/>
            <a:ext cx="1783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486400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0" y="5394960"/>
            <a:ext cx="49834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77440" y="5486400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Prélèvement Automatique Régulier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06640" y="5394960"/>
            <a:ext cx="4069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98080" y="5486400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Produit unique de la campagne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Population Cible &amp; Architecture Pédagogique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Public : fundraisers juniors ou en reconversion, minimum niveau Bac, excellent niveau de langue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Effectif : 8 à 14 fundraisers par session (qualité des jeux de rôle garantie)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Prérequis : aucune expérience en collecte de dons requise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Dimension Opérationnelle (50%) : script, grille AAR, quiz, mises en situation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Dimension Relationnelle (35%) : jeux de rôle binômes, grille observation, débriefs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Dimension Motivationnelle (15%) : chiffres-chocs, storytelling terrain, personas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4A017"/>
                </a:solidFill>
                <a:latin typeface="Calibri"/>
              </a:rPr>
              <a:t>POUR VOTRE 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43200"/>
            <a:ext cx="5760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E5E5"/>
                </a:solidFill>
                <a:latin typeface="Calibri"/>
              </a:rPr>
              <a:t>Élaboré par Tamou Eljerrari  |  Sur ordre de Mme Salima Negrao, DG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94960"/>
            <a:ext cx="1030628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