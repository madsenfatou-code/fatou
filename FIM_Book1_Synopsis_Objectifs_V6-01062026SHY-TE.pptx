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7744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1218895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BOOK 1 · UM6P/APC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Synopsis &amp; Objectifs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DEEEE"/>
                </a:solidFill>
              </a:rPr>
              <a:t>Cadrage stratégique de la formation FIM · Référentiel de compétences V6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SHY-Performance · V6-01062026SHY-TE · Référentiel UM6P/CMC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60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Ce module définit la vision, les 7 compétences cibles (C1–C7)
et les indicateurs de réussite du programme FIM.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Référentiel de Compétences FIM V6 — C1 à C7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914400" cy="45720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96112"/>
            <a:ext cx="877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C1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7008" y="822960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859536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050"/>
                </a:solidFill>
              </a:rPr>
              <a:t>Accroche &amp; ouverture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54496" y="822960"/>
            <a:ext cx="1280160" cy="4572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896112"/>
            <a:ext cx="1243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5050"/>
                </a:solidFill>
              </a:rPr>
              <a:t>Bloom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52944" y="822960"/>
            <a:ext cx="4361688" cy="457200"/>
          </a:xfrm>
          <a:prstGeom prst="rect">
            <a:avLst/>
          </a:prstGeom>
          <a:solidFill>
            <a:srgbClr val="F0F7F7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6096" y="877824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Initier un contact naturel en &lt; 15 sec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07592"/>
            <a:ext cx="914400" cy="4572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" y="1380744"/>
            <a:ext cx="877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C2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008" y="1307592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13441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050"/>
                </a:solidFill>
              </a:rPr>
              <a:t>Storytelling impact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4496" y="1307592"/>
            <a:ext cx="1280160" cy="4572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1380744"/>
            <a:ext cx="1243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5050"/>
                </a:solidFill>
              </a:rPr>
              <a:t>Bloom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52944" y="1307592"/>
            <a:ext cx="4361688" cy="457200"/>
          </a:xfrm>
          <a:prstGeom prst="rect">
            <a:avLst/>
          </a:prstGeom>
          <a:solidFill>
            <a:srgbClr val="F0F7F7"/>
          </a:solidFill>
          <a:ln w="1270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1362456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Narrer une histoire bénéficiaire qui suscite l'émotion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792224"/>
            <a:ext cx="914400" cy="45720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1865376"/>
            <a:ext cx="877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C3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07008" y="1792224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80160" y="182880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050"/>
                </a:solidFill>
              </a:rPr>
              <a:t>Écoute active &amp; empathie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54496" y="1792224"/>
            <a:ext cx="1280160" cy="4572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72784" y="1865376"/>
            <a:ext cx="1243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5050"/>
                </a:solidFill>
              </a:rPr>
              <a:t>Bloom 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52944" y="1792224"/>
            <a:ext cx="4361688" cy="457200"/>
          </a:xfrm>
          <a:prstGeom prst="rect">
            <a:avLst/>
          </a:prstGeom>
          <a:solidFill>
            <a:srgbClr val="F0F7F7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6096" y="1847088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Analyser les signaux verbaux et non-verbaux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276856"/>
            <a:ext cx="914400" cy="4572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2350008"/>
            <a:ext cx="877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C4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07008" y="2276856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231343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050"/>
                </a:solidFill>
              </a:rPr>
              <a:t>Traitement des objections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54496" y="2276856"/>
            <a:ext cx="1280160" cy="4572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72784" y="2350008"/>
            <a:ext cx="1243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5050"/>
                </a:solidFill>
              </a:rPr>
              <a:t>Bloom 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52944" y="2276856"/>
            <a:ext cx="4361688" cy="457200"/>
          </a:xfrm>
          <a:prstGeom prst="rect">
            <a:avLst/>
          </a:prstGeom>
          <a:solidFill>
            <a:srgbClr val="F0F7F7"/>
          </a:solidFill>
          <a:ln w="1270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26096" y="233172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Appliquer CROC face aux 12 objections types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2761488"/>
            <a:ext cx="914400" cy="45720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2608" y="2834640"/>
            <a:ext cx="877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C5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07008" y="2761488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80160" y="27980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050"/>
                </a:solidFill>
              </a:rPr>
              <a:t>Engagement au don régulier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54496" y="2761488"/>
            <a:ext cx="1280160" cy="4572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72784" y="2834640"/>
            <a:ext cx="1243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5050"/>
                </a:solidFill>
              </a:rPr>
              <a:t>Bloom 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52944" y="2761488"/>
            <a:ext cx="4361688" cy="457200"/>
          </a:xfrm>
          <a:prstGeom prst="rect">
            <a:avLst/>
          </a:prstGeom>
          <a:solidFill>
            <a:srgbClr val="F0F7F7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26096" y="2816352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Conclure un engagement de prélèvement mensuel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246120"/>
            <a:ext cx="914400" cy="4572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2608" y="3319272"/>
            <a:ext cx="877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C6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07008" y="3246120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80160" y="3282696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050"/>
                </a:solidFill>
              </a:rPr>
              <a:t>Gestion émotionnelle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54496" y="3246120"/>
            <a:ext cx="1280160" cy="4572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72784" y="3319272"/>
            <a:ext cx="1243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5050"/>
                </a:solidFill>
              </a:rPr>
              <a:t>Bloom 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52944" y="3246120"/>
            <a:ext cx="4361688" cy="457200"/>
          </a:xfrm>
          <a:prstGeom prst="rect">
            <a:avLst/>
          </a:prstGeom>
          <a:solidFill>
            <a:srgbClr val="F0F7F7"/>
          </a:solidFill>
          <a:ln w="1270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26096" y="3300984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Analyser et réguler sa propre réaction au refus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3730752"/>
            <a:ext cx="914400" cy="45720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3803904"/>
            <a:ext cx="877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C7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07008" y="3730752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80160" y="376732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050"/>
                </a:solidFill>
              </a:rPr>
              <a:t>Éthique &amp; conformité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54496" y="3730752"/>
            <a:ext cx="1280160" cy="4572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72784" y="3803904"/>
            <a:ext cx="1243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5050"/>
                </a:solidFill>
              </a:rPr>
              <a:t>Bloom 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552944" y="3730752"/>
            <a:ext cx="4361688" cy="457200"/>
          </a:xfrm>
          <a:prstGeom prst="rect">
            <a:avLst/>
          </a:prstGeom>
          <a:solidFill>
            <a:srgbClr val="F0F7F7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26096" y="3785616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Expliquer les règles déontologiques fundraiser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Objectifs SMART &amp; Activités d'ancrage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Objectifs globaux SMART (Bloom 2–4)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Activités d'ancrage V6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Nommer les 7 compétences clés du fundraiser FIM (C1–C7)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Expliquer le lien entre objectif personnel et mission UNICEF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Distinguer les niveaux de maîtrise attendus à J1, J3 et J5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Analyser son propre profil via l'auto-positionnement initial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Carte mentale : 'Pourquoi je suis ici' → partage groupe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Vision board collectif : 'Le fundraiser idéal 2026'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Lecture commentée du référentiel C1–C7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Discussion : 'Quelle compétence est ma plus grande force ?'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486400"/>
            <a:ext cx="11612880" cy="2743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5522976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🎯 Évaluation Book 1 — Ouverture de formation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Auto-positionnement C1–C7 (0/1/2/3) → LFI page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Engagement écrit sur 1 compétence prioritaire à développer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NPS d'anticipation : 'Sur 10, je me sens prêt(e) à quel niveau ?'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0474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050"/>
                </a:solidFill>
              </a:rPr>
              <a:t>Taxonomie de Bloom 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303520"/>
            <a:ext cx="1920240" cy="320040"/>
          </a:xfrm>
          <a:prstGeom prst="rect">
            <a:avLst/>
          </a:prstGeom>
          <a:solidFill>
            <a:srgbClr val="78A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1 Se souvenir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12848" y="5303520"/>
            <a:ext cx="1920240" cy="320040"/>
          </a:xfrm>
          <a:prstGeom prst="rect">
            <a:avLst/>
          </a:prstGeom>
          <a:solidFill>
            <a:srgbClr val="5D9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58568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2 Comprendre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51376" y="5303520"/>
            <a:ext cx="1920240" cy="320040"/>
          </a:xfrm>
          <a:prstGeom prst="rect">
            <a:avLst/>
          </a:prstGeom>
          <a:solidFill>
            <a:srgbClr val="4A9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97096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3 Appliquer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9904" y="5303520"/>
            <a:ext cx="1920240" cy="320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35624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4 Analyser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28432" y="5303520"/>
            <a:ext cx="1920240" cy="320040"/>
          </a:xfrm>
          <a:prstGeom prst="rect">
            <a:avLst/>
          </a:prstGeom>
          <a:solidFill>
            <a:srgbClr val="D27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5 Évaluer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5303520"/>
            <a:ext cx="1920240" cy="320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12680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6 Créer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Indicateurs de Réussite &amp; Modèle Kirkpatrick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2743200" cy="3200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877824"/>
            <a:ext cx="25968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Niveau Kirkpatrick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35808" y="822960"/>
            <a:ext cx="2743200" cy="3200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877824"/>
            <a:ext cx="25968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Dimension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97296" y="822960"/>
            <a:ext cx="3657600" cy="3200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70448" y="877824"/>
            <a:ext cx="35112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Outil de mesure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73184" y="822960"/>
            <a:ext cx="2468880" cy="3200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46336" y="877824"/>
            <a:ext cx="232257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Seuil de réussite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170432"/>
            <a:ext cx="2743200" cy="548640"/>
          </a:xfrm>
          <a:prstGeom prst="rect">
            <a:avLst/>
          </a:prstGeom>
          <a:solidFill>
            <a:srgbClr val="F0F7F7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225296"/>
            <a:ext cx="2596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Niv. 1 — Réaction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35808" y="1170432"/>
            <a:ext cx="2743200" cy="548640"/>
          </a:xfrm>
          <a:prstGeom prst="rect">
            <a:avLst/>
          </a:prstGeom>
          <a:solidFill>
            <a:srgbClr val="F0F7F7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0" y="1225296"/>
            <a:ext cx="2596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Satisfaction apprenant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97296" y="1170432"/>
            <a:ext cx="3657600" cy="548640"/>
          </a:xfrm>
          <a:prstGeom prst="rect">
            <a:avLst/>
          </a:prstGeom>
          <a:solidFill>
            <a:srgbClr val="F0F7F7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70448" y="1225296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Questionnaire fin J chaque jour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73184" y="1170432"/>
            <a:ext cx="2468880" cy="548640"/>
          </a:xfrm>
          <a:prstGeom prst="rect">
            <a:avLst/>
          </a:prstGeom>
          <a:solidFill>
            <a:srgbClr val="F0F7F7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6336" y="1225296"/>
            <a:ext cx="2322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NPS ≥ 8/10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73736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1792224"/>
            <a:ext cx="2596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Niv. 2 — Apprentissage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35808" y="173736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0" y="1792224"/>
            <a:ext cx="2596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Compétences acquises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97296" y="1737360"/>
            <a:ext cx="3657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0448" y="1792224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Grilles C1–C7 fin J3 et J5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73184" y="1737360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46336" y="1792224"/>
            <a:ext cx="2322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Score ≥ 71% (20/28)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304288"/>
            <a:ext cx="2743200" cy="548640"/>
          </a:xfrm>
          <a:prstGeom prst="rect">
            <a:avLst/>
          </a:prstGeom>
          <a:solidFill>
            <a:srgbClr val="F0F7F7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2359152"/>
            <a:ext cx="2596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Niv. 3 — Comportement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35808" y="2304288"/>
            <a:ext cx="2743200" cy="548640"/>
          </a:xfrm>
          <a:prstGeom prst="rect">
            <a:avLst/>
          </a:prstGeom>
          <a:solidFill>
            <a:srgbClr val="F0F7F7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0" y="2359152"/>
            <a:ext cx="2596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Transfert terrain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97296" y="2304288"/>
            <a:ext cx="3657600" cy="548640"/>
          </a:xfrm>
          <a:prstGeom prst="rect">
            <a:avLst/>
          </a:prstGeom>
          <a:solidFill>
            <a:srgbClr val="F0F7F7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70448" y="2359152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Observation terrain J+15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73184" y="2304288"/>
            <a:ext cx="2468880" cy="548640"/>
          </a:xfrm>
          <a:prstGeom prst="rect">
            <a:avLst/>
          </a:prstGeom>
          <a:solidFill>
            <a:srgbClr val="F0F7F7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46336" y="2359152"/>
            <a:ext cx="2322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≥ 5 critères sur 7 observés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2871216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" y="2926080"/>
            <a:ext cx="2596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Niv. 4 — Résultats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35808" y="2871216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08960" y="2926080"/>
            <a:ext cx="2596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Impact KPI fundraising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97296" y="2871216"/>
            <a:ext cx="3657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70448" y="2926080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Suivi conversions J+30 &amp; J+90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73184" y="2871216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46336" y="2926080"/>
            <a:ext cx="2322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≥ 1 don/heure terrain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