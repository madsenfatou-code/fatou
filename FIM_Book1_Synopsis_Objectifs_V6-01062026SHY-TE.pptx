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67712"/>
            <a:ext cx="12188952" cy="731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"/>
            <a:ext cx="2926080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"/>
            <a:ext cx="36576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6459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EEEE"/>
                </a:solidFill>
              </a:rPr>
              <a:t>BOOK 1  ·  Synopsis &amp; Objectifs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60120"/>
            <a:ext cx="11521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Votre Feuille de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Ce que vous saurez faire à la fin de cette 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À l'issue de ces 5 jours, vous serez capable de convaincre un donateur français
de s'engager dans un don mensuel régulier au profit de l'UNICEF.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Les 7 Compétences que Vous Allez Développer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822960" cy="493776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896112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15568" y="804672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8961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Accroche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59936" y="804672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9663" y="896112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Initier un contact naturel en moins de 15 secondes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325880"/>
            <a:ext cx="822960" cy="4937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1417320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15568" y="1325880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8" y="14173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080"/>
                </a:solidFill>
              </a:rPr>
              <a:t>Impact 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59936" y="1325880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9663" y="1417320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Raconter une histoire vraie qui touche et convainc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1847088"/>
            <a:ext cx="822960" cy="493776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1938528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15568" y="1847088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7008" y="193852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Écoute active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59936" y="1847088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9663" y="1938528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Lire les signaux du donateur et ajuster votre discours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368296"/>
            <a:ext cx="822960" cy="4937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2608" y="2459736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15568" y="2368296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7008" y="245973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080"/>
                </a:solidFill>
              </a:rPr>
              <a:t>Objections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59936" y="2368296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9663" y="2459736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Transformer un refus en opportunité d'engagement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889503"/>
            <a:ext cx="822960" cy="493776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2980944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15568" y="2889503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0700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Engagement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59936" y="2889503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9663" y="2980944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Conclure un don régulier mensuel avec confiance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410711"/>
            <a:ext cx="822960" cy="4937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" y="3502151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15568" y="3410711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7008" y="3502151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8080"/>
                </a:solidFill>
              </a:rPr>
              <a:t>Résilience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59936" y="3410711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9663" y="3502151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Rester positif et efficace après dix refus consécutifs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931920"/>
            <a:ext cx="822960" cy="493776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2608" y="4023359"/>
            <a:ext cx="7863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15568" y="3931920"/>
            <a:ext cx="2926080" cy="493776"/>
          </a:xfrm>
          <a:prstGeom prst="rect">
            <a:avLst/>
          </a:prstGeom>
          <a:solidFill>
            <a:srgbClr val="F0F7F7"/>
          </a:solidFill>
          <a:ln w="1016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7008" y="4023359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5555"/>
                </a:solidFill>
              </a:rPr>
              <a:t>Éthique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59936" y="3931920"/>
            <a:ext cx="7854696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00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9663" y="4023359"/>
            <a:ext cx="764438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</a:rPr>
              <a:t>Respecter les règles déontologiques en toute situation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572000"/>
            <a:ext cx="11640312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79" y="4645152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Votre objectif : obtenir la certification FIM avec un score ≥ 20/28 en Jour 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Ce que Vous Allez Accomplir — Vos Résultats Concrets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22960"/>
            <a:ext cx="566928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686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 fin de formation, vous saurez…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822960"/>
            <a:ext cx="566928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8686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Vous serez également capable de…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207008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2618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Accrocher un passant en moins de 15 secondes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627632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682496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Raconter l'histoire d'un enfant bénéficiaire UNICEF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048256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103120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Proposer un montant de don adapté au profil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2523744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Répondre aux 12 objections types sans hésiter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9504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2944368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Signer un engagement de don mensuel régulier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207008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12618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Gérer un refus sans perdre votre motivation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627632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1682496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Adapter votre script à chaque donateur rencontré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048256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2103120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Analyser votre propre performance et vous corriger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468880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3096" y="2523744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Respecter la déontologie fundraiser en toute situation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889504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2944368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Construire votre plan d'action personnel pour J+30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486400"/>
            <a:ext cx="11640312" cy="2743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5522976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Vos jalons de progression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779008"/>
            <a:ext cx="2873502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815584"/>
            <a:ext cx="274548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Dès J1 : posture et pitch 60s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84398" y="5779008"/>
            <a:ext cx="2873502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75838" y="5815584"/>
            <a:ext cx="274548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Dès J3 : script complet maîtrisé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4476" y="5779008"/>
            <a:ext cx="2873502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85916" y="5815584"/>
            <a:ext cx="274548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Dès J4 : objections gérées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4554" y="5779008"/>
            <a:ext cx="2873502" cy="502920"/>
          </a:xfrm>
          <a:prstGeom prst="rect">
            <a:avLst/>
          </a:prstGeom>
          <a:solidFill>
            <a:srgbClr val="FFFFFF"/>
          </a:solidFill>
          <a:ln w="1016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5994" y="5815584"/>
            <a:ext cx="274548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✔ J5 : certification obtenue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Progression — De Débutant à Fundraiser Certifié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2834640" cy="50292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22960"/>
            <a:ext cx="261518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Avant la
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307592"/>
            <a:ext cx="2834640" cy="3749039"/>
          </a:xfrm>
          <a:prstGeom prst="rect">
            <a:avLst/>
          </a:prstGeom>
          <a:solidFill>
            <a:srgbClr val="EEEEEE"/>
          </a:solidFill>
          <a:ln w="1905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79" y="141732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Vous connaissez peu le
fundraising de rue.
Vous appréhendez peut-être
le premier contact.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2468880"/>
            <a:ext cx="27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8080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5263" y="804672"/>
            <a:ext cx="2834640" cy="502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64991" y="822960"/>
            <a:ext cx="261518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Après J1–J2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55263" y="1307592"/>
            <a:ext cx="2834640" cy="3749039"/>
          </a:xfrm>
          <a:prstGeom prst="rect">
            <a:avLst/>
          </a:prstGeom>
          <a:solidFill>
            <a:srgbClr val="F0F7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2423" y="141732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Vous comprenez la cause
et le modèle du don.
Vous êtes prêt(e) à
construire votre discours.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2468880"/>
            <a:ext cx="27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8080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7" y="804672"/>
            <a:ext cx="2834640" cy="502920"/>
          </a:xfrm>
          <a:prstGeom prst="rect">
            <a:avLst/>
          </a:prstGeom>
          <a:solidFill>
            <a:srgbClr val="1A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45936" y="822960"/>
            <a:ext cx="261518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Après J3–J4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6207" y="1307592"/>
            <a:ext cx="2834640" cy="3749039"/>
          </a:xfrm>
          <a:prstGeom prst="rect">
            <a:avLst/>
          </a:prstGeom>
          <a:solidFill>
            <a:srgbClr val="CCEECC"/>
          </a:solidFill>
          <a:ln w="19050">
            <a:solidFill>
              <a:srgbClr val="1A7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141732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Vous maîtrisez le script
et gérez les objections.
Vous vous sentez à l'aise
en simulation.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9136" y="2468880"/>
            <a:ext cx="274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8080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17151" y="804672"/>
            <a:ext cx="2834640" cy="5029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79" y="822960"/>
            <a:ext cx="2615184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Après J5
(certifié)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17151" y="1307592"/>
            <a:ext cx="2834640" cy="3749039"/>
          </a:xfrm>
          <a:prstGeom prst="rect">
            <a:avLst/>
          </a:prstGeom>
          <a:solidFill>
            <a:srgbClr val="FFCCCC"/>
          </a:solidFill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1" y="1417320"/>
            <a:ext cx="25603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Vous avez obtenu votre
certification FIM.
Vous êtes opérationnel(le)
dès demain sur le terrain.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257800"/>
            <a:ext cx="11640312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79" y="5330952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La progression est individuelle. Votre formateur adapte son accompagnement à votre rythme.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