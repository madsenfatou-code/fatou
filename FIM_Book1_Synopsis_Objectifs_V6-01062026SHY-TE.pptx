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317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13432"/>
            <a:ext cx="12188952" cy="54864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9144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53035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BEEEE"/>
                </a:solidFill>
              </a:rPr>
              <a:t>Formation Initiale Module — Fundraising Téléphonique UNICEF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932688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DDDD"/>
                </a:solidFill>
              </a:rPr>
              <a:t>BOOK 1  ·  Synopsis &amp; Objectifs  ·  SHY-Performance × FIDELIS × UNICEF France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20700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Vos Objectifs de 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01952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EEEE"/>
                </a:solidFill>
              </a:rPr>
              <a:t>Ce que vous saurez faire à l'issue des 5 jours FIM</a:t>
            </a:r>
          </a:p>
        </p:txBody>
      </p:sp>
      <p:pic>
        <p:nvPicPr>
          <p:cNvPr id="10" name="Picture 9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45720"/>
            <a:ext cx="822960" cy="80467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146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À l'issue de ces 5 jours, vous serez capable de conduire un appel de collecte de dons
au nom de l'UNICEF, de la phrase d'accroche jusqu'à la validation du Prélèvement Automatique.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73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91440"/>
            <a:ext cx="36576" cy="5029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914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Vos 3 Dimensions de Compétence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0"/>
            <a:ext cx="822960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3822191" cy="47548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822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SAVOIR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09728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EEEE"/>
                </a:solidFill>
              </a:rPr>
              <a:t>Connaissance de la cause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16736"/>
            <a:ext cx="3822191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1371600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Présenter l'UNICEF, sa mission, son histoire (75 ans, 190 pays)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792224"/>
            <a:ext cx="3822191" cy="457200"/>
          </a:xfrm>
          <a:prstGeom prst="rect">
            <a:avLst/>
          </a:prstGeom>
          <a:solidFill>
            <a:srgbClr val="F0F7F7"/>
          </a:solidFill>
          <a:ln w="508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1847088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Expliquer la malnutrition aigüe sévère et le rôle des sachets RUTF (92g)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267712"/>
            <a:ext cx="3822191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2322576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Situer le secteur associatif (Loi 1901, Comité de la Charte, Bloctel, RGPD)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743200"/>
            <a:ext cx="3822191" cy="457200"/>
          </a:xfrm>
          <a:prstGeom prst="rect">
            <a:avLst/>
          </a:prstGeom>
          <a:solidFill>
            <a:srgbClr val="F0F7F7"/>
          </a:solidFill>
          <a:ln w="508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2798064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Citer les arguments de légitimité UNICEF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218688"/>
            <a:ext cx="3822191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273552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Connaître les 3 principes humanitaires fondamentaux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694176"/>
            <a:ext cx="3822191" cy="457200"/>
          </a:xfrm>
          <a:prstGeom prst="rect">
            <a:avLst/>
          </a:prstGeom>
          <a:solidFill>
            <a:srgbClr val="F0F7F7"/>
          </a:solidFill>
          <a:ln w="508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3749039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Comprendre Conquête vs Fidélisation/Réactivation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59" y="804672"/>
            <a:ext cx="3822191" cy="47548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1688" y="822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SAVOIR-FAIRE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109728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EEEE"/>
                </a:solidFill>
              </a:rPr>
              <a:t>Technique d'appel &amp; qualification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59" y="1316736"/>
            <a:ext cx="3822191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1371600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Appliquer les 5 règles officielles de l'accroche téléphonique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51959" y="1792224"/>
            <a:ext cx="3822191" cy="457200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61688" y="1847088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Conduire le script officiel UNICEF en 7 étapes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59" y="2267712"/>
            <a:ext cx="3822191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1688" y="2322576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Qualifier chaque appel selon la nomenclature FIDELIS (DON/INDÉCIS/REFUS)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59" y="2743200"/>
            <a:ext cx="3822191" cy="457200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61688" y="2798064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Gérer les 4 modes de validation du don (IBAN à chaud, PA en ligne, PEL, PA courrier)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51959" y="3218688"/>
            <a:ext cx="3822191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61688" y="3273552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Traiter les 15 objections types par la méthode AAR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59" y="3694176"/>
            <a:ext cx="3822191" cy="457200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61688" y="3749039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Atteindre l'objectif de 9 CU/H minimum en production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0" y="804672"/>
            <a:ext cx="3822191" cy="475488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822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SAVOIR-ÊTRE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109728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EEEE"/>
                </a:solidFill>
              </a:rPr>
              <a:t>Posture &amp; conviction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1316736"/>
            <a:ext cx="3822191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39327" y="1371600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Maintenir un ton chaleureux, souriant et naturel tout au long de l'appel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0" y="1792224"/>
            <a:ext cx="3822191" cy="457200"/>
          </a:xfrm>
          <a:prstGeom prst="rect">
            <a:avLst/>
          </a:prstGeom>
          <a:solidFill>
            <a:srgbClr val="F0F7F7"/>
          </a:solidFill>
          <a:ln w="508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39327" y="1847088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Gérer les objections sensibles avec calme et professionnalisme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2267712"/>
            <a:ext cx="3822191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39327" y="2322576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Transmettre une conviction sincère pour la mission UNICEF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2743200"/>
            <a:ext cx="3822191" cy="457200"/>
          </a:xfrm>
          <a:prstGeom prst="rect">
            <a:avLst/>
          </a:prstGeom>
          <a:solidFill>
            <a:srgbClr val="F0F7F7"/>
          </a:solidFill>
          <a:ln w="508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39327" y="2798064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Intégrer le mantra : «Le refus d'aujourd'hui peut être le don de demain»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0" y="3218688"/>
            <a:ext cx="3822191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39327" y="3273552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Adopter une posture de représentant digne de la cause humanitaire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3694176"/>
            <a:ext cx="3822191" cy="457200"/>
          </a:xfrm>
          <a:prstGeom prst="rect">
            <a:avLst/>
          </a:prstGeom>
          <a:solidFill>
            <a:srgbClr val="F0F7F7"/>
          </a:solidFill>
          <a:ln w="508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39327" y="3749039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Respecter systématiquement les règles éthiques du secteur associatif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73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91440"/>
            <a:ext cx="36576" cy="5029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914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Vos Indicateurs de Performance — Nomenclature FIDELIS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0"/>
            <a:ext cx="822960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932688" cy="2743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" y="841248"/>
            <a:ext cx="8412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804672"/>
            <a:ext cx="2990088" cy="2743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9304" y="841248"/>
            <a:ext cx="28986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Libellé complet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804672"/>
            <a:ext cx="5212080" cy="2743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06824" y="841248"/>
            <a:ext cx="5120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Définition opérationnelle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91472" y="804672"/>
            <a:ext cx="2423160" cy="2743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46336" y="841248"/>
            <a:ext cx="2331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Objectif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097280"/>
            <a:ext cx="932688" cy="5943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" y="1188720"/>
            <a:ext cx="8412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CU/H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34440" y="1097280"/>
            <a:ext cx="2990088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1188720"/>
            <a:ext cx="2852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555"/>
                </a:solidFill>
              </a:rPr>
              <a:t>Contacts Utiles / Heure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1097280"/>
            <a:ext cx="52120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1170432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Nombre de contacts qualifiés (DON/INDÉCIS/REFUS) par heure de production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91472" y="1097280"/>
            <a:ext cx="2423160" cy="5943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82912" y="1234439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≥ 9 CU/H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1709928"/>
            <a:ext cx="932688" cy="5943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1801368"/>
            <a:ext cx="8412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TX Transfo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4440" y="1709928"/>
            <a:ext cx="2990088" cy="59436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25880" y="1801368"/>
            <a:ext cx="2852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555"/>
                </a:solidFill>
              </a:rPr>
              <a:t>Taux de Transformation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51960" y="1709928"/>
            <a:ext cx="5212080" cy="59436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3400" y="178308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% de PEL/PA obtenus parmi les Contacts Utiles — mesure l'efficacité au don régulier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91472" y="1709928"/>
            <a:ext cx="2423160" cy="5943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82912" y="1847088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Cible FIDELIS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322576"/>
            <a:ext cx="932688" cy="5943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9184" y="2414016"/>
            <a:ext cx="8412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PDC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34440" y="2322576"/>
            <a:ext cx="2990088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25880" y="2414016"/>
            <a:ext cx="2852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555"/>
                </a:solidFill>
              </a:rPr>
              <a:t>Plan de Charge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2322576"/>
            <a:ext cx="52120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43400" y="2395728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Volume mensuel de dons réguliers à atteindre selon FIDELIS × UNICEF France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491472" y="2322576"/>
            <a:ext cx="2423160" cy="5943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82912" y="2459736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Volume défini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2935224"/>
            <a:ext cx="932688" cy="5943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9184" y="3026664"/>
            <a:ext cx="8412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PEL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440" y="2935224"/>
            <a:ext cx="2990088" cy="59436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25880" y="3026664"/>
            <a:ext cx="2852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555"/>
                </a:solidFill>
              </a:rPr>
              <a:t>Promesse En Ligne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1960" y="2935224"/>
            <a:ext cx="5212080" cy="59436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43400" y="3008376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Prospect ayant accepté de valider son don en ligne (lien envoyé en direct)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491472" y="2935224"/>
            <a:ext cx="2423160" cy="5943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82912" y="3072384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Comptabilisé TX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3547872"/>
            <a:ext cx="932688" cy="5943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9184" y="3639312"/>
            <a:ext cx="8412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34440" y="3547872"/>
            <a:ext cx="2990088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25880" y="3639312"/>
            <a:ext cx="2852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555"/>
                </a:solidFill>
              </a:rPr>
              <a:t>Prélèvement Automatique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51960" y="3547872"/>
            <a:ext cx="52120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43400" y="3621024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Don régulier sécurisé par mandat SEPA (IBAN à chaud, PA en ligne, PA courrier)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91472" y="3547872"/>
            <a:ext cx="2423160" cy="5943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82912" y="3685032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Produit unique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4160520"/>
            <a:ext cx="932688" cy="5943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9184" y="4251959"/>
            <a:ext cx="8412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Qualification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34440" y="4160520"/>
            <a:ext cx="2990088" cy="59436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325880" y="4251959"/>
            <a:ext cx="2852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555"/>
                </a:solidFill>
              </a:rPr>
              <a:t>Conformité des qualifications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51960" y="4160520"/>
            <a:ext cx="5212080" cy="59436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343400" y="4233672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Taux de qualifications d'appels correctement renseignées (DON/INDÉCIS/REFUS)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91472" y="4160520"/>
            <a:ext cx="2423160" cy="5943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82912" y="4297680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≥ 50% qualité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73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91440"/>
            <a:ext cx="36576" cy="5029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914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Les 4 Modes de Validation du Don — Votre Arsenal de Closing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0"/>
            <a:ext cx="822960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2816352" cy="5943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822960"/>
            <a:ext cx="2596896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MODE 1
IBAN à Chaud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399032"/>
            <a:ext cx="2816352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1472184"/>
            <a:ext cx="2542032" cy="3877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Le prospect dicte son IBAN directement lors de l'appel.
✔ Validation immédiate
✔ Sécurisation mandat SEPA
✔ Confirmation par SMS
→ Mode le plus efficace
Prioritaire en conquête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804672"/>
            <a:ext cx="2816352" cy="5943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822960"/>
            <a:ext cx="2596896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MODE 2
PA en Ligne — Direct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1399032"/>
            <a:ext cx="2816352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1472184"/>
            <a:ext cx="2542032" cy="3877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Vous envoyez un lien de paiement sécurisé pendant l'appel.
✔ Prospect valide seul en temps réel
✔ Confirmation email automatique
✔ Zéro saisie IBAN par téléphone
→ Pour les prospects méfiants sur l'IBAN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804672"/>
            <a:ext cx="2816352" cy="594360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822960"/>
            <a:ext cx="2596896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MODE 3
Promesse PA en Ligne (PEL)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399032"/>
            <a:ext cx="2816352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472184"/>
            <a:ext cx="2542032" cy="3877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Le prospect s'engage à valider le lien après l'appel.
✔ Lien envoyé par SMS / email
✔ Relance automatique J+1
✔ Comptabilisé dans le TX Transfo
→ Pour les indécis à fort potentiel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804672"/>
            <a:ext cx="2816352" cy="59436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62288" y="822960"/>
            <a:ext cx="2596896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MODE 4
PA Courrier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1399032"/>
            <a:ext cx="2816352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9720" y="1472184"/>
            <a:ext cx="2542032" cy="3877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Envoi d'un formulaire papier avec enveloppe T pré-affranchie.
✔ Pour les seniors moins digitaux
✔ Mandat SEPA envoyé par voie postale
✔ Délai de retour : 5–10 jours
→ Alternative quand les autres modes échouent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669280"/>
            <a:ext cx="11640312" cy="40233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79" y="5742432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Votre priorité : proposer le MODE 1 (IBAN à chaud) en premier. Si refus, enchaîner Mode 2 → Mode 3 → Mode 4. Ne jamais sauter directement au Mode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