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5488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48640"/>
            <a:ext cx="1124321" cy="1097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D4D"/>
                </a:solidFill>
                <a:latin typeface="Calibri"/>
              </a:rPr>
              <a:t>JOUR 5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560320"/>
            <a:ext cx="36576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5669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4A017"/>
                </a:solidFill>
                <a:latin typeface="Calibri"/>
              </a:rPr>
              <a:t>SHY-Performance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E5"/>
                </a:solidFill>
                <a:latin typeface="Calibri"/>
              </a:rPr>
              <a:t>FIDELIS ×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914400"/>
            <a:ext cx="685800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09728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4D4D"/>
                </a:solidFill>
                <a:latin typeface="Calibri"/>
              </a:rPr>
              <a:t>JOUR 5
SYNTHÈSE GÉNÉRALE
&amp; SIMULATIONS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840480"/>
            <a:ext cx="4572000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0233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Révision, Simulations Terrain, Quiz 40Q &amp; Certifications
SHY-Performance × FIDELIS ×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Formation Initiale Module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Programme de la Journée J5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47650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4765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03352" cy="40335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03352" cy="40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0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9h30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Révision express des 5 modules (J1 → J4) : questions flash en groupe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1994408"/>
            <a:ext cx="11987784" cy="476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1994408"/>
            <a:ext cx="64008" cy="4765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30984"/>
            <a:ext cx="403352" cy="40335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30984"/>
            <a:ext cx="403352" cy="40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30984"/>
            <a:ext cx="11000232" cy="40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10h00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Simulations d'appels complets chronométrés en conditions réelles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507488"/>
            <a:ext cx="11987784" cy="47650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507488"/>
            <a:ext cx="64008" cy="4765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544064"/>
            <a:ext cx="403352" cy="40335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544064"/>
            <a:ext cx="403352" cy="40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544064"/>
            <a:ext cx="11000232" cy="40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11h00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Pause + débriefing des simulations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020568"/>
            <a:ext cx="11987784" cy="476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020568"/>
            <a:ext cx="64008" cy="4765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057144"/>
            <a:ext cx="403352" cy="40335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057144"/>
            <a:ext cx="403352" cy="40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057144"/>
            <a:ext cx="11000232" cy="40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11h15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Jeux de rôle finaux : script + objection tirée au sort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533648"/>
            <a:ext cx="11987784" cy="47650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533648"/>
            <a:ext cx="64008" cy="4765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570224"/>
            <a:ext cx="403352" cy="40335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570224"/>
            <a:ext cx="403352" cy="40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570224"/>
            <a:ext cx="11000232" cy="40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13h00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Pause déjeuner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046728"/>
            <a:ext cx="11987784" cy="476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046728"/>
            <a:ext cx="64008" cy="4765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083304"/>
            <a:ext cx="403352" cy="40335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083304"/>
            <a:ext cx="403352" cy="40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083304"/>
            <a:ext cx="11000232" cy="40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14h00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Quiz d'évaluation finale des connaissances (40 questions)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559808"/>
            <a:ext cx="11987784" cy="47650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559808"/>
            <a:ext cx="64008" cy="4765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596384"/>
            <a:ext cx="403352" cy="40335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596384"/>
            <a:ext cx="403352" cy="40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596384"/>
            <a:ext cx="11000232" cy="40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15h30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Correction collective + débriefing pédagogique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072888"/>
            <a:ext cx="11987784" cy="476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072888"/>
            <a:ext cx="64008" cy="4765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" y="5109464"/>
            <a:ext cx="403352" cy="40335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5109464"/>
            <a:ext cx="403352" cy="40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5109464"/>
            <a:ext cx="11000232" cy="40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16h30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Remise des certifications de formation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1168" y="5585968"/>
            <a:ext cx="11987784" cy="47650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01168" y="5585968"/>
            <a:ext cx="64008" cy="4765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0040" y="5622544"/>
            <a:ext cx="403352" cy="40335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5622544"/>
            <a:ext cx="403352" cy="40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" y="5622544"/>
            <a:ext cx="11000232" cy="40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17h00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Mot de clôture + félicitations + vœux de bonne continuation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Révision Flash — J1 à J4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J1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Fondations : KPI objectif CU/H ? → 9 minimum | Produit unique ? → PA Régulier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056093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056093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92669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J1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Nomenclature : CU / TX Transfo / PDC / PEL / PA — définitions express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630859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630859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67435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J2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Monde associatif : Loi 1901 ? | UNICEF fondé quand ? → 1946 | Nobel ? → 1965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205625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205625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2201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J2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Histoire : Bataille de Solférino → quelle année ? → 1859 | Qui ? → Henry Dunant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780390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780390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16966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J3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Script : combien d'étapes ? → 7 | Les 5 règles de l'accroche 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355156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355156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391732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J4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AAR : que signifient les 3 lettres ? | Combien d'objections couvertes ? → 15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929922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929922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966498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J4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Objections : 5 catégories — lesquelles ?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Questions flash : 30 secondes par question — lever la main pour répondre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Simulations d'Appels — Règles du Jeu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Simulation NIVEAU 1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appel standard, prospect coopératif → valider le script complet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141002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141002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177578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Simulation NIVEAU 2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appel avec 2 objections tirées au sort parmi les 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800676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800676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837252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Simulation NIVEAU 3 : appel difficile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prospect conflictuel, méfiance IBAN, dernier positionnement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460350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460350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496926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Durée maximale par simulation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5 minutes chrono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120025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120025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156601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Grille d'évaluation 24 critères appliquée par le formateur sur chaque simulation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779699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779699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816275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Feedback immédiat après chaque simulation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2 points forts + 1 axe prioritaire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5439373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5439373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475949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Chaque fundraiser passe au minimum 2 simulations complètes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Grille d'Évaluation Finale — 24 Critères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ACCROCHE (4 pts)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naturel / règles 1-5 appliquées / identification genre / ton souriant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141002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141002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177578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SCRIPT (6 pts)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malnutrition / RUTF / proposition paliers / chiffres-clés / transition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800676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800676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837252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ÉCOUTE (3 pts)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silence respecté / reformulation / adaptation au profil prospect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460350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460350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496926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OBJECTIONS (5 pts)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méthode AAR / argumentation / relance / calme / conviction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120025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120025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156601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CLOSING (4 pts)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verrouillage / blindage / demande IBAN / prise de congé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779699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779699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816275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TON GÉNÉRAL (2 pts)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chaleur / conviction / naturel tout au long de l'appel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5439373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5439373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475949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Expert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21-24 pts | Intermédiaire : 15-20 pts | Débutant : 8-14 pts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RÈGLE D'OR — Instructions Quiz 40 Questions</a:t>
            </a:r>
          </a:p>
        </p:txBody>
      </p:sp>
      <p:pic>
        <p:nvPicPr>
          <p:cNvPr id="7" name="Picture 6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Le quiz comporte 40 questions réparties en 6 parties thématiques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PARTIE A — UNICEF &amp; Cause (Q1–Q8)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PARTIE B — Monde Associatif (Q9–Q15)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PARTIE C — Script &amp; Accroche (Q16–Q22)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PARTIE D — KPIs &amp; Nomenclature (Q23–Q28)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PARTIE E — Objections &amp; AAR (Q29–Q35)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PARTIE F — Closing &amp; Validation (Q36–Q40)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Durée : 45 minutes maximum | Réponse unique par question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QUIZ FIM — Partie A — UNICEF &amp; Cause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Q1–Q4  |  Nom : ________________________</a:t>
            </a:r>
          </a:p>
        </p:txBody>
      </p:sp>
      <p:pic>
        <p:nvPicPr>
          <p:cNvPr id="7" name="Picture 6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 — En quelle année l'UNICEF a-t-il été créé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1939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1946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1956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1963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 — Dans combien de pays l'UNICEF intervient-il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150 pays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175 pays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190 pays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210 pays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 — Quel est le poids d'un sachet RUTF 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50 grammes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72 grammes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92 grammes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110 grammes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Q4 — Quel % des fonds collectés va directement aux programmes terrain 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75%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85%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93%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100%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QUIZ FIM — Partie B — Monde Associatif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Q5–Q8  |  Nom : ________________________</a:t>
            </a:r>
          </a:p>
        </p:txBody>
      </p:sp>
      <p:pic>
        <p:nvPicPr>
          <p:cNvPr id="7" name="Picture 6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Q5 — En quelle année l'UNICEF a-t-il reçu le Prix Nobel de la Paix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1955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1965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1975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1985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Q6 — Quel % des enfants du monde l'UNICEF vaccine-t-il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25%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35%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45%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Q7 — RUTF signifie Ready-to-Use Therapeutic Food. Quelle est sa composition de base 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Riz, eau, sel, vitamines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Pâte d'arachide, matière grasse végétale, lait écrémé, vitamines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Farine de maïs, huile, sucre, minéraux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Lait entier, beurre de cacao, protéines végétales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Q8 — De quoi n'a PAS besoin le sachet RUTF pour être consommé 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D'être ouvert avant consommation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D'eau, d'électricité ni de cuisson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D'un enfant de moins de 5 ans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D'un stockage à température ambiante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QUIZ FIM — Partie C — Script &amp; Accroche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Q9–Q12  |  Nom : ________________________</a:t>
            </a:r>
          </a:p>
        </p:txBody>
      </p:sp>
      <p:pic>
        <p:nvPicPr>
          <p:cNvPr id="7" name="Picture 6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Q9 — Combien d'associations actives compte la France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500 000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 million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1,5 million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2 millions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Q10 — La Loi 1901 a été adoptée le 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1er juillet 1901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14 juillet 1901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1er janvier 1901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1er mars 1901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Q11 — La bataille de Solférino a eu lieu en :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1845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1859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1871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1889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Q12 — Qui est à l'origine de la création de la Croix-Rouge 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Florence Nightingale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Jean-Henri Dunant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Louis Pasteur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Albert Schweitzer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QUIZ FIM — Partie D — KPIs &amp; Nomenclature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Q13–Q16  |  Nom : ________________________</a:t>
            </a:r>
          </a:p>
        </p:txBody>
      </p:sp>
      <p:pic>
        <p:nvPicPr>
          <p:cNvPr id="7" name="Picture 6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Q13 — Qu'est-ce que le label 'Don en Confiance'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Un label commercial pour les boutiques caritatives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Une garantie que l'association est sérieuse et contrôlée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Un statut fiscal accordé par l'État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Un label délivré par l'ONU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Q14 — Combien de bénévoles mobilise le secteur associatif français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 millions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12 millions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22 millions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35 millions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Q15 — Quel organisme a été créé en 1989 pour renforcer le contrôle des associations 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Le Comité de la Charte du Don en Confiance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L'Autorité des Marchés Financiers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La Direction Générale des Finances Publiques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Le Haut Commissariat aux Associations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Q16 — Combien d'étapes comporte le script officiel UNICEF 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 étapes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6 étapes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7 étapes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8 étapes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QUIZ FIM — Partie E — Objections &amp; AAR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Q17–Q20  |  Nom : ________________________</a:t>
            </a:r>
          </a:p>
        </p:txBody>
      </p:sp>
      <p:pic>
        <p:nvPicPr>
          <p:cNvPr id="7" name="Picture 6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Q17 — Quelle est la 1ère règle officielle de l'accroche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Se présenter immédiatement avec son prénom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Dire 'Allô ?' et attendre la réponse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Annoncer l'enregistrement de l'appel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Demander si la personne connaît l'UNICEF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Q18 — À quelle étape du script propose-t-on les paliers de don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Étape 2 — La Malnutrition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Étape 3 — Les Sachets RUTF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Étape 4 — L'Appel au Soutien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Étape 7 — Validation des coordonnées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Q19 — Quel montant correspond à 50 centimes d'euros par jour 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10€/mois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12€/mois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15€/mois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20€/mois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Q20 — Quel est le coût réel de 15€/mois après déduction fiscale à 75% 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2,50€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3,75€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5€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7,50€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QUIZ FIM — Partie F — Closing &amp;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Q21–Q24  |  Nom : ________________________</a:t>
            </a:r>
          </a:p>
        </p:txBody>
      </p:sp>
      <p:pic>
        <p:nvPicPr>
          <p:cNvPr id="7" name="Picture 6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Q21 — En mode PA À CHAUD, que recueille-t-on auprès du donateur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Son numéro de carte bancaire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Son numéro de sécurité sociale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Son IBAN (série de 27 chiffres commençant par FR)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Son numéro de compte client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Q22 — Combien de modes de validation du don existent dans le script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2 modes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3 modes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4 modes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 modes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Q23 — Que signifie CU/H 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Chiffre d'Utilité Horaire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Contacts Utiles par Heure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Coût Unitaire par Heure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Collecte Utile Hebdomadaire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Q24 — Quel est l'objectif minimum de CU/H fixé par Fidelis 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6 CU/H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7 CU/H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9 CU/H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12 CU/H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QUIZ FIM — Partie 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Q25–Q28  |  Nom : ________________________</a:t>
            </a:r>
          </a:p>
        </p:txBody>
      </p:sp>
      <p:pic>
        <p:nvPicPr>
          <p:cNvPr id="7" name="Picture 6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Q25 — Un appel est qualifié Contact Utile (CU) s'il dure au minimum 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30 secondes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45 secondes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60 secondes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90 secondes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Q26 — Que signifie TX Transfo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Taux de Transfert des fonds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Taux de Transformation des CU en dons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Taxe de Transaction en ligne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Temps de Traitement des formulaires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Q27 — PDC signifie :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Prélèvement Direct Campagne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Projet De Collecte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Plan de Charge mensuel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Paramètre De Contact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Q28 — Quel % de la qualité Fidelis repose sur une qualification conforme 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25%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35%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50%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75%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QUIZ FIM — Partie 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Q29–Q32  |  Nom : ________________________</a:t>
            </a:r>
          </a:p>
        </p:txBody>
      </p:sp>
      <p:pic>
        <p:nvPicPr>
          <p:cNvPr id="7" name="Picture 6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Q29 — Que signifie la méthode AAR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Argumenter, Accepter, Relancer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Accuser réception, Argumenter, Relancer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Analyser, Adapter, Répondre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Accrocher, Aborder, Résoudre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Q30 — Face à 'C'est une arnaque !', quelle est la réponse recommandée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Raccrocher immédiatement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Confirmer l'identité UNICEF France + proposer unicef.fr pour vérification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Transférer l'appel au superviseur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Proposer d'envoyer un courrier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Q31 — Combien d'objections le module J4 couvre-t-il 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Q32 — En combien de catégories les objections sont-elles regroupées 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QUIZ FIM — Partie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Q33–Q36  |  Nom : ________________________</a:t>
            </a:r>
          </a:p>
        </p:txBody>
      </p:sp>
      <p:pic>
        <p:nvPicPr>
          <p:cNvPr id="7" name="Picture 6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Q33 — Face à 'Je suis sur liste Bloctel', que répondre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S'excuser et raccrocher immédiatement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Les associations à but non lucratif sont autorisées par Bloctel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Demander de se désincrire de Bloctel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Transférer au service juridique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Q34 — Pour la méfiance IBAN, quel est l'argument principal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L'IBAN permet d'accéder au compte bancaire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L'IBAN ne permet pas d'accéder au compte — il autorise uniquement un virement SEPA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L'IBAN est facultatif pour valider un don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L'IBAN sera supprimé après le premier prélèvement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Q35 — Face à 'Je n'ai pas les moyens', quel montant peut-on proposer en dernier recours 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5€/mois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6€/mois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8€/mois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10€/mois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Q36 — Le 1er prélèvement a lieu :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Immédiatement après l'accord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Le 1er du mois suivant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Le 10 du mois suivant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Le dernier jour du mois suivant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QUIZ FIM — Partie 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Q37–Q40  |  Nom : ________________________</a:t>
            </a:r>
          </a:p>
        </p:txBody>
      </p:sp>
      <p:pic>
        <p:nvPicPr>
          <p:cNvPr id="7" name="Picture 6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Q37 — Qu'est-ce que le 'Blindage' dans le script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Une technique d'enregistrement audio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La demande d'autorisation explicite avant de valider le prélèvement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Un outil de vérification anti-fraude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La mise en attente du prospect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99669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Q38 — En mode PA en ligne en direct, le fundraiser doit 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50876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536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453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Demander les coordonnées bancaires oralement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6654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0939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1031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Guider le donateur sur le site sans demander ses coordonnées bancaires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2432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2651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266090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Raccrocher et attendre la confirmation par mail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18211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2095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32186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Transférer l'appel au service en ligne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Q39 — La qualification 'INDÉCIS' correspond à :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Un prospect qui a raccroché sans répondre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Un prospect intéressé mais qui n'a pas validé son don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Un prospect qui a refusé catégoriquement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Un prospect absent lors du rappel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94760"/>
            <a:ext cx="5852160" cy="47548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383133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Q40 — Que doit faire le fundraiser si un prospect dit 'Je suis sur liste rouge' 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4343400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368" y="43708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Proposer quand même le don en continuant le script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901184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368" y="49286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93776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S'excuser, remonter l'info, prendre congé sans insister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458968"/>
            <a:ext cx="5669280" cy="49377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54864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54955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Demander confirmation écrite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80" y="6016752"/>
            <a:ext cx="5669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73368" y="604418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Transférer à un superviseur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GRILLE FORMATEUR — Correction Quiz 40 Questions</a:t>
            </a:r>
          </a:p>
        </p:txBody>
      </p:sp>
      <p:pic>
        <p:nvPicPr>
          <p:cNvPr id="6" name="Picture 5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10896" y="113385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1155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39903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9903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3936" y="113385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37360" y="109728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37360" y="109728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83080" y="11155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8840" y="139903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48840" y="139903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36976" y="113385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0" y="109728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0" y="109728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11155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1880" y="139903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1880" y="139903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0016" y="113385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63440" y="109728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63440" y="109728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11155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74920" y="139903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74920" y="139903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63056" y="113385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109728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0" y="109728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11155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37960" y="139903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139903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26096" y="113385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589520" y="109728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89520" y="109728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35240" y="11155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01000" y="139903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01000" y="139903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89136" y="113385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52560" y="109728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052560" y="109728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98280" y="11155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464040" y="139903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64040" y="139903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552176" y="113385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515600" y="109728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515600" y="109728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61320" y="11155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927080" y="139903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927080" y="139903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0896" y="209397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74320" y="205740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74320" y="205740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0040" y="20756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5800" y="235915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" y="235915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773936" y="209397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737360" y="205740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737360" y="205740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783080" y="20756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148840" y="235915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148840" y="235915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36976" y="209397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200400" y="205740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200400" y="205740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46120" y="20756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11880" y="235915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11880" y="235915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700016" y="209397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663440" y="205740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663440" y="205740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709160" y="20756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074920" y="235915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74920" y="235915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63056" y="209397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126480" y="205740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126480" y="205740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172200" y="20756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537960" y="235915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537960" y="235915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26096" y="209397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589520" y="205740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89520" y="205740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635240" y="20756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001000" y="235915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001000" y="235915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089136" y="209397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052560" y="205740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052560" y="205740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098280" y="20756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Q15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464040" y="235915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464040" y="235915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552176" y="209397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515600" y="205740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515600" y="205740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561320" y="20756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927080" y="235915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927080" y="235915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10896" y="305409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74320" y="301752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274320" y="301752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20040" y="30358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Q17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85800" y="331927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85800" y="331927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773936" y="305409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737360" y="301752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737360" y="301752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783080" y="30358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Q18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148840" y="331927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148840" y="331927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236976" y="305409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3200400" y="301752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3200400" y="301752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246120" y="30358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Q19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611880" y="331927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611880" y="331927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700016" y="305409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4663440" y="301752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663440" y="301752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709160" y="30358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Q20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074920" y="331927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074920" y="331927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163056" y="305409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6126480" y="301752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6126480" y="301752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172200" y="30358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Q21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537960" y="331927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537960" y="331927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626096" y="305409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7589520" y="301752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7589520" y="301752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635240" y="30358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Q22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001000" y="331927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001000" y="331927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089136" y="305409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9052560" y="301752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9052560" y="301752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098280" y="30358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Q23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9464040" y="331927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9464040" y="331927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552176" y="305409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0515600" y="301752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0515600" y="301752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0561320" y="30358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Q24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0927080" y="331927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0927080" y="331927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310896" y="401421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274320" y="397764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274320" y="397764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20040" y="39959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Q25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85800" y="427939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85800" y="427939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773936" y="401421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1737360" y="397764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737360" y="397764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783080" y="39959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Q26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148840" y="427939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2148840" y="427939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3236976" y="401421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3200400" y="397764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3200400" y="397764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246120" y="39959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Q27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611880" y="427939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3611880" y="427939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4700016" y="401421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4663440" y="397764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4663440" y="397764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709160" y="39959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Q28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074920" y="427939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5074920" y="427939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163056" y="401421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6126480" y="397764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6126480" y="397764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6172200" y="39959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Q29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6537960" y="427939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6537960" y="427939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7626096" y="401421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7589520" y="397764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7589520" y="397764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7635240" y="39959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Q30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001000" y="427939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8001000" y="427939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9089136" y="401421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9052560" y="397764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9052560" y="397764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9098280" y="39959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Q31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9464040" y="427939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9464040" y="427939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10552176" y="401421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10515600" y="397764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10515600" y="397764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0561320" y="39959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Q32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10927080" y="427939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10927080" y="427939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310896" y="497433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274320" y="493776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274320" y="493776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320040" y="49560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Q33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685800" y="523951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685800" y="523951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773936" y="497433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1737360" y="493776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1737360" y="493776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1783080" y="49560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Q34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2148840" y="523951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2148840" y="523951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3236976" y="497433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3200400" y="493776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3200400" y="493776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3246120" y="49560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Q35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3611880" y="523951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3611880" y="523951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4700016" y="497433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4663440" y="493776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4663440" y="493776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4709160" y="49560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Q36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5074920" y="523951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5074920" y="523951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6163056" y="497433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6126480" y="493776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6126480" y="493776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6172200" y="49560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Q37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6537960" y="523951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6537960" y="523951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7626096" y="497433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589520" y="493776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589520" y="493776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7635240" y="49560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Q38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8001000" y="523951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8001000" y="523951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9089136" y="497433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9052560" y="493776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9052560" y="493776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9098280" y="49560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Q39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9464040" y="523951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9464040" y="523951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10552176" y="4974336"/>
            <a:ext cx="1371600" cy="80467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10515600" y="4937760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10515600" y="4937760"/>
            <a:ext cx="1371600" cy="25603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10561320" y="49560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4D4D"/>
                </a:solidFill>
                <a:latin typeface="Calibri"/>
              </a:rPr>
              <a:t>Q40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10927080" y="5239512"/>
            <a:ext cx="548640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10927080" y="523951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274320" y="61996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4A017"/>
                </a:solidFill>
                <a:latin typeface="Calibri"/>
              </a:rPr>
              <a:t>POUR VOTRE PARTICIPATION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743200"/>
            <a:ext cx="57607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E5E5"/>
                </a:solidFill>
                <a:latin typeface="Calibri"/>
              </a:rPr>
              <a:t>Élaboré par Tamou Eljerrari  |  Sur ordre de Mme Salima Negrao, DG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5394960"/>
            <a:ext cx="1030628" cy="1005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D4A017"/>
                </a:solidFill>
                <a:latin typeface="Calibri"/>
              </a:rPr>
              <a:t>★  ★  ★  ★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FÉLICITATIONS !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606040"/>
            <a:ext cx="8503920" cy="6400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  <a:latin typeface="Calibri"/>
              </a:rPr>
              <a:t>Vous avez complété avec succès la Formation Initiale Module (FIM)
Fundraiser UNICEF — SHY-Performance × FIDELIS
Votre engagement, votre sérieux et votre conviction
font de vous des fundraisers prêts à changer des vies.
Chaque appel que vous passerez contribue directement
à protéger des enfants à travers le monde.
L'équipe SHY-Performance est fière de vous.
Bonne continuation et beau terrain à toutes et à tous 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4A017"/>
                </a:solidFill>
                <a:latin typeface="Calibri"/>
              </a:rPr>
              <a:t>★  ★  ★  ★  ★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5394960"/>
            <a:ext cx="1030628" cy="1005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