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2743200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017"/>
                </a:solidFill>
                <a:latin typeface="Calibri"/>
              </a:rPr>
              <a:t>JOUR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8080"/>
                </a:solidFill>
                <a:latin typeface="Calibri"/>
              </a:rPr>
              <a:t>JOUR 4
TRAITEMENT
DES OBJECTIONS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4251960"/>
            <a:ext cx="758952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15 Objections — 5 Catégories — Méthode AAR
SHY-Performance × FIDELIS × UNICEF France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FIDELIS  ×  UNICEF France  |  Formation Initiale Module  |  © SHY-Performance 2025</a:t>
            </a:r>
          </a:p>
        </p:txBody>
      </p:sp>
      <p:pic>
        <p:nvPicPr>
          <p:cNvPr id="13" name="Picture 12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RÈGLE D'OR — La Méthode AAR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AAR = Accuser réception / Argumenter / Relancer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A — ACCUSER RÉCEPTION : montrer que l'on a entendu et compris l'objection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Exemples : 'Je comprends tout à fait...' / 'C'est tout à fait légitime...'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A — ARGUMENTER : répondre avec un argument factuel ET émotionnel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R — RELANCER : reposer une question orientée vers l'accord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Exemples de relance : 'Alors, est-ce que 10€ par mois vous semble accessible ?'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Règle d'or : ne jamais contredire frontalement — toujours amortir avant d'argumenter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23560"/>
            <a:ext cx="11274552" cy="50292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641848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4D4D"/>
                </a:solidFill>
                <a:latin typeface="Calibri"/>
              </a:rPr>
              <a:t>⭐  La méthode AAR s'applique à TOUTES les objections sans exception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1" name="Picture 10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Catégorie 1 — Objections Initiales (Phase d'Accroche)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OBJ 1 : 'Pas intéressé / Je n'ai pas le temps' → 'Permettez-moi de vous expliquer rapidement...'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OBJ 2 : 'Faux numéro' → 'Mon appel n'est pas nominatif — campagne nationale d'information'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OBJ 3 : 'Vous m'appelez pour un don ?' → 'Avant tout, je vous contacte pour avoir votre avis'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OBJ 4 : 'Je donne déjà ailleurs' → 'Je vous remercie — il ne s'agit pas seulement d'un don'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OBJ 5 : 'C'est une arnaque !' → 'Je vous appelle bien de la part d'UNICEF France — unicef.fr'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OBJ 6 : 'Je ne donne pas par téléphone' → 'Il n'est pas question de donner de l'argent par téléphone'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OBJ 7 : 'Pas confiance aux associations' → citer Comité de la Charte, 75 ans, Nobel 1965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OBJ 8 : 'Je n'aime pas être contacté' → 'Message important à diffuser — moyen le plus efficace'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Catégorie 2 — Objections Financières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OBJ 9 : 'Je donne déjà à d'autres associations' → ne pas modifier habitudes + proposer 10€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Argument : '300 millions de personnes en insécurité alimentaire — chaque don compte'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OBJ 10 : 'Je n'ai pas les moyens' → '15€ était un exemple — que pensez-vous de 10€ ?'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Argument : '10€ = 2,50€ après déduction fiscale — pour 4 enfants pris en charge'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Dernier positionnement : 'Une personne meurt de faim toutes les 13 secondes'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Descendre à 8€ ou 6€ si nécessaire — '6€ = 1,50€ après déduction fiscale'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Règle : ne jamais proposer moins de 6€ sans accord explicite du superviseur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96128"/>
            <a:ext cx="11274552" cy="53035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14416"/>
            <a:ext cx="11091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Toujours ramener le montant à son coût réel après déduction fiscale de 75%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Catégorie 3 — Contre le Don Régulier (PA)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OBJ 11 : 'Je préfère un don ponctuel' → 'C'est formidable ! Mais le régulier sauve sur le long terme'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Argument : 'La faim ne s'arrête pas après une aide ponctuelle'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Argument flexibilité : 'Vous pouvez stopper ou modifier le montant à tout moment'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OBJ 12 : 'Je n'aime pas l'engagement mensuel' → 'Ce n'est pas un engagement rigide'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Argument : 'Vous gardez un contrôle total — un appel suffit pour suspendre'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Dernier positionnement PA : 'Des milliers d'enfants dont la plupart ont moins de 5 ans'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Question de relance finale : '8€ ou même 6€ par mois vous semblent envisageables ?'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Catégorie 4 — Méfiance IBAN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OBJ 13 : 'Je ne veux pas donner mon IBAN' → rassurer avec précision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'Votre IBAN ne permet PAS d'accéder à votre compte — uniquement un virement SEPA'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'Sans accord verbal clair de votre part, rien n'est possible'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'Votre IBAN figure déjà sur vos factures d'énergie, internet, mutuelle, CAF...'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'Aucun prélèvement aujourd'hui — 1er prélèvement le 10 du mois prochain'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'Procédure encadrée accordée exclusivement aux organisations françaises reconnues'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Si toujours non → orienter vers PA en ligne en direct sur unicef.fr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96128"/>
            <a:ext cx="11274552" cy="53035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14416"/>
            <a:ext cx="11091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Ne jamais recueillir l'IBAN sans la présence du superviseur + coupure enregistrement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Catégorie 5 — Objections Conflictuelles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OBJ 14a : 'D'où m'appelez-vous ?' → 'De Paris — 6ème arrondissement, siège UNICEF France'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OBJ 14b : 'D'où avez-vous mon numéro ?' → citer la source (partenaire / annuaire)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OBJ 14c : 'Vous n'avez pas le droit de m'appeler' → informer sur l'inscription annuaire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OBJ 14d : 'Je suis sur liste Bloctel' → 'Les associations à but non lucratif sont autorisées'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OBJ 14e : 'Je suis sur liste rouge' → s'excuser, remonter l'info, prendre congé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OBJ 14f : 'Vous avez un accent !' → assumer avec humour, enchaîner sur le script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OBJ 14g : 'Je connais un membre de l'association' → valoriser + poursuivre ou prendre congé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OBJ 14h/i : 'Qui êtes-vous ?' → 'Mandaté par l'UNICEF — vérifiable sur unicef.fr'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96128"/>
            <a:ext cx="11274552" cy="53035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14416"/>
            <a:ext cx="11091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Face à une situation conflictuelle : SOURIRE + CALME + BLOC — jamais d'impatience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Grille d'Observation — Jeux de Rôle J4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CRITÈRE 1 — Méthode AAR appliquée : accuser réception / argumenter / relancer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CRITÈRE 2 — Ton : chaleur maintenue même face à une objection agressive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CRITÈRE 3 — Naturel : pas de récitation mécanique de la réponse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CRITÈRE 4 — Argumentation : fait + émotion + chiffre concret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CRITÈRE 5 — Relance : question orientée vers l'accord après l'argument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CRITÈRE 6 — Gestion du refus : respect de la décision finale du prospect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Score : 1 (à travailler) / 2 (en progrès) / 3 (maîtrisé) par critère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RÈGLE D'OR — Programme Jeux de Rôle Journée J4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🎭 MATIN : Jeux de rôle catégories 1 &amp; 2 (objections initiales + financières)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Binômes tournants : chaque fundraiser joue les 2 rôles (fundraiser + prospect)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Formateur observe 2 binômes simultanément avec la grille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Débrief à mi-journée : retours individuels + points de vigilance collectifs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🎭 APRÈS-MIDI : Jeux de rôle catégories 3, 4 &amp; 5 (PA + IBAN + conflictuelles)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Simulation d'appels complets : script entier + objection tirée au sort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Débrief final : 3 points forts collectifs + 2 axes d'amélioration prioritaires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9" name="Picture 8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09728" cy="6126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1">
                <a:solidFill>
                  <a:srgbClr val="FFFFFF"/>
                </a:solidFill>
                <a:latin typeface="Calibri"/>
              </a:rPr>
              <a:t>Chaque objection est une invitation
à convaincre davantage.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— Méthode AAR — SHY-Performance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MERCI POUR VOTRE PARTICIPATION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017520"/>
            <a:ext cx="7589520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Élaboré par Tamou Eljerrari | Sur ordre de Mme Salima Negrao, DG SHY-Performance</a:t>
            </a:r>
          </a:p>
        </p:txBody>
      </p:sp>
      <p:pic>
        <p:nvPicPr>
          <p:cNvPr id="9" name="Picture 8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