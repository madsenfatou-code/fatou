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33172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13432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45720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566928"/>
            <a:ext cx="8229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BBEEEE"/>
                </a:solidFill>
              </a:rPr>
              <a:t>Formation Initiale Module — Fundraising Téléphonique UNICEF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144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88DDDD"/>
                </a:solidFill>
              </a:rPr>
              <a:t>QUIZ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234440"/>
            <a:ext cx="105156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Quiz Final — 40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938528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CCEEEE"/>
                </a:solidFill>
              </a:rPr>
              <a:t>Évaluation consolidée de formation FIM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V8-01062026SHY-TE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5050"/>
                </a:solidFill>
              </a:rPr>
              <a:t>Seuil de validation : 28/40 (70%)  ·  Excellent : ≥ 35/40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Quiz Final FIM — Questions 1–4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1097280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822960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85953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Fondation UNICEF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1207008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1243584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1901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1517904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1554480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1946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1828800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1865376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1959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139696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2176272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1989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395728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" y="2670048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" y="2395728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2432304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Pays UNICEF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8" y="2779776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2816352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150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3090672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3127248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190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8" y="3401568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3438144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210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" y="3712463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3749039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220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968496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" y="4242816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3968496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4005072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Vaccination UNICEF %age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352544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4389120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35%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663440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4700016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40%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4974336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" y="5010912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45%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5285231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" y="5321807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50%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541264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1752" y="5815583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8" y="5541264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" y="5577840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RUTF poids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9808" y="5925312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" y="5961888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75g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8" y="6236207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8" y="6272783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92g 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9808" y="6547103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1248" y="6583679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100g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9808" y="6857999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1248" y="6894575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120g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Quiz Final FIM — Questions 5–8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1097280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822960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85953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RUTF guérison enfant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1207008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1243584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4 semaines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1517904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1554480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6–8 semaines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1828800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1865376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10 semaines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139696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2176272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12 semaines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395728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" y="2670048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" y="2395728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2432304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Associations France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8" y="2779776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2816352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1M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3090672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3127248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1,2M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8" y="3401568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3438144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1,5M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" y="3712463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3749039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2M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968496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" y="4242816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3968496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4005072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Bénévoles France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352544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4389120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18M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663440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4700016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20M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4974336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" y="5010912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22M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5285231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" y="5321807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25M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541264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1752" y="5815583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8" y="5541264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" y="5577840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Loi 1901 date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9808" y="5925312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" y="5961888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1er juil. 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8" y="6236207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8" y="6272783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14 juil.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9808" y="6547103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1248" y="6583679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5 mai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9808" y="6857999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1248" y="6894575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10 mars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Quiz Final FIM — Questions 9–12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1097280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822960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85953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Solférino année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1207008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1243584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1859 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1517904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1554480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1863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1828800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1865376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1889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139696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2176272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1946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395728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" y="2670048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" y="2395728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2432304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Croix-Rouge fondation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8" y="2779776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2816352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1859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3090672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3127248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1863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8" y="3401568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3438144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1900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" y="3712463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3749039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1946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968496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" y="4242816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3968496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4005072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Étapes script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352544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4389120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663440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4700016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4974336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" y="5010912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7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5285231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" y="5321807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541264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1752" y="5815583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8" y="5541264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" y="5577840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Règles accroche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9808" y="5925312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" y="5961888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8" y="6236207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8" y="6272783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9808" y="6547103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1248" y="6583679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5 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9808" y="6857999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1248" y="6894575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Quiz Final FIM — Questions 13–16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1097280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822960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85953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Modes validation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1207008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1243584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1517904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1554480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1828800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1865376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4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139696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2176272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395728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" y="2670048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" y="2395728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2432304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Première étape script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8" y="2779776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2816352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Accroche 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3090672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3127248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Malnutrition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8" y="3401568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3438144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RUTF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" y="3712463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3749039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Appel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968496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" y="4242816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3968496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4005072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CU/H objectif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352544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4389120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663440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4700016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4974336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" y="5010912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9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5285231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" y="5321807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10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541264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1752" y="5815583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8" y="5541264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" y="5577840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TX Transfo définition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9808" y="5925312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" y="5961888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Taux temps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8" y="6236207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8" y="6272783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Taux transformation PEL/PA 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9808" y="6547103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1248" y="6583679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Taux transfert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9808" y="6857999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1248" y="6894575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Taux total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Quiz Final FIM — Questions 17–20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1097280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822960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85953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PDC signifie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1207008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1243584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Plan Détails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1517904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1554480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Plan Débrief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1828800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1865376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Plan de Charge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139696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2176272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Plan Direct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395728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" y="2670048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" y="2395728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2432304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Production effective /jour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8" y="2779776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2816352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6h00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3090672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3127248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6h40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8" y="3401568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3438144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7h00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" y="3712463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3749039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8h00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968496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" y="4242816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3968496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4005072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Catégories objections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352544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4389120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663440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4700016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4974336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" y="5010912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5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5285231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" y="5321807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541264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1752" y="5815583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8" y="5541264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" y="5577840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Objections total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9808" y="5925312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" y="5961888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10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8" y="6236207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8" y="6272783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9808" y="6547103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1248" y="6583679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15 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9808" y="6857999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1248" y="6894575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Quiz Final FIM — Questions 21–24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1097280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822960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85953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AAR signifie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1207008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1243584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Accuser / Adapter / Répondre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1517904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1554480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Accuser réception / Arg / Relancer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1828800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1865376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Analyser / Adapter / Reformuler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139696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2176272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Approcher / Assurer / Recadrer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395728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" y="2670048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" y="2395728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2432304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Silence avant relance AAR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8" y="2779776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2816352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1 sec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3090672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3127248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2 sec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8" y="3401568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3438144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3 sec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" y="3712463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3749039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5 sec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968496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" y="4242816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3968496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4005072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Objections initiales (Cat.1)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352544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4389120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663440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4700016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8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4974336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" y="5010912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5285231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" y="5321807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541264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1752" y="5815583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8" y="5541264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" y="5577840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Règle 60 secondes : phase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9808" y="5925312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" y="5961888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Accroche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8" y="6236207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8" y="6272783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Vol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9808" y="6547103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1248" y="6583679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Avant accroche 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9808" y="6857999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1248" y="6894575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Atterrissage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Quiz Final FIM — Questions 25–28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1097280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822960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85953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Max objections post-appel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1207008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1243584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1517904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1554480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2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1828800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1865376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139696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2176272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395728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" y="2670048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" y="2395728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2432304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Accord principe : avant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8" y="2779776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2816352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Script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3090672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3127248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Objections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8" y="3401568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3438144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Atterrissage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" y="3712463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3749039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Validation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968496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" y="4242816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3968496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4005072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Prélèvement : jour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352544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4389120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05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663440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4700016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08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4974336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" y="5010912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10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5285231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" y="5321807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15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541264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1752" y="5815583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8" y="5541264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" y="5577840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Avant 04 : prélèvement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9808" y="5925312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" y="5961888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Mois prochain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8" y="6236207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8" y="6272783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Même mois 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9808" y="6547103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1248" y="6583679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Dans 2 mois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9808" y="6857999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1248" y="6894575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Jamais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Quiz Final FIM — Questions 29–32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1097280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822960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85953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Après 04 : prélèvement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1207008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1243584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Même mois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1517904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1554480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Mois prochain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1828800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1865376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Dans 2 mois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139696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2176272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Jamais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395728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" y="2670048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" y="2395728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2432304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TX audiolyse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8" y="2779776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2816352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60%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3090672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3127248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70%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8" y="3401568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3438144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80%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" y="3712463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3749039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90%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968496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" y="4242816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3968496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4005072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Verrouillage : confirmation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352544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4389120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30%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663440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4700016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40%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4974336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" y="5010912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50%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5285231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" y="5321807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60%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541264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1752" y="5815583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8" y="5541264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" y="5577840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Sans verrouillage : confirmation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9808" y="5925312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" y="5961888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1/5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8" y="6236207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8" y="6272783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1/10 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9808" y="6547103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1248" y="6583679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1/3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9808" y="6857999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1248" y="6894575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1/2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Quiz Final FIM — Questions 33–36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1097280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822960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85953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Closing optimal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1207008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1243584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C'est 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1517904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1554480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C'est formidable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1828800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1865376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C'est bien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139696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2176272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C'est super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395728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" y="2670048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" y="2395728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2432304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Grille certification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8" y="2779776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2816352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18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3090672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3127248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8" y="3401568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3438144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24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" y="3712463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3749039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28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968496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" y="4242816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3968496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4005072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Certification minimum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352544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4389120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15/24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663440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4700016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17/24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4974336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" y="5010912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19/24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5285231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" y="5321807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20/24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541264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1752" y="5815583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8" y="5541264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" y="5577840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Quiz final seuil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9808" y="5925312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" y="5961888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24/40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8" y="6236207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8" y="6272783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26/40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9808" y="6547103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1248" y="6583679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28/40 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9808" y="6857999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1248" y="6894575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30/40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Quiz Final FIM — Questions 37–39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1097280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822960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85953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Excellent quiz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1207008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1243584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33/40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1517904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1554480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35/40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1828800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1865376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37/40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139696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2176272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40/40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395728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" y="2670048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" y="2395728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2432304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Posture vocale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8" y="2779776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2816352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Rapide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3090672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3127248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Neutre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8" y="3401568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3438144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Chaleureuse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" y="3712463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3749039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Autoritaire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968496"/>
            <a:ext cx="457200" cy="8229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" y="4242816"/>
            <a:ext cx="402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3968496"/>
            <a:ext cx="11164824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4005072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Mantra FIM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352544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4389120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a) Refus = refus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663440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4700016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b) Refus d'aujourd'hui = don demain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4974336"/>
            <a:ext cx="1116482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" y="5010912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c) Insistez toujours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5285231"/>
            <a:ext cx="11164824" cy="292608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" y="5321807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d) Silence vaut mieux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0" y="1097280"/>
            <a:ext cx="3931920" cy="3931920"/>
          </a:xfrm>
          <a:prstGeom prst="ellipse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2011680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</a:rPr>
              <a:t>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8016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Merci à Tous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0604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1">
                <a:solidFill>
                  <a:srgbClr val="CCEEEE"/>
                </a:solidFill>
              </a:rPr>
              <a:t>Votre engagement fait la différence pour les enfants du monde entier.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46120"/>
            <a:ext cx="9418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88DDDD"/>
                </a:solidFill>
              </a:rPr>
              <a:t>Quiz Final — 40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49039"/>
            <a:ext cx="8531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1">
                <a:solidFill>
                  <a:srgbClr val="AADDDD"/>
                </a:solidFill>
              </a:rPr>
              <a:t>« Le refus d'aujourd'hui peut être le don de demain »</a:t>
            </a:r>
          </a:p>
        </p:txBody>
      </p:sp>
      <p:pic>
        <p:nvPicPr>
          <p:cNvPr id="11" name="Picture 10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5120640"/>
            <a:ext cx="914400" cy="8961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