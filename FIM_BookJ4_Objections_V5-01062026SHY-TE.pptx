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754880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754880" cy="45720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48640"/>
            <a:ext cx="1124321" cy="10972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1920240"/>
            <a:ext cx="3840480" cy="5029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920240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4D4D"/>
                </a:solidFill>
                <a:latin typeface="Calibri"/>
              </a:rPr>
              <a:t>JOUR 4</a:t>
            </a:r>
          </a:p>
        </p:txBody>
      </p:sp>
      <p:sp>
        <p:nvSpPr>
          <p:cNvPr id="8" name="Rectangle 7"/>
          <p:cNvSpPr/>
          <p:nvPr/>
        </p:nvSpPr>
        <p:spPr>
          <a:xfrm>
            <a:off x="2194560" y="2560320"/>
            <a:ext cx="36576" cy="274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5669280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D4A017"/>
                </a:solidFill>
                <a:latin typeface="Calibri"/>
              </a:rPr>
              <a:t>SHY-Performance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5989320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E5E5"/>
                </a:solidFill>
                <a:latin typeface="Calibri"/>
              </a:rPr>
              <a:t>FIDELIS × UNICEF France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0" y="914400"/>
            <a:ext cx="6858000" cy="73152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0" y="1097280"/>
            <a:ext cx="6858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004D4D"/>
                </a:solidFill>
                <a:latin typeface="Calibri"/>
              </a:rPr>
              <a:t>JOUR 4
TRAITEMENT
DES OBJECTIONS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0" y="3840480"/>
            <a:ext cx="4572000" cy="457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0" y="4023360"/>
            <a:ext cx="6858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1A1A1A"/>
                </a:solidFill>
                <a:latin typeface="Calibri"/>
              </a:rPr>
              <a:t>15 Objections — 5 Catégories — Méthode AAR
SHY-Performance × FIDELIS × UNICEF France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0" y="5074920"/>
            <a:ext cx="3657600" cy="38404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0" y="5074920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Formation Initiale Module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45720"/>
            <a:ext cx="116403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★  RÈGLE D'OR  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94360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RÈGLE D'OR — La Méthode AAR</a:t>
            </a:r>
          </a:p>
        </p:txBody>
      </p:sp>
      <p:pic>
        <p:nvPicPr>
          <p:cNvPr id="7" name="Picture 6" descr="shy_logo_v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91440"/>
            <a:ext cx="691533" cy="6400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1463040"/>
            <a:ext cx="1127455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800"/>
              </a:spcBef>
            </a:pPr>
            <a:r>
              <a:rPr sz="1900" b="1">
                <a:solidFill>
                  <a:srgbClr val="004D4D"/>
                </a:solidFill>
                <a:latin typeface="Calibri"/>
              </a:rPr>
              <a:t>⭐ AAR = Accuser réception / Argumenter / Relancer</a:t>
            </a:r>
          </a:p>
          <a:p>
            <a:pPr algn="ctr">
              <a:spcBef>
                <a:spcPts val="800"/>
              </a:spcBef>
            </a:pPr>
            <a:r>
              <a:rPr sz="1900" b="1">
                <a:solidFill>
                  <a:srgbClr val="004D4D"/>
                </a:solidFill>
                <a:latin typeface="Calibri"/>
              </a:rPr>
              <a:t>⭐ A — ACCUSER RÉCEPTION : montrer que l'on a entendu et compris l'objection</a:t>
            </a:r>
          </a:p>
          <a:p>
            <a:pPr algn="ctr">
              <a:spcBef>
                <a:spcPts val="800"/>
              </a:spcBef>
            </a:pPr>
            <a:r>
              <a:rPr sz="1900" b="1">
                <a:solidFill>
                  <a:srgbClr val="004D4D"/>
                </a:solidFill>
                <a:latin typeface="Calibri"/>
              </a:rPr>
              <a:t>⭐ Exemples : 'Je comprends tout à fait...' / 'C'est tout à fait légitime...'</a:t>
            </a:r>
          </a:p>
          <a:p>
            <a:pPr algn="ctr">
              <a:spcBef>
                <a:spcPts val="800"/>
              </a:spcBef>
            </a:pPr>
            <a:r>
              <a:rPr sz="1900" b="1">
                <a:solidFill>
                  <a:srgbClr val="004D4D"/>
                </a:solidFill>
                <a:latin typeface="Calibri"/>
              </a:rPr>
              <a:t>⭐ A — ARGUMENTER : répondre avec un argument factuel ET émotionnel</a:t>
            </a:r>
          </a:p>
          <a:p>
            <a:pPr algn="ctr">
              <a:spcBef>
                <a:spcPts val="800"/>
              </a:spcBef>
            </a:pPr>
            <a:r>
              <a:rPr sz="1900" b="1">
                <a:solidFill>
                  <a:srgbClr val="004D4D"/>
                </a:solidFill>
                <a:latin typeface="Calibri"/>
              </a:rPr>
              <a:t>⭐ R — RELANCER : reposer une question orientée vers l'accord</a:t>
            </a:r>
          </a:p>
          <a:p>
            <a:pPr algn="ctr">
              <a:spcBef>
                <a:spcPts val="800"/>
              </a:spcBef>
            </a:pPr>
            <a:r>
              <a:rPr sz="1900" b="1">
                <a:solidFill>
                  <a:srgbClr val="004D4D"/>
                </a:solidFill>
                <a:latin typeface="Calibri"/>
              </a:rPr>
              <a:t>⭐ Exemples de relance : 'Alors, est-ce que 10€ par mois vous semble accessible ?'</a:t>
            </a:r>
          </a:p>
          <a:p>
            <a:pPr algn="ctr">
              <a:spcBef>
                <a:spcPts val="800"/>
              </a:spcBef>
            </a:pPr>
            <a:r>
              <a:rPr sz="1900" b="1">
                <a:solidFill>
                  <a:srgbClr val="004D4D"/>
                </a:solidFill>
                <a:latin typeface="Calibri"/>
              </a:rPr>
              <a:t>⭐ Règle d'or : ne jamais contredire frontalement — toujours amortir avant d'argumenter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5623560"/>
            <a:ext cx="73152" cy="5029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5623560"/>
            <a:ext cx="11183112" cy="502920"/>
          </a:xfrm>
          <a:prstGeom prst="rect">
            <a:avLst/>
          </a:prstGeom>
          <a:solidFill>
            <a:srgbClr val="FFF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5660136"/>
            <a:ext cx="1109167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004D4D"/>
                </a:solidFill>
                <a:latin typeface="Calibri"/>
              </a:rPr>
              <a:t>⭐  La méthode AAR s'applique à TOUTES les objections sans exception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28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Catégorie 1 — Objections Initiales (Phase d'Accroche)</a:t>
            </a:r>
          </a:p>
        </p:txBody>
      </p:sp>
      <p:pic>
        <p:nvPicPr>
          <p:cNvPr id="8" name="Picture 7" descr="shy_logo_v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91440"/>
            <a:ext cx="691533" cy="64008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01168" y="1481328"/>
            <a:ext cx="11987784" cy="540639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01168" y="1481328"/>
            <a:ext cx="64008" cy="540639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517904"/>
            <a:ext cx="467487" cy="467487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1517904"/>
            <a:ext cx="467487" cy="467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1517904"/>
            <a:ext cx="11000232" cy="467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>
                <a:solidFill>
                  <a:srgbClr val="004D4D"/>
                </a:solidFill>
                <a:latin typeface="Calibri"/>
              </a:rPr>
              <a:t>OBJ 1  </a:t>
            </a:r>
            <a:r>
              <a:rPr sz="1300" b="0">
                <a:solidFill>
                  <a:srgbClr val="1A1A1A"/>
                </a:solidFill>
                <a:latin typeface="Calibri"/>
              </a:rPr>
              <a:t>:  'Pas intéressé / Je n'ai pas le temps' → 'Permettez-moi de vous expliquer rapidement...'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1168" y="2058543"/>
            <a:ext cx="11987784" cy="54063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01168" y="2058543"/>
            <a:ext cx="64008" cy="540639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0040" y="2095119"/>
            <a:ext cx="467487" cy="467487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2095119"/>
            <a:ext cx="467487" cy="467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2095119"/>
            <a:ext cx="11000232" cy="467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>
                <a:solidFill>
                  <a:srgbClr val="004D4D"/>
                </a:solidFill>
                <a:latin typeface="Calibri"/>
              </a:rPr>
              <a:t>OBJ 2 : 'Faux numéro' → 'Mon appel n'est pas nominatif  </a:t>
            </a:r>
            <a:r>
              <a:rPr sz="1300" b="0">
                <a:solidFill>
                  <a:srgbClr val="1A1A1A"/>
                </a:solidFill>
                <a:latin typeface="Calibri"/>
              </a:rPr>
              <a:t>—  campagne nationale d'information'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01168" y="2635758"/>
            <a:ext cx="11987784" cy="540639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01168" y="2635758"/>
            <a:ext cx="64008" cy="540639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2672334"/>
            <a:ext cx="467487" cy="467487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0040" y="2672334"/>
            <a:ext cx="467487" cy="467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2672334"/>
            <a:ext cx="11000232" cy="467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>
                <a:solidFill>
                  <a:srgbClr val="004D4D"/>
                </a:solidFill>
                <a:latin typeface="Calibri"/>
              </a:rPr>
              <a:t>OBJ 3  </a:t>
            </a:r>
            <a:r>
              <a:rPr sz="1300" b="0">
                <a:solidFill>
                  <a:srgbClr val="1A1A1A"/>
                </a:solidFill>
                <a:latin typeface="Calibri"/>
              </a:rPr>
              <a:t>:  'Vous m'appelez pour un don ?' → 'Avant tout, je vous contacte pour avoir votre avis'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01168" y="3212973"/>
            <a:ext cx="11987784" cy="54063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01168" y="3212973"/>
            <a:ext cx="64008" cy="540639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0040" y="3249549"/>
            <a:ext cx="467487" cy="467487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" y="3249549"/>
            <a:ext cx="467487" cy="467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" y="3249549"/>
            <a:ext cx="11000232" cy="467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>
                <a:solidFill>
                  <a:srgbClr val="004D4D"/>
                </a:solidFill>
                <a:latin typeface="Calibri"/>
              </a:rPr>
              <a:t>OBJ 4 : 'Je donne déjà ailleurs' → 'Je vous remercie  </a:t>
            </a:r>
            <a:r>
              <a:rPr sz="1300" b="0">
                <a:solidFill>
                  <a:srgbClr val="1A1A1A"/>
                </a:solidFill>
                <a:latin typeface="Calibri"/>
              </a:rPr>
              <a:t>—  il ne s'agit pas seulement d'un don'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01168" y="3790188"/>
            <a:ext cx="11987784" cy="540639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01168" y="3790188"/>
            <a:ext cx="64008" cy="540639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20040" y="3826764"/>
            <a:ext cx="467487" cy="467487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0040" y="3826764"/>
            <a:ext cx="467487" cy="467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" y="3826764"/>
            <a:ext cx="11000232" cy="467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>
                <a:solidFill>
                  <a:srgbClr val="004D4D"/>
                </a:solidFill>
                <a:latin typeface="Calibri"/>
              </a:rPr>
              <a:t>OBJ 5 : 'C'est une arnaque !' → 'Je vous appelle bien de la part d'UNICEF France  </a:t>
            </a:r>
            <a:r>
              <a:rPr sz="1300" b="0">
                <a:solidFill>
                  <a:srgbClr val="1A1A1A"/>
                </a:solidFill>
                <a:latin typeface="Calibri"/>
              </a:rPr>
              <a:t>—  unicef.fr'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01168" y="4367403"/>
            <a:ext cx="11987784" cy="54063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01168" y="4367403"/>
            <a:ext cx="64008" cy="540639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20040" y="4403979"/>
            <a:ext cx="467487" cy="467487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0040" y="4403979"/>
            <a:ext cx="467487" cy="467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0120" y="4403979"/>
            <a:ext cx="11000232" cy="467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>
                <a:solidFill>
                  <a:srgbClr val="004D4D"/>
                </a:solidFill>
                <a:latin typeface="Calibri"/>
              </a:rPr>
              <a:t>OBJ 6  </a:t>
            </a:r>
            <a:r>
              <a:rPr sz="1300" b="0">
                <a:solidFill>
                  <a:srgbClr val="1A1A1A"/>
                </a:solidFill>
                <a:latin typeface="Calibri"/>
              </a:rPr>
              <a:t>:  'Je ne donne pas par téléphone' → 'Il n'est pas question de donner de l'argent par téléphone'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01168" y="4944618"/>
            <a:ext cx="11987784" cy="540639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01168" y="4944618"/>
            <a:ext cx="64008" cy="540639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20040" y="4981194"/>
            <a:ext cx="467487" cy="467487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20040" y="4981194"/>
            <a:ext cx="467487" cy="467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0120" y="4981194"/>
            <a:ext cx="11000232" cy="467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>
                <a:solidFill>
                  <a:srgbClr val="004D4D"/>
                </a:solidFill>
                <a:latin typeface="Calibri"/>
              </a:rPr>
              <a:t>OBJ 7  </a:t>
            </a:r>
            <a:r>
              <a:rPr sz="1300" b="0">
                <a:solidFill>
                  <a:srgbClr val="1A1A1A"/>
                </a:solidFill>
                <a:latin typeface="Calibri"/>
              </a:rPr>
              <a:t>:  'Pas confiance aux associations' → citer Comité de la Charte, 75 ans, Nobel 1965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01168" y="5521833"/>
            <a:ext cx="11987784" cy="54063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201168" y="5521833"/>
            <a:ext cx="64008" cy="540639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320040" y="5558409"/>
            <a:ext cx="467487" cy="467487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20040" y="5558409"/>
            <a:ext cx="467487" cy="467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60120" y="5558409"/>
            <a:ext cx="11000232" cy="467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>
                <a:solidFill>
                  <a:srgbClr val="004D4D"/>
                </a:solidFill>
                <a:latin typeface="Calibri"/>
              </a:rPr>
              <a:t>OBJ 8 : 'Je n'aime pas être contacté' → 'Message important à diffuser  </a:t>
            </a:r>
            <a:r>
              <a:rPr sz="1300" b="0">
                <a:solidFill>
                  <a:srgbClr val="1A1A1A"/>
                </a:solidFill>
                <a:latin typeface="Calibri"/>
              </a:rPr>
              <a:t>—  moyen le plus efficace'</a:t>
            </a:r>
          </a:p>
        </p:txBody>
      </p:sp>
      <p:sp>
        <p:nvSpPr>
          <p:cNvPr id="49" name="Rectangle 48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7432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28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Catégorie 2 — Objections Financières</a:t>
            </a:r>
          </a:p>
        </p:txBody>
      </p:sp>
      <p:pic>
        <p:nvPicPr>
          <p:cNvPr id="8" name="Picture 7" descr="shy_logo_v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91440"/>
            <a:ext cx="691533" cy="64008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01168" y="1481328"/>
            <a:ext cx="11987784" cy="538189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01168" y="1481328"/>
            <a:ext cx="64008" cy="538189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517904"/>
            <a:ext cx="465037" cy="465037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1517904"/>
            <a:ext cx="465037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1517904"/>
            <a:ext cx="11000232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OBJ 9  </a:t>
            </a:r>
            <a:r>
              <a:rPr sz="1500" b="0">
                <a:solidFill>
                  <a:srgbClr val="1A1A1A"/>
                </a:solidFill>
                <a:latin typeface="Calibri"/>
              </a:rPr>
              <a:t>:  'Je donne déjà à d'autres associations' → ne pas modifier habitudes + proposer 10€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1168" y="2056093"/>
            <a:ext cx="11987784" cy="53818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01168" y="2056093"/>
            <a:ext cx="64008" cy="538189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0040" y="2092669"/>
            <a:ext cx="465037" cy="465037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2092669"/>
            <a:ext cx="465037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2092669"/>
            <a:ext cx="11000232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Argument : '300 millions de personnes en insécurité alimentaire  </a:t>
            </a:r>
            <a:r>
              <a:rPr sz="1500" b="0">
                <a:solidFill>
                  <a:srgbClr val="1A1A1A"/>
                </a:solidFill>
                <a:latin typeface="Calibri"/>
              </a:rPr>
              <a:t>—  chaque don compte'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01168" y="2630859"/>
            <a:ext cx="11987784" cy="538189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01168" y="2630859"/>
            <a:ext cx="64008" cy="538189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2667435"/>
            <a:ext cx="465037" cy="465037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0040" y="2667435"/>
            <a:ext cx="465037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2667435"/>
            <a:ext cx="11000232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OBJ 10 : 'Je n'ai pas les moyens' → '15€ était un exemple  </a:t>
            </a:r>
            <a:r>
              <a:rPr sz="1500" b="0">
                <a:solidFill>
                  <a:srgbClr val="1A1A1A"/>
                </a:solidFill>
                <a:latin typeface="Calibri"/>
              </a:rPr>
              <a:t>—  que pensez-vous de 10€ ?'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01168" y="3205625"/>
            <a:ext cx="11987784" cy="53818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01168" y="3205625"/>
            <a:ext cx="64008" cy="538189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0040" y="3242201"/>
            <a:ext cx="465037" cy="465037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" y="3242201"/>
            <a:ext cx="465037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" y="3242201"/>
            <a:ext cx="11000232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Argument : '10€ = 2,50€ après déduction fiscale  </a:t>
            </a:r>
            <a:r>
              <a:rPr sz="1500" b="0">
                <a:solidFill>
                  <a:srgbClr val="1A1A1A"/>
                </a:solidFill>
                <a:latin typeface="Calibri"/>
              </a:rPr>
              <a:t>—  pour 4 enfants pris en charge'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01168" y="3780390"/>
            <a:ext cx="11987784" cy="538189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01168" y="3780390"/>
            <a:ext cx="64008" cy="538189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20040" y="3816966"/>
            <a:ext cx="465037" cy="465037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0040" y="3816966"/>
            <a:ext cx="465037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" y="3816966"/>
            <a:ext cx="11000232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Dernier positionnement  </a:t>
            </a:r>
            <a:r>
              <a:rPr sz="1500" b="0">
                <a:solidFill>
                  <a:srgbClr val="1A1A1A"/>
                </a:solidFill>
                <a:latin typeface="Calibri"/>
              </a:rPr>
              <a:t>:  'Une personne meurt de faim toutes les 13 secondes'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01168" y="4355156"/>
            <a:ext cx="11987784" cy="53818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01168" y="4355156"/>
            <a:ext cx="64008" cy="538189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20040" y="4391732"/>
            <a:ext cx="465037" cy="465037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0040" y="4391732"/>
            <a:ext cx="465037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0120" y="4391732"/>
            <a:ext cx="11000232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Descendre à 8€ ou 6€ si nécessaire  </a:t>
            </a:r>
            <a:r>
              <a:rPr sz="1500" b="0">
                <a:solidFill>
                  <a:srgbClr val="1A1A1A"/>
                </a:solidFill>
                <a:latin typeface="Calibri"/>
              </a:rPr>
              <a:t>—  '6€ = 1,50€ après déduction fiscale'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01168" y="4929922"/>
            <a:ext cx="11987784" cy="538189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01168" y="4929922"/>
            <a:ext cx="64008" cy="538189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20040" y="4966498"/>
            <a:ext cx="465037" cy="465037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20040" y="4966498"/>
            <a:ext cx="465037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0120" y="4966498"/>
            <a:ext cx="11000232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Règle  </a:t>
            </a:r>
            <a:r>
              <a:rPr sz="1500" b="0">
                <a:solidFill>
                  <a:srgbClr val="1A1A1A"/>
                </a:solidFill>
                <a:latin typeface="Calibri"/>
              </a:rPr>
              <a:t>:  ne jamais proposer moins de 6€ sans accord explicite du superviseur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01168" y="5614416"/>
            <a:ext cx="11987784" cy="539496"/>
          </a:xfrm>
          <a:prstGeom prst="rect">
            <a:avLst/>
          </a:prstGeom>
          <a:solidFill>
            <a:srgbClr val="FFF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201168" y="5614416"/>
            <a:ext cx="164592" cy="539496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7200" y="5669280"/>
            <a:ext cx="11457432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004D4D"/>
                </a:solidFill>
                <a:latin typeface="Calibri"/>
              </a:rPr>
              <a:t>💡  Toujours ramener le montant à son coût réel après déduction fiscale de 75%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7432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28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Catégorie 3 — Contre le Don Régulier (PA)</a:t>
            </a:r>
          </a:p>
        </p:txBody>
      </p:sp>
      <p:pic>
        <p:nvPicPr>
          <p:cNvPr id="8" name="Picture 7" descr="shy_logo_v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91440"/>
            <a:ext cx="691533" cy="64008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01168" y="1481328"/>
            <a:ext cx="11987784" cy="623098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01168" y="1481328"/>
            <a:ext cx="64008" cy="62309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541417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1541417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1517904"/>
            <a:ext cx="11000232" cy="5499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OBJ 11  </a:t>
            </a:r>
            <a:r>
              <a:rPr sz="1500" b="0">
                <a:solidFill>
                  <a:srgbClr val="1A1A1A"/>
                </a:solidFill>
                <a:latin typeface="Calibri"/>
              </a:rPr>
              <a:t>:  'Je préfère un don ponctuel' → 'C'est formidable ! Mais le régulier sauve sur le long terme'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1168" y="2141002"/>
            <a:ext cx="11987784" cy="6230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01168" y="2141002"/>
            <a:ext cx="64008" cy="62309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0040" y="2201091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2201091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2177578"/>
            <a:ext cx="11000232" cy="5499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Argument  </a:t>
            </a:r>
            <a:r>
              <a:rPr sz="1500" b="0">
                <a:solidFill>
                  <a:srgbClr val="1A1A1A"/>
                </a:solidFill>
                <a:latin typeface="Calibri"/>
              </a:rPr>
              <a:t>:  'La faim ne s'arrête pas après une aide ponctuelle'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01168" y="2800676"/>
            <a:ext cx="11987784" cy="623098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01168" y="2800676"/>
            <a:ext cx="64008" cy="62309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2860765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0040" y="2860765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2837252"/>
            <a:ext cx="11000232" cy="5499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Argument flexibilité  </a:t>
            </a:r>
            <a:r>
              <a:rPr sz="1500" b="0">
                <a:solidFill>
                  <a:srgbClr val="1A1A1A"/>
                </a:solidFill>
                <a:latin typeface="Calibri"/>
              </a:rPr>
              <a:t>:  'Vous pouvez stopper ou modifier le montant à tout moment'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01168" y="3460350"/>
            <a:ext cx="11987784" cy="6230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01168" y="3460350"/>
            <a:ext cx="64008" cy="62309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0040" y="3520440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" y="35204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" y="3496926"/>
            <a:ext cx="11000232" cy="5499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OBJ 12  </a:t>
            </a:r>
            <a:r>
              <a:rPr sz="1500" b="0">
                <a:solidFill>
                  <a:srgbClr val="1A1A1A"/>
                </a:solidFill>
                <a:latin typeface="Calibri"/>
              </a:rPr>
              <a:t>:  'Je n'aime pas l'engagement mensuel' → 'Ce n'est pas un engagement rigide'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01168" y="4120025"/>
            <a:ext cx="11987784" cy="623098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01168" y="4120025"/>
            <a:ext cx="64008" cy="62309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20040" y="4180114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0040" y="4180114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" y="4156601"/>
            <a:ext cx="11000232" cy="5499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Argument : 'Vous gardez un contrôle total  </a:t>
            </a:r>
            <a:r>
              <a:rPr sz="1500" b="0">
                <a:solidFill>
                  <a:srgbClr val="1A1A1A"/>
                </a:solidFill>
                <a:latin typeface="Calibri"/>
              </a:rPr>
              <a:t>—  un appel suffit pour suspendre'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01168" y="4779699"/>
            <a:ext cx="11987784" cy="6230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01168" y="4779699"/>
            <a:ext cx="64008" cy="62309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20040" y="4839788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0040" y="483978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0120" y="4816275"/>
            <a:ext cx="11000232" cy="5499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Dernier positionnement PA  </a:t>
            </a:r>
            <a:r>
              <a:rPr sz="1500" b="0">
                <a:solidFill>
                  <a:srgbClr val="1A1A1A"/>
                </a:solidFill>
                <a:latin typeface="Calibri"/>
              </a:rPr>
              <a:t>:  'Des milliers d'enfants dont la plupart ont moins de 5 ans'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01168" y="5439373"/>
            <a:ext cx="11987784" cy="623098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01168" y="5439373"/>
            <a:ext cx="64008" cy="62309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20040" y="5499462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20040" y="549946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0120" y="5475949"/>
            <a:ext cx="11000232" cy="5499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Question de relance finale  </a:t>
            </a:r>
            <a:r>
              <a:rPr sz="1500" b="0">
                <a:solidFill>
                  <a:srgbClr val="1A1A1A"/>
                </a:solidFill>
                <a:latin typeface="Calibri"/>
              </a:rPr>
              <a:t>:  '8€ ou même 6€ par mois vous semblent envisageables ?'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7432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28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Catégorie 4 — Méfiance IBAN</a:t>
            </a:r>
          </a:p>
        </p:txBody>
      </p:sp>
      <p:pic>
        <p:nvPicPr>
          <p:cNvPr id="8" name="Picture 7" descr="shy_logo_v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91440"/>
            <a:ext cx="691533" cy="64008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01168" y="1481328"/>
            <a:ext cx="11987784" cy="538189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01168" y="1481328"/>
            <a:ext cx="64008" cy="538189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517904"/>
            <a:ext cx="465037" cy="465037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1517904"/>
            <a:ext cx="465037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1517904"/>
            <a:ext cx="11000232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OBJ 13  </a:t>
            </a:r>
            <a:r>
              <a:rPr sz="1500" b="0">
                <a:solidFill>
                  <a:srgbClr val="1A1A1A"/>
                </a:solidFill>
                <a:latin typeface="Calibri"/>
              </a:rPr>
              <a:t>:  'Je ne veux pas donner mon IBAN' → rassurer avec précision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1168" y="2056093"/>
            <a:ext cx="11987784" cy="53818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01168" y="2056093"/>
            <a:ext cx="64008" cy="538189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0040" y="2092669"/>
            <a:ext cx="465037" cy="465037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2092669"/>
            <a:ext cx="465037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2092669"/>
            <a:ext cx="11000232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'Votre IBAN ne permet PAS d'accéder à votre compte  </a:t>
            </a:r>
            <a:r>
              <a:rPr sz="1500" b="0">
                <a:solidFill>
                  <a:srgbClr val="1A1A1A"/>
                </a:solidFill>
                <a:latin typeface="Calibri"/>
              </a:rPr>
              <a:t>—  uniquement un virement SEPA'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01168" y="2630859"/>
            <a:ext cx="11987784" cy="538189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01168" y="2630859"/>
            <a:ext cx="64008" cy="538189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2667435"/>
            <a:ext cx="465037" cy="465037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0040" y="2667435"/>
            <a:ext cx="465037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2667435"/>
            <a:ext cx="11000232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Calibri"/>
              </a:rPr>
              <a:t>'Sans accord verbal clair de votre part, rien n'est possible'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01168" y="3205625"/>
            <a:ext cx="11987784" cy="53818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01168" y="3205625"/>
            <a:ext cx="64008" cy="538189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0040" y="3242201"/>
            <a:ext cx="465037" cy="465037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" y="3242201"/>
            <a:ext cx="465037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" y="3242201"/>
            <a:ext cx="11000232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Calibri"/>
              </a:rPr>
              <a:t>'Votre IBAN figure déjà sur vos factures d'énergie, internet, mutuelle, CAF...'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01168" y="3780390"/>
            <a:ext cx="11987784" cy="538189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01168" y="3780390"/>
            <a:ext cx="64008" cy="538189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20040" y="3816966"/>
            <a:ext cx="465037" cy="465037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0040" y="3816966"/>
            <a:ext cx="465037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" y="3816966"/>
            <a:ext cx="11000232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'Aucun prélèvement aujourd'hui  </a:t>
            </a:r>
            <a:r>
              <a:rPr sz="1500" b="0">
                <a:solidFill>
                  <a:srgbClr val="1A1A1A"/>
                </a:solidFill>
                <a:latin typeface="Calibri"/>
              </a:rPr>
              <a:t>—  1er prélèvement le 10 du mois prochain'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01168" y="4355156"/>
            <a:ext cx="11987784" cy="53818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01168" y="4355156"/>
            <a:ext cx="64008" cy="538189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20040" y="4391732"/>
            <a:ext cx="465037" cy="465037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0040" y="4391732"/>
            <a:ext cx="465037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0120" y="4391732"/>
            <a:ext cx="11000232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Calibri"/>
              </a:rPr>
              <a:t>'Procédure encadrée accordée exclusivement aux organisations françaises reconnues'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01168" y="4929922"/>
            <a:ext cx="11987784" cy="538189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01168" y="4929922"/>
            <a:ext cx="64008" cy="538189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20040" y="4966498"/>
            <a:ext cx="465037" cy="465037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20040" y="4966498"/>
            <a:ext cx="465037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0120" y="4966498"/>
            <a:ext cx="11000232" cy="465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Calibri"/>
              </a:rPr>
              <a:t>Si toujours non → orienter vers PA en ligne en direct sur unicef.fr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01168" y="5614416"/>
            <a:ext cx="11987784" cy="539496"/>
          </a:xfrm>
          <a:prstGeom prst="rect">
            <a:avLst/>
          </a:prstGeom>
          <a:solidFill>
            <a:srgbClr val="FFF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201168" y="5614416"/>
            <a:ext cx="164592" cy="539496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7200" y="5669280"/>
            <a:ext cx="11457432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004D4D"/>
                </a:solidFill>
                <a:latin typeface="Calibri"/>
              </a:rPr>
              <a:t>💡  Ne jamais recueillir l'IBAN sans la présence du superviseur + coupure enregistrement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7432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28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Catégorie 5 — Objections Conflictuelles</a:t>
            </a:r>
          </a:p>
        </p:txBody>
      </p:sp>
      <p:pic>
        <p:nvPicPr>
          <p:cNvPr id="8" name="Picture 7" descr="shy_logo_v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91440"/>
            <a:ext cx="691533" cy="64008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01168" y="1481328"/>
            <a:ext cx="11987784" cy="466344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01168" y="1481328"/>
            <a:ext cx="64008" cy="46634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517904"/>
            <a:ext cx="393192" cy="39319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1517904"/>
            <a:ext cx="393192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1517904"/>
            <a:ext cx="11000232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>
                <a:solidFill>
                  <a:srgbClr val="004D4D"/>
                </a:solidFill>
                <a:latin typeface="Calibri"/>
              </a:rPr>
              <a:t>OBJ 14a : 'D'où m'appelez-vous ?' → 'De Paris  </a:t>
            </a:r>
            <a:r>
              <a:rPr sz="1300" b="0">
                <a:solidFill>
                  <a:srgbClr val="1A1A1A"/>
                </a:solidFill>
                <a:latin typeface="Calibri"/>
              </a:rPr>
              <a:t>—  6ème arrondissement, siège UNICEF France'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1168" y="1984248"/>
            <a:ext cx="11987784" cy="4663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01168" y="1984248"/>
            <a:ext cx="64008" cy="46634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0040" y="2020824"/>
            <a:ext cx="393192" cy="39319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2020824"/>
            <a:ext cx="393192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2020824"/>
            <a:ext cx="11000232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>
                <a:solidFill>
                  <a:srgbClr val="004D4D"/>
                </a:solidFill>
                <a:latin typeface="Calibri"/>
              </a:rPr>
              <a:t>OBJ 14b  </a:t>
            </a:r>
            <a:r>
              <a:rPr sz="1300" b="0">
                <a:solidFill>
                  <a:srgbClr val="1A1A1A"/>
                </a:solidFill>
                <a:latin typeface="Calibri"/>
              </a:rPr>
              <a:t>:  'D'où avez-vous mon numéro ?' → citer la source (partenaire / annuaire)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01168" y="2487168"/>
            <a:ext cx="11987784" cy="466344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01168" y="2487168"/>
            <a:ext cx="64008" cy="46634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2523744"/>
            <a:ext cx="393192" cy="39319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0040" y="2523744"/>
            <a:ext cx="393192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2523744"/>
            <a:ext cx="11000232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>
                <a:solidFill>
                  <a:srgbClr val="004D4D"/>
                </a:solidFill>
                <a:latin typeface="Calibri"/>
              </a:rPr>
              <a:t>OBJ 14c  </a:t>
            </a:r>
            <a:r>
              <a:rPr sz="1300" b="0">
                <a:solidFill>
                  <a:srgbClr val="1A1A1A"/>
                </a:solidFill>
                <a:latin typeface="Calibri"/>
              </a:rPr>
              <a:t>:  'Vous n'avez pas le droit de m'appeler' → informer sur l'inscription annuaire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01168" y="2990088"/>
            <a:ext cx="11987784" cy="4663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01168" y="2990088"/>
            <a:ext cx="64008" cy="46634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0040" y="3026664"/>
            <a:ext cx="393192" cy="39319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" y="3026664"/>
            <a:ext cx="393192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" y="3026664"/>
            <a:ext cx="11000232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>
                <a:solidFill>
                  <a:srgbClr val="004D4D"/>
                </a:solidFill>
                <a:latin typeface="Calibri"/>
              </a:rPr>
              <a:t>OBJ 14d  </a:t>
            </a:r>
            <a:r>
              <a:rPr sz="1300" b="0">
                <a:solidFill>
                  <a:srgbClr val="1A1A1A"/>
                </a:solidFill>
                <a:latin typeface="Calibri"/>
              </a:rPr>
              <a:t>:  'Je suis sur liste Bloctel' → 'Les associations à but non lucratif sont autorisées'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01168" y="3493008"/>
            <a:ext cx="11987784" cy="466344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01168" y="3493008"/>
            <a:ext cx="64008" cy="46634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20040" y="3529584"/>
            <a:ext cx="393192" cy="39319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0040" y="3529584"/>
            <a:ext cx="393192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" y="3529584"/>
            <a:ext cx="11000232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>
                <a:solidFill>
                  <a:srgbClr val="004D4D"/>
                </a:solidFill>
                <a:latin typeface="Calibri"/>
              </a:rPr>
              <a:t>OBJ 14e  </a:t>
            </a:r>
            <a:r>
              <a:rPr sz="1300" b="0">
                <a:solidFill>
                  <a:srgbClr val="1A1A1A"/>
                </a:solidFill>
                <a:latin typeface="Calibri"/>
              </a:rPr>
              <a:t>:  'Je suis sur liste rouge' → s'excuser, remonter l'info, prendre congé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01168" y="3995928"/>
            <a:ext cx="11987784" cy="4663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01168" y="3995928"/>
            <a:ext cx="64008" cy="46634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20040" y="4032504"/>
            <a:ext cx="393192" cy="39319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0040" y="4032504"/>
            <a:ext cx="393192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0120" y="4032504"/>
            <a:ext cx="11000232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>
                <a:solidFill>
                  <a:srgbClr val="004D4D"/>
                </a:solidFill>
                <a:latin typeface="Calibri"/>
              </a:rPr>
              <a:t>OBJ 14f  </a:t>
            </a:r>
            <a:r>
              <a:rPr sz="1300" b="0">
                <a:solidFill>
                  <a:srgbClr val="1A1A1A"/>
                </a:solidFill>
                <a:latin typeface="Calibri"/>
              </a:rPr>
              <a:t>:  'Vous avez un accent !' → assumer avec humour, enchaîner sur le script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01168" y="4498848"/>
            <a:ext cx="11987784" cy="466344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01168" y="4498848"/>
            <a:ext cx="64008" cy="46634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20040" y="4535424"/>
            <a:ext cx="393192" cy="39319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20040" y="4535424"/>
            <a:ext cx="393192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0120" y="4535424"/>
            <a:ext cx="11000232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>
                <a:solidFill>
                  <a:srgbClr val="004D4D"/>
                </a:solidFill>
                <a:latin typeface="Calibri"/>
              </a:rPr>
              <a:t>OBJ 14g  </a:t>
            </a:r>
            <a:r>
              <a:rPr sz="1300" b="0">
                <a:solidFill>
                  <a:srgbClr val="1A1A1A"/>
                </a:solidFill>
                <a:latin typeface="Calibri"/>
              </a:rPr>
              <a:t>:  'Je connais un membre de l'association' → valoriser + poursuivre ou prendre congé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01168" y="5001768"/>
            <a:ext cx="11987784" cy="4663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201168" y="5001768"/>
            <a:ext cx="64008" cy="46634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320040" y="5038344"/>
            <a:ext cx="393192" cy="39319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20040" y="5038344"/>
            <a:ext cx="393192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60120" y="5038344"/>
            <a:ext cx="11000232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>
                <a:solidFill>
                  <a:srgbClr val="004D4D"/>
                </a:solidFill>
                <a:latin typeface="Calibri"/>
              </a:rPr>
              <a:t>OBJ 14h/i : 'Qui êtes-vous ?' → 'Mandaté par l'UNICEF  </a:t>
            </a:r>
            <a:r>
              <a:rPr sz="1300" b="0">
                <a:solidFill>
                  <a:srgbClr val="1A1A1A"/>
                </a:solidFill>
                <a:latin typeface="Calibri"/>
              </a:rPr>
              <a:t>—  vérifiable sur unicef.fr'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01168" y="5614416"/>
            <a:ext cx="11987784" cy="539496"/>
          </a:xfrm>
          <a:prstGeom prst="rect">
            <a:avLst/>
          </a:prstGeom>
          <a:solidFill>
            <a:srgbClr val="FFF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201168" y="5614416"/>
            <a:ext cx="164592" cy="539496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57200" y="5669280"/>
            <a:ext cx="11457432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004D4D"/>
                </a:solidFill>
                <a:latin typeface="Calibri"/>
              </a:rPr>
              <a:t>💡  Face à une situation conflictuelle : SOURIRE + CALME + BLOC — jamais d'impatience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7432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37160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28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Grille d'Observation — Jeux de Rôle J4</a:t>
            </a:r>
          </a:p>
        </p:txBody>
      </p:sp>
      <p:pic>
        <p:nvPicPr>
          <p:cNvPr id="8" name="Picture 7" descr="shy_logo_v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91440"/>
            <a:ext cx="691533" cy="64008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01168" y="1481328"/>
            <a:ext cx="11987784" cy="623098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01168" y="1481328"/>
            <a:ext cx="64008" cy="62309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541417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1541417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1517904"/>
            <a:ext cx="11000232" cy="5499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CRITÈRE 1  </a:t>
            </a:r>
            <a:r>
              <a:rPr sz="1500" b="0">
                <a:solidFill>
                  <a:srgbClr val="1A1A1A"/>
                </a:solidFill>
                <a:latin typeface="Calibri"/>
              </a:rPr>
              <a:t>—  Méthode AAR appliquée : accuser réception / argumenter / relancer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1168" y="2141002"/>
            <a:ext cx="11987784" cy="6230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01168" y="2141002"/>
            <a:ext cx="64008" cy="62309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0040" y="2201091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2201091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2177578"/>
            <a:ext cx="11000232" cy="5499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CRITÈRE 2  </a:t>
            </a:r>
            <a:r>
              <a:rPr sz="1500" b="0">
                <a:solidFill>
                  <a:srgbClr val="1A1A1A"/>
                </a:solidFill>
                <a:latin typeface="Calibri"/>
              </a:rPr>
              <a:t>—  Ton : chaleur maintenue même face à une objection agressive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01168" y="2800676"/>
            <a:ext cx="11987784" cy="623098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01168" y="2800676"/>
            <a:ext cx="64008" cy="62309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2860765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0040" y="2860765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2837252"/>
            <a:ext cx="11000232" cy="5499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CRITÈRE 3  </a:t>
            </a:r>
            <a:r>
              <a:rPr sz="1500" b="0">
                <a:solidFill>
                  <a:srgbClr val="1A1A1A"/>
                </a:solidFill>
                <a:latin typeface="Calibri"/>
              </a:rPr>
              <a:t>—  Naturel : pas de récitation mécanique de la réponse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01168" y="3460350"/>
            <a:ext cx="11987784" cy="6230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01168" y="3460350"/>
            <a:ext cx="64008" cy="62309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0040" y="3520440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" y="35204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" y="3496926"/>
            <a:ext cx="11000232" cy="5499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CRITÈRE 4  </a:t>
            </a:r>
            <a:r>
              <a:rPr sz="1500" b="0">
                <a:solidFill>
                  <a:srgbClr val="1A1A1A"/>
                </a:solidFill>
                <a:latin typeface="Calibri"/>
              </a:rPr>
              <a:t>—  Argumentation : fait + émotion + chiffre concret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01168" y="4120025"/>
            <a:ext cx="11987784" cy="623098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01168" y="4120025"/>
            <a:ext cx="64008" cy="62309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20040" y="4180114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0040" y="4180114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" y="4156601"/>
            <a:ext cx="11000232" cy="5499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CRITÈRE 5  </a:t>
            </a:r>
            <a:r>
              <a:rPr sz="1500" b="0">
                <a:solidFill>
                  <a:srgbClr val="1A1A1A"/>
                </a:solidFill>
                <a:latin typeface="Calibri"/>
              </a:rPr>
              <a:t>—  Relance : question orientée vers l'accord après l'argument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01168" y="4779699"/>
            <a:ext cx="11987784" cy="6230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01168" y="4779699"/>
            <a:ext cx="64008" cy="62309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20040" y="4839788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0040" y="483978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0120" y="4816275"/>
            <a:ext cx="11000232" cy="5499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CRITÈRE 6  </a:t>
            </a:r>
            <a:r>
              <a:rPr sz="1500" b="0">
                <a:solidFill>
                  <a:srgbClr val="1A1A1A"/>
                </a:solidFill>
                <a:latin typeface="Calibri"/>
              </a:rPr>
              <a:t>—  Gestion du refus : respect de la décision finale du prospect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01168" y="5439373"/>
            <a:ext cx="11987784" cy="623098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01168" y="5439373"/>
            <a:ext cx="64008" cy="623098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20040" y="5499462"/>
            <a:ext cx="502920" cy="50292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20040" y="549946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0120" y="5475949"/>
            <a:ext cx="11000232" cy="5499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004D4D"/>
                </a:solidFill>
                <a:latin typeface="Calibri"/>
              </a:rPr>
              <a:t>Score  </a:t>
            </a:r>
            <a:r>
              <a:rPr sz="1500" b="0">
                <a:solidFill>
                  <a:srgbClr val="1A1A1A"/>
                </a:solidFill>
                <a:latin typeface="Calibri"/>
              </a:rPr>
              <a:t>:  1 (à travailler) / 2 (en progrès) / 3 (maîtrisé) par critère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7432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45720"/>
            <a:ext cx="116403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★  RÈGLE D'OR  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94360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RÈGLE D'OR — Programme Jeux de Rôle Journée J4</a:t>
            </a:r>
          </a:p>
        </p:txBody>
      </p:sp>
      <p:pic>
        <p:nvPicPr>
          <p:cNvPr id="7" name="Picture 6" descr="shy_logo_v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91440"/>
            <a:ext cx="691533" cy="6400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1463040"/>
            <a:ext cx="1127455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800"/>
              </a:spcBef>
            </a:pPr>
            <a:r>
              <a:rPr sz="1900" b="1">
                <a:solidFill>
                  <a:srgbClr val="004D4D"/>
                </a:solidFill>
                <a:latin typeface="Calibri"/>
              </a:rPr>
              <a:t>⭐ MATIN : Jeux de rôle catégories 1 &amp; 2 (objections initiales + financières)</a:t>
            </a:r>
          </a:p>
          <a:p>
            <a:pPr algn="ctr">
              <a:spcBef>
                <a:spcPts val="800"/>
              </a:spcBef>
            </a:pPr>
            <a:r>
              <a:rPr sz="1900" b="1">
                <a:solidFill>
                  <a:srgbClr val="004D4D"/>
                </a:solidFill>
                <a:latin typeface="Calibri"/>
              </a:rPr>
              <a:t>⭐ Binômes tournants : chaque fundraiser joue les 2 rôles (fundraiser + prospect)</a:t>
            </a:r>
          </a:p>
          <a:p>
            <a:pPr algn="ctr">
              <a:spcBef>
                <a:spcPts val="800"/>
              </a:spcBef>
            </a:pPr>
            <a:r>
              <a:rPr sz="1900" b="1">
                <a:solidFill>
                  <a:srgbClr val="004D4D"/>
                </a:solidFill>
                <a:latin typeface="Calibri"/>
              </a:rPr>
              <a:t>⭐ Formateur observe 2 binômes simultanément avec la grille</a:t>
            </a:r>
          </a:p>
          <a:p>
            <a:pPr algn="ctr">
              <a:spcBef>
                <a:spcPts val="800"/>
              </a:spcBef>
            </a:pPr>
            <a:r>
              <a:rPr sz="1900" b="1">
                <a:solidFill>
                  <a:srgbClr val="004D4D"/>
                </a:solidFill>
                <a:latin typeface="Calibri"/>
              </a:rPr>
              <a:t>⭐ Débrief à mi-journée : retours individuels + points de vigilance collectifs</a:t>
            </a:r>
          </a:p>
          <a:p>
            <a:pPr algn="ctr">
              <a:spcBef>
                <a:spcPts val="800"/>
              </a:spcBef>
            </a:pPr>
            <a:r>
              <a:rPr sz="1900" b="1">
                <a:solidFill>
                  <a:srgbClr val="004D4D"/>
                </a:solidFill>
                <a:latin typeface="Calibri"/>
              </a:rPr>
              <a:t>⭐ APRÈS-MIDI : Jeux de rôle catégories 3, 4 &amp; 5 (PA + IBAN + conflictuelles)</a:t>
            </a:r>
          </a:p>
          <a:p>
            <a:pPr algn="ctr">
              <a:spcBef>
                <a:spcPts val="800"/>
              </a:spcBef>
            </a:pPr>
            <a:r>
              <a:rPr sz="1900" b="1">
                <a:solidFill>
                  <a:srgbClr val="004D4D"/>
                </a:solidFill>
                <a:latin typeface="Calibri"/>
              </a:rPr>
              <a:t>⭐ Simulation d'appels complets : script entier + objection tirée au sort</a:t>
            </a:r>
          </a:p>
          <a:p>
            <a:pPr algn="ctr">
              <a:spcBef>
                <a:spcPts val="800"/>
              </a:spcBef>
            </a:pPr>
            <a:r>
              <a:rPr sz="1900" b="1">
                <a:solidFill>
                  <a:srgbClr val="004D4D"/>
                </a:solidFill>
                <a:latin typeface="Calibri"/>
              </a:rPr>
              <a:t>⭐ Débrief final : 3 points forts collectifs + 2 axes d'amélioration prioritaires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-45720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0" b="0" i="0">
                <a:solidFill>
                  <a:srgbClr val="006060"/>
                </a:solidFill>
                <a:latin typeface="Calibri"/>
              </a:rPr>
              <a:t>❝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31520"/>
            <a:ext cx="109728" cy="539496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0" y="4754880"/>
            <a:ext cx="4846320" cy="4572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371600"/>
            <a:ext cx="10515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1">
                <a:solidFill>
                  <a:srgbClr val="FFFFFF"/>
                </a:solidFill>
                <a:latin typeface="Calibri"/>
              </a:rPr>
              <a:t>Chaque objection est une invitation
à convaincre davantage.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9377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D4A017"/>
                </a:solidFill>
                <a:latin typeface="Calibri"/>
              </a:rPr>
              <a:t>— Méthode AAR — SHY-Performance</a:t>
            </a:r>
          </a:p>
        </p:txBody>
      </p:sp>
      <p:pic>
        <p:nvPicPr>
          <p:cNvPr id="8" name="Picture 7" descr="shy_logo_v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91440"/>
            <a:ext cx="691533" cy="64008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E5E5"/>
                </a:solidFill>
                <a:latin typeface="Calibri"/>
              </a:rPr>
              <a:t>SHY-Performance  ×  FIDELIS  ×  UNICEF France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FFFFFF"/>
                </a:solidFill>
                <a:latin typeface="Calibri"/>
              </a:rPr>
              <a:t>MERCI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92608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D4A017"/>
                </a:solidFill>
                <a:latin typeface="Calibri"/>
              </a:rPr>
              <a:t>POUR VOTRE PARTICIPATION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2743200"/>
            <a:ext cx="5760720" cy="54864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36576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CCE5E5"/>
                </a:solidFill>
                <a:latin typeface="Calibri"/>
              </a:rPr>
              <a:t>SHY-Performance  ×  FIDELIS  ×  UNICEF France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75488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CCE5E5"/>
                </a:solidFill>
                <a:latin typeface="Calibri"/>
              </a:rPr>
              <a:t>Élaboré par Tamou Eljerrari  |  Sur ordre de Mme Salima Negrao, DG</a:t>
            </a:r>
          </a:p>
        </p:txBody>
      </p:sp>
      <p:pic>
        <p:nvPicPr>
          <p:cNvPr id="10" name="Picture 9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5394960"/>
            <a:ext cx="1030628" cy="100584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0" y="6172200"/>
            <a:ext cx="12188952" cy="347472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6199632"/>
            <a:ext cx="11640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