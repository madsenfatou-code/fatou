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148840"/>
            <a:ext cx="57607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623"/>
                </a:solidFill>
              </a:rPr>
              <a:t>JOUR 1  —  LUNDI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3E8"/>
                </a:solidFill>
              </a:rPr>
              <a:t>Bienvenue dans l'Intelligence Artificielle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3840480"/>
            <a:ext cx="6675120" cy="54864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3E8"/>
                </a:solidFill>
              </a:rPr>
              <a:t>Programme Intensif 3 Mois  |  Phase 1 — Fondations  |  Semaine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470916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4736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482803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4h / jour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470916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4736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482803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Jour 1 sur 78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470916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736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82803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1 sur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9601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09728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 MATIN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88"/>
                </a:solidFill>
              </a:rPr>
              <a:t>09h00 – 09h45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344168"/>
            <a:ext cx="146304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34416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1887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Qu'est-ce que l'IA générative ?
LLM · Tokens · Paramètres
sans jargon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76272"/>
            <a:ext cx="11521440" cy="9601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176272"/>
            <a:ext cx="109728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066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88"/>
                </a:solidFill>
              </a:rPr>
              <a:t>09h45 – 11h00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423160"/>
            <a:ext cx="146304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242316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267712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Créer vos 5 comptes
Configurer Notion
Journal de bord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55263"/>
            <a:ext cx="11521440" cy="9601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255263"/>
            <a:ext cx="109728" cy="9601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28415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 APRÈS-MIDI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785615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88"/>
                </a:solidFill>
              </a:rPr>
              <a:t>14h00 – 15h00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3502151"/>
            <a:ext cx="146304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3502151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346703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Dialogue libre avec Claude
6 questions guidées sur votre métier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334256"/>
            <a:ext cx="11521440" cy="9601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334256"/>
            <a:ext cx="109728" cy="9601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64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88"/>
                </a:solidFill>
              </a:rPr>
              <a:t>15h00 – 15h30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4581144"/>
            <a:ext cx="146304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458114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425696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Mêmes questions dans ChatGPT
Comparer les réponses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13248"/>
            <a:ext cx="11521440" cy="9601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5413248"/>
            <a:ext cx="109728" cy="9601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 LIVRABLE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943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88"/>
                </a:solidFill>
              </a:rPr>
              <a:t>15h30 – 16h00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5660136"/>
            <a:ext cx="146304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0" y="5660136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5504688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Fiche comparative Claude vs ChatGPT
→ Votre 1er livrable du portfolio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  |  Semaine 1 — 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OBJECTIFS DE LA JOURNÉE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C60"/>
                </a:solidFill>
              </a:rPr>
              <a:t>À la fin de ce Jour 1, vous serez capable de :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11521440" cy="7772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109728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82880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COMPRENDRE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783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Ce qu'est un LLM, un token et un paramètre — en termes simples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496312"/>
            <a:ext cx="11521440" cy="7772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496312"/>
            <a:ext cx="109728" cy="77724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79192"/>
            <a:ext cx="182880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7919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UTILISER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6791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Claude, ChatGPT et Perplexity de façon autonome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392424"/>
            <a:ext cx="11521440" cy="7772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392424"/>
            <a:ext cx="109728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575304"/>
            <a:ext cx="1828800" cy="402336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75304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CONFIGURER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57530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Votre espace de travail Notion (journal de bord + portfolio)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288536"/>
            <a:ext cx="11521440" cy="7772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288536"/>
            <a:ext cx="109728" cy="77724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471416"/>
            <a:ext cx="182880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7141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ANALYSER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47141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Les différences entre Claude et ChatGPT selon vos besoins métier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184648"/>
            <a:ext cx="11521440" cy="7772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5184648"/>
            <a:ext cx="109728" cy="7772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67528"/>
            <a:ext cx="1828800" cy="40233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67528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PRODUIRE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53675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Votre 1er livrable officiel du portfolio TAMOU NEURAL PATH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  |  Semaine 1 — Phase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PARTIE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337560"/>
            <a:ext cx="57607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3E8"/>
                </a:solidFill>
              </a:rPr>
              <a:t>45 minutes  ·  Lisez, observez, posez-vous des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51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5A623"/>
                </a:solidFill>
              </a:rPr>
              <a:t>"L'IA ne remplace pas votre expertise.
Elle lui donne des ailes."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0116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1/6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Qu'est-ce que l'IA générative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5394960" cy="52120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91440" cy="52120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🤖  L'IA ANCIENNE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77799"/>
                </a:solidFill>
              </a:rPr>
              <a:t>(dite discriminante)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7451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Filtre anti-spam (reconnaît)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0487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Reconnaissance vocale (transcrit)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3522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Recommandation Netflix (prédit)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65575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→  Elle classe et prédit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95927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→  Elle ne crée pas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005840"/>
            <a:ext cx="5532120" cy="521208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005840"/>
            <a:ext cx="91440" cy="5212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097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✨  L'IA GÉNÉRATIVE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4813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77799"/>
                </a:solidFill>
              </a:rPr>
              <a:t>(celle que vous allez utiliser)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874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Claude / ChatGPT (génèrent du texte)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40487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Canva AI (génère des images)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93522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Synthesia (génère des vidéos)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465575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→  Elle CRÉE du contenu nouveau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995927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→  Jamais deux fois pareil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291072"/>
            <a:ext cx="115214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355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3C60"/>
                </a:solidFill>
              </a:rPr>
              <a:t>💡  Pour vous : à chaque fois que vous posez une question, l'IA construit une réponse entièrement nouvelle — ce n'est pas du copier-coller.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  |  Semaine 1 — Phase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0116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2/6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Le LLM — Grand Modèle de Langage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11521440" cy="123444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109728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789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🎯  L'ANALOGIE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Imaginez un agent de centre d'appels qui aurait lu 10 millions de conversations téléphoniques, 500 000 manuels de formation, l'encyclopédie entière et tous les livres de management — en 30 langues. Quand vous lui posez une question, il ne cherche pas dans ses notes : il reconstruit une réponse cohérente, mot après mot, grâce à tout ce qu'il a intégré.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468880"/>
            <a:ext cx="3749039" cy="1920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786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CLAUDE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90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Anthropic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03320"/>
            <a:ext cx="3749039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22191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Rigueur · Nuance
Idéal : formation, qualité, ISO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2468880"/>
            <a:ext cx="3749039" cy="192024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8" y="25786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ChatGPT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3090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OpenAI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3703320"/>
            <a:ext cx="3749039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8" y="3822191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Polyvalence · Écosystème
Idéal : tous usages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0456" y="2468880"/>
            <a:ext cx="3749039" cy="1920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25786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Perplexity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3090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Perplexity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0456" y="3703320"/>
            <a:ext cx="3749039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3822191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Recherche internet
Idéal : veille, benchmarks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5537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⭐  VOTRE CHOIX PRINCIPAL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919472"/>
            <a:ext cx="3749039" cy="54864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029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Claude : rigueur ISO, nuance pédagogique, respect des instructions complexes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57200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C60"/>
                </a:solidFill>
              </a:rPr>
              <a:t>🔑  LLM = Large Language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98348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Un programme qui a analysé des milliards de phrases
pour apprendre comment les mots et les idées s'enchaînent.
Il produit du texte mot à mot, selon les probabilités apprises.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  |  Semaine 1 — Phase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0116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3/6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Les Tokens — Comment l'IA lit le 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C60"/>
                </a:solidFill>
              </a:rPr>
              <a:t>Un token = un fragment de mot ou un mot entier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Exemple :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554480"/>
            <a:ext cx="41148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3432" y="158191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Je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52344" y="1554480"/>
            <a:ext cx="640080" cy="38404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9775" y="158191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suis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7287" y="1554480"/>
            <a:ext cx="411480" cy="38404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19" y="158191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13631" y="1554480"/>
            <a:ext cx="411480" cy="38404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41063" y="158191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9975" y="1554480"/>
            <a:ext cx="768096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7" y="1581912"/>
            <a:ext cx="722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02936" y="1554480"/>
            <a:ext cx="41148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0368" y="158191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79" y="1554480"/>
            <a:ext cx="411480" cy="38404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96712" y="158191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35623" y="1554480"/>
            <a:ext cx="640080" cy="38404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5" y="158191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30567" y="1554480"/>
            <a:ext cx="512064" cy="38404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7999" y="1581912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d'ap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97496" y="1554480"/>
            <a:ext cx="512064" cy="38404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4927" y="1581912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5864" y="16002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</a:rPr>
              <a:t>→  10 tokens pour cette phrase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240280"/>
            <a:ext cx="3749039" cy="1874519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2240280"/>
            <a:ext cx="109728" cy="187451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3317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💡  Donnez du contexte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76148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Plus vous donnez d'informations sur votre situation,
meilleure sera la réponse de l'IA.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0248" y="2240280"/>
            <a:ext cx="3749039" cy="1874519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0248" y="2240280"/>
            <a:ext cx="109728" cy="1874519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98848" y="23317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📏  Limite de mémoire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8848" y="276148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Claude peut traiter jusqu'à ~200 000 tokens
≈ un livre entier dans une seule conversation.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0456" y="2240280"/>
            <a:ext cx="3749039" cy="1874519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0456" y="2240280"/>
            <a:ext cx="109728" cy="1874519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49056" y="23317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⚠️  Règle pratique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9056" y="276148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Pour une session normale : restez sous 50 pages
de texte dans la même conversation.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42793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Capacité mémoire des outils :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681728"/>
            <a:ext cx="11521440" cy="4754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7731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Claude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4773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~200 000 tokens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7731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88"/>
                </a:solidFill>
              </a:rPr>
              <a:t>Livre entier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212080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303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ChatGPT GPT-4o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0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~128 000 tokens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53035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88"/>
                </a:solidFill>
              </a:rPr>
              <a:t>~400 pages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5742432"/>
            <a:ext cx="11521440" cy="4754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833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Perplexity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5833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Variable (recherche live)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58338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88"/>
                </a:solidFill>
              </a:rPr>
              <a:t>Pas de limite conversation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  |  Semaine 1 — Phase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0116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Les Paramètres — La Personnalité de l'IA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2E"/>
                </a:solidFill>
              </a:rPr>
              <a:t>Vous ne voyez pas ces curseurs — mais vous pouvez les influencer par vos mots.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C60"/>
                </a:solidFill>
              </a:rPr>
              <a:t>🌡  TEMPÉRATURE  (créativité / rigueur)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93392"/>
            <a:ext cx="7772400" cy="164592"/>
          </a:xfrm>
          <a:prstGeom prst="rect">
            <a:avLst/>
          </a:prstGeom>
          <a:solidFill>
            <a:srgbClr val="CC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298448" cy="164592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64207" y="1993392"/>
            <a:ext cx="1298448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62656" y="1993392"/>
            <a:ext cx="1298448" cy="16459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1104" y="1993392"/>
            <a:ext cx="1298448" cy="1645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59552" y="1993392"/>
            <a:ext cx="1298448" cy="16459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0" y="1993392"/>
            <a:ext cx="1298448" cy="16459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2128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RIGOUREUX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2128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ÉQUILIBRÉ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128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CRÉATIF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633472"/>
            <a:ext cx="11521440" cy="603504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6148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Vous écrivez…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76148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L'IA répond avec…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76148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Usage idéal pour vous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291839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419856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"Sois précis et factuel"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41985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Rigueur, peu de créativité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419856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Grilles QA, rapports ISO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950208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78224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"Sois créatif et innovant"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07822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Variété, surprises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078224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Jeux de rôle, icebreakers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608576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73659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"Propose 3 variantes"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73659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Diversité maximale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73659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Emails prospection, intros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3035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C60"/>
                </a:solidFill>
              </a:rPr>
              <a:t>💡  Retenir 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530352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Vous contrôlez la personnalité de l'IA par le vocabulaire que vous utilisez dans vos instructions.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715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→  ISO / audit → mots clés : "précis", "conforme", "selon la norme"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0533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→  Formation / créativité → mots clés : "innovant", "ludique", "variantes", "surprenant"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  |  Semaine 1 — Phase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0116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5/6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Ce que l'IA peut — et ne peut pas — faire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👉  C'est ici que votre expertise de 15 ans reste IRREMPLAÇABLE.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5394960" cy="43891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L'IA PEUT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508760"/>
            <a:ext cx="5394960" cy="43891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53619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❌  L'IA NE PEUT PAS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29968"/>
            <a:ext cx="5394960" cy="56692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2140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✅  Rédiger vite et structurer logiquement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029968"/>
            <a:ext cx="5394960" cy="56692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12140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❌  Valider si le résultat est juste pour VOTRE client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60904"/>
            <a:ext cx="53949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5234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✅  Proposer des variantes et des idées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660904"/>
            <a:ext cx="53949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75234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❌  Connaître la culture de votre entreprise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291840"/>
            <a:ext cx="5394960" cy="56692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✅  Synthétiser de l'information volumineuse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291840"/>
            <a:ext cx="5394960" cy="56692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❌  Ressentir les dynamiques d'équipe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22776"/>
            <a:ext cx="53949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14215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✅  Générer des cas pratiques et des exemples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922776"/>
            <a:ext cx="53949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014215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❌  Juger si un agent est réellement prêt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553712"/>
            <a:ext cx="5394960" cy="56692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6451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✅  Respecter une structure et un format imposés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553712"/>
            <a:ext cx="5394960" cy="56692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6451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❌  Adapter à la personnalité d'un apprenant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184648"/>
            <a:ext cx="53949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2760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✅  Adapter le ton selon vos instructions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5184648"/>
            <a:ext cx="53949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52760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❌  Prendre la responsabilité d'une décision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15000" y="1508760"/>
            <a:ext cx="548640" cy="38587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42432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897880"/>
            <a:ext cx="11521440" cy="4754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9436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🏆  LA FORMULE GAGNANTE 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594360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IA rapide  +  Expertise humaine juste  =  Résultat exceptionnel en peu de temps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  |  Semaine 1 — Phase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0116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6/6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5 Points Clés à Mémoriser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1521440" cy="89611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109728" cy="89611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512064" cy="5120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28016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18871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L'IA générative CRÉE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158191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Elle ne copie pas — elle produit du contenu nouveau à chaque fois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84832"/>
            <a:ext cx="11521440" cy="89611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084832"/>
            <a:ext cx="109728" cy="89611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286000"/>
            <a:ext cx="512064" cy="512064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28600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Le LLM a tout 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258775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Il reconstruit une réponse mot par mot grâce à des milliards de textes appris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090672"/>
            <a:ext cx="11521440" cy="89611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090672"/>
            <a:ext cx="109728" cy="8961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291840"/>
            <a:ext cx="512064" cy="5120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9184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Les tokens = le carburant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3593591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Donnez du contexte → l'IA produit mieux. Plus vous êtes précise, plus c'est juste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096512"/>
            <a:ext cx="11521440" cy="89611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096512"/>
            <a:ext cx="109728" cy="89611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297680"/>
            <a:ext cx="512064" cy="512064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429768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Les paramètres obéissent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459943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Vos mots influencent le ton, la rigueur, la créativité de l'IA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102352"/>
            <a:ext cx="11521440" cy="89611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5102352"/>
            <a:ext cx="109728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303520"/>
            <a:ext cx="512064" cy="5120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" y="530352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5212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Votre expertise valide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" y="560527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L'IA produit vite — vous produisez juste. Ensemble : vite ET juste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  |  Semaine 1 — Phase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PARTIE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337560"/>
            <a:ext cx="576072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F0F8"/>
                </a:solidFill>
              </a:rPr>
              <a:t>75 minutes  ·  Créer vos 5 comptes  ·  Configurer Notion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🎯  Objectif : être opérationnelle sur vos 5 outils essentiels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0116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Créer vos 5 Comptes Essentiels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11521440" cy="89611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109728" cy="896112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52728"/>
            <a:ext cx="512064" cy="512064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25272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1612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🤖 CLAUDE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1271016"/>
            <a:ext cx="2926080" cy="38404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27101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claude.ai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30759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Votre outil principal — formation, qualité, ISO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057400"/>
            <a:ext cx="11521440" cy="89611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57400"/>
            <a:ext cx="109728" cy="89611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258568"/>
            <a:ext cx="512064" cy="512064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225856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1671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💬 CHATGPT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276856"/>
            <a:ext cx="2926080" cy="38404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227685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chat.openai.com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31343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Polyvalent, large écosystème d'outils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063240"/>
            <a:ext cx="11521440" cy="89611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063240"/>
            <a:ext cx="109728" cy="89611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264408"/>
            <a:ext cx="512064" cy="512064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326440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1729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🔍 PERPLEXITY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3282696"/>
            <a:ext cx="2926080" cy="38404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0" y="328269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perplexity.ai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31927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Recherche internet avec sources citées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69080"/>
            <a:ext cx="11521440" cy="89611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069080"/>
            <a:ext cx="109728" cy="89611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270248"/>
            <a:ext cx="512064" cy="5120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" y="427024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1788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📋 NOTION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4288536"/>
            <a:ext cx="2926080" cy="38404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0" y="428853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notion.so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32511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Votre journal de bord et portfolio 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074920"/>
            <a:ext cx="11521440" cy="89611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5074920"/>
            <a:ext cx="109728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5276088"/>
            <a:ext cx="512064" cy="5120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" y="527608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51846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🎨 CANVA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0" y="5294376"/>
            <a:ext cx="292608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0" y="529437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canva.com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533095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Supports de formation visuels 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6144768"/>
            <a:ext cx="115214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2179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3C60"/>
                </a:solidFill>
              </a:rPr>
              <a:t>💡  Utilisez la même adresse email partout — plus simple à gérer. Commencez par Claude.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  |  Semaine 1 — Phase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0116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Premier Test sur Claude — À faire maintenant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C60"/>
                </a:solidFill>
              </a:rPr>
              <a:t>Dès que votre compte Claude est créé, copiez-collez ce prompt 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11521440" cy="2377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137160" cy="2377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0E0"/>
                </a:solidFill>
              </a:rPr>
              <a:t>Bonjour Claude. Je suis formatrice en centres d'appels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11095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0E0"/>
                </a:solidFill>
              </a:rPr>
              <a:t>avec 15 ans d'expérience. Je commence aujourd'hui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4942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0E0"/>
                </a:solidFill>
              </a:rPr>
              <a:t>à apprendre l'IA.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8775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0E0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260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0E0"/>
                </a:solidFill>
              </a:rPr>
              <a:t>Présente-toi en 5 lignes et explique-moi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644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F0E0"/>
                </a:solidFill>
              </a:rPr>
              <a:t>comment tu peux m'aider dans mon métier.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0050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Ce que vous observez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074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Le ton : formel ? chaleureux ? professionnel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Les exemples : sont-ils vraiment liés aux centres d'appels 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85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La précision : est-ce que ça correspond à votre réalité terrain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24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Notez TOUT dans votre journal Notion — même ce qui semble évident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6199632"/>
            <a:ext cx="115214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2636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⚠️  Votre œil d'expert(e) va détecter des imprécisions — c'est NORMAL et c'est votre valeur ajoutée.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  |  Semaine 1 — Phase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0116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Configurer votre Espace Notion — TAMOU NEURAL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11521440" cy="117043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109728" cy="1170432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26464"/>
            <a:ext cx="457200" cy="4572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4264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207007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Créer l'espace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627631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Nouvelle page → Titre : "TAMOU NEURAL PATH — Mon Parcours IA"
Ajoutez l'icône 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7043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70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706623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70662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248716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Journal de Bord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907791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Base de données Tableau → colonnes : Date / Outil / Produit /
Meilleur Prompt / Ce qui n'a pas marché / Découverte / Niveau /10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57600"/>
            <a:ext cx="11521440" cy="117043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57600"/>
            <a:ext cx="109728" cy="117043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986784"/>
            <a:ext cx="457200" cy="4572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9867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76732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Portfolio Livrables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18795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Nouvelle page → 5 phases avec checkboxes
Cochez ✅ au fur et à mesure de vos productions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937759"/>
            <a:ext cx="11521440" cy="117043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937759"/>
            <a:ext cx="109728" cy="11704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266944"/>
            <a:ext cx="45720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52669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04748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Bibliothèque de Prompts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546811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Base de données → colonnes : Nom / Thème / Prompt complet /
Résultat / Note /5 — votre capital de productivité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  |  Semaine 1 — Phase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0116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Template Journal de Bord — À remplir chaque soir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11521440" cy="65836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24128"/>
            <a:ext cx="91440" cy="65836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📅 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133856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</a:rPr>
              <a:t>Cliquez sur la date dans Notion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73936"/>
            <a:ext cx="11521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773936"/>
            <a:ext cx="91440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470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🛠  OUTIL UTILISÉ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88366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</a:rPr>
              <a:t>Claude / ChatGPT / Perplexity / Notion / Canva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523744"/>
            <a:ext cx="11521440" cy="65836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523744"/>
            <a:ext cx="91440" cy="65836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968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📄  CE QUE J'AI PRODUIT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633472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</a:rPr>
              <a:t>Décrivez le livrable — soyez précise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273552"/>
            <a:ext cx="11521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273552"/>
            <a:ext cx="91440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3467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⭐  MEILLEUR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38328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</a:rPr>
              <a:t>Copiez-collez le prompt qui a donné le meilleur résultat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023360"/>
            <a:ext cx="11521440" cy="65836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023360"/>
            <a:ext cx="91440" cy="65836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0965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❌  CE QUI N'A PAS MARCHÉ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13308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</a:rPr>
              <a:t>Notez honnêtement — c'est votre meilleur outil de progression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773168"/>
            <a:ext cx="11521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773168"/>
            <a:ext cx="91440" cy="65836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8463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💡  DÉCOUVERTE DU JOUR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882896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</a:rPr>
              <a:t>La chose la plus surprenante que vous avez apprise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522976"/>
            <a:ext cx="11521440" cy="65836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5522976"/>
            <a:ext cx="91440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5961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📊  NIVEAU CONFIANCE /10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63270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</a:rPr>
              <a:t>De 1 (perdu) à 10 (à l'aise) — sans jugement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309360"/>
            <a:ext cx="115214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355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3C60"/>
                </a:solidFill>
              </a:rPr>
              <a:t>💡  Ce journal est votre preuves de progression — et une partie de votre portfolio freelance.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  |  Semaine 1 — Phase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PARTIE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337560"/>
            <a:ext cx="576072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E5CC"/>
                </a:solidFill>
              </a:rPr>
              <a:t>2 heures  ·  Dialogue guidé  ·  Fiche comparative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🎯  Objectif : Produire votre 1er livrable du portfolio TAMOU NEURAL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0116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1h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Dialogue guidé avec Claude — 6 Questions Séquencées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875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Posez ces 6 questions UNE PAR UNE. Lisez chaque réponse complète avant de continuer.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3749039" cy="199339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44752"/>
            <a:ext cx="109728" cy="1993392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1554480"/>
            <a:ext cx="420624" cy="420624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55448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5727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Connaissance métier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39112"/>
            <a:ext cx="34290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Demandez à Claude de vous expliquer en quoi il peut transformer votre quotidien
→ Observez la précision, les exemples terrain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444752"/>
            <a:ext cx="3749039" cy="199339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1444752"/>
            <a:ext cx="109728" cy="19933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554480"/>
            <a:ext cx="420624" cy="42062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155448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15727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Objectif pédagogique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039112"/>
            <a:ext cx="34290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Demandez un objectif SMART pour "Gérer un client mécontent"
→ Vérifiez la méthode SMART avec votre expertise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6" y="1444752"/>
            <a:ext cx="3749039" cy="199339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0456" y="1444752"/>
            <a:ext cx="109728" cy="199339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5048" y="1554480"/>
            <a:ext cx="420624" cy="420624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155448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256" y="15727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ISO 9001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039112"/>
            <a:ext cx="34290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Demandez les éléments du chapitre 8 ISO 9001 appliqués à la formation
→ Utilisez votre certification pour détecter les erreurs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657600"/>
            <a:ext cx="3749039" cy="199339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657600"/>
            <a:ext cx="109728" cy="199339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4632" y="3767328"/>
            <a:ext cx="420624" cy="420624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376732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785615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Message de motivation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251960"/>
            <a:ext cx="34290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Demandez un message 150 mots pour une équipe après une semaine difficile
→ Jugez le ton : humain ou artificiel 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0248" y="3657600"/>
            <a:ext cx="3749039" cy="199339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70248" y="3657600"/>
            <a:ext cx="109728" cy="199339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34840" y="3767328"/>
            <a:ext cx="420624" cy="42062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43984" y="376732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6048" y="3785615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Plan formation 3 jours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8" y="4251960"/>
            <a:ext cx="34290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Demandez un plan détaillé pour 8 superviseurs de centres d'appels sortants
→ Vérifiez la cohérence pédagogique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0456" y="3657600"/>
            <a:ext cx="3749039" cy="199339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0456" y="3657600"/>
            <a:ext cx="109728" cy="19933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85048" y="3767328"/>
            <a:ext cx="420624" cy="42062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94192" y="376732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06256" y="3785615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Itération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03336" y="4251960"/>
            <a:ext cx="34290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Répondez : "Le jour 1 est trop chargé, allège et ajoute un brise-glace"
→ Observe-t-il votre retour sans tout refaire 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  |  Semaine 1 — Phase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0116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30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Même Exercice dans ChatGPT — Comparer à périmètre égal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C60"/>
                </a:solidFill>
              </a:rPr>
              <a:t>Copiez-collez exactement les mêmes 6 questions dans ChatGPT. N'adaptez rien.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81328"/>
            <a:ext cx="5394960" cy="443484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81328"/>
            <a:ext cx="109728" cy="44348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C60"/>
                </a:solidFill>
              </a:rPr>
              <a:t>🤖  CLAUDE — Points à noter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84831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□  Niveau de précision sur le métier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□  Respect des instructions complexes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45535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□  Intégration de vos corrections (Q6)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75887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□  Ton et qualité rédactionnelle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□  Exemples centres d'appels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365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□  Rigueur sur l'ISO 9001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481328"/>
            <a:ext cx="5394960" cy="443484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481328"/>
            <a:ext cx="109728" cy="443484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6002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E"/>
                </a:solidFill>
              </a:rPr>
              <a:t>💬  CHATGPT — Points à noter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084831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□  Niveau de précision sur le métier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61518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□  Respect des instructions complexes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145535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□  Intégration de vos corrections (Q6)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675887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□  Ton et qualité rédactionnelle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□  Exemples centres d'appels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7365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□  Rigueur sur l'ISO 9001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1481328"/>
            <a:ext cx="548640" cy="443484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566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016752"/>
            <a:ext cx="11521440" cy="4754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71616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</a:rPr>
              <a:t>💡  Pas de bonne ou mauvaise réponse — les deux outils sont différents, pas concurrents. Vous les utiliserez pour des tâches différentes.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  |  Semaine 1 — Phase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194560" cy="2926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01168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 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Fiche Comparative Claude vs ChatGPT — Livrable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11521440" cy="38404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CRITÈRE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05156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CLAUDE 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05156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CHATGPT 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105156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MON CHOIX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444752"/>
            <a:ext cx="11521440" cy="56692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Connaissance centres d'appels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1536192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79" y="157276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BB"/>
                </a:solidFill>
              </a:rPr>
              <a:t>__ /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536192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157276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BB"/>
                </a:solidFill>
              </a:rPr>
              <a:t>__ /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29800" y="1536192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157276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BB"/>
                </a:solidFill>
              </a:rPr>
              <a:t>Claude  /  ChatGPT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066544"/>
            <a:ext cx="115214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17627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Qualité des contenus formation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2157984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79" y="219456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BB"/>
                </a:solidFill>
              </a:rPr>
              <a:t>__ /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2157984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219456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BB"/>
                </a:solidFill>
              </a:rPr>
              <a:t>__ /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9800" y="2157984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219456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BB"/>
                </a:solidFill>
              </a:rPr>
              <a:t>Claude  /  ChatGPT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688336"/>
            <a:ext cx="11521440" cy="56692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79806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Rigueur sur les normes ISO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9240" y="2779776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0679" y="281635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BB"/>
                </a:solidFill>
              </a:rPr>
              <a:t>__ / 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2779776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281635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BB"/>
                </a:solidFill>
              </a:rPr>
              <a:t>__ /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29800" y="2779776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21240" y="281635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BB"/>
                </a:solidFill>
              </a:rPr>
              <a:t>Claude  /  ChatGPT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310128"/>
            <a:ext cx="115214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41985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Ton et qualité rédactionnelle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49240" y="3401568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79" y="3438144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BB"/>
                </a:solidFill>
              </a:rPr>
              <a:t>__ / 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3401568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3438144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BB"/>
                </a:solidFill>
              </a:rPr>
              <a:t>__ / 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29800" y="3401568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21240" y="3438144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BB"/>
                </a:solidFill>
              </a:rPr>
              <a:t>Claude  /  ChatGPT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931920"/>
            <a:ext cx="11521440" cy="56692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04164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Intégration de mes corrections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49240" y="4023360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40679" y="405993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BB"/>
                </a:solidFill>
              </a:rPr>
              <a:t>__ / 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9520" y="4023360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0" y="405993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BB"/>
                </a:solidFill>
              </a:rPr>
              <a:t>__ / 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29800" y="4023360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21240" y="405993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BB"/>
                </a:solidFill>
              </a:rPr>
              <a:t>Claude  /  ChatGPT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553712"/>
            <a:ext cx="115214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6634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Pertinence des exemples métier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49240" y="4645152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40679" y="468172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BB"/>
                </a:solidFill>
              </a:rPr>
              <a:t>__ / 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89520" y="4645152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80960" y="468172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BB"/>
                </a:solidFill>
              </a:rPr>
              <a:t>__ / 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29800" y="4645152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21240" y="468172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BB"/>
                </a:solidFill>
              </a:rPr>
              <a:t>Claude  /  ChatGPT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5230368"/>
            <a:ext cx="11521440" cy="4572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53035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49240" y="53035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__ / 30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89520" y="53035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__ / 30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5779008"/>
            <a:ext cx="11521440" cy="3657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58704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ce tableau dans Notion → Portfolio → Livrable 1  ✅  Premier livrable validé !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  |  Semaine 1 — Phase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BILAN DU JOUR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C60"/>
                </a:solidFill>
              </a:rPr>
              <a:t>Ce que vous avez accompli aujourd'hui :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11521440" cy="58521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109728" cy="58521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✅  Compris ce qu'est un LLM, un token et un paramètre — sans jargon technique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94560"/>
            <a:ext cx="1152144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194560"/>
            <a:ext cx="109728" cy="58521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042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✅  Créé vos 5 comptes essentiels (Claude, ChatGPT, Perplexity, Notion, Canva)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80360"/>
            <a:ext cx="11521440" cy="58521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880360"/>
            <a:ext cx="109728" cy="58521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900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✅  Configuré votre espace de travail Notion — journal, portfolio, bibliothèque de prompts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566160"/>
            <a:ext cx="1152144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566160"/>
            <a:ext cx="109728" cy="58521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7588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✅  Testé Claude et ChatGPT sur 6 cas concrets de votre métier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251960"/>
            <a:ext cx="11521440" cy="585216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251960"/>
            <a:ext cx="109728" cy="58521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61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✅  Produit votre LIVRABLE 1 — Fiche comparative Claude vs ChatGPT  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937760"/>
            <a:ext cx="1152144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937760"/>
            <a:ext cx="109728" cy="58521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474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✅  Identifié vos premières erreurs de l'IA grâce à votre expertise terrain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760720"/>
            <a:ext cx="11521440" cy="54864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8704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📊  Remplissez votre journal de bord ce soir avant de fermer votre ordinateur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2362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Niveau de confiance : __ / 10  |  Meilleur prompt de la journée : sauvegardé dans Notion ?  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  |  Semaine 1 — Phase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DEMAIN — JOUR 2 : La Formule Magique des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Vous allez apprendre la méthode RCTF et produire 10 prompts professionnels prêts à l'emploi.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3619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La Méthode RCTF — Aperçu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11680"/>
            <a:ext cx="5394960" cy="89611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011680"/>
            <a:ext cx="109728" cy="89611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212848"/>
            <a:ext cx="512064" cy="5120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221284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21031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RÔLE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39696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2E"/>
                </a:solidFill>
              </a:rPr>
              <a:t>Tu es expert(e) qualité en centres d'appels…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017520"/>
            <a:ext cx="5394960" cy="89611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017520"/>
            <a:ext cx="109728" cy="89611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218688"/>
            <a:ext cx="512064" cy="512064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321868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3108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B25"/>
                </a:solidFill>
              </a:rPr>
              <a:t>CONTEXTE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145536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2E"/>
                </a:solidFill>
              </a:rPr>
              <a:t>Dans le cadre d'un audit ISO 9001 v2015…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023360"/>
            <a:ext cx="5394960" cy="89611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023360"/>
            <a:ext cx="109728" cy="89611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224528"/>
            <a:ext cx="512064" cy="512064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422452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41148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E"/>
                </a:solidFill>
              </a:rPr>
              <a:t>TÂCHE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151376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2E"/>
                </a:solidFill>
              </a:rPr>
              <a:t>Crée une grille d'évaluation appels entrants…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029200"/>
            <a:ext cx="5394960" cy="89611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5029200"/>
            <a:ext cx="109728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230368"/>
            <a:ext cx="512064" cy="5120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523036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" y="51206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FORMAT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157216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1A2E"/>
                </a:solidFill>
              </a:rPr>
              <a:t>Format : tableau avec 5 colonnes, 7 catégories…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1536192"/>
            <a:ext cx="5833872" cy="4297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1536192"/>
            <a:ext cx="137160" cy="42976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162763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EXEMPLE — Livrable Jour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2066543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0E0"/>
                </a:solidFill>
              </a:rPr>
              <a:t>Tu es expert qualité en centres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1072" y="2340863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0E0"/>
                </a:solidFill>
              </a:rPr>
              <a:t>d'appels, certifié ISO 9001 v2015.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261518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0E0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2889503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0E0"/>
                </a:solidFill>
              </a:rPr>
              <a:t>Dans le contexte du contrôle qualité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1072" y="31638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0E0"/>
                </a:solidFill>
              </a:rPr>
              <a:t>d'un service client de 50 agents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1072" y="343814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0E0"/>
                </a:solidFill>
              </a:rPr>
              <a:t>traitant 500 appels/jour.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1072" y="3712463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0E0"/>
                </a:solidFill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3986783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0E0"/>
                </a:solidFill>
              </a:rPr>
              <a:t>Crée une grille d'évaluation complète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1072" y="426110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0E0"/>
                </a:solidFill>
              </a:rPr>
              <a:t>compatible ISO 9001.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4535423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0E0"/>
                </a:solidFill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1072" y="480974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0E0"/>
                </a:solidFill>
              </a:rPr>
              <a:t>Format : tableau 5 colonnes,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91072" y="508406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F0E0"/>
                </a:solidFill>
              </a:rPr>
              <a:t>7 catégories, total 100 points.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870448"/>
            <a:ext cx="11521440" cy="4572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94360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🎯  À la fin du Jour 2 : 10 prompts professionnels dans votre bibliothèque — utilisables immédiatement avec vos clients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  |  Semaine 1 — Phase 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664208"/>
            <a:ext cx="57607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3E8"/>
                </a:solidFill>
              </a:rPr>
              <a:t>Jour 1 terminé  ·  1 livrable validé  ·  77 jours devant vous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5A623"/>
                </a:solidFill>
              </a:rPr>
              <a:t>"Vous venez de faire quelque chose que beaucoup de professionnels
expérimentés n'ont pas encore fait :
vous avez ouvert la porte de l'IA avec votre expertise comme boussole."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4187952"/>
            <a:ext cx="5760720" cy="64008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370832"/>
            <a:ext cx="2926080" cy="10515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4622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2E"/>
                </a:solidFill>
              </a:rP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6177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L'IA produit vite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4370832"/>
            <a:ext cx="2926080" cy="10515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44622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2E"/>
                </a:solidFill>
              </a:rPr>
              <a:t>👩‍💼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6177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Vous produisez juste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4370832"/>
            <a:ext cx="2926080" cy="10515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44622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2E"/>
                </a:solidFill>
              </a:rPr>
              <a:t>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46177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Ensemble : exceptionnel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1 sur 78  |  Phase 1 sur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