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33172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313432"/>
            <a:ext cx="12188952" cy="5486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91440"/>
            <a:ext cx="4572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SHY-Performance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566928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BEEEE"/>
                </a:solidFill>
              </a:rPr>
              <a:t>Formation Initiale Module — Fundraising Téléphonique UNICEF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9144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8DDDD"/>
                </a:solidFill>
              </a:rPr>
              <a:t>BOOK J3  ·  Journée 3  ·  Script UNICEF × FIDELIS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234440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Analyse &amp; Script Officiel UNICEF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193852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EEEE"/>
                </a:solidFill>
              </a:rPr>
              <a:t>Les 7 étapes · Les 5 règles d'accroche · Les 4 modes de validation</a:t>
            </a:r>
          </a:p>
        </p:txBody>
      </p:sp>
      <p:pic>
        <p:nvPicPr>
          <p:cNvPr id="10" name="Picture 9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0"/>
            <a:ext cx="841248" cy="67665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SHY-Performance  ·  Formation FIM  ·  UNICEF France  ·  V7-01062026SHY-TE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5486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91440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SHY-Performance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304288" y="91440"/>
            <a:ext cx="45720" cy="54864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50592" y="73152"/>
            <a:ext cx="9509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Journée 3 — Ce que vous allez vivre aujourd'hui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0"/>
            <a:ext cx="841248" cy="67665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SHY-Performance  ·  Formation FIM  ·  UNICEF France  ·  V7-01062026SHY-TE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822960"/>
            <a:ext cx="2910078" cy="329184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868680"/>
            <a:ext cx="274548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DÉCOUVERTE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152144"/>
            <a:ext cx="2910078" cy="4242816"/>
          </a:xfrm>
          <a:prstGeom prst="rect">
            <a:avLst/>
          </a:prstGeom>
          <a:solidFill>
            <a:srgbClr val="FFFFFF"/>
          </a:solidFill>
          <a:ln w="1524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1225296"/>
            <a:ext cx="270891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Lecture intégrale du script
à voix haute.
Première impression à froid.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2686" y="822960"/>
            <a:ext cx="2910078" cy="32918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94126" y="868680"/>
            <a:ext cx="274548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ANALYSE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2686" y="1152144"/>
            <a:ext cx="2910078" cy="4242816"/>
          </a:xfrm>
          <a:prstGeom prst="rect">
            <a:avLst/>
          </a:prstGeom>
          <a:solidFill>
            <a:srgbClr val="FFFFFF"/>
          </a:solidFill>
          <a:ln w="1524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12414" y="1225296"/>
            <a:ext cx="270891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Analyse phrase par phrase :
'Quelle est l'intention ici ?
Pourquoi ce mot précis ?'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31052" y="822960"/>
            <a:ext cx="2910078" cy="329184"/>
          </a:xfrm>
          <a:prstGeom prst="rect">
            <a:avLst/>
          </a:prstGeom>
          <a:solidFill>
            <a:srgbClr val="00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22492" y="868680"/>
            <a:ext cx="274548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APPORT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31052" y="1152144"/>
            <a:ext cx="2910078" cy="4242816"/>
          </a:xfrm>
          <a:prstGeom prst="rect">
            <a:avLst/>
          </a:prstGeom>
          <a:solidFill>
            <a:srgbClr val="FFFFFF"/>
          </a:solidFill>
          <a:ln w="15240">
            <a:solidFill>
              <a:srgbClr val="00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40780" y="1225296"/>
            <a:ext cx="270891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7 étapes · 5 règles accroche
4 modes de validation
3 phases de l'appel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59418" y="822960"/>
            <a:ext cx="2910078" cy="32918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50858" y="868680"/>
            <a:ext cx="274548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ENTRAÎNEMENT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59418" y="1152144"/>
            <a:ext cx="2910078" cy="4242816"/>
          </a:xfrm>
          <a:prstGeom prst="rect">
            <a:avLst/>
          </a:prstGeom>
          <a:solidFill>
            <a:srgbClr val="FFFFFF"/>
          </a:solidFill>
          <a:ln w="15240">
            <a:solidFill>
              <a:srgbClr val="00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69146" y="1225296"/>
            <a:ext cx="270891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Lecture en binômes. Débriefs
collectifs. Points forts
et axes d'amélioration.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5577840"/>
            <a:ext cx="11640312" cy="274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4048" y="5623559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À retenir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5870448"/>
            <a:ext cx="3843528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4048" y="5907024"/>
            <a:ext cx="37155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✔ Script lu 3 fois sans hésitation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54423" y="5870448"/>
            <a:ext cx="3843528" cy="530352"/>
          </a:xfrm>
          <a:prstGeom prst="rect">
            <a:avLst/>
          </a:prstGeom>
          <a:solidFill>
            <a:srgbClr val="F0F7F7"/>
          </a:solidFill>
          <a:ln w="762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64152" y="5907024"/>
            <a:ext cx="37155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✔ 5 règles accroche récitées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34528" y="5870448"/>
            <a:ext cx="3843528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44256" y="5907024"/>
            <a:ext cx="37155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✔ Score seuil 12/20 pour J4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5486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91440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SHY-Performance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304288" y="91440"/>
            <a:ext cx="45720" cy="54864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50592" y="73152"/>
            <a:ext cx="9509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L'Accueil Téléphonique — La Bonne Séquence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0"/>
            <a:ext cx="841248" cy="67665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SHY-Performance  ·  Formation FIM  ·  UNICEF France  ·  V7-01062026SHY-TE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822960"/>
            <a:ext cx="3813048" cy="512064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2336" y="850392"/>
            <a:ext cx="361187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ÉTAPE 1 — ALLO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335024"/>
            <a:ext cx="3813048" cy="39319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3" y="1426464"/>
            <a:ext cx="3557015" cy="3712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Le fundraiser dit 'ALLO' puis s'arrête.
Écoute active : identifier le genre de l'interlocuteur
(Madame ou Monsieur) avant de parler.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0" y="822960"/>
            <a:ext cx="3813048" cy="51206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34255" y="850392"/>
            <a:ext cx="361187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ÉTAPE 2 — IDENTIFICATION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6240" y="1335024"/>
            <a:ext cx="3813048" cy="39319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1426464"/>
            <a:ext cx="3557015" cy="3712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Convention française : prénom D'ABORD, puis nom de famille.
"Est-ce bien Monsieur François DUPONT ?"
NE PAS commencer par le nom de famille.
C'est non naturel en français.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59" y="822960"/>
            <a:ext cx="3813048" cy="512064"/>
          </a:xfrm>
          <a:prstGeom prst="rect">
            <a:avLst/>
          </a:prstGeom>
          <a:solidFill>
            <a:srgbClr val="00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66175" y="850392"/>
            <a:ext cx="361187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ÉTAPE 3 — PRÉSENTATION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59" y="1335024"/>
            <a:ext cx="3813048" cy="39319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84463" y="1426464"/>
            <a:ext cx="3557015" cy="3712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Après confirmation du contact :
"Bonjour Monsieur Dupont, je m'appelle [Prénom],
je vous appelle au nom de l'UNICEF France."
Puis suivre le script officiel en 7 étapes.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5394960"/>
            <a:ext cx="11640312" cy="438912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79" y="5468112"/>
            <a:ext cx="11365992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⚠ Jamais de nom de famille en premier — cela sonne froid et commercial. Prénom + NOM = chaleur + clarté.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5486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91440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SHY-Performance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304288" y="91440"/>
            <a:ext cx="45720" cy="54864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50592" y="73152"/>
            <a:ext cx="9509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Les 3 Phases de l'Appel Sortant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0"/>
            <a:ext cx="841248" cy="67665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SHY-Performance  ·  Formation FIM  ·  UNICEF France  ·  V7-01062026SHY-TE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822960"/>
            <a:ext cx="3813048" cy="384048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2336" y="841248"/>
            <a:ext cx="361187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✈  DÉCOLLAGE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207008"/>
            <a:ext cx="3813048" cy="310896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2336" y="1234440"/>
            <a:ext cx="3611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CEEEE"/>
                </a:solidFill>
              </a:rPr>
              <a:t>Phase 1 — Accueil &amp; Accroche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517904"/>
            <a:ext cx="3813048" cy="42062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2336" y="1591056"/>
            <a:ext cx="3593591" cy="4005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• ALLO + écoute active + identification genre
• Prénom → NOM de famille (convention française)
• Présentation : 'Je m'appelle [Prénom], UNICEF France'
• Vérifier disponibilité : 'Vous avez quelques minutes ?'
• Lancer la trame d'accroche en 5 points
• Objectif : dépasser 60 secondes sans raccrocher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6240" y="822960"/>
            <a:ext cx="3813048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34255" y="841248"/>
            <a:ext cx="361187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🛫  VOL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40" y="1207008"/>
            <a:ext cx="3813048" cy="310896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34255" y="1234440"/>
            <a:ext cx="3611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CEEEE"/>
                </a:solidFill>
              </a:rPr>
              <a:t>Phase 2 — Argumentation &amp; Objections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0" y="1517904"/>
            <a:ext cx="3813048" cy="42062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34255" y="1591056"/>
            <a:ext cx="3593591" cy="4005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• Script 7 étapes dans l'ordre
• Dramatisation → Solution → Confiance
• Traitement des objections par méthode AAR
• Maximum 2 objections après l'appel au don
• Ne pas s'arrêter avant l'appel au don
• Obtenir un accord de principe clair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38159" y="822960"/>
            <a:ext cx="3813048" cy="384048"/>
          </a:xfrm>
          <a:prstGeom prst="rect">
            <a:avLst/>
          </a:prstGeom>
          <a:solidFill>
            <a:srgbClr val="00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66175" y="841248"/>
            <a:ext cx="361187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🛬  ATTERRISSAGE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59" y="1207008"/>
            <a:ext cx="3813048" cy="310896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66175" y="1234440"/>
            <a:ext cx="3611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CEEEE"/>
                </a:solidFill>
              </a:rPr>
              <a:t>Phase 3 — Accord de Principe &amp; Validation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38159" y="1517904"/>
            <a:ext cx="3813048" cy="42062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66175" y="1591056"/>
            <a:ext cx="3593591" cy="4005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• Accord de principe : oui ferme + montant clair
• Verrouillage : question fermée sécurisante
• Validation du mode de PA (IBAN / ligne / courrier)
• Vérification adresse complète (n° de porte !)
• Confirmation n° de téléphone
• Closing : 'C'est formidable, merci !'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5852160"/>
            <a:ext cx="11640312" cy="36576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79" y="5925312"/>
            <a:ext cx="113659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Chaque phase a un objectif clair. Le vol ne peut pas s'arrêter avant l'appel au don.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5486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91440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SHY-Performance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304288" y="91440"/>
            <a:ext cx="45720" cy="54864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50592" y="73152"/>
            <a:ext cx="9509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La Trame d'Accroche — 5 Points Clés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0"/>
            <a:ext cx="841248" cy="67665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SHY-Performance  ·  Formation FIM  ·  UNICEF France  ·  V7-01062026SHY-TE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8229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5050"/>
                </a:solidFill>
              </a:rPr>
              <a:t>Si objection précoce : accepter, ne pas argumenter, et démarrer immédiatement cette trame.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261872"/>
            <a:ext cx="2328062" cy="384048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1280160"/>
            <a:ext cx="218175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 — PRÉSENTATION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645920"/>
            <a:ext cx="2328062" cy="256032"/>
          </a:xfrm>
          <a:prstGeom prst="rect">
            <a:avLst/>
          </a:prstGeom>
          <a:solidFill>
            <a:srgbClr val="0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" y="1673352"/>
            <a:ext cx="220004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BBEEEE"/>
                </a:solidFill>
              </a:rPr>
              <a:t>QUI on parle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1901952"/>
            <a:ext cx="2328062" cy="3749039"/>
          </a:xfrm>
          <a:prstGeom prst="rect">
            <a:avLst/>
          </a:prstGeom>
          <a:solidFill>
            <a:srgbClr val="FFFFFF"/>
          </a:solidFill>
          <a:ln w="1524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1975104"/>
            <a:ext cx="2181758" cy="3547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Brève présentation de l'organisme.
'Je vous appelle au nom de l'UNICEF France,
l'organisation internationale qui protège
les enfants dans 190 pays.'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20670" y="1261872"/>
            <a:ext cx="2328062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12110" y="1280160"/>
            <a:ext cx="218175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2 — DRAMATISATION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20670" y="1645920"/>
            <a:ext cx="2328062" cy="256032"/>
          </a:xfrm>
          <a:prstGeom prst="rect">
            <a:avLst/>
          </a:prstGeom>
          <a:solidFill>
            <a:srgbClr val="0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93822" y="1673352"/>
            <a:ext cx="220004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BBEEEE"/>
                </a:solidFill>
              </a:rPr>
              <a:t>POURQUOI cet appel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20670" y="1901952"/>
            <a:ext cx="2328062" cy="3749039"/>
          </a:xfrm>
          <a:prstGeom prst="rect">
            <a:avLst/>
          </a:prstGeom>
          <a:solidFill>
            <a:srgbClr val="FFFFFF"/>
          </a:solidFill>
          <a:ln w="1524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12110" y="1975104"/>
            <a:ext cx="2181758" cy="3547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Gravité humaine. Prise de conscience.
'En ce moment même, un enfant meurt
de malnutrition toutes les 11 secondes.'
Faire ressentir sans tomber dans l'excès.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67020" y="1261872"/>
            <a:ext cx="2328062" cy="384048"/>
          </a:xfrm>
          <a:prstGeom prst="rect">
            <a:avLst/>
          </a:prstGeom>
          <a:solidFill>
            <a:srgbClr val="00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58460" y="1280160"/>
            <a:ext cx="218175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3 — SOLUTION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967020" y="1645920"/>
            <a:ext cx="2328062" cy="256032"/>
          </a:xfrm>
          <a:prstGeom prst="rect">
            <a:avLst/>
          </a:prstGeom>
          <a:solidFill>
            <a:srgbClr val="0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40172" y="1673352"/>
            <a:ext cx="220004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BBEEEE"/>
                </a:solidFill>
              </a:rPr>
              <a:t>COMMENT on aide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67020" y="1901952"/>
            <a:ext cx="2328062" cy="3749039"/>
          </a:xfrm>
          <a:prstGeom prst="rect">
            <a:avLst/>
          </a:prstGeom>
          <a:solidFill>
            <a:srgbClr val="FFFFFF"/>
          </a:solidFill>
          <a:ln w="15240">
            <a:solidFill>
              <a:srgbClr val="00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58460" y="1975104"/>
            <a:ext cx="2181758" cy="3547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Transformer la solution en confiance.
'Un sachet RUTF de 92g suffit à traiter
un enfant en 6 à 8 semaines.
Votre geste peut tout changer.'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3371" y="1261872"/>
            <a:ext cx="2328062" cy="384048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04811" y="1280160"/>
            <a:ext cx="218175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4 — CONFIANCE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3371" y="1645920"/>
            <a:ext cx="2328062" cy="256032"/>
          </a:xfrm>
          <a:prstGeom prst="rect">
            <a:avLst/>
          </a:prstGeom>
          <a:solidFill>
            <a:srgbClr val="0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86523" y="1673352"/>
            <a:ext cx="220004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BBEEEE"/>
                </a:solidFill>
              </a:rPr>
              <a:t>FAIRE VOYAGER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3371" y="1901952"/>
            <a:ext cx="2328062" cy="3749039"/>
          </a:xfrm>
          <a:prstGeom prst="rect">
            <a:avLst/>
          </a:prstGeom>
          <a:solidFill>
            <a:srgbClr val="FFFFFF"/>
          </a:solidFill>
          <a:ln w="15240">
            <a:solidFill>
              <a:srgbClr val="00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04811" y="1975104"/>
            <a:ext cx="2181758" cy="3547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Faites imaginer le donateur.
Faites-le voyager dans ses pensées.
Transformez ses émotions en réaction
à chaud : 'Imaginez cet enfant...'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659721" y="1261872"/>
            <a:ext cx="2328062" cy="384048"/>
          </a:xfrm>
          <a:prstGeom prst="rect">
            <a:avLst/>
          </a:prstGeom>
          <a:solidFill>
            <a:srgbClr val="33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751161" y="1280160"/>
            <a:ext cx="218175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5 — SENSIBILISATION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659721" y="1645920"/>
            <a:ext cx="2328062" cy="256032"/>
          </a:xfrm>
          <a:prstGeom prst="rect">
            <a:avLst/>
          </a:prstGeom>
          <a:solidFill>
            <a:srgbClr val="0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732873" y="1673352"/>
            <a:ext cx="220004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BBEEEE"/>
                </a:solidFill>
              </a:rPr>
              <a:t>APPEL À L'ACTION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659721" y="1901952"/>
            <a:ext cx="2328062" cy="3749039"/>
          </a:xfrm>
          <a:prstGeom prst="rect">
            <a:avLst/>
          </a:prstGeom>
          <a:solidFill>
            <a:srgbClr val="FFFFFF"/>
          </a:solidFill>
          <a:ln w="15240">
            <a:solidFill>
              <a:srgbClr val="33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751161" y="1975104"/>
            <a:ext cx="2181758" cy="3547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Les émotions provoquent la réaction.
'Avec 10€/mois, vous permettez de
traiter un enfant. Est-ce que vous
souhaitez nous rejoindre aujourd'hui ?'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5760720"/>
            <a:ext cx="11640312" cy="475488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11479" y="5833872"/>
            <a:ext cx="11365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Résumé : QUI → QUOI → COMMENT → CONFIANCE → SENSIBILISATION
Objection précoce : dépasser 60s avant de conclure au moins 1 CU. Ne pas s'arrêter avant l'appel au don.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5486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91440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SHY-Performance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304288" y="91440"/>
            <a:ext cx="45720" cy="54864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50592" y="73152"/>
            <a:ext cx="9509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Le Script Officiel UNICEF — Les 7 Étapes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0"/>
            <a:ext cx="841248" cy="67665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SHY-Performance  ·  Formation FIM  ·  UNICEF France  ·  V7-01062026SHY-TE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822960"/>
            <a:ext cx="1662901" cy="45720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" y="841248"/>
            <a:ext cx="1571461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①
ACCROCHE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280160"/>
            <a:ext cx="1662901" cy="4434840"/>
          </a:xfrm>
          <a:prstGeom prst="rect">
            <a:avLst/>
          </a:prstGeom>
          <a:solidFill>
            <a:srgbClr val="FFFFFF"/>
          </a:solidFill>
          <a:ln w="1524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" y="1353312"/>
            <a:ext cx="153488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Ouverture conforme aux 5 règles
Ton chaleureux, prénom+nom,
organisation, raison, disponibilité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55509" y="822960"/>
            <a:ext cx="1662901" cy="4572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10373" y="841248"/>
            <a:ext cx="1571461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②
MALNUTRITION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55509" y="1280160"/>
            <a:ext cx="1662901" cy="4434840"/>
          </a:xfrm>
          <a:prstGeom prst="rect">
            <a:avLst/>
          </a:prstGeom>
          <a:solidFill>
            <a:srgbClr val="FFFFFF"/>
          </a:solidFill>
          <a:ln w="1524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28661" y="1353312"/>
            <a:ext cx="153488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Présentation de la cause
1 enfant/11sec · Dimension
humaine et émotionnelle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36699" y="822960"/>
            <a:ext cx="1662901" cy="457200"/>
          </a:xfrm>
          <a:prstGeom prst="rect">
            <a:avLst/>
          </a:prstGeom>
          <a:solidFill>
            <a:srgbClr val="00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91563" y="841248"/>
            <a:ext cx="1571461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③
SACHETS RUTF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36699" y="1280160"/>
            <a:ext cx="1662901" cy="4434840"/>
          </a:xfrm>
          <a:prstGeom prst="rect">
            <a:avLst/>
          </a:prstGeom>
          <a:solidFill>
            <a:srgbClr val="FFFFFF"/>
          </a:solidFill>
          <a:ln w="15240">
            <a:solidFill>
              <a:srgbClr val="00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09851" y="1353312"/>
            <a:ext cx="153488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La solution UNICEF : sachets 92g
6 à 8 semaines pour guérir
un enfant malnutri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17889" y="822960"/>
            <a:ext cx="1662901" cy="45720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72753" y="841248"/>
            <a:ext cx="1571461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④
APPEL AU SOUTIEN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17889" y="1280160"/>
            <a:ext cx="1662901" cy="4434840"/>
          </a:xfrm>
          <a:prstGeom prst="rect">
            <a:avLst/>
          </a:prstGeom>
          <a:solidFill>
            <a:srgbClr val="FFFFFF"/>
          </a:solidFill>
          <a:ln w="15240">
            <a:solidFill>
              <a:srgbClr val="00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91041" y="1353312"/>
            <a:ext cx="153488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Proposition du PA mensuel
Montant suggéré · Impact
chiffré · Simplicité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999078" y="822960"/>
            <a:ext cx="1662901" cy="457200"/>
          </a:xfrm>
          <a:prstGeom prst="rect">
            <a:avLst/>
          </a:prstGeom>
          <a:solidFill>
            <a:srgbClr val="33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53942" y="841248"/>
            <a:ext cx="1571461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⑤
SI DON PONCTUEL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999078" y="1280160"/>
            <a:ext cx="1662901" cy="4434840"/>
          </a:xfrm>
          <a:prstGeom prst="rect">
            <a:avLst/>
          </a:prstGeom>
          <a:solidFill>
            <a:srgbClr val="FFFFFF"/>
          </a:solidFill>
          <a:ln w="15240">
            <a:solidFill>
              <a:srgbClr val="33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72230" y="1353312"/>
            <a:ext cx="153488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Réorientation vers le PA
'Et si on envisageait
quelque chose de régulier ?'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680268" y="822960"/>
            <a:ext cx="1662901" cy="457200"/>
          </a:xfrm>
          <a:prstGeom prst="rect">
            <a:avLst/>
          </a:prstGeom>
          <a:solidFill>
            <a:srgbClr val="22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35132" y="841248"/>
            <a:ext cx="1571461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⑥
INDÉCIS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680268" y="1280160"/>
            <a:ext cx="1662901" cy="4434840"/>
          </a:xfrm>
          <a:prstGeom prst="rect">
            <a:avLst/>
          </a:prstGeom>
          <a:solidFill>
            <a:srgbClr val="FFFFFF"/>
          </a:solidFill>
          <a:ln w="15240">
            <a:solidFill>
              <a:srgbClr val="22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53420" y="1353312"/>
            <a:ext cx="153488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Gestion de l'hésitation
Rester dans l'échange
Relance question ouverte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361458" y="822960"/>
            <a:ext cx="1662901" cy="457200"/>
          </a:xfrm>
          <a:prstGeom prst="rect">
            <a:avLst/>
          </a:prstGeom>
          <a:solidFill>
            <a:srgbClr val="11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416322" y="841248"/>
            <a:ext cx="1571461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⑦
VALIDATION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361458" y="1280160"/>
            <a:ext cx="1662901" cy="4434840"/>
          </a:xfrm>
          <a:prstGeom prst="rect">
            <a:avLst/>
          </a:prstGeom>
          <a:solidFill>
            <a:srgbClr val="FFFFFF"/>
          </a:solidFill>
          <a:ln w="15240">
            <a:solidFill>
              <a:srgbClr val="11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434610" y="1353312"/>
            <a:ext cx="153488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IBAN à chaud / PA en ligne
PEL / PA courrier
Confirmer coordonnées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5833872"/>
            <a:ext cx="11640312" cy="36576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79" y="5907024"/>
            <a:ext cx="113659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Durée standard : 3 à 5 min · Max 2 objections après l'appel au don · Accord de principe avant l'atterrissage.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5486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91440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SHY-Performance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304288" y="91440"/>
            <a:ext cx="45720" cy="54864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50592" y="73152"/>
            <a:ext cx="9509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Les 5 Règles Officielles de la Phrase d'Accroche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0"/>
            <a:ext cx="841248" cy="67665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SHY-Performance  ·  Formation FIM  ·  UNICEF France  ·  V7-01062026SHY-TE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82296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5050"/>
                </a:solidFill>
              </a:rPr>
              <a:t>Ces 5 règles sont non négociables — elles définissent un appel conforme FIDELIS 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243584"/>
            <a:ext cx="1005840" cy="804672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" y="1408176"/>
            <a:ext cx="9692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RÈGLE 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98448" y="1243584"/>
            <a:ext cx="3200400" cy="804672"/>
          </a:xfrm>
          <a:prstGeom prst="rect">
            <a:avLst/>
          </a:prstGeom>
          <a:solidFill>
            <a:srgbClr val="F0F7F7"/>
          </a:solidFill>
          <a:ln w="1016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89888" y="1426464"/>
            <a:ext cx="30358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5050"/>
                </a:solidFill>
              </a:rPr>
              <a:t>Se présenter : prénom EN PREMIER, puis nom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17136" y="1243584"/>
            <a:ext cx="7397496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26864" y="1353312"/>
            <a:ext cx="720547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1A1A1A"/>
                </a:solidFill>
              </a:rPr>
              <a:t>'Bonjour, je m'appelle [Prénom NOM]…' — convention française, jamais le nom de famille d'abord.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084832"/>
            <a:ext cx="1005840" cy="804672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2608" y="2249424"/>
            <a:ext cx="9692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RÈGLE 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98448" y="2084832"/>
            <a:ext cx="3200400" cy="804672"/>
          </a:xfrm>
          <a:prstGeom prst="rect">
            <a:avLst/>
          </a:prstGeom>
          <a:solidFill>
            <a:srgbClr val="F0F7F7"/>
          </a:solidFill>
          <a:ln w="1016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89888" y="2267712"/>
            <a:ext cx="30358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5050"/>
                </a:solidFill>
              </a:rPr>
              <a:t>Nommer l'organisation représentée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17136" y="2084832"/>
            <a:ext cx="7397496" cy="80467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26864" y="2194560"/>
            <a:ext cx="720547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1A1A1A"/>
                </a:solidFill>
              </a:rPr>
              <a:t>'…je vous appelle au nom de l'UNICEF France…' — le prospect sait immédiatement qui appelle.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2926080"/>
            <a:ext cx="1005840" cy="804672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2608" y="3090672"/>
            <a:ext cx="9692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RÈGLE 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298448" y="2926080"/>
            <a:ext cx="3200400" cy="804672"/>
          </a:xfrm>
          <a:prstGeom prst="rect">
            <a:avLst/>
          </a:prstGeom>
          <a:solidFill>
            <a:srgbClr val="F0F7F7"/>
          </a:solidFill>
          <a:ln w="1016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89888" y="3108960"/>
            <a:ext cx="30358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5050"/>
                </a:solidFill>
              </a:rPr>
              <a:t>Annoncer la raison de l'appel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17136" y="2926080"/>
            <a:ext cx="7397496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26864" y="3035808"/>
            <a:ext cx="720547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1A1A1A"/>
                </a:solidFill>
              </a:rPr>
              <a:t>'…pour vous parler d'une initiative importante pour les enfants…' — clarté totale.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3767328"/>
            <a:ext cx="1005840" cy="804672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2608" y="3931920"/>
            <a:ext cx="9692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RÈGLE 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298448" y="3767328"/>
            <a:ext cx="3200400" cy="804672"/>
          </a:xfrm>
          <a:prstGeom prst="rect">
            <a:avLst/>
          </a:prstGeom>
          <a:solidFill>
            <a:srgbClr val="F0F7F7"/>
          </a:solidFill>
          <a:ln w="1016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89888" y="3950208"/>
            <a:ext cx="30358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5050"/>
                </a:solidFill>
              </a:rPr>
              <a:t>Vérifier la disponibilité du prospect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17136" y="3767328"/>
            <a:ext cx="7397496" cy="80467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26864" y="3877056"/>
            <a:ext cx="720547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1A1A1A"/>
                </a:solidFill>
              </a:rPr>
              <a:t>'Est-ce que vous avez quelques minutes ?' — respect de l'interlocuteur, écoute active.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4608576"/>
            <a:ext cx="1005840" cy="804672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92608" y="4773168"/>
            <a:ext cx="9692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RÈGLE 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298448" y="4608576"/>
            <a:ext cx="3200400" cy="804672"/>
          </a:xfrm>
          <a:prstGeom prst="rect">
            <a:avLst/>
          </a:prstGeom>
          <a:solidFill>
            <a:srgbClr val="F0F7F7"/>
          </a:solidFill>
          <a:ln w="1016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389888" y="4791456"/>
            <a:ext cx="30358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5050"/>
                </a:solidFill>
              </a:rPr>
              <a:t>Ton chaleureux et naturel — le sourire s'entend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17136" y="4608576"/>
            <a:ext cx="7397496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26864" y="4718304"/>
            <a:ext cx="720547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1A1A1A"/>
                </a:solidFill>
              </a:rPr>
              <a:t>Débit posé · Articulation claire · Conviction sincère — le ton est aussi important que les mots.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5449824"/>
            <a:ext cx="11640312" cy="402336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11479" y="5522976"/>
            <a:ext cx="113659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Un appel qui viole une de ces 5 règles est disqualifié dans la nomenclature FIDELIS.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5486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91440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SHY-Performance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304288" y="91440"/>
            <a:ext cx="45720" cy="54864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50592" y="73152"/>
            <a:ext cx="9509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Règles de Prélèvement — Date du 10 &amp; Délais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0"/>
            <a:ext cx="841248" cy="67665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SHY-Performance  ·  Formation FIM  ·  UNICEF France  ·  V7-01062026SHY-TE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822960"/>
            <a:ext cx="11430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5050"/>
                </a:solidFill>
              </a:rPr>
              <a:t>Le prélèvement PA est effectué le 10 de chaque mois. La date de saisie détermine le mois de prélèvement.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371600"/>
            <a:ext cx="5577840" cy="402336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1408176"/>
            <a:ext cx="5394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PA SAISI AVANT LE 04 DU MOIS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773936"/>
            <a:ext cx="557784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2336" y="1828800"/>
            <a:ext cx="5321808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→ Prélevé le 10 du MÊME mois
Exemple : PA signé le 04 juin
→ Prélèvement le 10 juin 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1371600"/>
            <a:ext cx="5577840" cy="402336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36208" y="1408176"/>
            <a:ext cx="5394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PA SAISI APRÈS LE 04 DU MOIS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1773936"/>
            <a:ext cx="557784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54496" y="1828800"/>
            <a:ext cx="5321808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→ Prélevé le 10 du MOIS SUIVANT
Exemple : PA signé le 05 juin
→ Prélèvement le 10 juillet 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852928"/>
            <a:ext cx="11430000" cy="36576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2336" y="2880360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RÈGLE SIMPLE : 04 = date pivot · Avant le 04 = ce mois · Après le 04 = mois suivant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333756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5050"/>
                </a:solidFill>
              </a:rPr>
              <a:t>Informez TOUJOURS le donateur du mois de son premier prélèvement.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840480"/>
            <a:ext cx="11430000" cy="329184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2336" y="3877056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TX D'AUDIOLYSE : 80%  —  8 donateurs sur 10 arrivent à la validation s'ils restent en ligne après la trame d'accroche.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4297680"/>
            <a:ext cx="11640312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79" y="4370832"/>
            <a:ext cx="11365992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Rappel au donateur : 'Votre premier prélèvement sera effectué le 10 [mois]. Je vous confirme cela maintenant.'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4864608"/>
            <a:ext cx="11640312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79" y="4937760"/>
            <a:ext cx="11365992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Si le donateur interroge sur la date de prélèvement, c'est une objection à traiter avec la règle du 04 + exemple concret.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5486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91440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SHY-Performance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304288" y="91440"/>
            <a:ext cx="45720" cy="54864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50592" y="73152"/>
            <a:ext cx="9509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Les 4 Types de Prélèvement Automatique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0"/>
            <a:ext cx="841248" cy="67665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SHY-Performance  ·  Formation FIM  ·  UNICEF France  ·  V7-01062026SHY-TE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822960"/>
            <a:ext cx="2910078" cy="438912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841248"/>
            <a:ext cx="276377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PA EN LIGNE — AGENT EN DIRECT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261872"/>
            <a:ext cx="2910078" cy="4526280"/>
          </a:xfrm>
          <a:prstGeom prst="rect">
            <a:avLst/>
          </a:prstGeom>
          <a:solidFill>
            <a:srgbClr val="FFFFFF"/>
          </a:solidFill>
          <a:ln w="1524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1335024"/>
            <a:ext cx="2763774" cy="4315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L'agent collecte l'IBAN à chaud pendant l'appel.
Le donateur valide oralement.
L'agent saisit les coordonnées bancaires en direct.
✅ Mode le plus rapide · Valider l'IBAN mot à mot
⚠ Voyant VERT = reprendre · Voyant ROUGE = suspendre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2686" y="822960"/>
            <a:ext cx="2910078" cy="4389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94126" y="841248"/>
            <a:ext cx="276377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PA EN LIGNE — DONATEUR EN DIRECT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2686" y="1261872"/>
            <a:ext cx="2910078" cy="4526280"/>
          </a:xfrm>
          <a:prstGeom prst="rect">
            <a:avLst/>
          </a:prstGeom>
          <a:solidFill>
            <a:srgbClr val="FFFFFF"/>
          </a:solidFill>
          <a:ln w="1524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4126" y="1335024"/>
            <a:ext cx="2763774" cy="4315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L'agent envoie un lien de paiement sécurisé.
Recommandé par MAIL (non par SMS).
Le donateur saisit lui-même ses coordonnées.
Envoi : mail prioritaire, SMS en secours.
C'est une promesse — à confirmer J+5.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31052" y="822960"/>
            <a:ext cx="2910078" cy="438912"/>
          </a:xfrm>
          <a:prstGeom prst="rect">
            <a:avLst/>
          </a:prstGeom>
          <a:solidFill>
            <a:srgbClr val="00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22492" y="841248"/>
            <a:ext cx="276377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PA EN LIGNE — DIFFÉRÉ PAR LE DONATEUR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31052" y="1261872"/>
            <a:ext cx="2910078" cy="4526280"/>
          </a:xfrm>
          <a:prstGeom prst="rect">
            <a:avLst/>
          </a:prstGeom>
          <a:solidFill>
            <a:srgbClr val="FFFFFF"/>
          </a:solidFill>
          <a:ln w="15240">
            <a:solidFill>
              <a:srgbClr val="00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22492" y="1335024"/>
            <a:ext cx="2763774" cy="4315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Promesse de paiement en ligne.
Le donateur confirme qu'il a payé
en lisant à voix haute le message de confirmation
(même message visible sur l'écran agent).
✅ Qualifier en PAIEMENT DIFFÉRÉ confirmé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59418" y="822960"/>
            <a:ext cx="2910078" cy="438912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50858" y="841248"/>
            <a:ext cx="276377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PROMESSE + RELANCE CALL 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59418" y="1261872"/>
            <a:ext cx="2910078" cy="4526280"/>
          </a:xfrm>
          <a:prstGeom prst="rect">
            <a:avLst/>
          </a:prstGeom>
          <a:solidFill>
            <a:srgbClr val="FFFFFF"/>
          </a:solidFill>
          <a:ln w="15240">
            <a:solidFill>
              <a:srgbClr val="00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50858" y="1335024"/>
            <a:ext cx="2763774" cy="4315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Promesse de paiement en ligne non encore confirmée.
Call 2 rappelle pour relance et confirmation.
2 cas : Call 1 ou Call 2 finalise le PA.
Si pas de réponse au rappel :
→ Qualifier en PROMESSE DÉFINITIVE PEL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5852160"/>
            <a:ext cx="11640312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79" y="5925312"/>
            <a:ext cx="113659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Objection 'D'où avez-vous eu mon numéro ?' → Réponse : fichiers partenaires (Amazon, M6 boutique, comparateurs, etc.)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114800" y="1097280"/>
            <a:ext cx="3931920" cy="3931920"/>
          </a:xfrm>
          <a:prstGeom prst="ellipse">
            <a:avLst/>
          </a:prstGeom>
          <a:solidFill>
            <a:srgbClr val="00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0" y="201168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 i="0">
                <a:solidFill>
                  <a:srgbClr val="FFFFFF"/>
                </a:solidFill>
              </a:rPr>
              <a:t>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28016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</a:rPr>
              <a:t>Merci à Tous 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60604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CCEEEE"/>
                </a:solidFill>
              </a:rPr>
              <a:t>Votre engagement fait la différence pour les enfants du monde entier.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246120"/>
            <a:ext cx="9418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8DDDD"/>
                </a:solidFill>
              </a:rPr>
              <a:t>BOOK J3  ·  Journée 3  ·  Script UNICEF × FIDELIS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749039"/>
            <a:ext cx="8531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AADDDD"/>
                </a:solidFill>
              </a:rPr>
              <a:t>« Le refus d'aujourd'hui peut être le don de demain 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4572000"/>
            <a:ext cx="121889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8DDDD"/>
                </a:solidFill>
              </a:rPr>
              <a:t>SHY-Performance  ·  Formation FIM  ·  UNICEF France  ·  V7-01062026SHY-TE</a:t>
            </a:r>
          </a:p>
        </p:txBody>
      </p:sp>
      <p:pic>
        <p:nvPicPr>
          <p:cNvPr id="12" name="Picture 11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5120640"/>
            <a:ext cx="914400" cy="89611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0" y="6035040"/>
            <a:ext cx="121889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SHY-Performance  ×  FIDELIS  ×  UNICEF France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