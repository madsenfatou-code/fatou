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457200"/>
            <a:ext cx="2926080" cy="292608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8686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Module Général
de 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8229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Fundraising Téléphonique UNICEF France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1247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AADDDD"/>
                </a:solidFill>
              </a:rPr>
              <a:t>Contenu consolidé J1 → J7  ·  7 jours de formation  ·  SHY-Performance × FIDELIS ×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1609344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429000"/>
            <a:ext cx="5120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429000"/>
            <a:ext cx="950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EEEE"/>
                </a:solidFill>
              </a:rPr>
              <a:t>Fondations &amp; 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12264" y="3401568"/>
            <a:ext cx="1609344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85416" y="3429000"/>
            <a:ext cx="5120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3429000"/>
            <a:ext cx="950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EEEE"/>
                </a:solidFill>
              </a:rPr>
              <a:t>Monde Associatif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7328" y="3401568"/>
            <a:ext cx="1609344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3429000"/>
            <a:ext cx="5120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29000"/>
            <a:ext cx="950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EEEE"/>
                </a:solidFill>
              </a:rPr>
              <a:t>Script &amp; Accroche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22392" y="3401568"/>
            <a:ext cx="1609344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5544" y="3429000"/>
            <a:ext cx="5120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3429000"/>
            <a:ext cx="950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EEEE"/>
                </a:solidFill>
              </a:rPr>
              <a:t>Objections &amp; Verrouillage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77456" y="3401568"/>
            <a:ext cx="1609344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429000"/>
            <a:ext cx="5120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429000"/>
            <a:ext cx="950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EEEE"/>
                </a:solidFill>
              </a:rPr>
              <a:t>Certification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3401568"/>
            <a:ext cx="1609344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05672" y="3429000"/>
            <a:ext cx="5120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429000"/>
            <a:ext cx="950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EEEE"/>
                </a:solidFill>
              </a:rPr>
              <a:t>Atelier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87584" y="3401568"/>
            <a:ext cx="1609344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0736" y="3429000"/>
            <a:ext cx="51206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3429000"/>
            <a:ext cx="9509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EEEE"/>
                </a:solidFill>
              </a:rPr>
              <a:t>Atelier 2 &amp; Certif.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31920"/>
            <a:ext cx="2743200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968496"/>
            <a:ext cx="2487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40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4425696"/>
            <a:ext cx="24871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Quiz final consolidé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28416" y="3931920"/>
            <a:ext cx="2743200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6432" y="3968496"/>
            <a:ext cx="2487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 modules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4425696"/>
            <a:ext cx="24871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Quiz par module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3931920"/>
            <a:ext cx="2743200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3968496"/>
            <a:ext cx="2487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24 Critères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425696"/>
            <a:ext cx="24871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Grille de certification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70848" y="3931920"/>
            <a:ext cx="2743200" cy="8229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98864" y="3968496"/>
            <a:ext cx="2487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 CU/H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8864" y="4425696"/>
            <a:ext cx="24871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Objectif minimum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19472"/>
            <a:ext cx="11247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8DDDD"/>
                </a:solidFill>
              </a:rPr>
              <a:t>Version V8-01062026SHY-TE  ·  Formation 5 jours + 2 ateliers pratiques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340096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pic>
        <p:nvPicPr>
          <p:cNvPr id="47" name="Picture 4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Sommaire Général — Organisation des 7 Journées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41248"/>
            <a:ext cx="1371600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905256"/>
            <a:ext cx="1261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CHAPITRE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8" y="841248"/>
            <a:ext cx="64008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0784" y="905256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2576" y="841248"/>
            <a:ext cx="2651760" cy="475488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2304" y="914400"/>
            <a:ext cx="25054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Fondations &amp; 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841248"/>
            <a:ext cx="692200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914400"/>
            <a:ext cx="6784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UNICEF · 190 pays · RUTF 92g · KPI FIDELIS · Nomenclature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48740"/>
            <a:ext cx="137160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412748"/>
            <a:ext cx="1261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CHAPITRE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64208" y="1348740"/>
            <a:ext cx="64008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0784" y="1412748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22576" y="1348740"/>
            <a:ext cx="2651760" cy="475488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2304" y="1421892"/>
            <a:ext cx="25054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8080"/>
                </a:solidFill>
              </a:rPr>
              <a:t>Monde Associatif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92624" y="1348740"/>
            <a:ext cx="692200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1421892"/>
            <a:ext cx="6784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Loi 1901 · Secteur associatif · 22M bénévoles · 3 principes humanitaires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856232"/>
            <a:ext cx="1371600" cy="47548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1920240"/>
            <a:ext cx="1261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CHAPITRE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64208" y="1856232"/>
            <a:ext cx="64008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0784" y="1920240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22576" y="1856232"/>
            <a:ext cx="2651760" cy="475488"/>
          </a:xfrm>
          <a:prstGeom prst="rect">
            <a:avLst/>
          </a:prstGeom>
          <a:solidFill>
            <a:srgbClr val="F0F7F7"/>
          </a:solidFill>
          <a:ln w="1016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32304" y="1929384"/>
            <a:ext cx="25054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6A6A"/>
                </a:solidFill>
              </a:rPr>
              <a:t>Script Officiel &amp; Accroche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92624" y="1856232"/>
            <a:ext cx="692200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2352" y="1929384"/>
            <a:ext cx="6784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ALLO · 7 étapes · 5 règles · 3 phases appel · Trame 5 points · Règles 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363724"/>
            <a:ext cx="137160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2427732"/>
            <a:ext cx="1261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CHAPITRE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64208" y="2363724"/>
            <a:ext cx="64008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00784" y="2427732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22576" y="2363724"/>
            <a:ext cx="2651760" cy="475488"/>
          </a:xfrm>
          <a:prstGeom prst="rect">
            <a:avLst/>
          </a:prstGeom>
          <a:solidFill>
            <a:srgbClr val="F0F7F7"/>
          </a:solidFill>
          <a:ln w="1016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32304" y="2436876"/>
            <a:ext cx="25054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AAAA"/>
                </a:solidFill>
              </a:rPr>
              <a:t>Objections &amp; Verrouillage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92624" y="2363724"/>
            <a:ext cx="692200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2352" y="2436876"/>
            <a:ext cx="6784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15 objections · 5 catégories · Méthode AAR · Closing · Verrouillage 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871216"/>
            <a:ext cx="1371600" cy="47548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2935224"/>
            <a:ext cx="1261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CHAPITRE 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64208" y="2871216"/>
            <a:ext cx="64008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00784" y="2935224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22576" y="2871216"/>
            <a:ext cx="2651760" cy="475488"/>
          </a:xfrm>
          <a:prstGeom prst="rect">
            <a:avLst/>
          </a:prstGeom>
          <a:solidFill>
            <a:srgbClr val="F0F7F7"/>
          </a:solidFill>
          <a:ln w="1016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32304" y="2944368"/>
            <a:ext cx="25054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337777"/>
                </a:solidFill>
              </a:rPr>
              <a:t>Certification FIM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92624" y="2871216"/>
            <a:ext cx="692200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02352" y="2944368"/>
            <a:ext cx="6784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Grille 24 critères · Simulations · Plan d'action terrain J+30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378708"/>
            <a:ext cx="1371600" cy="475488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3442716"/>
            <a:ext cx="1261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CHAPITRE 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64208" y="3378708"/>
            <a:ext cx="64008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00784" y="3442716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22576" y="3378708"/>
            <a:ext cx="2651760" cy="475488"/>
          </a:xfrm>
          <a:prstGeom prst="rect">
            <a:avLst/>
          </a:prstGeom>
          <a:solidFill>
            <a:srgbClr val="F0F7F7"/>
          </a:solidFill>
          <a:ln w="1016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2304" y="3451860"/>
            <a:ext cx="25054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26666"/>
                </a:solidFill>
              </a:rPr>
              <a:t>Atelier Pratique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92624" y="3378708"/>
            <a:ext cx="692200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02352" y="3451860"/>
            <a:ext cx="6784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Production simulée · Grille live · Débrief individuel · Cas complexes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886200"/>
            <a:ext cx="1371600" cy="475488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3950208"/>
            <a:ext cx="1261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CHAPITRE 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64208" y="3886200"/>
            <a:ext cx="64008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00784" y="3950208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22576" y="3886200"/>
            <a:ext cx="2651760" cy="475488"/>
          </a:xfrm>
          <a:prstGeom prst="rect">
            <a:avLst/>
          </a:prstGeom>
          <a:solidFill>
            <a:srgbClr val="F0F7F7"/>
          </a:solidFill>
          <a:ln w="10160">
            <a:solidFill>
              <a:srgbClr val="11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32304" y="3959352"/>
            <a:ext cx="25054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15555"/>
                </a:solidFill>
              </a:rPr>
              <a:t>Atelier Pratique 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92624" y="3886200"/>
            <a:ext cx="692200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11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02352" y="3959352"/>
            <a:ext cx="6784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Perfectionnement · Certification finale · Analyse écarts · Plan poste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393692"/>
            <a:ext cx="1371600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4457700"/>
            <a:ext cx="12618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QUIZ FINAL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64208" y="4393692"/>
            <a:ext cx="64008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00784" y="4457700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322576" y="4393692"/>
            <a:ext cx="2651760" cy="475488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32304" y="4466844"/>
            <a:ext cx="250545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40 Questions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92624" y="4393692"/>
            <a:ext cx="692200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02352" y="4466844"/>
            <a:ext cx="6784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Évaluation consolidée J1→J7 · Seuil 28/40 · Mention Excellent ≥ 35/40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09728" cy="32004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Fondations &amp;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L'UNICEF · La cause · Votre identité de fundraiser · KPI FIDELIS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L'UNICEF — Chiffres Clés &amp; Mission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1920240" cy="102412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96112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1946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81328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Fondation UNICEF
(ONU après WW2)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877824"/>
            <a:ext cx="1920240" cy="10241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896112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1481328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Pays présents
dans le monde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877824"/>
            <a:ext cx="1920240" cy="102412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896112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481328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Enfants du monde
vaccinés par UNICEF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877824"/>
            <a:ext cx="1920240" cy="10241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896112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92g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481328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Poids sachet RUTF
(malnutrition)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877824"/>
            <a:ext cx="1920240" cy="102412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896112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6–8 sem.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1481328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Guérison enfant
après traitement RUTF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877824"/>
            <a:ext cx="1920240" cy="1024128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896112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1/11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481328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EEEE"/>
                </a:solidFill>
              </a:rPr>
              <a:t>1 enfant meurt
de faim dans le monde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029968"/>
            <a:ext cx="11640312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2103120"/>
            <a:ext cx="11384280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La cause centrale : Malnutrition aigüe sévère sévère — Les sachets RUTF (Ready-to-Use Therapeutic Food) de 92g permettent à un enfant malnutri de guérir en 6 à 8 semaines.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706624"/>
            <a:ext cx="11640312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779776"/>
            <a:ext cx="11384280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3 principes humanitaires fondamentaux :
1. HUMANITÉ — Agir pour préserver la vie et soulager la souffrance
2. IMPARTIALITÉ — Sans discrimination de nationalité, race, religion
3. NEUTRALITÉ — Ne prendre parti dans aucun conflit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39312"/>
            <a:ext cx="11640312" cy="43891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3712463"/>
            <a:ext cx="11384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Votre mission : Représenter l'UNICEF avec conviction. Votre ton, votre posture, vos mots — tout compte.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06240"/>
            <a:ext cx="11640312" cy="43891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279392"/>
            <a:ext cx="11384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Posture vocale attendue : Sourire audible dès 'Bonjour' · Débit posé · Articulation claire · Ton chaleureux et sincère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Nomenclature FIDELIS — KPI &amp; Indicateurs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285292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32688"/>
            <a:ext cx="2670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CU/H  —  Contacts Utiles / Heure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25295"/>
            <a:ext cx="28529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26700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Contacts qualifiés par heure de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627631"/>
            <a:ext cx="26700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≥ 9 CU/H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877824"/>
            <a:ext cx="2852928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932688"/>
            <a:ext cx="2670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TX Transfo  —  Taux de Transformation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36976" y="1225295"/>
            <a:ext cx="2852928" cy="658368"/>
          </a:xfrm>
          <a:prstGeom prst="rect">
            <a:avLst/>
          </a:prstGeom>
          <a:solidFill>
            <a:srgbClr val="F0F7F7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6" y="1280160"/>
            <a:ext cx="26700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% PEL + PA obtenus parmi les Contacts Utiles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1627631"/>
            <a:ext cx="26700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8080"/>
                </a:solidFill>
              </a:rPr>
              <a:t>Cible FIDELIS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877824"/>
            <a:ext cx="2852928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932688"/>
            <a:ext cx="2670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PDC  —  Plan de Charge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1225295"/>
            <a:ext cx="28529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280160"/>
            <a:ext cx="26700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Volume mensuel de dons réguliers FIDELIS × UNICEF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1627631"/>
            <a:ext cx="26700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6A6A"/>
                </a:solidFill>
              </a:rPr>
              <a:t>Défini mensuel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62288" y="877824"/>
            <a:ext cx="2852928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932688"/>
            <a:ext cx="2670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DON  —  Accord de prélèvement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62288" y="1225295"/>
            <a:ext cx="2852928" cy="658368"/>
          </a:xfrm>
          <a:prstGeom prst="rect">
            <a:avLst/>
          </a:prstGeom>
          <a:solidFill>
            <a:srgbClr val="F0F7F7"/>
          </a:solidFill>
          <a:ln w="762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1280160"/>
            <a:ext cx="26700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Contact qui accepte le PA — qualification positive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1627631"/>
            <a:ext cx="26700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AAAA"/>
                </a:solidFill>
              </a:rPr>
              <a:t>= CU validé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49424"/>
            <a:ext cx="2852928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04288"/>
            <a:ext cx="2670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INDÉCIS  —  À relancer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596896"/>
            <a:ext cx="28529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651760"/>
            <a:ext cx="26700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Contact hésitant — promesse non encore confirmée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2999232"/>
            <a:ext cx="26700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337777"/>
                </a:solidFill>
              </a:rPr>
              <a:t>Suivi Call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36976" y="2249424"/>
            <a:ext cx="2852928" cy="347472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2304288"/>
            <a:ext cx="2670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REFUS  —  Refus définitif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36976" y="2596896"/>
            <a:ext cx="2852928" cy="658368"/>
          </a:xfrm>
          <a:prstGeom prst="rect">
            <a:avLst/>
          </a:prstGeom>
          <a:solidFill>
            <a:srgbClr val="F0F7F7"/>
          </a:solidFill>
          <a:ln w="762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2651760"/>
            <a:ext cx="26700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Contact qui refuse — clôture avec courtoisie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28416" y="2999232"/>
            <a:ext cx="26700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26666"/>
                </a:solidFill>
              </a:rPr>
              <a:t>Qualification 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2249424"/>
            <a:ext cx="2852928" cy="347472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2304288"/>
            <a:ext cx="2670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PEL  —  Promesse En Ligne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2596896"/>
            <a:ext cx="28529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11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2651760"/>
            <a:ext cx="26700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Don validé en ligne après l'appel (différé)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2999232"/>
            <a:ext cx="26700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15555"/>
                </a:solidFill>
              </a:rPr>
              <a:t>Comptabilisé TX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62288" y="2249424"/>
            <a:ext cx="285292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53728" y="2304288"/>
            <a:ext cx="2670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  —  Prélèvement Auto.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62288" y="2596896"/>
            <a:ext cx="2852928" cy="658368"/>
          </a:xfrm>
          <a:prstGeom prst="rect">
            <a:avLst/>
          </a:prstGeom>
          <a:solidFill>
            <a:srgbClr val="F0F7F7"/>
          </a:solidFill>
          <a:ln w="762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53728" y="2651760"/>
            <a:ext cx="26700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Don régulier SEPA — produit unique proposé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3728" y="2999232"/>
            <a:ext cx="26700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Produit unique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980944"/>
            <a:ext cx="11640312" cy="38404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054096"/>
            <a:ext cx="1138428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Conquête = nouveaux prospects  ·  Fidélisation / Réactivation = anciens donateurs  ·  6h40 production effective par journée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493008"/>
            <a:ext cx="11640312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79" y="3566160"/>
            <a:ext cx="1138428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Organisation journée : 9h30–17h30  ·  Briefing · Production · Débrief  ·  Fichiers FIDELIS segmentés par campagne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✏  Quiz — J1 — Fondations &amp; Mission (5 Questions)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932688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 quelle année l'UNICEF a-t-il été fondé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6187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984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1901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45336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8191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1946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1959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1226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488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1919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14015"/>
            <a:ext cx="47548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450591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14015"/>
            <a:ext cx="11146536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5059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Dans combien de pays l'UNICEF est-il présent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79775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163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63239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09981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190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4670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38327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301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6667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31920"/>
            <a:ext cx="47548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3968496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3931920"/>
            <a:ext cx="11146536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39684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Poids d'un sachet RUTF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29768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342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75g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58114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177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92g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864607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0118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100g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1480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1846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120g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449824"/>
            <a:ext cx="47548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486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449824"/>
            <a:ext cx="11146536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486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Durée de guérison avec RUTF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815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852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4 sem.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0990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1356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6–8 sem.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38251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10 sem.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665975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7025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12 sem.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967728"/>
            <a:ext cx="475488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7004304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" y="6967728"/>
            <a:ext cx="11146536" cy="3474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" y="700430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Objectif CU/H minimum 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" y="7333488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" y="73700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" y="76169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765352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" y="7900416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" y="79369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9 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" y="8183880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" y="82204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09728" cy="32004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 Monde Associatif &amp; Humanitaire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Loi 1901 · Histoire · Secteur · Légitimité de la cause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 France Associative — Données Clés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96112"/>
            <a:ext cx="17373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1,5 Million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Associations en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877824"/>
            <a:ext cx="192024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896112"/>
            <a:ext cx="17373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22 Millions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146304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Bénévoles associatifs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877824"/>
            <a:ext cx="1920240" cy="10058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896112"/>
            <a:ext cx="17373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1er juil. 1901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46304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Loi fondatrice
association déclarée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877824"/>
            <a:ext cx="1920240" cy="10058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896112"/>
            <a:ext cx="17373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46304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De fait · Déclarée
Utilité publique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877824"/>
            <a:ext cx="1920240" cy="10058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896112"/>
            <a:ext cx="17373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Don en Confiance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146304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Label indépendant
de contrôle et éthique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877824"/>
            <a:ext cx="1920240" cy="10058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896112"/>
            <a:ext cx="17373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RGPD · Bloctel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46304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Cadre légal des données
de prospection téléphonique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011680"/>
            <a:ext cx="1920240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0391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1859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359152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2432304"/>
            <a:ext cx="170078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Bataille de
Solférino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9424" y="2011680"/>
            <a:ext cx="1920240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864" y="20391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1863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9424" y="2359152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9152" y="2432304"/>
            <a:ext cx="170078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Fondation
Croix-Rouge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2011680"/>
            <a:ext cx="1920240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5968" y="20391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1901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4528" y="2359152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4256" y="2432304"/>
            <a:ext cx="170078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Loi 1901
Associations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2011680"/>
            <a:ext cx="1920240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20391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1946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2359152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432304"/>
            <a:ext cx="170078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Fondation
UNICEF (ONU)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4736" y="2011680"/>
            <a:ext cx="1920240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6176" y="20391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1989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74736" y="2359152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4464" y="2432304"/>
            <a:ext cx="170078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Convention
Droits Enfant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49840" y="2011680"/>
            <a:ext cx="1920240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20391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2000s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2359152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59568" y="2432304"/>
            <a:ext cx="170078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RGPD &amp;
Bloctel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611880"/>
            <a:ext cx="11640312" cy="38404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79" y="3685032"/>
            <a:ext cx="1138428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principes humanitaires fondamentaux : HUMANITÉ  ·  IMPARTIALITÉ  ·  NEUTRALITÉ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114800"/>
            <a:ext cx="11640312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79" y="4187952"/>
            <a:ext cx="1138428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Don régulier PA : valeur à vie × 8 vs don ponctuel. Colonne vertébrale des programmes UNICEF France.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✏  Quiz — J2 — Monde Associatif (6 Questions)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932688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Date loi associative française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6187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984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14 juil. 1789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45336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8191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1er juil. 1901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 mai 1946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1226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488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10 mars 1972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14015"/>
            <a:ext cx="475488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450591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14015"/>
            <a:ext cx="11146536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5059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Nombre d'associations en France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79775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163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800 000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63239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09981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1,5 million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4670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38327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 millions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301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6667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3 millions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31920"/>
            <a:ext cx="475488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3968496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3931920"/>
            <a:ext cx="11146536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39684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Quel événement de 1859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29768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342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Traité Genève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58114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177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Bataille de Solférino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864607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0118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Conférence Berlin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1480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1846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Loi 1901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449824"/>
            <a:ext cx="475488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486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449824"/>
            <a:ext cx="11146536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486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Lequel N'est PAS un principe humanitaire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815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852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Humanité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0990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1356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Impartialité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38251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Solidarité nationale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665975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7025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Neutralité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967728"/>
            <a:ext cx="475488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7004304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" y="6967728"/>
            <a:ext cx="11146536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" y="700430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Bénévoles associatifs en France 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" y="7333488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" y="73700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12M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" y="76169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765352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18M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" y="7900416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" y="79369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22M 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" y="8183880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" y="82204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30M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8485632"/>
            <a:ext cx="475488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1752" y="8522207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" y="8485632"/>
            <a:ext cx="11146536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7824" y="8522207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Type d'association le plus reconnu par l'État 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8096" y="885139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" y="888796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De fait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" y="9134856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7824" y="91714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Déclarée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" y="941832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7824" y="945489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Utilité publique 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8096" y="970178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7824" y="97383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Internationale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09728" cy="32004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Script Officiel &amp; Accroche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ALLO · 7 étapes · 5 règles · 3 phases · Trame 5 points · Règles PA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L'Accueil Téléphonique Correct — Séquence Fondamentale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3813048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905256"/>
            <a:ext cx="35935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  —  ALLO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53312"/>
            <a:ext cx="3813048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444752"/>
            <a:ext cx="3557016" cy="4041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Le fundraiser décroche et dit UNIQUEMENT 'ALLO'
Puis s'arrête et ÉCOUTE ACTIVEMENT
Objectif : identifier le genre de l'interlocuteur
→ Est-ce Madame ou Monsieur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877824"/>
            <a:ext cx="3813048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5" y="905256"/>
            <a:ext cx="35935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  —  IDENTIFICATION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353312"/>
            <a:ext cx="3813048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5" y="1444752"/>
            <a:ext cx="3557016" cy="4041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Convention française : PRÉNOM EN PREMIER, puis NOM
✅ 'Est-ce bien M. François DUPONT ?'
❌ 'Est-ce bien M. DUPONT François ?'
Jamais le nom de famille en premier — non naturel en français.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877824"/>
            <a:ext cx="3813048" cy="47548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905256"/>
            <a:ext cx="35935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 —  PRÉSENTATION &amp; SCRIPT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353312"/>
            <a:ext cx="3813048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1444752"/>
            <a:ext cx="3557016" cy="4041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Après confirmation :
'Bonjour M. Dupont, je m'appelle [Prénom],
je vous appelle au nom de l'UNICEF France.'
Puis enchaîner IMMÉDIATEMENT avec les 5 règles d'accroche.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33288"/>
            <a:ext cx="11640312" cy="47548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806440"/>
            <a:ext cx="11384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  Jamais 'NOM + Prénom' — Cela sonne froid, commercial et non francophone. Prénom + NOM = chaleur + identification claire.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3 Phases de l'Appel Sortant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3813048" cy="40233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96112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✈  DÉCOLLAGE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80160"/>
            <a:ext cx="3813048" cy="27432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307592"/>
            <a:ext cx="3593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EEEE"/>
                </a:solidFill>
              </a:rPr>
              <a:t>Phase 1 — Accueil &amp; Accroche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3813048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62763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ALLO + écoute active + identification Mme/M.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10312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Prénom EN PREMIER → NOM de famille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57860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'Bonjour M. X, je m'appelle [Prénom], UNICEF France'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0540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Vérifier disponibilité : 'Vous avez 3 minutes 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529584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Lancer la trame d'accroche 5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0050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Si objection précoce → accepter + démarrer trame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4805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Objectif : DÉPASSER 60 SECONDES → 1 CU minimum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877824"/>
            <a:ext cx="3813048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896112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🛫  VOL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1280160"/>
            <a:ext cx="3813048" cy="27432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307592"/>
            <a:ext cx="3593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EEEE"/>
                </a:solidFill>
              </a:rPr>
              <a:t>Phase 2 — Argumentation &amp; Objections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554480"/>
            <a:ext cx="3813048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162763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Script 7 étapes dans l'ordre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10312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Trame : Présentation → Dramatisation →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57860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Faire IMAGINER le donateur, le faire VOYAGER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0540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Traitement objections par méthode AAR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529584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ALLER JUSQU'À l'appel au don SANS s'arrêter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0050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MAXIMUM 2 objections après l'appel au don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44805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Obtenir un ACCORD DE PRINCIPE clair avant atterrissage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59" y="877824"/>
            <a:ext cx="3813048" cy="402336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7" y="896112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🛬  ATTERRISSAGE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59" y="1280160"/>
            <a:ext cx="3813048" cy="27432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7" y="1307592"/>
            <a:ext cx="3593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EEEE"/>
                </a:solidFill>
              </a:rPr>
              <a:t>Phase 3 — Accord &amp; Validation 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59" y="1554480"/>
            <a:ext cx="3813048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7" y="162763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Accord de principe : OUI ferme + montant clair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7" y="210312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Verrouillage : question fermée de confirmation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7" y="257860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Closing : 'C'est formidable, merci !'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7" y="30540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Valider mode PA : IBAN / Ligne directe / PEL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7" y="3529584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Vérifier adresse complète (n° de PORTE !)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7" y="40050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Confirmer n° téléphone mobile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7" y="44805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▶  Historisation + qualification FIDELIS conforme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888736"/>
            <a:ext cx="11640312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79" y="5961888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Chaque phase a un objectif précis. Le vol ne peut pas s'arrêter avant l'appel au don.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Trame d'Accroche — 5 Points Clés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77824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Si objection précoce : ACCEPTER sans argumenter, puis démarrer immédiatement cette trame.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35024"/>
            <a:ext cx="2328062" cy="51206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533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
PRÉSEN-
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47088"/>
            <a:ext cx="2328062" cy="256032"/>
          </a:xfrm>
          <a:prstGeom prst="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874519"/>
            <a:ext cx="220004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QUI on parle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2328062" cy="36393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2181758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Brève présentation de l'organisme.
'Je vous appelle au nom de l'UNICEF France, l'organisation internationale qui protège les enfants dans 190 pays.'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0670" y="1335024"/>
            <a:ext cx="2328062" cy="5120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2110" y="13533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
DRAMA-
TISATION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0670" y="1847088"/>
            <a:ext cx="2328062" cy="256032"/>
          </a:xfrm>
          <a:prstGeom prst="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3822" y="1874519"/>
            <a:ext cx="220004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POURQUOI cet 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20670" y="2103120"/>
            <a:ext cx="2328062" cy="36393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2110" y="2176272"/>
            <a:ext cx="2181758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Gravité humaine. Prise de conscience sans excès.
'En ce moment même, un enfant meurt de malnutrition toutes les 11 secondes...'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020" y="1335024"/>
            <a:ext cx="2328062" cy="51206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8460" y="13533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
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67020" y="1847088"/>
            <a:ext cx="2328062" cy="256032"/>
          </a:xfrm>
          <a:prstGeom prst="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172" y="1874519"/>
            <a:ext cx="220004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COMMENT on aide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7020" y="2103120"/>
            <a:ext cx="2328062" cy="36393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8460" y="2176272"/>
            <a:ext cx="2181758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Transformer la solution en confiance.
'Un sachet RUTF de 92g suffit à traiter un enfant en 6 à 8 semaines. Votre geste peut tout changer.'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3371" y="1335024"/>
            <a:ext cx="2328062" cy="5120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4811" y="13533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
CON-
FIANCE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3371" y="1847088"/>
            <a:ext cx="2328062" cy="256032"/>
          </a:xfrm>
          <a:prstGeom prst="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6523" y="1874519"/>
            <a:ext cx="220004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FAIRE VOYAGER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3371" y="2103120"/>
            <a:ext cx="2328062" cy="36393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4811" y="2176272"/>
            <a:ext cx="2181758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Faites IMAGINER le donateur. Faites-le voyager dans ses pensées.
'Imaginez cet enfant qui retrouve l'énergie de jouer...'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59721" y="1335024"/>
            <a:ext cx="2328062" cy="512064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1161" y="13533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
SENSI-
BILISATION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59721" y="1847088"/>
            <a:ext cx="2328062" cy="256032"/>
          </a:xfrm>
          <a:prstGeom prst="rect">
            <a:avLst/>
          </a:prstGeom>
          <a:solidFill>
            <a:srgbClr val="00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2873" y="1874519"/>
            <a:ext cx="220004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APPEL À L'ACTION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59721" y="2103120"/>
            <a:ext cx="2328062" cy="3639312"/>
          </a:xfrm>
          <a:prstGeom prst="rect">
            <a:avLst/>
          </a:prstGeom>
          <a:solidFill>
            <a:srgbClr val="FFFFFF"/>
          </a:solidFill>
          <a:ln w="1524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1161" y="2176272"/>
            <a:ext cx="2181758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Émotions → réaction à chaud.
'Avec seulement 10€/mois, vous permettez de traiter un enfant. Souhaitez-vous nous rejoindre ?'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833872"/>
            <a:ext cx="11640312" cy="38404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5907024"/>
            <a:ext cx="1138428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Résumé : QUI → QUOI → COMMENT → CONFIANCE → SENSIBILISATION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 Script Officiel UNICEF — Les 7 Étapes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1662901" cy="4572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896112"/>
            <a:ext cx="1571461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
ACCROCHE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1662901" cy="44988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408176"/>
            <a:ext cx="1534885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Ouverture 5 règles
Ton chaleureux
Prénom + NOM
Organisation nommée
Disponibilité vérifiée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55509" y="877824"/>
            <a:ext cx="1662901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0373" y="896112"/>
            <a:ext cx="1571461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
MALNUTRITION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55509" y="1335024"/>
            <a:ext cx="1662901" cy="44988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8661" y="1408176"/>
            <a:ext cx="1534885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La cause
1 enfant / 11 sec
Dimension humaine
Prise de conscience
Émotion sincère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6699" y="877824"/>
            <a:ext cx="1662901" cy="45720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1563" y="896112"/>
            <a:ext cx="1571461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
SACHETS RUTF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36699" y="1335024"/>
            <a:ext cx="1662901" cy="44988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9851" y="1408176"/>
            <a:ext cx="1534885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La solution UNICEF
92g par sachet
6–8 semaines
pour guérir
un enfant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17889" y="877824"/>
            <a:ext cx="1662901" cy="4572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2753" y="896112"/>
            <a:ext cx="1571461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④
APPEL AU SOUTIEN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7889" y="1335024"/>
            <a:ext cx="1662901" cy="44988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1041" y="1408176"/>
            <a:ext cx="1534885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Proposition PA
Montant suggéré
Impact chiffré
Simplicité du geste
'10€ = 1 enfant'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9078" y="877824"/>
            <a:ext cx="1662901" cy="45720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3942" y="896112"/>
            <a:ext cx="1571461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⑤
SI DON PONCTUEL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9078" y="1335024"/>
            <a:ext cx="1662901" cy="44988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2230" y="1408176"/>
            <a:ext cx="1534885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Réorientation → PA
'Et si on envisageait
quelque chose
de régulier ?
Engagement simple.'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0268" y="877824"/>
            <a:ext cx="1662901" cy="45720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5132" y="896112"/>
            <a:ext cx="1571461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⑥
INDÉCIS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0268" y="1335024"/>
            <a:ext cx="1662901" cy="4498848"/>
          </a:xfrm>
          <a:prstGeom prst="rect">
            <a:avLst/>
          </a:prstGeom>
          <a:solidFill>
            <a:srgbClr val="FFFFFF"/>
          </a:solidFill>
          <a:ln w="1524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3420" y="1408176"/>
            <a:ext cx="1534885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Gestion hésitation
Rester dans l'échange
Relance douce
Question ouverte
Silence 3 sec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61458" y="877824"/>
            <a:ext cx="1662901" cy="45720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16322" y="896112"/>
            <a:ext cx="1571461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⑦
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61458" y="1335024"/>
            <a:ext cx="1662901" cy="44988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34610" y="1408176"/>
            <a:ext cx="1534885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IBAN à chaud
PA en ligne direct
PEL / PA courrier
Coordonnées complètes
Verrouillage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25312"/>
            <a:ext cx="11640312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998464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Durée standard : 3 à 5 min · Max 2 objections après l'appel au don · Accord de principe AVANT l'atterrissage.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5 Règles Officielles de la Phrase d'Accroche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77824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Ces 5 règles définissent un appel conforme FIDELIS — violer l'une d'elles = disqualification.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16736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481328"/>
            <a:ext cx="96926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316736"/>
            <a:ext cx="347472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8176" y="1499616"/>
            <a:ext cx="32918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Se présenter : prénom EN PREMIER, puis nom de famille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91456" y="1316736"/>
            <a:ext cx="712317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1426464"/>
            <a:ext cx="693115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'Bonjour, je m'appelle [Prénom NOM]...' — Convention française. Jamais NOM + Prénom.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67128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2331720"/>
            <a:ext cx="96926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2167128"/>
            <a:ext cx="347472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8176" y="2350008"/>
            <a:ext cx="32918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Nommer l'organisation représentée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91456" y="2167128"/>
            <a:ext cx="7123176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2276856"/>
            <a:ext cx="693115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'...je vous appelle au nom de l'UNICEF France...' — Le prospect sait immédiatement qui appelle.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3182112"/>
            <a:ext cx="96926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8448" y="3017520"/>
            <a:ext cx="347472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8176" y="3200400"/>
            <a:ext cx="32918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Annoncer clairement la raison de l'appel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91456" y="3017520"/>
            <a:ext cx="712317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4" y="3127248"/>
            <a:ext cx="693115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'...pour vous parler d'une initiative importante pour les enfants...' — Transparence totale.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67912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" y="4032504"/>
            <a:ext cx="96926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98448" y="3867912"/>
            <a:ext cx="347472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8176" y="4050792"/>
            <a:ext cx="32918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Vérifier la disponibilité du prospect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91456" y="3867912"/>
            <a:ext cx="7123176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184" y="3977640"/>
            <a:ext cx="693115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'Est-ce que vous avez quelques minutes ?' — Respect et écoute active de l'interlocuteur.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718304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4882896"/>
            <a:ext cx="96926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718304"/>
            <a:ext cx="347472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8176" y="4901184"/>
            <a:ext cx="32918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Ton chaleureux, naturel et souriant — le sourire s'entend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91456" y="4718304"/>
            <a:ext cx="712317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4828032"/>
            <a:ext cx="693115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Débit posé · Articulation claire · Conviction sincère — Le ton est aussi important que les mots.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541264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5614416"/>
            <a:ext cx="11384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Un appel qui viole une de ces 5 règles est disqualifié dans la nomenclature FIDELIS.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Règles de Prélèvement — Date Pivot du 04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77824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5050"/>
                </a:solidFill>
              </a:rPr>
              <a:t>Le prélèvement PA est effectué le 10 de chaque mois. La date de saisie détermine le mois.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89888"/>
            <a:ext cx="5577840" cy="40233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426464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 SAISI AVANT LE 04 DU MOIS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92224"/>
            <a:ext cx="55778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865376"/>
            <a:ext cx="5321808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→ Prélevé le 10 du MÊME MOIS
Exemple : PA signé le 04 juin → Prélèvement le 10 juin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1389888"/>
            <a:ext cx="5577840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426464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 SAISI APRÈS LE 04 DU MOIS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792224"/>
            <a:ext cx="55778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865376"/>
            <a:ext cx="5321808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→ Prélevé le 10 du MOIS SUIVANT
Exemple : PA signé le 05 juin → Prélèvement le 10 juillet 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89504"/>
            <a:ext cx="11457432" cy="38404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926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RÈGLE SIMPLE : Date pivot = 04  ·  Avant ou le 04 = mois courant  ·  Après le 04 = mois suivant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01568"/>
            <a:ext cx="11640312" cy="43891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474720"/>
            <a:ext cx="11384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TX D'AUDIOLYSE : 80% — 8 donateurs sur 10 qui restent en ligne après la trame d'accroche finalisent leur don.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4 Types de Prélèvement Automatique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2910078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96112"/>
            <a:ext cx="276377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 EN LIGNE
AGENT EN DIRECT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53312"/>
            <a:ext cx="2910078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26464"/>
            <a:ext cx="2763774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L'agent collecte l'IBAN à chaud pendant l'appel.
• Le donateur dicte ses coordonnées bancaires
• L'agent saisit en temps réel dans le logiciel
• 🟢 Voyant VERT = continuer la saisie
• 🔴 Voyant ROUGE = suspendre immédiatement
• Mode le plus rapide — valider IBAN mot à mot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2686" y="877824"/>
            <a:ext cx="2910078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4126" y="896112"/>
            <a:ext cx="276377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 EN LIGNE
DONATEUR EN DIRECT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2686" y="1353312"/>
            <a:ext cx="2910078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4126" y="1426464"/>
            <a:ext cx="2763774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L'agent envoie un lien de paiement sécurisé.
• Le donateur saisit lui-même ses coordonnées
• Envoi recommandé : MAIL (priorité), SMS en secours
• C'est une PROMESSE — à confirmer J+5
• Si erreur mail / accès → envoyer via Action Manager
• Si pas d'adresse mail → uniceftmk@unicef.fr (à vérifier)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1052" y="877824"/>
            <a:ext cx="2910078" cy="47548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896112"/>
            <a:ext cx="276377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 EN LIGNE
DIFFÉRÉ CONFIRMÉ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1052" y="1353312"/>
            <a:ext cx="2910078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2492" y="1426464"/>
            <a:ext cx="2763774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Le donateur confirme avoir payé en ligne.
• Il lit le MESSAGE DE CONFIRMATION à voix haute
• Ce message correspond à celui visible sur votre écran
• → Qualifier en PAIEMENT DIFFÉRÉ CONFIRMÉ ✅
• Si Call 2 rappelle et pas de réponse → Qualifier PEL
• Promesse Définitive PEL = qualification finale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9418" y="877824"/>
            <a:ext cx="2910078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0858" y="896112"/>
            <a:ext cx="276377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PROMESSE
RELANCE CALL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353312"/>
            <a:ext cx="2910078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0858" y="1426464"/>
            <a:ext cx="2763774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Promesse de paiement non encore confirmée.
• Call 2 rappelle pour relance et confirmation
• Call 1 peut finaliser OU Call 2 finalise
• Si rappel sans réponse → PROMESSE DÉFINITIVE PEL
• Si donateur rappelle : voir l'historique
• CU autre agent → prendre en charge ou transférer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998464"/>
            <a:ext cx="11640312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6071616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Objection 'D'où avez-vous mon numéro ?' → Répondre : fichiers partenaires (Amazon, M6 boutique, comparateurs, etc.)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✏  Quiz — J3 — Script Officiel &amp; Accroche (7 Questions)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932688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d'étapes dans le script UNICEF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6187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984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45336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8191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7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1226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488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14015"/>
            <a:ext cx="475488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450591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14015"/>
            <a:ext cx="11146536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5059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de règles officielles d'accroche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79775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163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63239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09981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4670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38327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301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6667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31920"/>
            <a:ext cx="475488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3968496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3931920"/>
            <a:ext cx="11146536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39684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1ère action du fundraiser en décrochant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29768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342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Bonjour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58114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177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ALLO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864607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0118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Se présenter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1480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1846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Identifier l'appel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449824"/>
            <a:ext cx="475488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486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449824"/>
            <a:ext cx="11146536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486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Trame accroche : combien de points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815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852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0990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1356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38251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665975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7025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967728"/>
            <a:ext cx="475488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7004304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" y="6967728"/>
            <a:ext cx="11146536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" y="700430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Date pivot pour prélèvement mois courant 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" y="7333488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" y="73700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" y="76169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765352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04 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" y="7900416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" y="79369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05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" y="8183880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" y="82204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8485632"/>
            <a:ext cx="475488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1752" y="8522207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" y="8485632"/>
            <a:ext cx="11146536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7824" y="8522207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TX d'audiolyse 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8096" y="885139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" y="888796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60%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" y="9134856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7824" y="91714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70%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" y="941832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7824" y="945489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80% 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8096" y="970178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7824" y="97383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90%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10003536"/>
            <a:ext cx="475488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1752" y="10040111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8096" y="10003536"/>
            <a:ext cx="11146536" cy="34747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7824" y="1004011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Durée standard d'un appel complet ?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8096" y="10369296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7824" y="104058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1–2 min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8096" y="10652760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7824" y="10689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3–5 min 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8096" y="109362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7824" y="10972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6–8 min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8096" y="1121968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77824" y="1125626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10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09728" cy="32004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Objections &amp; Verrouillage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15 objections · 5 catégories · Méthode AAR · Closing 50%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Règles Fondamentales — Gestion des Objections dans l'Appel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11640312" cy="4572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914400"/>
            <a:ext cx="11338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⏱  RÈGLE 60 SECONDES — Objection Précoce (avant l'accroche)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11640312" cy="8778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408176"/>
            <a:ext cx="113385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Si le prospect objecte AVANT la trame d'accroche → Accepter l'objection sans argumenter
→ Démarrer immédiatement la trame (Présentation → Dramatisation → Solution → Confiance → Sensibilisation)
→ Objectif IMPÉRATIF : DÉPASSER 60 SECONDES → conclure au moins 1 CU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04288"/>
            <a:ext cx="1164031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2340864"/>
            <a:ext cx="11338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🚫  RÈGLE 2 OBJECTIONS — Après l'Appel au Don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61488"/>
            <a:ext cx="11640312" cy="8778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834640"/>
            <a:ext cx="113385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Après avoir formulé l'appel au don → NE PAS DÉPASSER 2 objections traitées
→ ALLER JUSQU'À l'appel au don sans s'arrêter à mi-chemin
→ Obtenir un ACCORD DE PRINCIPE ferme AVANT l'atterrissage (Phase 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30752"/>
            <a:ext cx="11640312" cy="45720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3767328"/>
            <a:ext cx="11338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✅  L'ACCORD DE PRINCIPE — Condition Obligatoire de l'Atterrissage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87952"/>
            <a:ext cx="11640312" cy="8778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4261104"/>
            <a:ext cx="113385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Un OUI FERME avec montant clair AVANT de passer à la validation du PA.
Exemples : 'Oui, je suis d'accord pour 15€/mois' · 'Oui, comment ça fonctionne ?'
Sans accord de principe = pas d'atterrissage → Relancer ou conclure en INDÉCIS.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75504"/>
            <a:ext cx="11640312" cy="42062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248656"/>
            <a:ext cx="11384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 jamais forcer un atterrissage sans accord de principe. Un PA sous pression → annulation rapide.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Méthode AAR — Accuser Réception · Argumenter · Relancer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3813048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905256"/>
            <a:ext cx="3593592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
ACCUSER
RÉCEPTION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17904"/>
            <a:ext cx="3813048" cy="42245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1609344"/>
            <a:ext cx="35204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Montrez que vous avez entendu.
NE PAS justifier immédiatement.
'Je comprends tout à fait…'
'C'est une question que beaucoup
se posent et c'est tout à fait légitime…'
⚠  Jamais 'Oui mais…'
⚠  Jamais 'Non vous avez tort…'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877824"/>
            <a:ext cx="3813048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5" y="905256"/>
            <a:ext cx="3593592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
ARGUMENTER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517904"/>
            <a:ext cx="3813048" cy="42245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09344"/>
            <a:ext cx="35204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1 argument + 1 preuve + 1 chiffre.
Règles d'or :
→ 1 seul argument par réponse
→ Preuve vérifiable
→ Chiffre simple et mémorisable
Ex : '10€/mois = 33 centimes/jour
= 1 enfant traité en 6 semaines'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877824"/>
            <a:ext cx="3813048" cy="64008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905256"/>
            <a:ext cx="3593592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
RELANCER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517904"/>
            <a:ext cx="3813048" cy="42245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1609344"/>
            <a:ext cx="35204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Revenez à la proposition.
Pas de pression.
'Est-ce que cela répond
à votre question ?'
'Qu'est-ce qui vous permettrait
de vous sentir à l'aise ?'
⚠  3 secondes de silence
AVANT de relancer.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870448"/>
            <a:ext cx="1164031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943600"/>
            <a:ext cx="1138428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Le silence après votre argument est votre allié — comptez 1–2–3 mentalement avant de relancer.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5 Catégories d'Objections — 15 Situations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2328062" cy="51206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961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1
OBJECTIONS
INITIALES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89888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63040"/>
            <a:ext cx="2181758" cy="4224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Phase d'accroche — 8 objections :
• Pas intéressé(e)
• Faux numéro
• Appel pour un don
• Je donne déjà
• Arnaque / méfiance
• Pas par téléphone
• Pas confiance associations
• N'aime pas être contacté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0670" y="877824"/>
            <a:ext cx="2328062" cy="5120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2110" y="8961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2
FINAN-
CIÈRES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0670" y="1389888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2110" y="1463040"/>
            <a:ext cx="2181758" cy="4224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Après l'appel au don — 3 objections :
• Je donne déjà ailleurs
• Je n'ai pas les moyens
• Dernier positionnement
financier — refus final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67020" y="877824"/>
            <a:ext cx="2328062" cy="51206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8961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3
CONTRE
LE 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7020" y="1389888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8460" y="1463040"/>
            <a:ext cx="2181758" cy="4224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Sur le prélèvement — 3 objections :
• Préfère le don ponctuel
• N'aime pas l'engagement
mensuel récurrent
• Dernier positionnement 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3371" y="877824"/>
            <a:ext cx="2328062" cy="5120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4811" y="8961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4
MÉFIANCE
IBAN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3371" y="1389888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4811" y="1463040"/>
            <a:ext cx="2181758" cy="4224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Sur la sécurité bancaire :
• Protocole SEPA expliqué
• Droits du donateur
(arrêt en 1 clic)
• Réassurance totale
données bancaires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59721" y="877824"/>
            <a:ext cx="2328062" cy="512064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1161" y="896112"/>
            <a:ext cx="2181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CAT. 5
CONFLIC-
TUELLES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59721" y="1389888"/>
            <a:ext cx="2328062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1161" y="1463040"/>
            <a:ext cx="2181758" cy="4224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Objections sensibles :
• Source du numéro
→ Amazon, M6 boutique, etc.
• RGPD / Droits légaux
• Bloctel / liste rouge
• Accent / identité
• Ton agressif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25312"/>
            <a:ext cx="1164031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5998464"/>
            <a:ext cx="1138428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 majorité des appels se termine à Cat.1. Maîtriser ces 8 objections = atteindre vos 9 CU/H.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Verrouillage, Closing &amp; Repêchage — Sécuriser la Promesse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5577840" cy="42062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914400"/>
            <a:ext cx="5394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🔒  VERROUILLAGE — Question Fermée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98448"/>
            <a:ext cx="557784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71600"/>
            <a:ext cx="5321808" cy="181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Posez UNE question fermée qui confirme la promesse :
'Alors on est bien d'accord pour [montant]€/mois
à partir du [mois] ?'
⚠  Impact statistique :
✅ Verrouillage réussi = 50% des promesses confirmées
❌ Sans verrouillage = 1/10 seulement confirmées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877824"/>
            <a:ext cx="5577840" cy="42062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914400"/>
            <a:ext cx="5394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🌟  CLOSING — Valoriser la Décision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298448"/>
            <a:ext cx="557784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1371600"/>
            <a:ext cx="5321808" cy="181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Après l'accord de principe confirmé :
Dites : 'C'est FORMIDABLE ! Merci beaucoup.'
→ Rappeler l'impact : 'Votre geste va permettre
   de traiter un enfant.'
→ Sécuriser psychologiquement la promesse
→ Enchaîner immédiatement sur la validation PA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28416"/>
            <a:ext cx="11640312" cy="42062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3364992"/>
            <a:ext cx="11338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🔁  REPÊCHAGE — Dernier Filet si Hésitation Finale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11640312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822191"/>
            <a:ext cx="11338560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Il faut un OUI DE DON FERME avec montant clair — pas d'ambiguïté acceptée.
Si hésitation → poser la question fermée de repêchage une dernière fois.
Si refus définitif → 'Merci de m'avoir écouté. Bonne journée à vous.' Clore avec courtoisie.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663440"/>
            <a:ext cx="11640312" cy="43891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736592"/>
            <a:ext cx="11384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 verrouillage est psychologique — il SÉCURISE la promesse. Sans lui, 90% des promesses non confirmées disparaissent.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Informations à Collecter — Fiche Hermès &amp; Données Donateur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950976"/>
            <a:ext cx="54681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Fiche Hermès — Données à revérifier en direct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16736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89888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Nom &amp; prénom (confirmer M. ou Mme au décrochage)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28800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901952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Adresse complète avec NUMÉRO DE PORTE
(sans n° de porte → NPAI → courrier retourné)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4086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414016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Code postal + ville — vérifier chaque caractère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5292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926080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Email : lire lettre par lettre · Si erreur → Action 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6499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438144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Si pas d'adresse mail : uniceftmk@unicef.fr (à vérifier)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96112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950976"/>
            <a:ext cx="54681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Téléphone &amp; Processus de Confirmation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316736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389888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Appel sur FIXE → confirmer + prendre le MOBILE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828800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901952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Appel sur MOBILE → enrichir la base en gardant le n°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34086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414016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Lien PA → envoyer par MAIL (priorité), SMS en secours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85292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926080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Promesse PA en ligne → confirmer J+5 après 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336499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3438144"/>
            <a:ext cx="5431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Courrier postal → 3 à 4 jours max pour les donateurs
qui choisissent cette voie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85232"/>
            <a:ext cx="11640312" cy="42062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5358384"/>
            <a:ext cx="11384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Argumentaire adresse : revues trimestrielles UNICEF · Cadeaux aux adhérents · Reçu fiscal annuel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815584"/>
            <a:ext cx="11640312" cy="42062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88736"/>
            <a:ext cx="11384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Notification entrante (call blinding) : si donateur rappelle → voir historique → CU autre agent : reprendre en son nom OU transférer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✏  Quiz — J4 — Objections &amp; Verrouillage (6 Questions)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932688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de catégories d'objections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6187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984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45336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8191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1226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488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14015"/>
            <a:ext cx="475488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450591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14015"/>
            <a:ext cx="11146536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5059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Acronyme AAR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79775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163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Analyser/Adapter/Répondre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63239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09981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Accuser réception/Argumenter/Relancer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4670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38327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Accepter/Assurer/Recadrer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301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6667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Approcher/Argumenter/Reformuler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31920"/>
            <a:ext cx="475488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3968496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3931920"/>
            <a:ext cx="11146536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39684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Règle 60 secondes : objectif minimum si objection précoce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29768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342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 PEL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58114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177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 CU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864607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0118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 PA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1480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1846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 DON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449824"/>
            <a:ext cx="475488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486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449824"/>
            <a:ext cx="11146536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486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Max d'objections APRÈS l'appel au don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815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852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0990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1356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38251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665975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7025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967728"/>
            <a:ext cx="475488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7004304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" y="6967728"/>
            <a:ext cx="11146536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" y="700430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Verrouillage réussi : % promesses confirmées 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" y="7333488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" y="73700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" y="76169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765352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30%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" y="7900416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" y="79369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50% 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" y="8183880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" y="82204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70%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8485632"/>
            <a:ext cx="475488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1752" y="8522207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" y="8485632"/>
            <a:ext cx="11146536" cy="34747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7824" y="8522207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Sans verrouillage : ratio promesses confirmées 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8096" y="885139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" y="888796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1/5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" y="9134856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7824" y="91714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1/10 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" y="941832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7824" y="945489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1/3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8096" y="970178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7824" y="97383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1/2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09728" cy="32004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Synthèse &amp; Certification FIM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Grille 24 critères · Plan d'action terrain J+30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Programme Journée 5 — Certification FIM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2011680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987552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08h30–09h00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877824"/>
            <a:ext cx="292608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1005840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Révision consolidée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48656" y="877824"/>
            <a:ext cx="666597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969264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Révision 5 jours de formation · Quiz flash · Météo émotionnelle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99616"/>
            <a:ext cx="2011680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1609344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09h00–11h00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1499616"/>
            <a:ext cx="292608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5728" y="1627632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Simulations d'appels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48656" y="1499616"/>
            <a:ext cx="666597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1591056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Script + objections + verrouillage + closing chronométrés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21408"/>
            <a:ext cx="2011680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231136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11h00–11h30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04288" y="2121408"/>
            <a:ext cx="292608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95728" y="2249424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Débriefing collectif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48656" y="2121408"/>
            <a:ext cx="666597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4" y="2212848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3 apprentissages collectifs · Célébration des progrès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43200"/>
            <a:ext cx="2011680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2852928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11h30–12h30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04288" y="2743200"/>
            <a:ext cx="292608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5728" y="2871216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Grille 24 critères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48656" y="2743200"/>
            <a:ext cx="666597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58384" y="283464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Évaluation individuelle · Entretien formateur 5 min · Feedback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64992"/>
            <a:ext cx="2011680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474720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13h30–14h30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4288" y="3364992"/>
            <a:ext cx="292608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95728" y="3493008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final 40 questions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8656" y="3364992"/>
            <a:ext cx="666597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58384" y="3456432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Évaluation théorique · Seuil 28/40 · Corrigé collectif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986784"/>
            <a:ext cx="2011680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" y="4096512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14h30–15h00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04288" y="3986784"/>
            <a:ext cx="292608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95728" y="4114800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Certification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48656" y="3986784"/>
            <a:ext cx="666597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58384" y="4078224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Attestations FIM officielles · Plan d'action terrain J+30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Grille de Certification — 24 Critères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41248"/>
            <a:ext cx="114300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Voici exactement ce sur quoi vous serez évalué(e) — aucune surprise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07008"/>
            <a:ext cx="411480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1243584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207008"/>
            <a:ext cx="5486400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243584"/>
            <a:ext cx="54315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 que vous devez démontrer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207008"/>
            <a:ext cx="2615184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243584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Catégorie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7968" y="1207008"/>
            <a:ext cx="71323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4544" y="1243584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19488" y="1207008"/>
            <a:ext cx="71323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3" y="1243584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51008" y="1207008"/>
            <a:ext cx="71323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87584" y="1243584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82528" y="1207008"/>
            <a:ext cx="685800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19103" y="1243584"/>
            <a:ext cx="630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536192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1581912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1536192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1581912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ALLO + écoute active + identification genre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536192"/>
            <a:ext cx="2615184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1581912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87968" y="153619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19488" y="153619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51008" y="153619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82528" y="1536192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1837943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1883663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1837943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883663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Respect des 5 règles d'accroche officielles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1837943"/>
            <a:ext cx="2615184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1883663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87968" y="1837943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19488" y="1837943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51008" y="1837943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82528" y="1837943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2139696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2185415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2139696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" y="2185415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Ton chaleureux et naturel dès l'ouverture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36208" y="2139696"/>
            <a:ext cx="2615184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2185415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213969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19488" y="213969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51008" y="213969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082528" y="2139696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2441448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2487168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2441448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" y="2487168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Présentation cause malnutrition (impact chiffré)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36208" y="2441448"/>
            <a:ext cx="2615184" cy="2926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1072" y="2487168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87968" y="244144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19488" y="244144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351008" y="244144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082528" y="2441448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2743200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2788920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" y="2743200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" y="2788920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Explication sachets RUTF avec précision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36208" y="2743200"/>
            <a:ext cx="2615184" cy="2926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91072" y="2788920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87968" y="274320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19488" y="274320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351008" y="274320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082528" y="2743200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74320" y="3044952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" y="3090672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3232" y="3044952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4" y="3090672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Appel au soutien clair avec montant suggéré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044952"/>
            <a:ext cx="2615184" cy="2926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91072" y="3090672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87968" y="304495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619488" y="304495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351008" y="304495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082528" y="3044952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3346704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" y="3392424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3232" y="3346704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6384" y="3392424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Gestion don ponctuel → réorientation PA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36208" y="3346704"/>
            <a:ext cx="2615184" cy="2926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91072" y="3392424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87968" y="334670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19488" y="334670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351008" y="334670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082528" y="3346704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74320" y="3648456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" y="3694176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3232" y="3648456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6384" y="3694176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Gestion indécis — relance constructive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36208" y="3648456"/>
            <a:ext cx="2615184" cy="2926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91072" y="3694176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87968" y="364845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619488" y="364845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351008" y="364845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082528" y="3648456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74320" y="3950208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10896" y="3995928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13232" y="3950208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6384" y="3995928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Validation coordonnées — mode paiement correct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36208" y="3950208"/>
            <a:ext cx="2615184" cy="29260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91072" y="3995928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887968" y="395020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19488" y="395020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351008" y="395020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082528" y="3950208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4320" y="4251960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10896" y="4297680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13232" y="4251960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86384" y="4297680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Accusé réception objections Cat.1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36208" y="4251960"/>
            <a:ext cx="2615184" cy="29260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91072" y="4297680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7968" y="425196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619488" y="425196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351008" y="425196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82528" y="4251960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74320" y="4553712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10896" y="4599432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13232" y="4553712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86384" y="4599432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Argument financier + preuve concrète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36208" y="4553712"/>
            <a:ext cx="2615184" cy="29260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291072" y="4599432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87968" y="455371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619488" y="455371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351008" y="455371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082528" y="4553712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74320" y="4855464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10896" y="4901184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13232" y="4855464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86384" y="4901184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Réorientation PA après refus ponctuel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36208" y="4855464"/>
            <a:ext cx="2615184" cy="29260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291072" y="4901184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887968" y="485546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619488" y="485546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351008" y="485546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082528" y="4855464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74320" y="5157216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0896" y="5202936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3232" y="5157216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86384" y="5202936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Réassurance IBAN / SEPA convaincante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36208" y="5157216"/>
            <a:ext cx="2615184" cy="29260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291072" y="5202936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887968" y="515721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619488" y="515721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351008" y="515721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082528" y="5157216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74320" y="5458968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10896" y="5504688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13232" y="5458968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86384" y="5504688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Gestion calme des objections Cat.5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36208" y="5458968"/>
            <a:ext cx="2615184" cy="29260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291072" y="5504688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887968" y="545896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619488" y="545896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351008" y="545896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1082528" y="5458968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74320" y="5760720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10896" y="5806440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13232" y="5760720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86384" y="5806440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Ton chaleureux maintenu sur toute la durée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36208" y="5760720"/>
            <a:ext cx="2615184" cy="29260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291072" y="5806440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887968" y="576072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619488" y="576072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351008" y="576072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082528" y="5760720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74320" y="6062472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10896" y="6108192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13232" y="6062472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86384" y="6108192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Débit adapté — ni trop rapide, ni trop lent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36208" y="6062472"/>
            <a:ext cx="2615184" cy="29260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291072" y="6108192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887968" y="606247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619488" y="606247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351008" y="606247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082528" y="6062472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74320" y="6364224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10896" y="6409944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13232" y="6364224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86384" y="6409944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Absence d'hésitations et tics verbaux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236208" y="6364224"/>
            <a:ext cx="2615184" cy="29260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291072" y="6409944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887968" y="636422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619488" y="636422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351008" y="636422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082528" y="6364224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74320" y="6665976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10896" y="6711696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13232" y="6665976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86384" y="6711696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Conviction sincère pour la mission UNICEF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236208" y="6665976"/>
            <a:ext cx="2615184" cy="29260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291072" y="6711696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8887968" y="666597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619488" y="666597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0351008" y="666597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1082528" y="6665976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74320" y="6967728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10896" y="7013448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C5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13232" y="6967728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86384" y="7013448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Résilience après un refus direct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36208" y="6967728"/>
            <a:ext cx="2615184" cy="29260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291072" y="7013448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887968" y="696772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619488" y="696772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351008" y="696772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1082528" y="6967728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74320" y="7269480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10896" y="7315200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C6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713232" y="7269480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86384" y="7315200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Respect des règles éthiques et RGPD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236208" y="7269480"/>
            <a:ext cx="2615184" cy="292608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291072" y="7315200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Éthique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887968" y="726948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619488" y="726948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351008" y="7269480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082528" y="7269480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7571232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10896" y="7616952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13232" y="7571232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86384" y="7616952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Qualification conforme FIDELIS DON/IND/REF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236208" y="7571232"/>
            <a:ext cx="2615184" cy="292608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291072" y="7616952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887968" y="757123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619488" y="757123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351008" y="7571232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082528" y="7571232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74320" y="7872984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10896" y="7918704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713232" y="7872984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86384" y="7918704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Nomination correcte du mode de validation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236208" y="7872984"/>
            <a:ext cx="2615184" cy="292608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291072" y="7918704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8887968" y="787298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619488" y="787298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351008" y="7872984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082528" y="7872984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274320" y="8174736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10896" y="8220456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713232" y="8174736"/>
            <a:ext cx="54864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786384" y="8220456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Durée d'appel dans la norme (3–5 min)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236208" y="8174736"/>
            <a:ext cx="2615184" cy="292608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291072" y="8220456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887968" y="817473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619488" y="817473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351008" y="8174736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082528" y="8174736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74320" y="8476488"/>
            <a:ext cx="411480" cy="2926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10896" y="8522208"/>
            <a:ext cx="356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713232" y="8476488"/>
            <a:ext cx="5486400" cy="29260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86384" y="8522208"/>
            <a:ext cx="5376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Saisie coordonnées complète et exacte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236208" y="8476488"/>
            <a:ext cx="2615184" cy="292608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291072" y="8522208"/>
            <a:ext cx="2523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887968" y="847648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619488" y="847648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351008" y="8476488"/>
            <a:ext cx="713232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082528" y="8476488"/>
            <a:ext cx="685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74320" y="8778240"/>
            <a:ext cx="8595360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84048" y="883310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TOTAL  /24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887968" y="8778240"/>
            <a:ext cx="2862072" cy="310896"/>
          </a:xfrm>
          <a:prstGeom prst="rect">
            <a:avLst/>
          </a:prstGeom>
          <a:solidFill>
            <a:srgbClr val="F0F7F7"/>
          </a:solidFill>
          <a:ln w="2540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979408" y="883310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05050"/>
                </a:solidFill>
              </a:rPr>
              <a:t>__ / 24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74320" y="9162288"/>
            <a:ext cx="11640312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11479" y="9235440"/>
            <a:ext cx="11384280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Certifié(e) FIM : ≥ 17/24  ·  ⚠ Formation complémentaire : 12–16/24  ·  🔄 Rattrapage J+15 : &lt; 12/24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✏  Quiz — J5 — Certification FIM (5 Questions)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932688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Grille de certification : combien de critères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6187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984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45336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8191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24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1226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488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14015"/>
            <a:ext cx="475488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450591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14015"/>
            <a:ext cx="11146536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5059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Seuil minimum pour certification FIM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79775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163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15/24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63239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09981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17/24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4670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38327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19/24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301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6667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20/24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31920"/>
            <a:ext cx="475488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3968496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3931920"/>
            <a:ext cx="11146536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396849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Seuil quiz final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29768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342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24/40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581144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177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26/40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864607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0118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28/40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1480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1846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30/40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449824"/>
            <a:ext cx="475488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5486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449824"/>
            <a:ext cx="11146536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486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Score 'Excellent' au quiz final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815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852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≥ 33/40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0990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1356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≥ 35/40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382512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≥ 37/40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665975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702551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40/40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967728"/>
            <a:ext cx="475488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7004304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" y="6967728"/>
            <a:ext cx="11146536" cy="34747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" y="700430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Mantra de la formation FIM 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" y="7333488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" y="73700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Refus = refus, passez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" y="76169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765352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Le refus d'aujourd'hui = don de demain 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" y="7900416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" y="79369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Insistez toujours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" y="8183880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" y="822045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Silence = accord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09728" cy="32004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Atelier Pratique 1 — Jour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Production simulée · Grille live · Débrief individuel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Programme Atelier J6 — Appels en Conditions Réelles Simulées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2011680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987552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08h30–09h00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877824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100584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Briefing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877824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969264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Rappel KPI · Répartition fichiers FIDELIS · Règles qualification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99616"/>
            <a:ext cx="2011680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1609344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09h00–11h00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1499616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5728" y="1627632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Production Round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1499616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5504" y="1591056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Binômes : 1 appelle, 1 observe avec grille. Rotation 30 min.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21408"/>
            <a:ext cx="2011680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231136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11h00–11h30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04288" y="2121408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95728" y="2249424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Débrief Round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2121408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75504" y="2212848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3 points forts / 3 axes amélioration · Écoute extraits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43200"/>
            <a:ext cx="2011680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2852928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11h30–12h30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04288" y="2743200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5728" y="2871216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Production Round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65776" y="2743200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5504" y="283464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Appels individuels. Formateur écoute en silence. Grille 24 critères.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64992"/>
            <a:ext cx="2011680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474720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13h30–14h30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4288" y="3364992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95728" y="3493008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Cas complexes Cat.5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65776" y="3364992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345643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Simulations objections conflictuelles · Escalade progressive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986784"/>
            <a:ext cx="2011680" cy="59436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" y="4096512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14h30–15h30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04288" y="3986784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95728" y="411480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Débrief final &amp; scoring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65776" y="3986784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4078224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Grilles individuelles restituées · Feedback · Plan d'action J7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645152"/>
            <a:ext cx="11640312" cy="42062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79" y="4718304"/>
            <a:ext cx="11384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Après chaque appel : 1 force · 1 axe d'amélioration · 1 conseil actionnable précis.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09728" cy="32004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Atelier Pratique 2 — Jour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Perfectionnement · Certification finale · Plan prise de poste J+30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Programme Atelier J7 — Perfectionnement &amp; Certification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2011680" cy="59436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987552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08h30–09h30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877824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100584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Révision ciblée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877824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969264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Points faibles J6 · Verrouillage · Objections Cat.5 · Règles 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99616"/>
            <a:ext cx="2011680" cy="59436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1609344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09h30–11h00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1499616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5728" y="1627632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Simulation certifiante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1499616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5504" y="1591056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Appel complet · Grille 24 critères · Évaluateur externe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21408"/>
            <a:ext cx="2011680" cy="59436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231136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11h00–11h30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04288" y="2121408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95728" y="2249424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Résultats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2121408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75504" y="2212848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Scores certifiants · Feedback individuel · Attestation FIM remise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43200"/>
            <a:ext cx="2011680" cy="59436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2852928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11h30–12h30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04288" y="2743200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5728" y="2871216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Final 40Q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65776" y="2743200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5504" y="283464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Évaluation consolidée · Seuil 28/40 · Corrigé collectif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64992"/>
            <a:ext cx="2011680" cy="59436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474720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13h30–14h30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4288" y="3364992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95728" y="3493008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Plan de poste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65776" y="3364992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345643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Construction plan J+0 à J+30 : objectifs semaine 1 à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986784"/>
            <a:ext cx="2011680" cy="59436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" y="4096512"/>
            <a:ext cx="1901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14h30–15h30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04288" y="3986784"/>
            <a:ext cx="27432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95728" y="411480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Cérémonie clôture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65776" y="3986784"/>
            <a:ext cx="6848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4078224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Remise certifications · Engagement public · Votre 1er appel demain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Votre Plan de Prise de Poste — J+0 à J+30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77824"/>
            <a:ext cx="2249424" cy="53035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96112"/>
            <a:ext cx="2066543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J+0
Demain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08176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499616"/>
            <a:ext cx="1993392" cy="3822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Premier appel de production
9 CU/H dès J1
Qualification FIDELIS
Verrouillage sur chaque appel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877824"/>
            <a:ext cx="2249424" cy="5303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896112"/>
            <a:ext cx="2066543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SEMAINE 1
J+7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15184" y="1408176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1499616"/>
            <a:ext cx="1993392" cy="3822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TX Transfo ≥ cible FIDELIS
0 disqualification nomenclature
Feedback formateur J+7
Premier PA IBAN à chaud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877824"/>
            <a:ext cx="2249424" cy="53035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896112"/>
            <a:ext cx="2066543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SEMAINE 2
J+14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408176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1499616"/>
            <a:ext cx="1993392" cy="3822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0 objection Cat.5 non gérée
PDC mensuel en bonne voie
Point superviseur FIDELIS
Autoévaluation grille 24 crit.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877824"/>
            <a:ext cx="2249424" cy="5303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896112"/>
            <a:ext cx="2066543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SEMAINE 3
J+21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1408176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8" y="1499616"/>
            <a:ext cx="1993392" cy="3822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Autonomie complète script
Verrouillage ≥ 50% promesses
Relances Call 2 maîtrisées
Feedback pair formateur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7776" y="877824"/>
            <a:ext cx="2249424" cy="53035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6" y="896112"/>
            <a:ext cx="2066543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SEMAINE 4
J+30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7776" y="1408176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1499616"/>
            <a:ext cx="1993392" cy="3822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Bilan formateur SHY-Performance
Révision objectifs M2
Certification terrain confirmée
KPI FIDELIS × UNICEF France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577840"/>
            <a:ext cx="11640312" cy="42062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5650992"/>
            <a:ext cx="11384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SHY-Performance vous contacte à J+15 et J+30. À J+90 : analyse KPI terrain consolidée FIDELIS × UNICEF France.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09728" cy="32004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40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1">
                <a:solidFill>
                  <a:srgbClr val="CCEEEE"/>
                </a:solidFill>
              </a:rPr>
              <a:t>Évaluation consolidée J1→J7 · Seuil 28/40 · Mention Excellent ≥ 35/40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852160"/>
            <a:ext cx="91440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Modalités &amp; Organisation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77824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</a:rPr>
              <a:t>Nom de l'apprenant : 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89888"/>
            <a:ext cx="4572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</a:rPr>
              <a:t>Date : 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4572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5050"/>
                </a:solidFill>
              </a:rPr>
              <a:t>Score : ______ / 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95728"/>
            <a:ext cx="2286000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68880"/>
            <a:ext cx="206654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Q1–Q10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395728"/>
            <a:ext cx="8961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487168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Fondations &amp; Mission + Secteur Associatif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228600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99232"/>
            <a:ext cx="206654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Q11–Q20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926080"/>
            <a:ext cx="8961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3017520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Script Officiel, Accroche &amp; Types de PA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56432"/>
            <a:ext cx="2286000" cy="47548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529584"/>
            <a:ext cx="206654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Q21–Q30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3456432"/>
            <a:ext cx="8961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3547872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Objections, Verrouillage &amp; Règles opérationnelles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86784"/>
            <a:ext cx="2286000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059936"/>
            <a:ext cx="206654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Q31–Q40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1488" y="3986784"/>
            <a:ext cx="8961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1216" y="4078224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Certification, Posture &amp; Vocabulaire métier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11274552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645152"/>
            <a:ext cx="11018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Validation : ≥ 28/40 (70%)  ·  ⭐ Excellent : ≥ 35/40  ·  🔄 Rattrapage J+15 : &lt; 28/40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75504"/>
            <a:ext cx="11274552" cy="42062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248656"/>
            <a:ext cx="11018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Durée : 45 minutes · Individuel · Corrigé collectif en fin de séance avec le formateur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1–4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Fondation UNICEF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1901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1946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1959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1989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Pays UNICEF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190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Vaccination UNICEF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40%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45%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RUTF poids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75g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92g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100g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120g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5–8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Guérison RUTF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4 sem.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6–8 sem.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10 sem.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12 sem.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Associations France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1,2M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1,5M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Bénévoles France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18M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20M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22M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25M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Loi 1901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1er juil. 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14 juil.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 mai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10 mars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9–12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Solférino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1859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1863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1889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1946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Croix-Rouge fondation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1859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1863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1900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1946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Étapes script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7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Règles accroche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13–16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Modes validation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4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1ère action : décroché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Bonjour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ALLO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Présentation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Question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CU/H objectif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9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TX Transfo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Taux temps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Taux transformation PEL/PA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Taux transfert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Total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17–20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PDC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Plan Détails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Plan de Charge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Plan Direct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Plan Débrief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Production /jour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6h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6h40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7h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8h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Catégories objections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Total objections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15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21–24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AAR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Analyser/Adapter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Accuser réception/Arg./Relancer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Accepter/Assurer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Approcher/Reformuler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Silence AAR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 sec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 sec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3 sec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5 sec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Objections Cat.1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8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Règle 60s phase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Accroche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Vol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Avant accroche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Atterrissage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25–28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Max objections post-don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Accord principe : avant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Script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Objections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Atterrissage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Prélèvement : jour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10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Avant 04 : prélèvement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Mois prochain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Même mois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 mois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Jamais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29–32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Après 04 : prélèvement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Même mois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Mois prochain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 mois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Jamais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TX audiolyse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80%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90%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Verrouillage réussi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40%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50%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60%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Sans verrouillage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1/5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1/10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1/3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1/2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33–36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Closing optimal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C'est 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C'est formidable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C'est bien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Très bien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Critères grille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24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Certification min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15/24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17/24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19/24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20/24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55955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559612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" y="555955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961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seuil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" y="590702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" y="59436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24/40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" y="619963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623620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26/40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" y="649224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28/40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" y="678484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82142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30/40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1031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"/>
            <a:ext cx="45720" cy="60350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3744" y="54864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Final — Questions 37–39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Module Général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93268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89611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9326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Excellent quiz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124358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28016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33/40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153619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5727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35/40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182880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6537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37/40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12140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15798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40/40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50591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48716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50591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487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Posture vocale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798063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834639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Rapide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3090671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127247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Neutre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" y="3383279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19855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Chaleureuse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3675887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712463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Autoritaire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47548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041648"/>
            <a:ext cx="402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" y="4005072"/>
            <a:ext cx="11146536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041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Mantra FIM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4352544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3891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Refus = refus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" y="4645152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6817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Refus aujourd'hui = don demain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" y="4937760"/>
            <a:ext cx="111465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743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Insistez toujours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30368"/>
            <a:ext cx="11146536" cy="274320"/>
          </a:xfrm>
          <a:prstGeom prst="rect">
            <a:avLst/>
          </a:prstGeom>
          <a:solidFill>
            <a:srgbClr val="F0F7F7"/>
          </a:solidFill>
          <a:ln w="381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26694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Silence vaut mieux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73152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9152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99232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Module Général FIM — Formation complète J1 → J7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56432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078224"/>
            <a:ext cx="1218895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754880"/>
            <a:ext cx="100584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Version V8-01062026SHY-TE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