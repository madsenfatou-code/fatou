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QUIZ  ·  Évaluation finale des connaissances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d'Évaluation Finale — 40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Formation Initiale Module FIM  ·  SHY-Performance × FIDELIS ×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Nom de l'apprenant : 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</a:rPr>
              <a:t>Date : 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050"/>
                </a:solidFill>
              </a:rPr>
              <a:t>Score : ______ / 40    Seuil de validation : 28/40 (70%)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1920240" cy="5029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050791"/>
            <a:ext cx="177393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Partie A
Connaissance de l'UNICEF &amp; de la Cause
Q1–Q8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1136" y="4023360"/>
            <a:ext cx="1920240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4050791"/>
            <a:ext cx="177393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Partie B
Secteur Associatif &amp; Humanitaire
Q9–Q15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4023360"/>
            <a:ext cx="1920240" cy="50292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4" y="4050791"/>
            <a:ext cx="177393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Partie C
Script officiel &amp; Règles d'Accroche
Q16–Q22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4023360"/>
            <a:ext cx="1920240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50791"/>
            <a:ext cx="177393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Partie D
KPIs, Nomenclature FIDELIS &amp; Production
Q23–Q28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023360"/>
            <a:ext cx="1920240" cy="50292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4050791"/>
            <a:ext cx="177393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Partie E
Traitement des Objections &amp; Méthode AAR
Q29–Q35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4023360"/>
            <a:ext cx="1920240" cy="50292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1552" y="4050791"/>
            <a:ext cx="1773936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Partie F
Éthique, Posture &amp; Vocabulaire métier
Q36–Q40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A : Connaissance de l'UNICEF &amp; de la Cause (Q1–Q8)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 quelle année l'UNICEF a-t-il été fondé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1946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1959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1919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Dans combien de pays l'UNICEF est-il présent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150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190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210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 % des enfants du monde l'UNICEF vaccine-t-il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25%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35%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45%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60%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 signifie RUTF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Rapid Urban Treatment Fund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Ready-to-Use Therapeutic Food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Regional Unified Task Force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Routine Universal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A : Connaissance de l'UNICEF &amp; de la Cause (Q1–Q8)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 est le poids standard d'un sachet RUTF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45g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75g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92g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120g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Quelle est la cause centrale de la campagne UNICEF × SHY-Performance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Accès à l'éducation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Malnutrition aigüe sévère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Eau potable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Travail des enfants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Quelle organisation a précédé l'UNICEF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La Croix-Rouge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La SDN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L'UNRRA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Le Fond ONU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Lequel NE fait PAS partie des missions UNICEF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Vaccination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Eau potable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Financement partis politiques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Protection enfance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B : Secteur Associatif &amp; Humanitaire (Q9–Q15)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Date de la loi associative française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14 juil. 1789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1er juil. 1901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5 mai 1946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10 mars 1972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d'associations en France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250 000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800 000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1,5 million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3 millions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 événement de 1859 est l'acte fondateur de l'humanitaire moderne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Conférence Berlin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Traité Genève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Bataille de Solférino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Révolution industrielle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 type d'association bénéficie du statut le plus reconnu par l'État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De fait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Déclarée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Utilité publique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Internationale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B : Secteur Associatif &amp; Humanitaire (Q9–Q15)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Rôle du Comité Don en Confiance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Gérer finances publiques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Certifier transparence et éthique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Former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Contrôler RGPD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de bénévoles dans le secteur associatif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5 millions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12 millions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22 millions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35 millions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Lequel N'est PAS un principe humanitaire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Humanité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Impartialité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Solidarité nationale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Neutralité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d'étapes comporte le script UNICEF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7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C : Script officiel &amp; Règles d'Accroche (Q16–Q22)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de règles d'accroche officielles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1ère étape après la présentation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Coordonnées bancaires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Accroche mission UNICEF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Montant minimum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Vérif identité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de modes de validation du don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4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Lequel N'est PAS un mode de validation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PA IBAN à chaud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PA en ligne direct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Virement bancaire unique différé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PA courrier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C : Script officiel &amp; Règles d'Accroche (Q16–Q22)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À quelle étape présente-t-on les sachets RUTF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Étape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Étapes 2-3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Seulement en objection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Dès l'accroche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Quel produit est proposé lors de chaque appel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Don ponctuel carte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Prélèvement automatique régulier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Abonnement par chèque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Parrainage ponctuel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Objectif minimum CU/H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9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 représente TX Transfo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Transferts de dossiers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Taux de transformation PEL/PA parmi CU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Temps moyen traitement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Taux transfert superviseur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D : KPIs, Nomenclature FIDELIS &amp; Production (Q23–Q28)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Qualifications d'un Contact Utile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Positif/Neutre/Négatif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DON/INDÉCIS/REFUS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Chaud/Tiède/Froid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PA/PEL/PDC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Durée effective de production / journée standard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5h00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6h00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6h40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8h00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 désigne PDC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Protocole Communication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Plan de Charge mensuel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Programme Collecte Dons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Priorité Campagne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Différence Conquête vs Fidélisation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Conquête = anciens donnateurs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Conquête = nouveaux prospects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Les deux ciblent les mêmes fichiers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Conquête = appels entrants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E : Traitement des Objections &amp; Méthode AAR (Q29–Q35)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de catégories d'objections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5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Acronyme AAR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Analyser/Adapter/Répondre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Accepter/Argumenter/Reformuler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Accuser réception/Argumenter/Relancer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Approcher/Assurer/Recadrer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Combien d'objections au total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15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Catégorie 'Vous n'avez pas le droit de m'appeler'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Cat.2 Financières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Cat.3 Contre PA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Cat.4 Méfiance IBAN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Cat.5 Conflictuelles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E : Traitement des Objections &amp; Méthode AAR (Q29–Q35)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Objections initiales (Cat.1)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8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Preuve à invoquer pour objection financière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Nombre de pays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Impact chiffré du PA (1 enfant 6 semaines)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Nombre de bénévoles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Date fondation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Qu'est-ce que Bloctel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Logiciel CRM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Liste opposition au démarchage téléphonique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Nom du script UNICEF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Label qualité associations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Règle éthique systématique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Insister si hésitation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Proposer don ponctuel si PA refusé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Respecter tout refus définitif avec courtoisie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Enregistrer sans informer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FIM — Partie F : Éthique, Posture &amp; Vocabulaire métier (Q36–Q40)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5175504" cy="621792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PEL signifie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Plan Envoi Lien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Promesse En Ligne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Processus Engagement Légal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Protocole Écoute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2296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60020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822960"/>
            <a:ext cx="5175504" cy="621792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89611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Posture vocale attendue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146304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150876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Autoritaire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90195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8856" y="194767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Neutre et distante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4086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8856" y="238658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Chaleureuse, souriante, naturelle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77977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8856" y="282549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Rapide et concise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2900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3429000"/>
            <a:ext cx="5175504" cy="621792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Mantra de la FIM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Un refus est un refus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Le refus d'aujourd'hui = le don de demain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Insistez toujours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Le silence vaut mieux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3429000"/>
            <a:ext cx="457200" cy="23774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206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3429000"/>
            <a:ext cx="5175504" cy="621792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3502152"/>
            <a:ext cx="49926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Durée standard d'un appel complet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4069080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48856" y="4114800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a) 30s–1min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4507992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48856" y="4553712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b) 1–2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946904"/>
            <a:ext cx="5175504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8856" y="4992624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c) 3–5 min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385816"/>
            <a:ext cx="5175504" cy="420624"/>
          </a:xfrm>
          <a:prstGeom prst="rect">
            <a:avLst/>
          </a:prstGeom>
          <a:solidFill>
            <a:srgbClr val="F0F7F7"/>
          </a:solidFill>
          <a:ln w="508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48856" y="5431536"/>
            <a:ext cx="4956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d) 8–10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Corrigé — Récapitulatif des Bonnes Réponses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4124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Les réponses marquées ✓ sont les réponses correctes.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1901952" cy="54864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389888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Q1–Q8
Partie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20240"/>
            <a:ext cx="1901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93392"/>
            <a:ext cx="17190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5050"/>
                </a:solidFill>
              </a:rPr>
              <a:t>b/c/c/b/c/b/c/c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7712" y="1371600"/>
            <a:ext cx="1901952" cy="5486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864" y="1389888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Q9–Q15
Partie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7712" y="1920240"/>
            <a:ext cx="1901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9152" y="1993392"/>
            <a:ext cx="17190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5050"/>
                </a:solidFill>
              </a:rPr>
              <a:t>b/c/c/c/b/c/c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1371600"/>
            <a:ext cx="1901952" cy="54864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1389888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Q16–Q22
Partie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1920240"/>
            <a:ext cx="1901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993392"/>
            <a:ext cx="17190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5050"/>
                </a:solidFill>
              </a:rPr>
              <a:t>c/c/b/c/c/b/b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1371600"/>
            <a:ext cx="1901952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389888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Q23–Q28
Partie 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1920240"/>
            <a:ext cx="1901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993392"/>
            <a:ext cx="17190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5050"/>
                </a:solidFill>
              </a:rPr>
              <a:t>c/b/b/c/b/b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371600"/>
            <a:ext cx="1901952" cy="54864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389888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Q29–Q35
Partie 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920240"/>
            <a:ext cx="1901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1993392"/>
            <a:ext cx="17190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5050"/>
                </a:solidFill>
              </a:rPr>
              <a:t>b/c/c/d/c/b/b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371600"/>
            <a:ext cx="1901952" cy="54864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4432" y="1389888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Q36–Q40
Partie 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1920240"/>
            <a:ext cx="19019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19" y="1993392"/>
            <a:ext cx="17190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5050"/>
                </a:solidFill>
              </a:rPr>
              <a:t>c/b/c/b/c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66160"/>
            <a:ext cx="11640312" cy="43891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3639312"/>
            <a:ext cx="11365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Seuil de validation : 28/40 (70%)  ·  En dessous : révision ciblée + rattrapage J+15  ·  Score ≥ 35/40 : mention Excellent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d'Évaluation Finale — Formation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