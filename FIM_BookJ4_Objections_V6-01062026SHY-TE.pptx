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8895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BOOK J4 · Journée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Gestion des Objections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DEEEE"/>
                </a:solidFill>
              </a:rPr>
              <a:t>Écoute active · Méthode CROC · 12 objections-types · Jeux de rôle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SHY-Performance · V6-01062026SHY-TE · Référentiel UM6P/CMC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Objectifs &amp; Séquence Kolb — Journée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Objectifs V6 — Bloom Niv. 3–5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Méthode CROC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Appliquer la méthode CROC face aux 12 objections fréquentes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Distinguer l'objection réelle de l'objection prétexte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Évaluer la qualité de ses propres réponses (auto-éval)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Adapter la réponse selon le profil émotionnel du passant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 — Considérer : accusé réception sincère sans justifier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R — Reformuler : 'Si je comprends bien, vous voulez dire…'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O — Organiser : réponse structurée = preuve + exemple + chiffre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 — Conclure : retour vers la proposition + silence actif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160520"/>
            <a:ext cx="2882646" cy="2560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EC — Expérience Concrète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Analyse de 5 extraits vidéo (bonne/mauvaise gestion d'objection)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84397" y="4160520"/>
            <a:ext cx="2882646" cy="256032"/>
          </a:xfrm>
          <a:prstGeom prst="rect">
            <a:avLst/>
          </a:prstGeom>
          <a:solidFill>
            <a:srgbClr val="4CA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30117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OR — Observation Réfléchie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4397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4CA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5837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'Patterns observés ?' → taxonomie collective des objections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4475" y="4160520"/>
            <a:ext cx="2882646" cy="256032"/>
          </a:xfrm>
          <a:prstGeom prst="rect">
            <a:avLst/>
          </a:prstGeom>
          <a:solidFill>
            <a:srgbClr val="F4A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0195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CA — Conceptualisation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4475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4A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85915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CROC + CAP + 12 objections types avec réponses modèles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4554" y="4160520"/>
            <a:ext cx="2882646" cy="256032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0274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EA — Expérimentation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04554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5994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Battle des objections : tournoi brackets · 2 objections tirées au sort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486400"/>
            <a:ext cx="11612880" cy="274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52297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🎯 Évaluation formative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Grille C3+C4 — 6 critères — formateur + pair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Réflexion LFI : 'Quelle objection me challenge le plus et pourquoi ?'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Score seuil : 14/20 pour validation C3+C4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Les 12 Objections-Types FIM V6 — Réponses CROC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04672"/>
            <a:ext cx="365760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841248"/>
            <a:ext cx="27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804672"/>
            <a:ext cx="4617720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841248"/>
            <a:ext cx="4526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Objection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804672"/>
            <a:ext cx="1554480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841248"/>
            <a:ext cx="14630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804672"/>
            <a:ext cx="5212080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841248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Réponse CROC résumée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097280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1170432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097280"/>
            <a:ext cx="461772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170432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Je n'ai pas les moyens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097280"/>
            <a:ext cx="1554480" cy="438912"/>
          </a:xfrm>
          <a:prstGeom prst="rect">
            <a:avLst/>
          </a:prstGeom>
          <a:solidFill>
            <a:srgbClr val="4A9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11887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Financière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3720" y="1097280"/>
            <a:ext cx="521208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115214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3 DH/jour = 1 café. Ce montant change 6 vies/an.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545336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1618488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1545336"/>
            <a:ext cx="4617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1618488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Je ne fais pas confiance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1545336"/>
            <a:ext cx="155448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163677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Méfiance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03720" y="1545336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160020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Rapport annuel public + badge officiel UNICEF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1993391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066543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1993391"/>
            <a:ext cx="461772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206654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J'ai déjà fait un don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0" y="1993391"/>
            <a:ext cx="155448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0" y="2084831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Engagé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03720" y="1993391"/>
            <a:ext cx="521208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76872" y="2048255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Valoriser + proposer le don régulier complémentaire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441448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2608" y="2514600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2441448"/>
            <a:ext cx="4617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251460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Je dois réfléchir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03520" y="2441448"/>
            <a:ext cx="1554480" cy="438912"/>
          </a:xfrm>
          <a:prstGeom prst="rect">
            <a:avLst/>
          </a:prstGeom>
          <a:solidFill>
            <a:srgbClr val="D27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49240" y="25328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Report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03720" y="2441448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76872" y="2496312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Clarifier le frein + ancrer urgence humanitaire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2889504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2608" y="2962656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2889504"/>
            <a:ext cx="461772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2962656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Combien vous gagnez 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03520" y="2889504"/>
            <a:ext cx="155448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49240" y="298094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Méfiance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03720" y="2889504"/>
            <a:ext cx="521208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76872" y="294436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Transparence totale : mission + emploi déclaré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3337560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410712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3337560"/>
            <a:ext cx="4617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3410712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Je donne à d'autres ONG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03520" y="3337560"/>
            <a:ext cx="1554480" cy="438912"/>
          </a:xfrm>
          <a:prstGeom prst="rect">
            <a:avLst/>
          </a:prstGeom>
          <a:solidFill>
            <a:srgbClr val="7A5A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9240" y="34290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Concurrent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03720" y="3337560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76872" y="339242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Complémentarité : chaque cause est différente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785616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2608" y="3858768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3785616"/>
            <a:ext cx="461772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1520" y="3858768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Ce n'est pas le bon moment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03520" y="3785616"/>
            <a:ext cx="1554480" cy="4389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49240" y="387705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Temporel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03720" y="3785616"/>
            <a:ext cx="521208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6872" y="384048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Urgence + flexibilité date de prélèvement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4233672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2608" y="4306824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8368" y="4233672"/>
            <a:ext cx="4617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1520" y="4306824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L'argent n'arrive pas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03520" y="4233672"/>
            <a:ext cx="155448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49240" y="43251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Méfiance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03720" y="4233672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76872" y="428853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Traçabilité : rapports publiés + auditeurs ext.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4681728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2608" y="4754880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8368" y="4681728"/>
            <a:ext cx="461772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31520" y="475488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Je suis pressé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03520" y="4681728"/>
            <a:ext cx="1554480" cy="4389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49240" y="477316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Temporel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903720" y="4681728"/>
            <a:ext cx="521208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76872" y="4736592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Script express 45 sec : accroche + chiffre + closing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5129784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92608" y="5202936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O10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58368" y="5129784"/>
            <a:ext cx="4617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31520" y="5202936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Mon conjoint décide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303520" y="5129784"/>
            <a:ext cx="1554480" cy="438912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49240" y="522122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Autorité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03720" y="5129784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976872" y="518464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Impliquer le couple + envoyer info par SMS/email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5577840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92608" y="5650992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O11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58368" y="5577840"/>
            <a:ext cx="461772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5650992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Pas de prélèvements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303520" y="5577840"/>
            <a:ext cx="1554480" cy="438912"/>
          </a:xfrm>
          <a:prstGeom prst="rect">
            <a:avLst/>
          </a:prstGeom>
          <a:solidFill>
            <a:srgbClr val="558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349240" y="56692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Processus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03720" y="5577840"/>
            <a:ext cx="5212080" cy="43891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976872" y="563270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Arrêt en 1 clic · Modification sans engagement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4320" y="6025896"/>
            <a:ext cx="365760" cy="43891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92608" y="6099048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O12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8368" y="6025896"/>
            <a:ext cx="4617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1520" y="6099048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Politique / Religion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303520" y="6025896"/>
            <a:ext cx="1554480" cy="438912"/>
          </a:xfrm>
          <a:prstGeom prst="rect">
            <a:avLst/>
          </a:prstGeom>
          <a:solidFill>
            <a:srgbClr val="88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49240" y="611733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Valeurs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03720" y="6025896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6872" y="608076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UNICEF = neutralité totale · Focus : droits enfants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