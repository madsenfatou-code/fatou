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3317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13432"/>
            <a:ext cx="12188952" cy="54864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9144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53035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BEEEE"/>
                </a:solidFill>
              </a:rPr>
              <a:t>Formation Initiale Module — Fundraising Téléphonique UNICEF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93268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DDDD"/>
                </a:solidFill>
              </a:rPr>
              <a:t>BOOK J4  ·  Journée 4  ·  Objections UNICEF France × FIDELIS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120700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Traitement des Objections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0195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15 objections · 5 catégories · Méthode AAR · Jeux de rôle téléphonique</a:t>
            </a:r>
          </a:p>
        </p:txBody>
      </p:sp>
      <p:pic>
        <p:nvPicPr>
          <p:cNvPr id="10" name="Picture 9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45720"/>
            <a:ext cx="822960" cy="80467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Aujourd'hui vous apprenez à transformer chaque objection en opportunité de dialogue.
Un prospect qui objecte est un prospect qui est encore là — et ça compte.
Mantra : « Le refus d'aujourd'hui peut être le don de demain 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Journée 4 — Ce que vous allez vivre aujourd'hui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910078" cy="29260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ÉCOUTE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Vous écoutez 5 extraits d'appels :
bonne et mauvaise gestion
d'une objection.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2686" y="804672"/>
            <a:ext cx="2910078" cy="29260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4126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ANALYSE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2686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2414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'Qu'avez-vous entendu ?
Qu'est-ce qui a tout changé
dans la réponse 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804672"/>
            <a:ext cx="2910078" cy="292608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2492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APPORT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31052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0780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15 objections · 5 catégories
Méthode AAR : Accuser réception
/ Argumenter / Relancer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9418" y="804672"/>
            <a:ext cx="2910078" cy="292608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0858" y="841248"/>
            <a:ext cx="274548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ENTRAÎNEMENT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9418" y="1097280"/>
            <a:ext cx="2910078" cy="4370831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69146" y="1152144"/>
            <a:ext cx="270891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Jeux de rôle en binômes
sur chaque catégorie.
Grille d'observation formateur.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596128"/>
            <a:ext cx="11640312" cy="25603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5632704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Vos 3 réussites à valider aujourd'hui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Grille écoute active validée par formateur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54423" y="5870448"/>
            <a:ext cx="3843528" cy="502920"/>
          </a:xfrm>
          <a:prstGeom prst="rect">
            <a:avLst/>
          </a:prstGeom>
          <a:solidFill>
            <a:srgbClr val="F0F7F7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4152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Réflexion LFI : 'Quelle objection me challenge le plus ?'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528" y="5870448"/>
            <a:ext cx="3843528" cy="502920"/>
          </a:xfrm>
          <a:prstGeom prst="rect">
            <a:avLst/>
          </a:prstGeom>
          <a:solidFill>
            <a:srgbClr val="FFFFFF"/>
          </a:solidFill>
          <a:ln w="76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4256" y="5907024"/>
            <a:ext cx="3715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Score seuil : 14/20 pour validation J4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Votre Méthode en 3 Temps — AAR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3813048" cy="64008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822960"/>
            <a:ext cx="361187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
ACCUSER
RÉCEPTION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44752"/>
            <a:ext cx="3813048" cy="4251960"/>
          </a:xfrm>
          <a:prstGeom prst="rect">
            <a:avLst/>
          </a:prstGeom>
          <a:solidFill>
            <a:srgbClr val="FFFFFF"/>
          </a:solidFill>
          <a:ln w="2286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3" y="1517904"/>
            <a:ext cx="3557015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Montrez que vous avez entendu.
Ne justifiez pas immédiatement.
Ne contre-attaquez pas.
Exemples :
'Je comprends tout à fait votre réserve…'
'C'est une question que beaucoup de personnes
se posent et c'est tout à fait légitime…'
'Je vous entends…'
⚠ Ce que vous ne faites pas :
'Oui mais…' ou 'Non, vous avez tort…'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4528" y="804672"/>
            <a:ext cx="3813048" cy="6400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822960"/>
            <a:ext cx="361187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
ARGUMENTER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1444752"/>
            <a:ext cx="3813048" cy="4251960"/>
          </a:xfrm>
          <a:prstGeom prst="rect">
            <a:avLst/>
          </a:prstGeom>
          <a:solidFill>
            <a:srgbClr val="FFFFFF"/>
          </a:solidFill>
          <a:ln w="228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0832" y="1517904"/>
            <a:ext cx="3557015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1 argument précis + 1 preuve concrète
+ 1 chiffre si possible.
Règles d'or :
→ 1 seul argument par réponse (pas de liste)
→ Preuve vérifiable (rapport annuel, audit)
→ Chiffre simple et mémorisable
Exemple objection financière :
'10€/mois c'est 33 centimes par jour — moins
qu'un café. Et cela traite 1 enfant sévèrement
malnutri en 6 semaines.'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74736" y="804672"/>
            <a:ext cx="3813048" cy="640080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2752" y="822960"/>
            <a:ext cx="3611879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
RELANCER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444752"/>
            <a:ext cx="3813048" cy="4251960"/>
          </a:xfrm>
          <a:prstGeom prst="rect">
            <a:avLst/>
          </a:prstGeom>
          <a:solidFill>
            <a:srgbClr val="FFFFFF"/>
          </a:solidFill>
          <a:ln w="2286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517904"/>
            <a:ext cx="3557015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Revenez à la proposition avec naturel.
Pas de pression. Pas d'insistance agressive.
Exemples :
'Est-ce que cela répond à votre question ?'
'On peut aller plus loin ensemble ?'
'Qu'est-ce qui vous permettrait de vous sentir
à l'aise avec cet engagement ?'
⚠ Ce que vous ne faites pas :
Relancer avant que le prospect ait eu
le temps de traiter votre réponse.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06440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79" y="5879592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Le silence après votre argument est votre allié. Comptez mentalement 1–2–3 avant de relancer. Ce silence donne au prospect le temps de traiter — et souvent de se convaincre lui-même.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"/>
            <a:ext cx="12188952" cy="457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731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SHY-Performance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91440"/>
            <a:ext cx="36576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914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Les 5 Catégories d'Objections — 15 Situations à Maîtriser</a:t>
            </a:r>
          </a:p>
        </p:txBody>
      </p:sp>
      <p:pic>
        <p:nvPicPr>
          <p:cNvPr id="8" name="Picture 7" descr="shy_logo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0"/>
            <a:ext cx="822960" cy="6766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SHY-Performance  ·  Formation FIM  ·  UNICEF France  ·  V6-01062026SHY-TE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804672"/>
            <a:ext cx="2328062" cy="50292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822960"/>
            <a:ext cx="2181758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1
OBJECTIONS INITIALES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307592"/>
            <a:ext cx="2328062" cy="4370832"/>
          </a:xfrm>
          <a:prstGeom prst="rect">
            <a:avLst/>
          </a:prstGeom>
          <a:solidFill>
            <a:srgbClr val="FFFFFF"/>
          </a:solidFill>
          <a:ln w="1524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371600"/>
            <a:ext cx="2181758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Phase d'accroche — 8 objections :
• Pas intéressé
• Faux numéro
• Appel pour un don
• Je donne déjà
• Arnaque
• Je ne donne pas par téléphone
• Pas confiance aux associations
• N'aime pas être contacté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0670" y="804672"/>
            <a:ext cx="2328062" cy="502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2110" y="822960"/>
            <a:ext cx="2181758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2
OBJECTIONS FINANCIÈRES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20670" y="1307592"/>
            <a:ext cx="2328062" cy="4370832"/>
          </a:xfrm>
          <a:prstGeom prst="rect">
            <a:avLst/>
          </a:prstGeom>
          <a:solidFill>
            <a:srgbClr val="FFFFFF"/>
          </a:solidFill>
          <a:ln w="1524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2110" y="1371600"/>
            <a:ext cx="2181758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Après l'appel au don — 3 objections :
• Je donne déjà ailleurs
• Je n'ai pas les moyens
• Dernier positionnement financier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67020" y="804672"/>
            <a:ext cx="2328062" cy="502920"/>
          </a:xfrm>
          <a:prstGeom prst="rect">
            <a:avLst/>
          </a:prstGeom>
          <a:solidFill>
            <a:srgbClr val="0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8460" y="822960"/>
            <a:ext cx="2181758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3
CONTRE LE DON RÉGULIER (PA)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7020" y="1307592"/>
            <a:ext cx="2328062" cy="4370832"/>
          </a:xfrm>
          <a:prstGeom prst="rect">
            <a:avLst/>
          </a:prstGeom>
          <a:solidFill>
            <a:srgbClr val="FFFFFF"/>
          </a:solidFill>
          <a:ln w="15240">
            <a:solidFill>
              <a:srgbClr val="0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58460" y="1371600"/>
            <a:ext cx="2181758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Sur le prélèvement automatique — 3 objections :
• Préfère le don ponctuel
• N'aime pas l'engagement mensuel
• Dernier positionnement PA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3371" y="804672"/>
            <a:ext cx="2328062" cy="502920"/>
          </a:xfrm>
          <a:prstGeom prst="rect">
            <a:avLst/>
          </a:prstGeom>
          <a:solidFill>
            <a:srgbClr val="00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4811" y="822960"/>
            <a:ext cx="2181758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4
MÉFIANCE IBAN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3371" y="1307592"/>
            <a:ext cx="2328062" cy="4370832"/>
          </a:xfrm>
          <a:prstGeom prst="rect">
            <a:avLst/>
          </a:prstGeom>
          <a:solidFill>
            <a:srgbClr val="FFFFFF"/>
          </a:solidFill>
          <a:ln w="15240">
            <a:solidFill>
              <a:srgbClr val="00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4811" y="1371600"/>
            <a:ext cx="2181758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Sur la sécurité bancaire :
• Réassurance sur le protocole SEPA
• Sécurité des données bancaires
• Mandat SEPA : droits du donateur
• Arrêt / modification possible à tout moment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59721" y="804672"/>
            <a:ext cx="2328062" cy="502920"/>
          </a:xfrm>
          <a:prstGeom prst="rect">
            <a:avLst/>
          </a:prstGeom>
          <a:solidFill>
            <a:srgbClr val="33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1161" y="822960"/>
            <a:ext cx="2181758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CAT. 5
OBJECTIONS CONFLICTUELLES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59721" y="1307592"/>
            <a:ext cx="2328062" cy="4370832"/>
          </a:xfrm>
          <a:prstGeom prst="rect">
            <a:avLst/>
          </a:prstGeom>
          <a:solidFill>
            <a:srgbClr val="FFFFFF"/>
          </a:solidFill>
          <a:ln w="15240">
            <a:solidFill>
              <a:srgbClr val="33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51161" y="1371600"/>
            <a:ext cx="2181758" cy="4187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Objections sensibles :
• Origine de l'appel
• Source du numéro
• Droits légaux RGPD
• Bloctel / liste rouge
• Accent de l'appelant
• Connaissance d'un membre
• Identité de l'appelant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797296"/>
            <a:ext cx="11640312" cy="4023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5870448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En production, la majorité des appels se terminent à la Catégorie 1. Maîtriser ces 8 objections initiales est la clé pour atteindre vos 9 CU/H.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