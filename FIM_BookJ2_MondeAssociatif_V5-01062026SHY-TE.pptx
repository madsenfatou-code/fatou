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75488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48640"/>
            <a:ext cx="1124321" cy="1097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D4D"/>
                </a:solidFill>
                <a:latin typeface="Calibri"/>
              </a:rPr>
              <a:t>JOUR 2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2560320"/>
            <a:ext cx="36576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56692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4A017"/>
                </a:solidFill>
                <a:latin typeface="Calibri"/>
              </a:rPr>
              <a:t>SHY-Performance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5E5"/>
                </a:solidFill>
                <a:latin typeface="Calibri"/>
              </a:rPr>
              <a:t>FIDELIS ×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914400"/>
            <a:ext cx="685800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09728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4D4D"/>
                </a:solidFill>
                <a:latin typeface="Calibri"/>
              </a:rPr>
              <a:t>JOUR 2
MONDE ASSOCIATIF
&amp; HUMANITAIRE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840480"/>
            <a:ext cx="4572000" cy="45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0233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Comprendre pour Convaincre — Loi 1901, Histoire, UNICEF
SHY-Performance × FIDELIS ×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Formation Initiale Module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France Associative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63398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4686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468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1,5 million d'associations actives en France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151888"/>
            <a:ext cx="11987784" cy="6339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15188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21742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2174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18846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1,8 million de salariés employés par le secteur associatif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822448"/>
            <a:ext cx="11987784" cy="63398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82244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88798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8879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85902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22 millions de bénévoles mobilisés chaque année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493008"/>
            <a:ext cx="11987784" cy="6339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49300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55854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5585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52958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Le secteur associatif représente 3,5% du PIB français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163568"/>
            <a:ext cx="11987784" cy="63398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16356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22910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2291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20014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Chaque citoyen a bénéficié directement ou indirectement d'une action associative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834128"/>
            <a:ext cx="11987784" cy="6339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83412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89966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8996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87070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Santé, éducation, sport, culture, humanitaire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tous les domaines sont couverts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5614416"/>
            <a:ext cx="11987784" cy="539496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5614416"/>
            <a:ext cx="164592" cy="53949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669280"/>
            <a:ext cx="11457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4D4D"/>
                </a:solidFill>
                <a:latin typeface="Calibri"/>
              </a:rPr>
              <a:t>💡  Pensez-y : les Restos du Cœur servent 170 millions de repas/an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Définition Juridique — Loi du 1er Juillet 1901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63398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4686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468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Article 1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'Convention par laquelle deux ou plusieurs personnes mettent en commun leurs connaissances ou activité dans un but autre que de partager des bénéfices'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151888"/>
            <a:ext cx="11987784" cy="6339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15188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21742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2174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18846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Caractère désintéressé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aucun profit distribué aux membres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822448"/>
            <a:ext cx="11987784" cy="63398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82244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88798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8879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85902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But très divers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sportif, humanitaire, défense d'intérêts, promotion d'idées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493008"/>
            <a:ext cx="11987784" cy="6339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49300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55854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5585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52958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Association de FAIT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non déclarée, n'existe pas aux yeux de l'administration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163568"/>
            <a:ext cx="11987784" cy="63398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16356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22910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2291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20014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Association DÉCLARÉE : enregistrée officiellement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droits complets (subventions, dons)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834128"/>
            <a:ext cx="11987784" cy="6339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83412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89966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8996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87070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Association RECONNUE D'UTILITÉ PUBLIQUE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agrément État, collecte de dons autorisée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5614416"/>
            <a:ext cx="11987784" cy="539496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5614416"/>
            <a:ext cx="164592" cy="53949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669280"/>
            <a:ext cx="11457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4D4D"/>
                </a:solidFill>
                <a:latin typeface="Calibri"/>
              </a:rPr>
              <a:t>💡  L'UNICEF France est reconnue d'utilité publique — légitimité maximale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Histoire de l'Humanitaire — Des Origines à l'UNICEF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Moyen Âge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premières associations caritatives d'émanation religieuse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141002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141002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177578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24 juin 1859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Bataille de Solférino : Henry Dunant vient en aide aux blessés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800676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800676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837252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1863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Naissance de la Croix-Rouge et du droit humanitaire international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460350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460350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496926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1901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Loi française sur les associations : cadre légal moderne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120025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120025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156601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1945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Fin de la 2ème Guerre Mondiale : 13 millions d'enfants déplacés en Europe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779699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779699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816275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11 décembre 1946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Création de l'UNICEF par l'Assemblée Générale de l'ONU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5439373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5439373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5475949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1965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L'UNICEF reçoit le Prix Nobel de la Paix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Les Principes Fondamentaux de l'Humanitaire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7330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9639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9639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HUMANITÉ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soulager la souffrance humaine sans discrimination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250948"/>
            <a:ext cx="11987784" cy="733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25094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36601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36601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28752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IMPARTIALITÉ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aide accordée selon les besoins, sans distinction de nationalité, race ou religion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3020568"/>
            <a:ext cx="11987784" cy="7330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302056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13563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13563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05714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NEUTRALITÉ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ne pas prendre parti dans les conflits politiques ou militaires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790188"/>
            <a:ext cx="11987784" cy="733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79018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90525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90525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82676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INDÉPENDANCE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autonomie vis-à-vis des autorités politiques, économiques ou militaires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559808"/>
            <a:ext cx="11987784" cy="7330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55980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67487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67487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59638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UNIVERSALITÉ : mouvement mondial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chaque organisation est égale en droits et devoirs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5329428"/>
            <a:ext cx="11987784" cy="733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532942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544449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544449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36600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Ces principes guident l'action de l'UNICEF dans les 190 pays où il intervient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Évolution du Marché de la Collecte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AVANT 1990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Plein boom : ONG reconnues, collecte facile, confiance totale, mailing dominant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141002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141002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177578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1989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Création du Comité de la Charte du Don en Confiance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800676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800676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837252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1996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Affaire ARC : crise de confiance majeure dans le secteur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460350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460350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496926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1996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Renforcement des contrôles : audits obligatoires, transparence totale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120025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120025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156601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2000s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Montée du télémarketing et du marketing digital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779699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779699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816275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2010s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RGPD, Bloctel : nouvelles réglementations encadrant la prospection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5439373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5439373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5475949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Aujourd'hui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label 'Don en Confiance' = gage de sérieux pour les donateurs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Impact Mondial — L'UNICEF en Action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VACCINATION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l'UNICEF vaccine 45% des enfants dans le monde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056093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056093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092669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2022 : 2,2 milliards de vaccins distribués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la polio quasi éradiquée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630859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630859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667435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EAU POTABLE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accès à l'eau saine pour des millions d'enfants en zones de crise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205625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205625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242201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NUTRITION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distribution de sachets RUTF pour la malnutrition aigüe sévère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3780390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3780390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816966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ÉDUCATION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programmes scolaires dans les zones de conflit et de catastrophe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355156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355156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391732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PROTECTION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lutte contre le travail des enfants, les mariages forcés, le recrutement armé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929922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929922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966498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93% des fonds collectés vont directement aux programmes terrain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614416"/>
            <a:ext cx="11987784" cy="539496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5614416"/>
            <a:ext cx="164592" cy="53949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669280"/>
            <a:ext cx="11457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4D4D"/>
                </a:solidFill>
                <a:latin typeface="Calibri"/>
              </a:rPr>
              <a:t>💡  Chaque 3 secondes, un enfant reçoit un vaccin grâce à l'UNICEF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Le Comité de la Charte &amp; Le Don en Confiance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Créé en 1989, renforcé après l'Affaire ARC en 1996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141002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141002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177578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Mission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renforcer le contrôle et la transparence des associations collectant des dons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800676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800676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837252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Audit obligatoire des comptes + publication annuelle des rapports financiers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460350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460350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496926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Label 'Don en Confiance'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garantie pour le donateur que l'association est sérieuse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120025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120025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156601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UNICEF France en est membre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argument de légitimité clé face aux objections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779699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779699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816275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Commissaire aux comptes indépendant certifie les comptes d'UNICEF France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5439373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5439373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5475949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Utiliser ce label comme réponse à l'objection 'Je ne fais pas confiance aux associations'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★  RÈGLE D'OR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RÈGLE D'OR — Pourquoi le Don Régulier est Vital</a:t>
            </a:r>
          </a:p>
        </p:txBody>
      </p:sp>
      <p:pic>
        <p:nvPicPr>
          <p:cNvPr id="7" name="Picture 6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46304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COMPRENDRE → S'ENGAGER → CONVAINCRE : le fundraiser qui comprend convainc mieux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Le don régulier permet de planifier les actions humanitaires sur le long terme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La faim, la maladie, le manque de soins ne s'arrêtent pas après une aide ponctuelle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Un don de 10€/mois = accompagner un enfant durant toutes les étapes de sa guérison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Flexible : le donateur peut modifier ou suspendre son don à tout moment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Impact cumulatif : 10€ × 12 mois = 120€/an soit 4 mois complets de nutrition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Argument : 'Sans votre soutien régulier, nos équipes ne peuvent pas planifier'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-4572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0" b="0" i="0">
                <a:solidFill>
                  <a:srgbClr val="006060"/>
                </a:solidFill>
                <a:latin typeface="Calibri"/>
              </a:rPr>
              <a:t>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109728" cy="53949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4754880"/>
            <a:ext cx="484632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1">
                <a:solidFill>
                  <a:srgbClr val="FFFFFF"/>
                </a:solidFill>
                <a:latin typeface="Calibri"/>
              </a:rPr>
              <a:t>Comprendre pour Convaincre.
Chaque citoyen est concerné.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937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4A017"/>
                </a:solidFill>
                <a:latin typeface="Calibri"/>
              </a:rPr>
              <a:t>— Mantra J2 — SHY-Performance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4A017"/>
                </a:solidFill>
                <a:latin typeface="Calibri"/>
              </a:rPr>
              <a:t>POUR VOTRE PARTICIPATION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743200"/>
            <a:ext cx="57607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E5E5"/>
                </a:solidFill>
                <a:latin typeface="Calibri"/>
              </a:rPr>
              <a:t>Élaboré par Tamou Eljerrari  |  Sur ordre de Mme Salima Negrao, DG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5394960"/>
            <a:ext cx="1030628" cy="1005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