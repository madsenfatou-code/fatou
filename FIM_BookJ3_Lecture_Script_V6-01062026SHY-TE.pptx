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3035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3268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DDDD"/>
                </a:solidFill>
              </a:rPr>
              <a:t>BOOK J3  ·  Journée 3  ·  Script UNICEF × FIDELIS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0700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Analyse &amp; Script Officiel UNICEF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01952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EE"/>
                </a:solidFill>
              </a:rPr>
              <a:t>Les 7 étapes · Les 5 règles d'accroche · Les 4 modes de validation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45720"/>
            <a:ext cx="822960" cy="8046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Aujourd'hui vous allez lire, analyser et incarner le script officiel UNICEF.
Vous ne le lirez pas mécaniquement — vous allez comprendre l'intention
de chaque phrase pour le délivrer avec conviction et naturel.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91440"/>
            <a:ext cx="36576" cy="5029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914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Journée 3 — Ce que vous allez vivre aujourd'hui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0"/>
            <a:ext cx="822960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2910078" cy="29260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41248"/>
            <a:ext cx="274548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DÉCOUVERTE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097280"/>
            <a:ext cx="2910078" cy="4370831"/>
          </a:xfrm>
          <a:prstGeom prst="rect">
            <a:avLst/>
          </a:prstGeom>
          <a:solidFill>
            <a:srgbClr val="FFFFFF"/>
          </a:solidFill>
          <a:ln w="1524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152144"/>
            <a:ext cx="270891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Lecture intégrale du script
officiel UNICEF à voix haute.
Première impression.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2686" y="804672"/>
            <a:ext cx="2910078" cy="2926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4126" y="841248"/>
            <a:ext cx="274548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2686" y="1097280"/>
            <a:ext cx="2910078" cy="4370831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2414" y="1152144"/>
            <a:ext cx="270891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Analyse phrase par phrase :
'Quelle est l'intention ici ?
Pourquoi ce mot précis ?'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1052" y="804672"/>
            <a:ext cx="2910078" cy="29260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841248"/>
            <a:ext cx="274548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1052" y="1097280"/>
            <a:ext cx="2910078" cy="4370831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0780" y="1152144"/>
            <a:ext cx="270891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Les 7 étapes · Les 5 règles
d'accroche · Les 4 modes
de validation du don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9418" y="804672"/>
            <a:ext cx="2910078" cy="29260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0858" y="841248"/>
            <a:ext cx="274548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ENTRAÎNEMENT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9418" y="1097280"/>
            <a:ext cx="2910078" cy="4370831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9146" y="1152144"/>
            <a:ext cx="270891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Exercices de lecture en binômes.
Débriefs collectifs.
Points forts &amp; axes d'amélioration.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596128"/>
            <a:ext cx="11640312" cy="25603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63270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Vos 3 réussites à valider aujourd'hui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870448"/>
            <a:ext cx="384352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5907024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✔ Script lu 3 fois sans hésitation majeure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54423" y="5870448"/>
            <a:ext cx="3843528" cy="502920"/>
          </a:xfrm>
          <a:prstGeom prst="rect">
            <a:avLst/>
          </a:prstGeom>
          <a:solidFill>
            <a:srgbClr val="F0F7F7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4152" y="5907024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✔ 5 règles d'accroche récitées sans support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4528" y="5870448"/>
            <a:ext cx="384352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4256" y="5907024"/>
            <a:ext cx="3715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✔ Score seuil : 12/20 pour passage J4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91440"/>
            <a:ext cx="36576" cy="5029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914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Le Script Officiel UNICEF — Les 7 Étapes que Vous Allez Maîtriser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0"/>
            <a:ext cx="822960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1662901" cy="4572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822960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①
ACCROCHE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61872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316736"/>
            <a:ext cx="153488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Ouverture téléphonique conforme
aux 5 règles officielles
Ton chaleureux, prénom + nom,
organisation clairement nommée,
raison de l'appel annoncée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55509" y="804672"/>
            <a:ext cx="1662901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0373" y="822960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②
MALNUTRITION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55509" y="1261872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8661" y="1316736"/>
            <a:ext cx="153488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Présentation de la cause :
la malnutrition aigüe sévère
Chiffre-clé : 1 enfant toutes
les 11 secondes · Dimension
humaine et émotionnelle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36699" y="804672"/>
            <a:ext cx="1662901" cy="45720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1563" y="822960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③
SACHETS RUTF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36699" y="1261872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9851" y="1316736"/>
            <a:ext cx="153488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La solution concrète de l'UNICEF :
les sachets RUTF (92g)
6 à 8 semaines pour guérir
un enfant sévèrement malnutri
Coût : quelques euros/traitement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17889" y="804672"/>
            <a:ext cx="1662901" cy="4572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2753" y="822960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④
APPEL AU SOUTIEN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7889" y="1261872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1041" y="1316736"/>
            <a:ext cx="153488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Proposition du don mensuel
par Prélèvement Automatique
Montant suggéré adapté
Impact chiffré du don
Simplicité du geste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9078" y="804672"/>
            <a:ext cx="1662901" cy="45720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3942" y="822960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⑤
SI DON PONCTUEL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9078" y="1261872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72230" y="1316736"/>
            <a:ext cx="153488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Si le prospect propose
un don unique, réorienter
vers le don régulier
'Je comprends — et si on
envisageait quelque chose
de régulier ?'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0268" y="804672"/>
            <a:ext cx="1662901" cy="45720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5132" y="822960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⑥
INDÉCIS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0268" y="1261872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3420" y="1316736"/>
            <a:ext cx="153488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Gestion de l'hésitation :
rester dans l'échange,
ne pas forcer la conclusion
Relancer avec une question
ouverture sur le délai
de réflexion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61458" y="804672"/>
            <a:ext cx="1662901" cy="457200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16322" y="822960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⑦
VALIDATION
COORDONNÉES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61458" y="1261872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1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34610" y="1316736"/>
            <a:ext cx="153488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Sécurisation du don :
IBAN à chaud / PA en ligne /
PEL / PA courrier
Confirmer toutes
les coordonnées · SMS
de confirmation envoyé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797296"/>
            <a:ext cx="11640312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79" y="5870448"/>
            <a:ext cx="11365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Durée standard d'un appel complet : 3 à 5 minutes  ·  Chaque étape a une fonction précise — ne pas sauter, ne pas inverser.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91440"/>
            <a:ext cx="36576" cy="5029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914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Les 5 Règles Officielles de la Phrase d'Accroche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0"/>
            <a:ext cx="822960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0467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55"/>
                </a:solidFill>
              </a:rPr>
              <a:t>Ces 5 règles sont non négociables — elles définissent un appel conforme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170432"/>
            <a:ext cx="1005840" cy="8229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335024"/>
            <a:ext cx="9692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RÈGLE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1170432"/>
            <a:ext cx="3108960" cy="822960"/>
          </a:xfrm>
          <a:prstGeom prst="rect">
            <a:avLst/>
          </a:prstGeom>
          <a:solidFill>
            <a:srgbClr val="F0F7F7"/>
          </a:solidFill>
          <a:ln w="1016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1353312"/>
            <a:ext cx="2944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55"/>
                </a:solidFill>
              </a:rPr>
              <a:t>Se présenter avec prénom et nom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5696" y="1170432"/>
            <a:ext cx="7488936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261872"/>
            <a:ext cx="72969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Votre identité est donnée clairement dès les premières secondes.
'Bonjour, je m'appelle [Prénom NOM]…'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29967"/>
            <a:ext cx="1005840" cy="8229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2194560"/>
            <a:ext cx="9692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RÈGLE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98448" y="2029967"/>
            <a:ext cx="3108960" cy="822960"/>
          </a:xfrm>
          <a:prstGeom prst="rect">
            <a:avLst/>
          </a:prstGeom>
          <a:solidFill>
            <a:srgbClr val="F0F7F7"/>
          </a:solidFill>
          <a:ln w="1016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2212848"/>
            <a:ext cx="2944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55"/>
                </a:solidFill>
              </a:rPr>
              <a:t>Nommer l'organisation représentée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5696" y="2029967"/>
            <a:ext cx="7488936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121408"/>
            <a:ext cx="72969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'…je vous appelle au nom de l'UNICEF France…'
Le prospect sait immédiatement qui appelle.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89503"/>
            <a:ext cx="1005840" cy="8229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3054096"/>
            <a:ext cx="9692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RÈGLE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98448" y="2889503"/>
            <a:ext cx="3108960" cy="822960"/>
          </a:xfrm>
          <a:prstGeom prst="rect">
            <a:avLst/>
          </a:prstGeom>
          <a:solidFill>
            <a:srgbClr val="F0F7F7"/>
          </a:solidFill>
          <a:ln w="1016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9888" y="3072384"/>
            <a:ext cx="2944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55"/>
                </a:solidFill>
              </a:rPr>
              <a:t>Annoncer la raison de l'appel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25696" y="2889503"/>
            <a:ext cx="7488936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424" y="2980944"/>
            <a:ext cx="72969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'…pour vous parler d'une initiative importante pour les enfants…'
Clarté totale — pas d'ambiguïté sur l'objet de l'appel.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49039"/>
            <a:ext cx="1005840" cy="8229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" y="3913631"/>
            <a:ext cx="9692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RÈGLE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98448" y="3749039"/>
            <a:ext cx="3108960" cy="822960"/>
          </a:xfrm>
          <a:prstGeom prst="rect">
            <a:avLst/>
          </a:prstGeom>
          <a:solidFill>
            <a:srgbClr val="F0F7F7"/>
          </a:solidFill>
          <a:ln w="1016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9888" y="3931920"/>
            <a:ext cx="2944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55"/>
                </a:solidFill>
              </a:rPr>
              <a:t>Vérifier la disponibilité du prospect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25696" y="3749039"/>
            <a:ext cx="7488936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35424" y="3840479"/>
            <a:ext cx="72969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'Est-ce que vous avez quelques minutes ?'
Respect de l'interlocuteur — condition d'un échange de qualité.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608575"/>
            <a:ext cx="1005840" cy="8229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4773167"/>
            <a:ext cx="9692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RÈGLE 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8448" y="4608575"/>
            <a:ext cx="3108960" cy="822960"/>
          </a:xfrm>
          <a:prstGeom prst="rect">
            <a:avLst/>
          </a:prstGeom>
          <a:solidFill>
            <a:srgbClr val="F0F7F7"/>
          </a:solidFill>
          <a:ln w="1016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89888" y="4791455"/>
            <a:ext cx="2944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55"/>
                </a:solidFill>
              </a:rPr>
              <a:t>Adopter un ton chaleureux et naturel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25696" y="4608575"/>
            <a:ext cx="7488936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35424" y="4700015"/>
            <a:ext cx="72969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Sourire audible · Débit posé · Articulation claire
Le ton est aussi important que les mots — souvent plus.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468112"/>
            <a:ext cx="1164031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79" y="5541264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Ces 5 règles sont vérifiées par la grille d'évaluation FIDELIS. Un appel qui viole l'une d'elles est disqualifié dans la nomenclature.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