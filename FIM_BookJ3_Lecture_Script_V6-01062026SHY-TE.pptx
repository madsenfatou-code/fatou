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7744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218895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BOOK J3 · Journée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Lecture &amp; 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DEEEE"/>
                </a:solidFill>
              </a:rPr>
              <a:t>Maîtrise du discours commercial-humanitaire · Les 5 étapes ·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SHY-Performance · V6-01062026SHY-TE · Référentiel UM6P/CMC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Objectifs &amp; Séquence Kolb — Journée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Objectifs V6 — Bloom Niv. 3–4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Les 5 étapes du Script FIM V6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Utiliser les 5 étapes du script FIM dans l'ordre et avec naturel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Adapter le storytelling au profil du passant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Analyser sa propre performance via la grille d'observation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Démontrer une accroche naturelle en &lt; 15 secondes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① Accroche — contact visuel, sourire, question ouverte (10–15 sec)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② Mise en contexte — 'Je travaille avec l'UNICEF…' (20 sec)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③ Impact Story — récit bénéficiaire, émotion + faits (45–60 sec)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④ Proposition — montant, avantages donateur (30 sec)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74319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⑤ Engagement — signature, remerciement chaleureux (20 sec)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160520"/>
            <a:ext cx="2882646" cy="25603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EC — Expérience Concrète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Démo formateur LIVE sur passant simulé · apprenants observent avec grille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84397" y="4160520"/>
            <a:ext cx="2882646" cy="256032"/>
          </a:xfrm>
          <a:prstGeom prst="rect">
            <a:avLst/>
          </a:prstGeom>
          <a:solidFill>
            <a:srgbClr val="4CA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30117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OR — Observation Réfléchie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84397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4CA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75837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'Qu'avez-vous observé ?' → liste comportements efficaces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5" y="4160520"/>
            <a:ext cx="2882646" cy="256032"/>
          </a:xfrm>
          <a:prstGeom prst="rect">
            <a:avLst/>
          </a:prstGeom>
          <a:solidFill>
            <a:srgbClr val="F4A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0195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CA — Conceptualisation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5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F4AE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85915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Déconstruction des 5 étapes, ancres mnémotechniques, langage corporel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04554" y="4160520"/>
            <a:ext cx="2882646" cy="256032"/>
          </a:xfrm>
          <a:prstGeom prst="rect">
            <a:avLst/>
          </a:prstGeom>
          <a:solidFill>
            <a:srgbClr val="E84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0274" y="4187952"/>
            <a:ext cx="279120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EA — Expérimentation Active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04554" y="4416552"/>
            <a:ext cx="2882646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4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95994" y="4453128"/>
            <a:ext cx="269976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Trinômes 90 min : fundraiser / passant / observateur · rotation 15 min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486400"/>
            <a:ext cx="11612880" cy="2743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52297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🎯 Évaluation formative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Grille certification partielle C1+C2+C5 (formateur)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Auto-évaluation vidéo si consentement apprenant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8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Score seuil : 12/20 pour passer à J4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Script FIM V6 — Détail des 5 étapes + Adaptation profil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822960"/>
            <a:ext cx="2286000" cy="3200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850392"/>
            <a:ext cx="21396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① ACCROCHE  [10–15 sec]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22860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Contact visuel · Sourire authentique · Question ouverte non intrusive
Ex : 'Bonjour ! Vous avez 2 minutes pour les enfants ?'
⚠ Éviter : 'Excusez-moi de vous déranger…'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5184" y="822960"/>
            <a:ext cx="2286000" cy="32004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850392"/>
            <a:ext cx="21396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② CONTEXTE  [20 sec]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15184" y="1143000"/>
            <a:ext cx="22860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6624" y="118872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Identification claire + légitimité
Ex : 'Je travaille avec l'UNICEF — nous collectons des fonds pour les enfants en danger.'
Montrer le badge / la carte officielle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822960"/>
            <a:ext cx="2286000" cy="320040"/>
          </a:xfrm>
          <a:prstGeom prst="rect">
            <a:avLst/>
          </a:prstGeom>
          <a:solidFill>
            <a:srgbClr val="4A9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850392"/>
            <a:ext cx="21396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③ IMPACT STORY  [45–60 sec]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143000"/>
            <a:ext cx="22860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4A9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118872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Histoire d'1 enfant bénéficiaire spécifique · Prénom + pays + situation
Ex : 'Aisha, 4 ans, Yémen — sans votre aide, elle n'avait pas accès à l'eau potable.'
Faits + chiffre concret + résolution par le don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96912" y="822960"/>
            <a:ext cx="2286000" cy="320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0064" y="850392"/>
            <a:ext cx="21396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④ PROPOSITION  [30 sec]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143000"/>
            <a:ext cx="22860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88352" y="118872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Montant suggéré adapté au profil observé (100–300 DH/mois)
Bénéfices donateur : reçu fiscal, rapport annuel, impact tracé
Ex : '100 DH/mois = 3 DH/jour = 1 café. Impact : 6 enfants protégés/an.'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37776" y="822960"/>
            <a:ext cx="2286000" cy="320040"/>
          </a:xfrm>
          <a:prstGeom prst="rect">
            <a:avLst/>
          </a:prstGeom>
          <a:solidFill>
            <a:srgbClr val="D27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10928" y="850392"/>
            <a:ext cx="21396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⑤ ENGAGEMENT  [20 sec]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1143000"/>
            <a:ext cx="22860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27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9216" y="118872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Formulaire clair · Accompagner la signature · Remerciement sincère
Ex : 'Merci ! Vous allez recevoir votre confirmation par SMS dans 24h.'
Remettre la brochure UNICEF + coordonnées contact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3949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5050"/>
                </a:solidFill>
              </a:rPr>
              <a:t>Durée totale script standard : 2 min 15 sec · Version express (passant pressé) : 55 sec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