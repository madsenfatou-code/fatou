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3317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13432"/>
            <a:ext cx="12188952" cy="54864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91440"/>
            <a:ext cx="4572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93776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BEEEE"/>
                </a:solidFill>
              </a:rPr>
              <a:t>Formation Initiale Module — Fundraising Téléphonique UNICEF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87782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DDDD"/>
                </a:solidFill>
              </a:rPr>
              <a:t>BOOK J3  ·  Journée 3  ·  Script UNICEF × FIDELIS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118872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</a:rPr>
              <a:t>Analyse &amp; Script Officiel UNICEF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92024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EEEE"/>
                </a:solidFill>
              </a:rPr>
              <a:t>Les 7 étapes · Les 5 règles d'accroche · Les 4 modes de validation</a:t>
            </a:r>
          </a:p>
        </p:txBody>
      </p:sp>
      <p:pic>
        <p:nvPicPr>
          <p:cNvPr id="10" name="Picture 9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0"/>
            <a:ext cx="841248" cy="67665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9144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12848" y="109728"/>
            <a:ext cx="36576" cy="47548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50008" y="91440"/>
            <a:ext cx="8823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Journée 3 — Ce que vous allez vivre aujourd'hui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0"/>
            <a:ext cx="841248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2910078" cy="292608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DÉCOUVERTE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Lecture intégrale du script
officiel UNICEF à voix haute.
Première impression.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2686" y="804672"/>
            <a:ext cx="2910078" cy="29260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4126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ANALYSE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2686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2414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Analyse phrase par phrase :
'Quelle est l'intention ici ?
Pourquoi ce mot précis ?'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1052" y="804672"/>
            <a:ext cx="2910078" cy="292608"/>
          </a:xfrm>
          <a:prstGeom prst="rect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APPORT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31052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6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0780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7 étapes · 5 règles accroche
4 modes de validation du don
Ton, rythme, intention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9418" y="804672"/>
            <a:ext cx="2910078" cy="29260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0858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ENTRAÎNEMENT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9418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69146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Lecture en binômes. Débriefs
collectifs. Points forts
&amp; axes d'amélioration.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596128"/>
            <a:ext cx="11640312" cy="25603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5632704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À retenir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870448"/>
            <a:ext cx="3843528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590702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Script lu 3 fois sans hésitation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54423" y="5870448"/>
            <a:ext cx="3843528" cy="502920"/>
          </a:xfrm>
          <a:prstGeom prst="rect">
            <a:avLst/>
          </a:prstGeom>
          <a:solidFill>
            <a:srgbClr val="F0F7F7"/>
          </a:solidFill>
          <a:ln w="76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64152" y="590702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5 règles d'accroche récitées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34528" y="5870448"/>
            <a:ext cx="3843528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44256" y="590702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Score seuil 12/20 pour J4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9144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12848" y="109728"/>
            <a:ext cx="36576" cy="47548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50008" y="91440"/>
            <a:ext cx="8823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Le Script Officiel UNICEF — Les 7 Étapes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0"/>
            <a:ext cx="841248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1662901" cy="438912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" y="822960"/>
            <a:ext cx="157146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①
ACCROCHE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243584"/>
            <a:ext cx="1662901" cy="4434840"/>
          </a:xfrm>
          <a:prstGeom prst="rect">
            <a:avLst/>
          </a:prstGeom>
          <a:solidFill>
            <a:srgbClr val="FFFFFF"/>
          </a:solidFill>
          <a:ln w="15240">
            <a:solidFill>
              <a:srgbClr val="0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1298448"/>
            <a:ext cx="1534885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</a:rPr>
              <a:t>Ouverture conforme aux 5 règles
Ton chaleureux, prénom+nom,
organisation nommée, raison annoncée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55509" y="804672"/>
            <a:ext cx="1662901" cy="43891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0373" y="822960"/>
            <a:ext cx="157146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②
MALNUTRITION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55509" y="1243584"/>
            <a:ext cx="1662901" cy="4434840"/>
          </a:xfrm>
          <a:prstGeom prst="rect">
            <a:avLst/>
          </a:prstGeom>
          <a:solidFill>
            <a:srgbClr val="FFFFFF"/>
          </a:solidFill>
          <a:ln w="1524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28661" y="1298448"/>
            <a:ext cx="1534885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</a:rPr>
              <a:t>Présentation de la cause
1 enfant/11sec · Dimension
humaine et émotionnelle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36699" y="804672"/>
            <a:ext cx="1662901" cy="438912"/>
          </a:xfrm>
          <a:prstGeom prst="rect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91563" y="822960"/>
            <a:ext cx="157146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③
SACHETS RUTF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36699" y="1243584"/>
            <a:ext cx="1662901" cy="4434840"/>
          </a:xfrm>
          <a:prstGeom prst="rect">
            <a:avLst/>
          </a:prstGeom>
          <a:solidFill>
            <a:srgbClr val="FFFFFF"/>
          </a:solidFill>
          <a:ln w="15240">
            <a:solidFill>
              <a:srgbClr val="006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9851" y="1298448"/>
            <a:ext cx="1534885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</a:rPr>
              <a:t>La solution UNICEF : sachets 92g
6 à 8 semaines pour guérir
un enfant sévèrement malnutri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17889" y="804672"/>
            <a:ext cx="1662901" cy="438912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72753" y="822960"/>
            <a:ext cx="157146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④
APPEL AU SOUTIEN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17889" y="1243584"/>
            <a:ext cx="1662901" cy="4434840"/>
          </a:xfrm>
          <a:prstGeom prst="rect">
            <a:avLst/>
          </a:prstGeom>
          <a:solidFill>
            <a:srgbClr val="FFFFFF"/>
          </a:solidFill>
          <a:ln w="15240">
            <a:solidFill>
              <a:srgbClr val="00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1041" y="1298448"/>
            <a:ext cx="1534885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</a:rPr>
              <a:t>Proposition du PA mensuel
Montant suggéré · Impact
chiffré · Simplicité du geste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99078" y="804672"/>
            <a:ext cx="1662901" cy="438912"/>
          </a:xfrm>
          <a:prstGeom prst="rect">
            <a:avLst/>
          </a:prstGeom>
          <a:solidFill>
            <a:srgbClr val="33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3942" y="822960"/>
            <a:ext cx="157146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⑤
SI DON PONCTUEL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99078" y="1243584"/>
            <a:ext cx="1662901" cy="4434840"/>
          </a:xfrm>
          <a:prstGeom prst="rect">
            <a:avLst/>
          </a:prstGeom>
          <a:solidFill>
            <a:srgbClr val="FFFFFF"/>
          </a:solidFill>
          <a:ln w="15240">
            <a:solidFill>
              <a:srgbClr val="33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72230" y="1298448"/>
            <a:ext cx="1534885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</a:rPr>
              <a:t>Réorientation vers le PA
'Et si on envisageait quelque
chose de régulier ?'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0268" y="804672"/>
            <a:ext cx="1662901" cy="438912"/>
          </a:xfrm>
          <a:prstGeom prst="rect">
            <a:avLst/>
          </a:prstGeom>
          <a:solidFill>
            <a:srgbClr val="22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35132" y="822960"/>
            <a:ext cx="157146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⑥
INDÉCIS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80268" y="1243584"/>
            <a:ext cx="1662901" cy="4434840"/>
          </a:xfrm>
          <a:prstGeom prst="rect">
            <a:avLst/>
          </a:prstGeom>
          <a:solidFill>
            <a:srgbClr val="FFFFFF"/>
          </a:solidFill>
          <a:ln w="15240">
            <a:solidFill>
              <a:srgbClr val="22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53420" y="1298448"/>
            <a:ext cx="1534885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</a:rPr>
              <a:t>Gestion de l'hésitation
Rester dans l'échange
Relance avec question ouverte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361458" y="804672"/>
            <a:ext cx="1662901" cy="438912"/>
          </a:xfrm>
          <a:prstGeom prst="rect">
            <a:avLst/>
          </a:prstGeom>
          <a:solidFill>
            <a:srgbClr val="11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16322" y="822960"/>
            <a:ext cx="157146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⑦
VALIDATION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61458" y="1243584"/>
            <a:ext cx="1662901" cy="4434840"/>
          </a:xfrm>
          <a:prstGeom prst="rect">
            <a:avLst/>
          </a:prstGeom>
          <a:solidFill>
            <a:srgbClr val="FFFFFF"/>
          </a:solidFill>
          <a:ln w="15240">
            <a:solidFill>
              <a:srgbClr val="11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34610" y="1298448"/>
            <a:ext cx="1534885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</a:rPr>
              <a:t>IBAN à chaud / PA en ligne /
PEL / PA courrier
Confirmer coordonnées · SMS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797296"/>
            <a:ext cx="11640312" cy="3474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79" y="5870448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Durée standard : 3 à 5 min · Chaque étape a une fonction précise — ne pas sauter, ne pas inverser.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9144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12848" y="109728"/>
            <a:ext cx="36576" cy="47548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50008" y="91440"/>
            <a:ext cx="8823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Les 5 Règles Officielles de la Phrase d'Accroche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0"/>
            <a:ext cx="841248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804672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050"/>
                </a:solidFill>
              </a:rPr>
              <a:t>Ces 5 règles sont non négociables — elles définissent un appel conforme FIDELIS 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170432"/>
            <a:ext cx="1005840" cy="804672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1335024"/>
            <a:ext cx="9692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RÈGLE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" y="1170432"/>
            <a:ext cx="3108960" cy="804672"/>
          </a:xfrm>
          <a:prstGeom prst="rect">
            <a:avLst/>
          </a:prstGeom>
          <a:solidFill>
            <a:srgbClr val="F0F7F7"/>
          </a:solidFill>
          <a:ln w="10160">
            <a:solidFill>
              <a:srgbClr val="0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1353312"/>
            <a:ext cx="29443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Se présenter avec prénom et nom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25696" y="1170432"/>
            <a:ext cx="7488936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1261872"/>
            <a:ext cx="7296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'Bonjour, je m'appelle [Prénom NOM]…' — identité claire dès les premières secondes.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011680"/>
            <a:ext cx="1005840" cy="804672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2176272"/>
            <a:ext cx="9692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RÈGLE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98448" y="2011680"/>
            <a:ext cx="3108960" cy="804672"/>
          </a:xfrm>
          <a:prstGeom prst="rect">
            <a:avLst/>
          </a:prstGeom>
          <a:solidFill>
            <a:srgbClr val="F0F7F7"/>
          </a:solidFill>
          <a:ln w="10160">
            <a:solidFill>
              <a:srgbClr val="0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9888" y="2194560"/>
            <a:ext cx="29443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Nommer l'organisation représentée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5696" y="2011680"/>
            <a:ext cx="7488936" cy="80467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2103120"/>
            <a:ext cx="7296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'…je vous appelle au nom de l'UNICEF France…' — le prospect sait immédiatement qui appelle.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852928"/>
            <a:ext cx="1005840" cy="804672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3017520"/>
            <a:ext cx="9692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RÈGLE 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98448" y="2852928"/>
            <a:ext cx="3108960" cy="804672"/>
          </a:xfrm>
          <a:prstGeom prst="rect">
            <a:avLst/>
          </a:prstGeom>
          <a:solidFill>
            <a:srgbClr val="F0F7F7"/>
          </a:solidFill>
          <a:ln w="10160">
            <a:solidFill>
              <a:srgbClr val="0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89888" y="3035808"/>
            <a:ext cx="29443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Annoncer la raison de l'appel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5696" y="2852928"/>
            <a:ext cx="7488936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35424" y="2944368"/>
            <a:ext cx="7296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'…pour vous parler d'une initiative importante pour les enfants…' — clarté totale sur l'objet de l'appel.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694176"/>
            <a:ext cx="1005840" cy="804672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" y="3858768"/>
            <a:ext cx="9692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RÈGLE 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98448" y="3694176"/>
            <a:ext cx="3108960" cy="804672"/>
          </a:xfrm>
          <a:prstGeom prst="rect">
            <a:avLst/>
          </a:prstGeom>
          <a:solidFill>
            <a:srgbClr val="F0F7F7"/>
          </a:solidFill>
          <a:ln w="10160">
            <a:solidFill>
              <a:srgbClr val="0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9888" y="3877056"/>
            <a:ext cx="29443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Vérifier la disponibilité du prospect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696" y="3694176"/>
            <a:ext cx="7488936" cy="804672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35424" y="3785615"/>
            <a:ext cx="7296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'Est-ce que vous avez quelques minutes ?' — respect de l'interlocuteur.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535424"/>
            <a:ext cx="1005840" cy="804672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608" y="4700016"/>
            <a:ext cx="9692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RÈGLE 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98448" y="4535424"/>
            <a:ext cx="3108960" cy="804672"/>
          </a:xfrm>
          <a:prstGeom prst="rect">
            <a:avLst/>
          </a:prstGeom>
          <a:solidFill>
            <a:srgbClr val="F0F7F7"/>
          </a:solidFill>
          <a:ln w="10160">
            <a:solidFill>
              <a:srgbClr val="0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89888" y="4718304"/>
            <a:ext cx="29443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Adopter un ton chaleureux et naturel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25696" y="4535424"/>
            <a:ext cx="7488936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5424" y="4626864"/>
            <a:ext cx="7296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Sourire audible · Débit posé · Articulation claire — le ton est aussi important que les mots.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5376672"/>
            <a:ext cx="11640312" cy="40233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79" y="5449824"/>
            <a:ext cx="11365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Un appel qui viole une de ces 5 règles est disqualifié dans la nomenclature FIDELIS.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0" y="1097280"/>
            <a:ext cx="3931920" cy="3931920"/>
          </a:xfrm>
          <a:prstGeom prst="ellipse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201168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FFFFFF"/>
                </a:solidFill>
              </a:rPr>
              <a:t>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28016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Merci à Tous 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6060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EEEE"/>
                </a:solidFill>
              </a:rPr>
              <a:t>Votre engagement fait la différence pour les enfants du monde entier.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246120"/>
            <a:ext cx="9418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DDDD"/>
                </a:solidFill>
              </a:rPr>
              <a:t>BOOK J3  ·  Journée 3  ·  Script UNICEF × FIDELIS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749039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AADDDD"/>
                </a:solidFill>
              </a:rPr>
              <a:t>« Le refus d'aujourd'hui peut être le don de demain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572000"/>
            <a:ext cx="121889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DDDD"/>
                </a:solidFill>
              </a:rPr>
              <a:t>SHY-Performance  ·  Formation FIM  ·  UNICEF France  ·  V6-01062026SHY-TE</a:t>
            </a:r>
          </a:p>
        </p:txBody>
      </p:sp>
      <p:pic>
        <p:nvPicPr>
          <p:cNvPr id="12" name="Picture 11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5120640"/>
            <a:ext cx="914400" cy="896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0" y="6035040"/>
            <a:ext cx="121889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