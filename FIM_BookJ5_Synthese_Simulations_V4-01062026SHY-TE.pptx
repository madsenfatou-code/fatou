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5
SYNTHÈSE GÉNÉRALE
&amp; SIMULATIONS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Révision, Simulations Terrain, Quiz 40Q &amp; Certifications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de la Journée J5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9h30 — Révision express des 5 modules (J1 → J4) : questions flash en groupe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10h00 — Simulations d'appels complets chronométrés en conditions réelles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11h00 — Pause + débriefing des simulations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11h15 — Jeux de rôle finaux : script + objection tirée au sort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13h00 — Pause déjeuner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14h00 — Quiz d'évaluation finale des connaissances (40 questions)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15h30 — Correction collective + débriefing pédagogique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16h30 — Remise des certifications de formation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17h00 — Mot de clôture + félicitations + vœux de bonne continuation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Révision Flash — J1 à J4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J1 — Fondations : KPI objectif CU/H ? → 9 minimum | Produit unique ? → PA Régulier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J1 — Nomenclature : CU / TX Transfo / PDC / PEL / PA — définitions express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J2 — Monde associatif : Loi 1901 ? | UNICEF fondé quand ? → 1946 | Nobel ? → 1965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J2 — Histoire : Bataille de Solférino → quelle année ? → 1859 | Qui ? → Henry Dunant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J3 — Script : combien d'étapes ? → 7 | Les 5 règles de l'accroche ?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J4 — AAR : que signifient les 3 lettres ? | Combien d'objections couvertes ? → 15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J4 — Objections : 5 catégories — lesquelles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Questions flash : 30 secondes par question — lever la main pour répondre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Simulations d'Appels — Règles du Jeu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Simulation NIVEAU 1 : appel standard, prospect coopératif → valider le script complet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Simulation NIVEAU 2 : appel avec 2 objections tirées au sort parmi les 15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Simulation NIVEAU 3 : appel difficile — prospect conflictuel, méfiance IBAN, dernier positionnement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Durée maximale par simulation : 5 minutes chrono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Grille d'évaluation 24 critères appliquée par le formateur sur chaque simulation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Feedback immédiat après chaque simulation : 2 points forts + 1 axe prioritaire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Chaque fundraiser passe au minimum 2 simulations complètes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d'Évaluation Finale — 24 Critères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ACCROCHE (4 pts) : naturel / règles 1-5 appliquées / identification genre / ton souriant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SCRIPT (6 pts) : malnutrition / RUTF / proposition paliers / chiffres-clés / transition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ÉCOUTE (3 pts) : silence respecté / reformulation / adaptation au profil prospect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OBJECTIONS (5 pts) : méthode AAR / argumentation / relance / calme / conviction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CLOSING (4 pts) : verrouillage / blindage / demande IBAN / prise de congé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TON GÉNÉRAL (2 pts) : chaleur / conviction / naturel tout au long de l'appel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Expert : 21-24 pts | Intermédiaire : 15-20 pts | Débutant : 8-14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Instructions Quiz 40 Questions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quiz comporte 40 questions réparties en 6 parties thématiques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A — UNICEF &amp; Cause (Q1–Q8)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B — Monde Associatif (Q9–Q15)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C — Script &amp; Accroche (Q16–Q22)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D — KPIs &amp; Nomenclature (Q23–Q28)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E — Objections &amp; AAR (Q29–Q35)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F — Closing &amp; Validation (Q36–Q40)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Durée : 45 minutes maximum | Réponse unique par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A — UNICEF &amp;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Q1–Q4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 — En quelle année l'UNICEF a-t-il été créé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 — Dans combien de pays l'UNICEF intervient-il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150 pays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175 pays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190 pays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210 pays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 — Quel est le poids d'un sachet RUTF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 grammes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72 grammes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92 grammes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110 grammes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 — Quel % des fonds collectés va directement aux programmes terrain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93%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B — Monde Associatif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Q5–Q8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Q5 — En quelle année l'UNICEF a-t-il reçu le Prix Nobel de la Paix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Q6 — Quel % des enfants du monde l'UNICEF vaccine-t-il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Q7 — RUTF signifie Ready-to-Use Therapeutic Food. Quelle est sa composition de base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Riz, eau, sel, vitamines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Pâte d'arachide, matière grasse végétale, lait écrémé, vitamines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Farine de maïs, huile, sucre, minéraux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Lait entier, beurre de cacao, protéines végétales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Q8 — De quoi n'a PAS besoin le sachet RUTF pour être consommé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D'être ouvert avant consommation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D'eau, d'électricité ni de cuisson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enfant de moins de 5 ans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stockage à température ambiante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C — Script &amp; Accroche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Q9–Q12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Q9 — Combien d'associations actives compte la France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500 000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 million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1,5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millions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Q10 — La Loi 1901 a été adoptée le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juillet 1901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14 juillet 1901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janvier 1901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mars 1901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Q11 — La bataille de Solférino a eu lieu en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1871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1889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Q12 — Qui est à l'origine de la création de la Croix-Rouge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Florence Nightingale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Jean-Henri Dunant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Louis Pasteur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Albert Schweitzer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D — KPIs &amp; Nomenclature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Q13–Q16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Q13 — Qu'est-ce que le label 'Don en Confiance'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commercial pour les boutiques caritatives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garantie que l'association est sérieuse et contrôlée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statut fiscal accordé par l'État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délivré par l'ONU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Q14 — Combien de bénévoles mobilise le secteur associatif français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millions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millions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22 millions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 millions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Q15 — Quel organisme a été créé en 1989 pour renforcer le contrôle des associations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Comité de la Charte du Don en Confiance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L'Autorité des Marchés Financiers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Direction Générale des Finances Publiques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Haut Commissariat aux Associations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Q16 — Combien d'étapes comporte le script officiel UNICEF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étapes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étapes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étapes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 étapes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E — Objections &amp; AAR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Q17–Q20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Q17 — Quelle est la 1ère règle officielle de l'accroche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Se présenter immédiatement avec son prénom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Dire 'Allô ?' et attendre la réponse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Annoncer l'enregistrement de l'appel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si la personne connaît l'UNICEF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Q18 — À quelle étape du script propose-t-on les paliers de don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2 — La Malnutrition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3 — Les Sachets RUTF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4 — L'Appel au Soutien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7 — Validation des coordonnées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Q19 — Quel montant correspond à 50 centimes d'euros par jour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Q20 — Quel est le coût réel de 15€/mois après déduction fiscale à 75%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2,50€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3,75€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7,50€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F — Closing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Q21–Q24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Q21 — En mode PA À CHAUD, que recueille-t-on auprès du donateur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carte bancaire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sécurité sociale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IBAN (série de 27 chiffres commençant par FR)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compte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Q22 — Combien de modes de validation du don existent dans le script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 modes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Q23 — Que signifie CU/H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Chiffre d'Utilité Horaire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Coût Unitaire par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Collecte Utile Hebdomadaire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Q24 — Quel est l'objectif minimum de CU/H fixé par Fidelis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CU/H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CU/H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 CU/H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CU/H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Q25–Q28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Q25 — Un appel est qualifié Contact Utile (CU) s'il dure au minimum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30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 secondes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60 secondes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90 secondes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Q26 — Que signifie TX Transfo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Transfert des fonds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Transformation des CU en dons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Taxe de Transaction en 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Temps de Traitement des formulaires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Q27 — PDC signifie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Prélèvement Direct Campagne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Projet De Collecte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Paramètre De Contact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Q28 — Quel % de la qualité Fidelis repose sur une qualification conforme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Q29–Q32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Q29 — Que signifie la méthode AAR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Argumenter, Accepter,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Accuser réception, Argumenter, Relancer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Analyser, Adapter, Répondre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Accrocher, Aborder, Résoudre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Q30 — Face à 'C'est une arnaque !', quelle est la réponse recommandée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immédiatement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Confirmer l'identité UNICEF France + proposer unicef.fr pour vérification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superviseur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d'envoyer un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Q31 — Combien d'objections le module J4 couvre-t-il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Q32 — En combien de catégories les objections sont-elles regroupées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Q33–Q36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Q33 — Face à 'Je suis sur liste Bloctel', que répondre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 et raccrocher immédiatement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Les associations à but non lucratif sont autorisées par Bloctel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de se désincrire de Bloctel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au service juridique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Q34 — Pour la méfiance IBAN, quel est l'argument principal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permet d'accéder au compte bancaire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ne permet pas d'accéder au compte — il autorise uniquement un virement SEPA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est facultatif pour valider un don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sera supprimé après le premier prélèvement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Q35 — Face à 'Je n'ai pas les moyens', quel montant peut-on proposer en dernier recours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Q36 — Le 1er prélèvement a lieu 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Immédiatement après l'accord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1er du mois suivant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10 du mois suivant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dernier jour du mois suivant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Q37–Q40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Q37 — Qu'est-ce que le 'Blindage' dans le script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technique d'enregistrement 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demande d'autorisation explicite avant de valider le prélèvement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outil de vérification anti-fraude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mise en attente du prospect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Q38 — En mode PA en ligne en direct, le fundraiser doit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les coordonnées bancaires oralement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Guider le donateur sur le site sans demander ses coordonnées bancaires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et attendre la confirmation par 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service en ligne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Q39 — La qualification 'INDÉCIS' correspond à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raccroché sans répondre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intéressé mais qui n'a pas validé son don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refusé catégoriquement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absent lors du rappel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Q40 — Que doit faire le fundraiser si un prospect dit 'Je suis sur liste rouge'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quand même le don en continuant le script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S'excuser, remonter l'info, prendre congé sans insister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confirmation écrite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à un superviseur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GRILLE FORMATEUR — Correction Quiz 40 Questions</a:t>
            </a:r>
          </a:p>
        </p:txBody>
      </p:sp>
      <p:pic>
        <p:nvPicPr>
          <p:cNvPr id="6" name="Picture 5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08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39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60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521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6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9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373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373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30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369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001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6344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6344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6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6305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2648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48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60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895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895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352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891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0525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525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2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521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156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156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613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739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373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373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830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369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004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61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001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6344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6344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6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6305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12648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12648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7220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260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5895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5895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352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891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0525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525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982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5521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5156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156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13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108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43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743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00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7739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7373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7373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7830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369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2004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004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461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Q27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70001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6344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66344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70916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Q28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6305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12648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12648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7220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6260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5895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5895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352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0891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0525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0525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982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5521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5156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5156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5613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108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743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743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200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7739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7373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7373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7830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Q34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369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2004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2004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2461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70001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6344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66344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70916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Q36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6305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12648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12648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17220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6260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5895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895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6352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Q38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0891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0525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0525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982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5521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5156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5156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5613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FÉLICITATIONS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85039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Vous avez complété avec succès la Formation Initiale Module (FIM)
Fundraiser UNICEF — SHY-Performance × FIDELIS
Votre engagement, votre sérieux et votre conviction
font de vous des fundraisers prêts à changer des vies.
Chaque appel que vous passerez contribue directement
à protéger des enfants à travers le monde.
L'équipe SHY-Performance est fière de vous.
Bonne continuation et beau terrain à toutes et à tous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