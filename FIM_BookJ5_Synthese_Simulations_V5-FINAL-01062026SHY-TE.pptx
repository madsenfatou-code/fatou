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754880" cy="4572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48640"/>
            <a:ext cx="1124321" cy="10972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1920240"/>
            <a:ext cx="3840480" cy="5029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4D4D"/>
                </a:solidFill>
                <a:latin typeface="Calibri"/>
              </a:rPr>
              <a:t>JOUR 5</a:t>
            </a:r>
          </a:p>
        </p:txBody>
      </p:sp>
      <p:sp>
        <p:nvSpPr>
          <p:cNvPr id="8" name="Rectangle 7"/>
          <p:cNvSpPr/>
          <p:nvPr/>
        </p:nvSpPr>
        <p:spPr>
          <a:xfrm>
            <a:off x="2194560" y="2560320"/>
            <a:ext cx="36576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566928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D4A017"/>
                </a:solidFill>
                <a:latin typeface="Calibri"/>
              </a:rPr>
              <a:t>SHY-Performance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98932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E5E5"/>
                </a:solidFill>
                <a:latin typeface="Calibri"/>
              </a:rPr>
              <a:t>FIDELIS × UNICEF France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914400"/>
            <a:ext cx="6858000" cy="7315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1097280"/>
            <a:ext cx="6858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04D4D"/>
                </a:solidFill>
                <a:latin typeface="Calibri"/>
              </a:rPr>
              <a:t>JOUR 5
SYNTHÈSE GÉNÉRALE
&amp; SIMULATIONS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3840480"/>
            <a:ext cx="4572000" cy="457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402336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1A1A"/>
                </a:solidFill>
                <a:latin typeface="Calibri"/>
              </a:rPr>
              <a:t>Révision, Simulations Terrain, Quiz 40Q &amp; Certifications
SHY-Performance × FIDELIS × UNICEF France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5074920"/>
            <a:ext cx="3657600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507492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Formation Initiale Module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Programme de la Journée J5</a:t>
            </a:r>
          </a:p>
        </p:txBody>
      </p:sp>
      <p:pic>
        <p:nvPicPr>
          <p:cNvPr id="8" name="Picture 7" descr="sh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1447800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01168" y="1481328"/>
            <a:ext cx="11987784" cy="476504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" y="1481328"/>
            <a:ext cx="64008" cy="47650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517904"/>
            <a:ext cx="403352" cy="40335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517904"/>
            <a:ext cx="403352" cy="40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517904"/>
            <a:ext cx="11000232" cy="40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4D4D"/>
                </a:solidFill>
                <a:latin typeface="Calibri"/>
              </a:rPr>
              <a:t>9h30  </a:t>
            </a:r>
            <a:r>
              <a:rPr sz="1300" b="0">
                <a:solidFill>
                  <a:srgbClr val="1A1A1A"/>
                </a:solidFill>
                <a:latin typeface="Calibri"/>
              </a:rPr>
              <a:t>—  Révision express des 5 modules (J1 → J4) : questions flash en groupe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1994408"/>
            <a:ext cx="11987784" cy="476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1168" y="1994408"/>
            <a:ext cx="64008" cy="47650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030984"/>
            <a:ext cx="403352" cy="40335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030984"/>
            <a:ext cx="403352" cy="40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030984"/>
            <a:ext cx="11000232" cy="40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4D4D"/>
                </a:solidFill>
                <a:latin typeface="Calibri"/>
              </a:rPr>
              <a:t>10h00  </a:t>
            </a:r>
            <a:r>
              <a:rPr sz="1300" b="0">
                <a:solidFill>
                  <a:srgbClr val="1A1A1A"/>
                </a:solidFill>
                <a:latin typeface="Calibri"/>
              </a:rPr>
              <a:t>—  Simulations d'appels complets chronométrés en conditions réelles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" y="2507488"/>
            <a:ext cx="11987784" cy="476504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1168" y="2507488"/>
            <a:ext cx="64008" cy="47650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2544064"/>
            <a:ext cx="403352" cy="40335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2544064"/>
            <a:ext cx="403352" cy="40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2544064"/>
            <a:ext cx="11000232" cy="40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4D4D"/>
                </a:solidFill>
                <a:latin typeface="Calibri"/>
              </a:rPr>
              <a:t>11h00  </a:t>
            </a:r>
            <a:r>
              <a:rPr sz="1300" b="0">
                <a:solidFill>
                  <a:srgbClr val="1A1A1A"/>
                </a:solidFill>
                <a:latin typeface="Calibri"/>
              </a:rPr>
              <a:t>—  Pause + débriefing des simulations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" y="3020568"/>
            <a:ext cx="11987784" cy="476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1168" y="3020568"/>
            <a:ext cx="64008" cy="47650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3057144"/>
            <a:ext cx="403352" cy="40335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3057144"/>
            <a:ext cx="403352" cy="40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057144"/>
            <a:ext cx="11000232" cy="40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4D4D"/>
                </a:solidFill>
                <a:latin typeface="Calibri"/>
              </a:rPr>
              <a:t>11h15  </a:t>
            </a:r>
            <a:r>
              <a:rPr sz="1300" b="0">
                <a:solidFill>
                  <a:srgbClr val="1A1A1A"/>
                </a:solidFill>
                <a:latin typeface="Calibri"/>
              </a:rPr>
              <a:t>—  Jeux de rôle finaux : script + objection tirée au sort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" y="3533648"/>
            <a:ext cx="11987784" cy="476504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01168" y="3533648"/>
            <a:ext cx="64008" cy="47650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3570224"/>
            <a:ext cx="403352" cy="40335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3570224"/>
            <a:ext cx="403352" cy="40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3570224"/>
            <a:ext cx="11000232" cy="40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4D4D"/>
                </a:solidFill>
                <a:latin typeface="Calibri"/>
              </a:rPr>
              <a:t>13h00  </a:t>
            </a:r>
            <a:r>
              <a:rPr sz="1300" b="0">
                <a:solidFill>
                  <a:srgbClr val="1A1A1A"/>
                </a:solidFill>
                <a:latin typeface="Calibri"/>
              </a:rPr>
              <a:t>—  Pause déjeuner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1168" y="4046728"/>
            <a:ext cx="11987784" cy="476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01168" y="4046728"/>
            <a:ext cx="64008" cy="47650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4083304"/>
            <a:ext cx="403352" cy="40335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4083304"/>
            <a:ext cx="403352" cy="40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4083304"/>
            <a:ext cx="11000232" cy="40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4D4D"/>
                </a:solidFill>
                <a:latin typeface="Calibri"/>
              </a:rPr>
              <a:t>14h00  </a:t>
            </a:r>
            <a:r>
              <a:rPr sz="1300" b="0">
                <a:solidFill>
                  <a:srgbClr val="1A1A1A"/>
                </a:solidFill>
                <a:latin typeface="Calibri"/>
              </a:rPr>
              <a:t>—  Quiz d'évaluation finale des connaissances (40 questions)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1168" y="4559808"/>
            <a:ext cx="11987784" cy="476504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01168" y="4559808"/>
            <a:ext cx="64008" cy="47650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0040" y="4596384"/>
            <a:ext cx="403352" cy="40335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4596384"/>
            <a:ext cx="403352" cy="40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" y="4596384"/>
            <a:ext cx="11000232" cy="40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4D4D"/>
                </a:solidFill>
                <a:latin typeface="Calibri"/>
              </a:rPr>
              <a:t>15h30  </a:t>
            </a:r>
            <a:r>
              <a:rPr sz="1300" b="0">
                <a:solidFill>
                  <a:srgbClr val="1A1A1A"/>
                </a:solidFill>
                <a:latin typeface="Calibri"/>
              </a:rPr>
              <a:t>—  Correction collective + débriefing pédagogique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01168" y="5072888"/>
            <a:ext cx="11987784" cy="476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01168" y="5072888"/>
            <a:ext cx="64008" cy="47650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20040" y="5109464"/>
            <a:ext cx="403352" cy="40335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0040" y="5109464"/>
            <a:ext cx="403352" cy="40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0120" y="5109464"/>
            <a:ext cx="11000232" cy="40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4D4D"/>
                </a:solidFill>
                <a:latin typeface="Calibri"/>
              </a:rPr>
              <a:t>16h30  </a:t>
            </a:r>
            <a:r>
              <a:rPr sz="1300" b="0">
                <a:solidFill>
                  <a:srgbClr val="1A1A1A"/>
                </a:solidFill>
                <a:latin typeface="Calibri"/>
              </a:rPr>
              <a:t>—  Remise des certifications de formation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01168" y="5585968"/>
            <a:ext cx="11987784" cy="476504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01168" y="5585968"/>
            <a:ext cx="64008" cy="47650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20040" y="5622544"/>
            <a:ext cx="403352" cy="40335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20040" y="5622544"/>
            <a:ext cx="403352" cy="40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0120" y="5622544"/>
            <a:ext cx="11000232" cy="40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4D4D"/>
                </a:solidFill>
                <a:latin typeface="Calibri"/>
              </a:rPr>
              <a:t>17h00  </a:t>
            </a:r>
            <a:r>
              <a:rPr sz="1300" b="0">
                <a:solidFill>
                  <a:srgbClr val="1A1A1A"/>
                </a:solidFill>
                <a:latin typeface="Calibri"/>
              </a:rPr>
              <a:t>—  Mot de clôture + félicitations + vœux de bonne continuation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Révision Flash — J1 à J4</a:t>
            </a:r>
          </a:p>
        </p:txBody>
      </p:sp>
      <p:pic>
        <p:nvPicPr>
          <p:cNvPr id="8" name="Picture 7" descr="sh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1447800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01168" y="1481328"/>
            <a:ext cx="11987784" cy="53818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" y="1481328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517904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517904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517904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J1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Fondations : KPI objectif CU/H ? → 9 minimum | Produit unique ? → PA Régulier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2056093"/>
            <a:ext cx="11987784" cy="5381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1168" y="2056093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092669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092669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092669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J1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Nomenclature : CU / TX Transfo / PDC / PEL / PA — définitions express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" y="2630859"/>
            <a:ext cx="11987784" cy="53818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1168" y="2630859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2667435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2667435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2667435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J2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Monde associatif : Loi 1901 ? | UNICEF fondé quand ? → 1946 | Nobel ? → 1965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" y="3205625"/>
            <a:ext cx="11987784" cy="5381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1168" y="3205625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3242201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3242201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242201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J2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Histoire : Bataille de Solférino → quelle année ? → 1859 | Qui ? → Henry Dunant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" y="3780390"/>
            <a:ext cx="11987784" cy="53818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01168" y="3780390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3816966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3816966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3816966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J3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Script : combien d'étapes ? → 7 | Les 5 règles de l'accroche 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1168" y="4355156"/>
            <a:ext cx="11987784" cy="5381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01168" y="4355156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4391732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4391732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4391732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J4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AAR : que signifient les 3 lettres ? | Combien d'objections couvertes ? → 15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1168" y="4929922"/>
            <a:ext cx="11987784" cy="53818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01168" y="4929922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0040" y="4966498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4966498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" y="4966498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J4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Objections : 5 catégories — lesquelles ?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01168" y="5614416"/>
            <a:ext cx="11987784" cy="539496"/>
          </a:xfrm>
          <a:prstGeom prst="rect">
            <a:avLst/>
          </a:prstGeom>
          <a:solidFill>
            <a:srgbClr val="FFF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01168" y="5614416"/>
            <a:ext cx="164592" cy="53949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5669280"/>
            <a:ext cx="11457432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4D4D"/>
                </a:solidFill>
                <a:latin typeface="Calibri"/>
              </a:rPr>
              <a:t>💡  Questions flash : 30 secondes par question — lever la main pour répondre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Simulations d'Appels — Règles du Jeu</a:t>
            </a:r>
          </a:p>
        </p:txBody>
      </p:sp>
      <p:pic>
        <p:nvPicPr>
          <p:cNvPr id="8" name="Picture 7" descr="sh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1447800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01168" y="1481328"/>
            <a:ext cx="11987784" cy="623098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" y="1481328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541417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541417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517904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Simulation NIVEAU 1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appel standard, prospect coopératif → valider le script complet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2141002"/>
            <a:ext cx="11987784" cy="6230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1168" y="2141002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201091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201091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177578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Simulation NIVEAU 2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appel avec 2 objections tirées au sort parmi les 15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" y="2800676"/>
            <a:ext cx="11987784" cy="623098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1168" y="2800676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2860765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2860765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2837252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Simulation NIVEAU 3 : appel difficile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prospect conflictuel, méfiance IBAN, dernier positionnement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" y="3460350"/>
            <a:ext cx="11987784" cy="6230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1168" y="3460350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352044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35204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496926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Durée maximale par simulation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5 minutes chrono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" y="4120025"/>
            <a:ext cx="11987784" cy="623098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01168" y="4120025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4180114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418011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4156601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Grille d'évaluation 24 critères appliquée par le formateur sur chaque simulation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1168" y="4779699"/>
            <a:ext cx="11987784" cy="6230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01168" y="4779699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4839788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483978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4816275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Feedback immédiat après chaque simulation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2 points forts + 1 axe prioritaire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1168" y="5439373"/>
            <a:ext cx="11987784" cy="623098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01168" y="5439373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0040" y="5499462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549946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" y="5475949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Chaque fundraiser passe au minimum 2 simulations complètes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Grille d'Évaluation Finale — 24 Critères</a:t>
            </a:r>
          </a:p>
        </p:txBody>
      </p:sp>
      <p:pic>
        <p:nvPicPr>
          <p:cNvPr id="8" name="Picture 7" descr="sh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1447800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01168" y="1481328"/>
            <a:ext cx="11987784" cy="623098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" y="1481328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541417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541417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517904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ACCROCHE (4 pts)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naturel / règles 1-5 appliquées / identification genre / ton souriant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2141002"/>
            <a:ext cx="11987784" cy="6230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1168" y="2141002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201091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201091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177578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SCRIPT (6 pts)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malnutrition / RUTF / proposition paliers / chiffres-clés / transition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" y="2800676"/>
            <a:ext cx="11987784" cy="623098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1168" y="2800676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2860765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2860765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2837252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ÉCOUTE (3 pts)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silence respecté / reformulation / adaptation au profil prospect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" y="3460350"/>
            <a:ext cx="11987784" cy="6230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1168" y="3460350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352044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35204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496926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OBJECTIONS (5 pts)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méthode AAR / argumentation / relance / calme / conviction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" y="4120025"/>
            <a:ext cx="11987784" cy="623098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01168" y="4120025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4180114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418011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4156601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CLOSING (4 pts)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verrouillage / blindage / demande IBAN / prise de congé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1168" y="4779699"/>
            <a:ext cx="11987784" cy="6230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01168" y="4779699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4839788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483978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4816275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TON GÉNÉRAL (2 pts)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chaleur / conviction / naturel tout au long de l'appel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1168" y="5439373"/>
            <a:ext cx="11987784" cy="623098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01168" y="5439373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0040" y="5499462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549946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" y="5475949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Expert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21-24 pts | Intermédiaire : 15-20 pts | Débutant : 8-14 pts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5720"/>
            <a:ext cx="1164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★  RÈGLE D'OR  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RÈGLE D'OR — Instructions Quiz 40 Questions</a:t>
            </a:r>
          </a:p>
        </p:txBody>
      </p:sp>
      <p:pic>
        <p:nvPicPr>
          <p:cNvPr id="7" name="Picture 6" descr="sh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1447800" cy="640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46304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Le quiz comporte 40 questions réparties en 6 parties thématiques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PARTIE A — UNICEF &amp; Cause (Q1–Q8)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PARTIE B — Monde Associatif (Q9–Q15)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PARTIE C — Script &amp; Accroche (Q16–Q22)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PARTIE D — KPIs &amp; Nomenclature (Q23–Q28)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PARTIE E — Objections &amp; AAR (Q29–Q35)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PARTIE F — Closing &amp; Validation (Q36–Q40)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Durée : 45 minutes maximum | Réponse unique par question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QUIZ FIM — Partie A — UNICEF &amp; Cause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914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Q1–Q4  |  Nom : ________________________</a:t>
            </a:r>
          </a:p>
        </p:txBody>
      </p:sp>
      <p:pic>
        <p:nvPicPr>
          <p:cNvPr id="7" name="Picture 6" descr="sh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1447800" cy="6400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74320" y="96012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99669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Q1 — En quelle année l'UNICEF a-t-il été créé ?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50876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53619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153619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154533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1939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06654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4048" y="209397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209397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210312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1946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62432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4048" y="265176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26517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266090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1956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18211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4048" y="320954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" y="320954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321868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1963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96012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99669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Q2 — Dans combien de pays l'UNICEF intervient-il 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150876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73368" y="153619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73368" y="153619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0568" y="154533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150 pays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5080" y="206654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73368" y="209397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73368" y="209397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30568" y="210312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175 pays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5080" y="262432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73368" y="265176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73368" y="26517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30568" y="266090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190 pays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5080" y="318211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73368" y="320954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73368" y="320954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30568" y="321868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210 pays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379476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383133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Q3 — Quel est le poids d'un sachet RUTF 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434340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84048" y="437083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84048" y="437083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" y="437997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50 grammes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490118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84048" y="492861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84048" y="492861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1248" y="493776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72 grammes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545896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84048" y="548640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84048" y="548640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1248" y="549554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92 grammes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601675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84048" y="604418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84048" y="604418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1248" y="605332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110 grammes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263640" y="379476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55080" y="383133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Q4 — Quel % des fonds collectés va directement aux programmes terrain ?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355080" y="434340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373368" y="437083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73368" y="437083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30568" y="437997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75%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55080" y="490118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373368" y="492861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373368" y="492861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30568" y="493776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85%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355080" y="545896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373368" y="548640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373368" y="548640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30568" y="549554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93%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55080" y="601675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373368" y="604418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373368" y="604418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30568" y="605332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100%</a:t>
            </a:r>
          </a:p>
        </p:txBody>
      </p:sp>
      <p:sp>
        <p:nvSpPr>
          <p:cNvPr id="80" name="Rectangle 79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74320" y="6199632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SHY-Performance  ×  FIDELIS  ×  UNICEF France — Quiz FIM 40 Questions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QUIZ FIM — Partie B — Monde Associatif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914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Q5–Q8  |  Nom : ________________________</a:t>
            </a:r>
          </a:p>
        </p:txBody>
      </p:sp>
      <p:pic>
        <p:nvPicPr>
          <p:cNvPr id="7" name="Picture 6" descr="sh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1447800" cy="6400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74320" y="96012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99669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Q5 — En quelle année l'UNICEF a-t-il reçu le Prix Nobel de la Paix ?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50876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53619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153619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154533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1955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06654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4048" y="209397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209397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210312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1965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62432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4048" y="265176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26517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266090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1975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18211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4048" y="320954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" y="320954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321868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1985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96012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99669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Q6 — Quel % des enfants du monde l'UNICEF vaccine-t-il 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150876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73368" y="153619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73368" y="153619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0568" y="154533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25%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5080" y="206654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73368" y="209397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73368" y="209397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30568" y="210312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35%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5080" y="262432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73368" y="265176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73368" y="26517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30568" y="266090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45%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5080" y="318211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73368" y="320954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73368" y="320954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30568" y="321868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55%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379476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383133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Q7 — RUTF signifie Ready-to-Use Therapeutic Food. Quelle est sa composition de base 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434340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84048" y="437083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84048" y="437083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" y="437997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Riz, eau, sel, vitamines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490118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84048" y="492861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84048" y="492861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1248" y="493776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Pâte d'arachide, matière grasse végétale, lait écrémé, vitamines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545896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84048" y="548640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84048" y="548640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1248" y="549554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Farine de maïs, huile, sucre, minéraux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601675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84048" y="604418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84048" y="604418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1248" y="605332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Lait entier, beurre de cacao, protéines végétales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263640" y="379476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55080" y="383133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Q8 — De quoi n'a PAS besoin le sachet RUTF pour être consommé ?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355080" y="434340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373368" y="437083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73368" y="437083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30568" y="437997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D'être ouvert avant consommation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55080" y="490118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373368" y="492861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373368" y="492861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30568" y="493776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D'eau, d'électricité ni de cuisson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355080" y="545896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373368" y="548640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373368" y="548640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30568" y="549554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D'un enfant de moins de 5 ans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55080" y="601675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373368" y="604418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373368" y="604418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30568" y="605332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D'un stockage à température ambiante</a:t>
            </a:r>
          </a:p>
        </p:txBody>
      </p:sp>
      <p:sp>
        <p:nvSpPr>
          <p:cNvPr id="80" name="Rectangle 79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74320" y="6199632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SHY-Performance  ×  FIDELIS  ×  UNICEF France — Quiz FIM 40 Questions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QUIZ FIM — Partie C — Script &amp; Accroche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914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Q9–Q12  |  Nom : ________________________</a:t>
            </a:r>
          </a:p>
        </p:txBody>
      </p:sp>
      <p:pic>
        <p:nvPicPr>
          <p:cNvPr id="7" name="Picture 6" descr="sh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1447800" cy="6400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74320" y="96012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99669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Q9 — Combien d'associations actives compte la France ?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50876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53619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153619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154533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500 000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06654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4048" y="209397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209397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210312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 million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62432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4048" y="265176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26517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266090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1,5 million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18211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4048" y="320954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" y="320954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321868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2 millions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96012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99669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Q10 — La Loi 1901 a été adoptée le :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150876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73368" y="153619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73368" y="153619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0568" y="154533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1er juillet 1901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5080" y="206654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73368" y="209397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73368" y="209397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30568" y="210312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14 juillet 1901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5080" y="262432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73368" y="265176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73368" y="26517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30568" y="266090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1er janvier 1901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5080" y="318211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73368" y="320954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73368" y="320954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30568" y="321868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1er mars 1901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379476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383133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Q11 — La bataille de Solférino a eu lieu en :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434340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84048" y="437083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84048" y="437083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" y="437997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1845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490118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84048" y="492861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84048" y="492861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1248" y="493776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1859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545896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84048" y="548640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84048" y="548640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1248" y="549554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1871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601675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84048" y="604418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84048" y="604418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1248" y="605332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1889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263640" y="379476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55080" y="383133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Q12 — Qui est à l'origine de la création de la Croix-Rouge ?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355080" y="434340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373368" y="437083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73368" y="437083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30568" y="437997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Florence Nightingale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55080" y="490118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373368" y="492861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373368" y="492861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30568" y="493776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Jean-Henri Dunant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355080" y="545896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373368" y="548640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373368" y="548640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30568" y="549554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Louis Pasteur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55080" y="601675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373368" y="604418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373368" y="604418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30568" y="605332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Albert Schweitzer</a:t>
            </a:r>
          </a:p>
        </p:txBody>
      </p:sp>
      <p:sp>
        <p:nvSpPr>
          <p:cNvPr id="80" name="Rectangle 79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74320" y="6199632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SHY-Performance  ×  FIDELIS  ×  UNICEF France — Quiz FIM 40 Questions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QUIZ FIM — Partie D — KPIs &amp; Nomenclature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914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Q13–Q16  |  Nom : ________________________</a:t>
            </a:r>
          </a:p>
        </p:txBody>
      </p:sp>
      <p:pic>
        <p:nvPicPr>
          <p:cNvPr id="7" name="Picture 6" descr="sh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1447800" cy="6400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74320" y="96012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99669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Q13 — Qu'est-ce que le label 'Don en Confiance' ?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50876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53619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153619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154533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Un label commercial pour les boutiques caritatives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06654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4048" y="209397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209397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210312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Une garantie que l'association est sérieuse et contrôlée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62432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4048" y="265176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26517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266090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Un statut fiscal accordé par l'État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18211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4048" y="320954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" y="320954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321868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Un label délivré par l'ONU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96012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99669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Q14 — Combien de bénévoles mobilise le secteur associatif français 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150876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73368" y="153619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73368" y="153619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0568" y="154533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5 millions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5080" y="206654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73368" y="209397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73368" y="209397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30568" y="210312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12 millions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5080" y="262432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73368" y="265176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73368" y="26517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30568" y="266090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22 millions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5080" y="318211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73368" y="320954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73368" y="320954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30568" y="321868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35 millions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379476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383133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Q15 — Quel organisme a été créé en 1989 pour renforcer le contrôle des associations 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434340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84048" y="437083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84048" y="437083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" y="437997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Le Comité de la Charte du Don en Confiance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490118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84048" y="492861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84048" y="492861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1248" y="493776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L'Autorité des Marchés Financiers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545896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84048" y="548640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84048" y="548640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1248" y="549554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La Direction Générale des Finances Publiques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601675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84048" y="604418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84048" y="604418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1248" y="605332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Le Haut Commissariat aux Associations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263640" y="379476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55080" y="383133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Q16 — Combien d'étapes comporte le script officiel UNICEF ?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355080" y="434340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373368" y="437083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73368" y="437083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30568" y="437997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5 étapes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55080" y="490118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373368" y="492861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373368" y="492861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30568" y="493776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6 étapes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355080" y="545896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373368" y="548640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373368" y="548640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30568" y="549554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7 étapes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55080" y="601675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373368" y="604418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373368" y="604418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30568" y="605332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8 étapes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74320" y="6199632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SHY-Performance  ×  FIDELIS  ×  UNICEF France — Quiz FIM 40 Questions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QUIZ FIM — Partie E — Objections &amp; AAR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914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Q17–Q20  |  Nom : ________________________</a:t>
            </a:r>
          </a:p>
        </p:txBody>
      </p:sp>
      <p:pic>
        <p:nvPicPr>
          <p:cNvPr id="7" name="Picture 6" descr="sh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1447800" cy="6400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74320" y="96012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99669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Q17 — Quelle est la 1ère règle officielle de l'accroche ?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50876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53619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153619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154533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Se présenter immédiatement avec son prénom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06654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4048" y="209397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209397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210312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Dire 'Allô ?' et attendre la réponse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62432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4048" y="265176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26517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266090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Annoncer l'enregistrement de l'appel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18211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4048" y="320954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" y="320954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321868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Demander si la personne connaît l'UNICEF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96012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99669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Q18 — À quelle étape du script propose-t-on les paliers de don 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150876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73368" y="153619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73368" y="153619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0568" y="154533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Étape 2 — La Malnutrition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5080" y="206654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73368" y="209397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73368" y="209397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30568" y="210312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Étape 3 — Les Sachets RUTF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5080" y="262432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73368" y="265176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73368" y="26517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30568" y="266090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Étape 4 — L'Appel au Soutien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5080" y="318211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73368" y="320954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73368" y="320954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30568" y="321868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Étape 7 — Validation des coordonnées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379476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383133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Q19 — Quel montant correspond à 50 centimes d'euros par jour 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434340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84048" y="437083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84048" y="437083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" y="437997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10€/mois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490118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84048" y="492861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84048" y="492861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1248" y="493776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12€/mois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545896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84048" y="548640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84048" y="548640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1248" y="549554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15€/mois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601675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84048" y="604418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84048" y="604418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1248" y="605332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20€/mois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263640" y="379476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55080" y="383133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Q20 — Quel est le coût réel de 15€/mois après déduction fiscale à 75% ?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355080" y="434340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373368" y="437083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73368" y="437083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30568" y="437997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2,50€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55080" y="490118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373368" y="492861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373368" y="492861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30568" y="493776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3,75€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355080" y="545896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373368" y="548640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373368" y="548640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30568" y="549554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5€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55080" y="601675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373368" y="604418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373368" y="604418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30568" y="605332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7,50€</a:t>
            </a:r>
          </a:p>
        </p:txBody>
      </p:sp>
      <p:sp>
        <p:nvSpPr>
          <p:cNvPr id="80" name="Rectangle 79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74320" y="6199632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SHY-Performance  ×  FIDELIS  ×  UNICEF France — Quiz FIM 40 Questions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QUIZ FIM — Partie F — Closing &amp;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914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Q21–Q24  |  Nom : ________________________</a:t>
            </a:r>
          </a:p>
        </p:txBody>
      </p:sp>
      <p:pic>
        <p:nvPicPr>
          <p:cNvPr id="7" name="Picture 6" descr="sh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1447800" cy="6400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74320" y="96012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99669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Q21 — En mode PA À CHAUD, que recueille-t-on auprès du donateur ?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50876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53619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153619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154533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Son numéro de carte bancaire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06654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4048" y="209397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209397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210312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Son numéro de sécurité sociale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62432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4048" y="265176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26517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266090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Son IBAN (série de 27 chiffres commençant par FR)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18211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4048" y="320954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" y="320954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321868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Son numéro de compte client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96012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99669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Q22 — Combien de modes de validation du don existent dans le script 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150876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73368" y="153619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73368" y="153619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0568" y="154533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2 modes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5080" y="206654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73368" y="209397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73368" y="209397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30568" y="210312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3 modes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5080" y="262432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73368" y="265176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73368" y="26517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30568" y="266090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4 modes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5080" y="318211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73368" y="320954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73368" y="320954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30568" y="321868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5 modes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379476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383133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Q23 — Que signifie CU/H 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434340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84048" y="437083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84048" y="437083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" y="437997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Chiffre d'Utilité Horaire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490118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84048" y="492861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84048" y="492861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1248" y="493776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Contacts Utiles par Heure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545896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84048" y="548640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84048" y="548640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1248" y="549554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Coût Unitaire par Heure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601675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84048" y="604418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84048" y="604418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1248" y="605332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Collecte Utile Hebdomadaire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263640" y="379476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55080" y="383133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Q24 — Quel est l'objectif minimum de CU/H fixé par Fidelis ?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355080" y="434340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373368" y="437083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73368" y="437083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30568" y="437997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6 CU/H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55080" y="490118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373368" y="492861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373368" y="492861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30568" y="493776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7 CU/H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355080" y="545896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373368" y="548640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373368" y="548640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30568" y="549554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9 CU/H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55080" y="601675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373368" y="604418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373368" y="604418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30568" y="605332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12 CU/H</a:t>
            </a:r>
          </a:p>
        </p:txBody>
      </p:sp>
      <p:sp>
        <p:nvSpPr>
          <p:cNvPr id="80" name="Rectangle 79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74320" y="6199632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SHY-Performance  ×  FIDELIS  ×  UNICEF France — Quiz FIM 40 Questions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QUIZ FIM — Partie 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914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Q25–Q28  |  Nom : ________________________</a:t>
            </a:r>
          </a:p>
        </p:txBody>
      </p:sp>
      <p:pic>
        <p:nvPicPr>
          <p:cNvPr id="7" name="Picture 6" descr="sh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1447800" cy="6400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74320" y="96012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99669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Q25 — Un appel est qualifié Contact Utile (CU) s'il dure au minimum :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50876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53619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153619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154533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30 secondes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06654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4048" y="209397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209397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210312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45 secondes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62432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4048" y="265176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26517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266090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60 secondes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18211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4048" y="320954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" y="320954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321868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90 secondes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96012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99669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Q26 — Que signifie TX Transfo 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150876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73368" y="153619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73368" y="153619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0568" y="154533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Taux de Transfert des fonds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5080" y="206654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73368" y="209397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73368" y="209397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30568" y="210312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Taux de Transformation des CU en dons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5080" y="262432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73368" y="265176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73368" y="26517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30568" y="266090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Taxe de Transaction en ligne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5080" y="318211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73368" y="320954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73368" y="320954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30568" y="321868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Temps de Traitement des formulaires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379476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383133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Q27 — PDC signifie :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434340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84048" y="437083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84048" y="437083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" y="437997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Prélèvement Direct Campagne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490118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84048" y="492861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84048" y="492861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1248" y="493776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Projet De Collecte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545896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84048" y="548640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84048" y="548640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1248" y="549554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Plan de Charge mensuel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601675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84048" y="604418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84048" y="604418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1248" y="605332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Paramètre De Contact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263640" y="379476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55080" y="383133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Q28 — Quel % de la qualité Fidelis repose sur une qualification conforme ?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355080" y="434340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373368" y="437083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73368" y="437083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30568" y="437997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25%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55080" y="490118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373368" y="492861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373368" y="492861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30568" y="493776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35%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355080" y="545896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373368" y="548640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373368" y="548640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30568" y="549554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50%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55080" y="601675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373368" y="604418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373368" y="604418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30568" y="605332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75%</a:t>
            </a:r>
          </a:p>
        </p:txBody>
      </p:sp>
      <p:sp>
        <p:nvSpPr>
          <p:cNvPr id="80" name="Rectangle 79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74320" y="6199632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SHY-Performance  ×  FIDELIS  ×  UNICEF France — Quiz FIM 40 Questions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QUIZ FIM — Partie 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914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Q29–Q32  |  Nom : ________________________</a:t>
            </a:r>
          </a:p>
        </p:txBody>
      </p:sp>
      <p:pic>
        <p:nvPicPr>
          <p:cNvPr id="7" name="Picture 6" descr="sh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1447800" cy="6400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74320" y="96012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99669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Q29 — Que signifie la méthode AAR ?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50876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53619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153619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154533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Argumenter, Accepter, Relancer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06654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4048" y="209397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209397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210312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Accuser réception, Argumenter, Relancer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62432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4048" y="265176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26517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266090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Analyser, Adapter, Répondre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18211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4048" y="320954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" y="320954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321868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Accrocher, Aborder, Résoudre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96012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99669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Q30 — Face à 'C'est une arnaque !', quelle est la réponse recommandée 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150876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73368" y="153619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73368" y="153619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0568" y="154533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Raccrocher immédiatement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5080" y="206654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73368" y="209397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73368" y="209397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30568" y="210312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Confirmer l'identité UNICEF France + proposer unicef.fr pour vérification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5080" y="262432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73368" y="265176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73368" y="26517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30568" y="266090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Transférer l'appel au superviseur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5080" y="318211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73368" y="320954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73368" y="320954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30568" y="321868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Proposer d'envoyer un courrier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379476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383133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Q31 — Combien d'objections le module J4 couvre-t-il 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434340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84048" y="437083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84048" y="437083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" y="437997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8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490118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84048" y="492861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84048" y="492861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1248" y="493776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545896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84048" y="548640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84048" y="548640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1248" y="549554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12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601675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84048" y="604418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84048" y="604418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1248" y="605332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15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263640" y="379476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55080" y="383133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Q32 — En combien de catégories les objections sont-elles regroupées ?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355080" y="434340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373368" y="437083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73368" y="437083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30568" y="437997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3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55080" y="490118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373368" y="492861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373368" y="492861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30568" y="493776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4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355080" y="545896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373368" y="548640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373368" y="548640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30568" y="549554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5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55080" y="601675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373368" y="604418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373368" y="604418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30568" y="605332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6</a:t>
            </a:r>
          </a:p>
        </p:txBody>
      </p:sp>
      <p:sp>
        <p:nvSpPr>
          <p:cNvPr id="80" name="Rectangle 79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74320" y="6199632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SHY-Performance  ×  FIDELIS  ×  UNICEF France — Quiz FIM 40 Questions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QUIZ FIM — Partie 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914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Q33–Q36  |  Nom : ________________________</a:t>
            </a:r>
          </a:p>
        </p:txBody>
      </p:sp>
      <p:pic>
        <p:nvPicPr>
          <p:cNvPr id="7" name="Picture 6" descr="sh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1447800" cy="6400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74320" y="96012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99669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Q33 — Face à 'Je suis sur liste Bloctel', que répondre ?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50876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53619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153619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154533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S'excuser et raccrocher immédiatement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06654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4048" y="209397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209397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210312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Les associations à but non lucratif sont autorisées par Bloctel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62432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4048" y="265176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26517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266090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Demander de se désincrire de Bloctel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18211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4048" y="320954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" y="320954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321868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Transférer au service juridique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96012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99669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Q34 — Pour la méfiance IBAN, quel est l'argument principal 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150876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73368" y="153619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73368" y="153619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0568" y="154533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L'IBAN permet d'accéder au compte bancaire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5080" y="206654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73368" y="209397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73368" y="209397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30568" y="210312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L'IBAN ne permet pas d'accéder au compte — il autorise uniquement un virement SEPA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5080" y="262432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73368" y="265176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73368" y="26517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30568" y="266090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L'IBAN est facultatif pour valider un don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5080" y="318211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73368" y="320954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73368" y="320954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30568" y="321868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L'IBAN sera supprimé après le premier prélèvement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379476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383133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Q35 — Face à 'Je n'ai pas les moyens', quel montant peut-on proposer en dernier recours 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434340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84048" y="437083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84048" y="437083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" y="437997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5€/mois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490118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84048" y="492861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84048" y="492861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1248" y="493776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6€/mois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545896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84048" y="548640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84048" y="548640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1248" y="549554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8€/mois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601675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84048" y="604418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84048" y="604418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1248" y="605332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10€/mois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263640" y="379476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55080" y="383133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Q36 — Le 1er prélèvement a lieu :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355080" y="434340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373368" y="437083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73368" y="437083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30568" y="437997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Immédiatement après l'accord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55080" y="490118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373368" y="492861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373368" y="492861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30568" y="493776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Le 1er du mois suivant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355080" y="545896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373368" y="548640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373368" y="548640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30568" y="549554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Le 10 du mois suivant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55080" y="601675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373368" y="604418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373368" y="604418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30568" y="605332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Le dernier jour du mois suivant</a:t>
            </a:r>
          </a:p>
        </p:txBody>
      </p:sp>
      <p:sp>
        <p:nvSpPr>
          <p:cNvPr id="80" name="Rectangle 79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74320" y="6199632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SHY-Performance  ×  FIDELIS  ×  UNICEF France — Quiz FIM 40 Questions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QUIZ FIM — Partie J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914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Q37–Q40  |  Nom : ________________________</a:t>
            </a:r>
          </a:p>
        </p:txBody>
      </p:sp>
      <p:pic>
        <p:nvPicPr>
          <p:cNvPr id="7" name="Picture 6" descr="sh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1447800" cy="6400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74320" y="96012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99669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Q37 — Qu'est-ce que le 'Blindage' dans le script ?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50876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53619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153619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154533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Une technique d'enregistrement audio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06654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4048" y="209397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209397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210312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La demande d'autorisation explicite avant de valider le prélèvement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62432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4048" y="265176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26517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266090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Un outil de vérification anti-fraude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18211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4048" y="320954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" y="320954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321868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La mise en attente du prospect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96012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99669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Q38 — En mode PA en ligne en direct, le fundraiser doit :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150876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73368" y="153619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73368" y="153619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0568" y="154533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Demander les coordonnées bancaires oralement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5080" y="206654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73368" y="209397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73368" y="209397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30568" y="210312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Guider le donateur sur le site sans demander ses coordonnées bancaires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5080" y="262432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73368" y="265176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73368" y="26517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30568" y="266090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Raccrocher et attendre la confirmation par mail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5080" y="318211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73368" y="320954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73368" y="320954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30568" y="321868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Transférer l'appel au service en ligne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379476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383133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Q39 — La qualification 'INDÉCIS' correspond à :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434340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84048" y="437083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84048" y="437083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" y="437997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Un prospect qui a raccroché sans répondre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490118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84048" y="492861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84048" y="492861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1248" y="493776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Un prospect intéressé mais qui n'a pas validé son don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545896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84048" y="548640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84048" y="548640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1248" y="549554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Un prospect qui a refusé catégoriquement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601675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84048" y="604418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84048" y="604418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1248" y="605332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Un prospect absent lors du rappel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263640" y="379476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55080" y="383133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Q40 — Que doit faire le fundraiser si un prospect dit 'Je suis sur liste rouge' ?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355080" y="434340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373368" y="437083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73368" y="437083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30568" y="437997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Proposer quand même le don en continuant le script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55080" y="490118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373368" y="492861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373368" y="492861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30568" y="493776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S'excuser, remonter l'info, prendre congé sans insister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355080" y="545896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373368" y="548640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373368" y="548640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30568" y="549554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Demander confirmation écrite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55080" y="601675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373368" y="604418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373368" y="604418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30568" y="605332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Transférer à un superviseur</a:t>
            </a:r>
          </a:p>
        </p:txBody>
      </p:sp>
      <p:sp>
        <p:nvSpPr>
          <p:cNvPr id="80" name="Rectangle 79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74320" y="6199632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SHY-Performance  ×  FIDELIS  ×  UNICEF France — Quiz FIM 40 Questions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GRILLE FORMATEUR — Correction Quiz 40 Questions</a:t>
            </a:r>
          </a:p>
        </p:txBody>
      </p:sp>
      <p:pic>
        <p:nvPicPr>
          <p:cNvPr id="6" name="Picture 5" descr="sh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1447800" cy="6400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10896" y="113385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09728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11556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39903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39903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73936" y="113385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37360" y="109728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37360" y="109728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83080" y="111556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48840" y="139903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48840" y="139903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36976" y="113385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0" y="109728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0" y="109728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46120" y="111556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11880" y="139903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11880" y="139903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00016" y="113385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663440" y="109728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63440" y="109728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9160" y="111556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74920" y="139903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74920" y="139903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63056" y="113385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26480" y="109728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26480" y="109728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72200" y="111556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37960" y="139903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37960" y="139903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626096" y="113385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589520" y="109728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589520" y="109728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35240" y="111556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01000" y="139903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01000" y="139903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089136" y="113385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052560" y="109728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052560" y="109728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98280" y="111556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464040" y="139903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464040" y="139903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552176" y="113385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515600" y="109728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0515600" y="109728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561320" y="111556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Q8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927080" y="139903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927080" y="139903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10896" y="209397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74320" y="205740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74320" y="205740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20040" y="207568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Q9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85800" y="235915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85800" y="235915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773936" y="209397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737360" y="205740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737360" y="205740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783080" y="207568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Q10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148840" y="235915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148840" y="235915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236976" y="209397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3200400" y="205740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3200400" y="205740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246120" y="207568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Q11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611880" y="235915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611880" y="235915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700016" y="209397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663440" y="205740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663440" y="205740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709160" y="207568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Q12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074920" y="235915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074920" y="235915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163056" y="209397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126480" y="205740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126480" y="205740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172200" y="207568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Q13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537960" y="235915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537960" y="235915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626096" y="209397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589520" y="205740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589520" y="205740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635240" y="207568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Q14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001000" y="235915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001000" y="235915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91" name="Rectangle 90"/>
          <p:cNvSpPr/>
          <p:nvPr/>
        </p:nvSpPr>
        <p:spPr>
          <a:xfrm>
            <a:off x="9089136" y="209397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9052560" y="205740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9052560" y="205740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098280" y="207568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Q15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464040" y="235915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9464040" y="235915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0552176" y="209397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0515600" y="205740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10515600" y="205740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0561320" y="207568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Q16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0927080" y="235915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0927080" y="235915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310896" y="305409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274320" y="301752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274320" y="301752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320040" y="303580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Q17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85800" y="331927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85800" y="331927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1773936" y="305409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737360" y="301752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737360" y="301752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783080" y="303580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Q18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2148840" y="331927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2148840" y="331927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3236976" y="305409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3200400" y="301752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3200400" y="301752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3246120" y="303580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Q19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3611880" y="331927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3611880" y="331927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4700016" y="305409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4663440" y="301752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4663440" y="301752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4709160" y="303580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Q20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5074920" y="331927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5074920" y="331927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163056" y="305409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6126480" y="301752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6126480" y="301752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6172200" y="303580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Q21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6537960" y="331927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6537960" y="331927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7626096" y="305409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7589520" y="301752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7589520" y="301752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7635240" y="303580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Q22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8001000" y="331927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8001000" y="331927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9089136" y="305409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9052560" y="301752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9052560" y="301752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9098280" y="303580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Q23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9464040" y="331927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9464040" y="331927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10552176" y="305409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10515600" y="301752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10515600" y="301752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10561320" y="303580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Q24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10927080" y="331927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0927080" y="331927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310896" y="401421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274320" y="397764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274320" y="397764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320040" y="399592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Q25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685800" y="427939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685800" y="427939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1773936" y="401421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1737360" y="397764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1737360" y="397764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1783080" y="399592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Q26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2148840" y="427939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2148840" y="427939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3236976" y="401421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3200400" y="397764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3200400" y="397764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3246120" y="399592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Q27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3611880" y="427939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3611880" y="427939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4700016" y="401421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4663440" y="397764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4663440" y="397764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709160" y="399592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Q28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5074920" y="427939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5074920" y="427939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6163056" y="401421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6126480" y="397764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6126480" y="397764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6172200" y="399592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Q29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6537960" y="427939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6537960" y="427939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7626096" y="401421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7589520" y="397764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7589520" y="397764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7635240" y="399592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Q30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8001000" y="427939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8001000" y="427939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9089136" y="401421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9052560" y="397764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9052560" y="397764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9098280" y="399592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Q31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9464040" y="427939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9464040" y="427939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10552176" y="401421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10515600" y="397764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10515600" y="397764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10561320" y="399592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Q32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10927080" y="427939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10927080" y="427939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310896" y="497433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274320" y="493776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274320" y="493776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320040" y="495604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Q33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685800" y="523951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685800" y="523951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1773936" y="497433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1737360" y="493776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1737360" y="493776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1783080" y="495604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Q34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2148840" y="523951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2148840" y="523951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3236976" y="497433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3200400" y="493776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3200400" y="493776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3246120" y="495604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Q35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3611880" y="523951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3611880" y="523951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4700016" y="497433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4663440" y="493776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4663440" y="493776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4709160" y="495604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Q36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5074920" y="523951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5074920" y="523951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6163056" y="497433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6126480" y="493776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6126480" y="493776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6172200" y="495604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Q37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6537960" y="523951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6537960" y="523951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7626096" y="497433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7589520" y="493776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7589520" y="493776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TextBox 231"/>
          <p:cNvSpPr txBox="1"/>
          <p:nvPr/>
        </p:nvSpPr>
        <p:spPr>
          <a:xfrm>
            <a:off x="7635240" y="495604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Q38</a:t>
            </a:r>
          </a:p>
        </p:txBody>
      </p:sp>
      <p:sp>
        <p:nvSpPr>
          <p:cNvPr id="233" name="Rectangle 232"/>
          <p:cNvSpPr/>
          <p:nvPr/>
        </p:nvSpPr>
        <p:spPr>
          <a:xfrm>
            <a:off x="8001000" y="523951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TextBox 233"/>
          <p:cNvSpPr txBox="1"/>
          <p:nvPr/>
        </p:nvSpPr>
        <p:spPr>
          <a:xfrm>
            <a:off x="8001000" y="523951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235" name="Rectangle 234"/>
          <p:cNvSpPr/>
          <p:nvPr/>
        </p:nvSpPr>
        <p:spPr>
          <a:xfrm>
            <a:off x="9089136" y="497433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9052560" y="493776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9052560" y="493776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TextBox 237"/>
          <p:cNvSpPr txBox="1"/>
          <p:nvPr/>
        </p:nvSpPr>
        <p:spPr>
          <a:xfrm>
            <a:off x="9098280" y="495604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Q39</a:t>
            </a:r>
          </a:p>
        </p:txBody>
      </p:sp>
      <p:sp>
        <p:nvSpPr>
          <p:cNvPr id="239" name="Rectangle 238"/>
          <p:cNvSpPr/>
          <p:nvPr/>
        </p:nvSpPr>
        <p:spPr>
          <a:xfrm>
            <a:off x="9464040" y="523951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TextBox 239"/>
          <p:cNvSpPr txBox="1"/>
          <p:nvPr/>
        </p:nvSpPr>
        <p:spPr>
          <a:xfrm>
            <a:off x="9464040" y="523951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241" name="Rectangle 240"/>
          <p:cNvSpPr/>
          <p:nvPr/>
        </p:nvSpPr>
        <p:spPr>
          <a:xfrm>
            <a:off x="10552176" y="497433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10515600" y="493776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10515600" y="493776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TextBox 243"/>
          <p:cNvSpPr txBox="1"/>
          <p:nvPr/>
        </p:nvSpPr>
        <p:spPr>
          <a:xfrm>
            <a:off x="10561320" y="495604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Q40</a:t>
            </a:r>
          </a:p>
        </p:txBody>
      </p:sp>
      <p:sp>
        <p:nvSpPr>
          <p:cNvPr id="245" name="Rectangle 244"/>
          <p:cNvSpPr/>
          <p:nvPr/>
        </p:nvSpPr>
        <p:spPr>
          <a:xfrm>
            <a:off x="10927080" y="523951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10927080" y="523951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247" name="Rectangle 246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TextBox 247"/>
          <p:cNvSpPr txBox="1"/>
          <p:nvPr/>
        </p:nvSpPr>
        <p:spPr>
          <a:xfrm>
            <a:off x="274320" y="6199632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TextBox 250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Calibri"/>
              </a:rPr>
              <a:t>MERCI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D4A017"/>
                </a:solidFill>
                <a:latin typeface="Calibri"/>
              </a:rPr>
              <a:t>POUR VOTRE PARTICIPATION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2743200"/>
            <a:ext cx="576072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657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CE5E5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75488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CCE5E5"/>
                </a:solidFill>
                <a:latin typeface="Calibri"/>
              </a:rPr>
              <a:t>Élaboré par Tamou Eljerrari  |  Sur ordre de Mme Salima Negrao, DG</a:t>
            </a:r>
          </a:p>
        </p:txBody>
      </p:sp>
      <p:pic>
        <p:nvPicPr>
          <p:cNvPr id="10" name="Picture 9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5394960"/>
            <a:ext cx="1030628" cy="100584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D4A017"/>
                </a:solidFill>
                <a:latin typeface="Calibri"/>
              </a:rPr>
              <a:t>★  ★  ★  ★  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Calibri"/>
              </a:rPr>
              <a:t>FÉLICITATIONS !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2606040"/>
            <a:ext cx="8503920" cy="64008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FFFFFF"/>
                </a:solidFill>
                <a:latin typeface="Calibri"/>
              </a:rPr>
              <a:t>Vous avez complété avec succès la Formation Initiale Module (FIM)
Fundraiser UNICEF — SHY-Performance × FIDELIS
Votre engagement, votre sérieux et votre conviction
font de vous des fundraisers prêts à changer des vies.
Chaque appel que vous passerez contribue directement
à protéger des enfants à travers le monde.
L'équipe SHY-Performance est fière de vous.
Bonne continuation et beau terrain à toutes et à tous 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8064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D4A017"/>
                </a:solidFill>
                <a:latin typeface="Calibri"/>
              </a:rPr>
              <a:t>★  ★  ★  ★  ★</a:t>
            </a:r>
          </a:p>
        </p:txBody>
      </p:sp>
      <p:pic>
        <p:nvPicPr>
          <p:cNvPr id="10" name="Picture 9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5394960"/>
            <a:ext cx="1030628" cy="100584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