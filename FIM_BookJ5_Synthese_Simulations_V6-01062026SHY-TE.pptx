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3035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3268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DDDD"/>
                </a:solidFill>
              </a:rPr>
              <a:t>BOOK J5  ·  Journée 5  ·  Certification FIDELIS × UNICEF France × SHY-Performance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0700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Synthèse Générale &amp; Simulations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01952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EE"/>
                </a:solidFill>
              </a:rPr>
              <a:t>Certification FIM · Grille 24 critères · Quiz 40 questions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45720"/>
            <a:ext cx="822960" cy="8046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C'est votre journée de certification.
Vous allez démontrer que vous maîtrisez l'intégralité de la chaîne de compétences FIM :
du script officiel UNICEF en 7 étapes au traitement des 15 objections, jusqu'au closing.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91440"/>
            <a:ext cx="36576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914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Votre Journée 5 — Programme de Certification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0"/>
            <a:ext cx="822960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1325880" cy="64008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877824"/>
            <a:ext cx="12893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08h30
09h00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8488" y="804672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9072" y="941832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Révision consolidée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804672"/>
            <a:ext cx="7534656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859536"/>
            <a:ext cx="7333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Révision rapide des 5 modules FIM · Quiz flash · Météo émotionnelle du groupe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72184"/>
            <a:ext cx="1325880" cy="64008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1545336"/>
            <a:ext cx="12893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09h00
11h00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8488" y="1472184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9072" y="1609343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Simulations d'appels complets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9976" y="1472184"/>
            <a:ext cx="7534656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1527048"/>
            <a:ext cx="7333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Appels simulés chronométrés : script complet + objections + closing en conditions réelles
Jeux de rôle fundraiser vs prospect · Rotation des rôles · Grille d'observation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39696"/>
            <a:ext cx="1325880" cy="64008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2212848"/>
            <a:ext cx="12893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11h00
11h30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18488" y="2139696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19072" y="2276856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Débriefing collectif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9976" y="2139696"/>
            <a:ext cx="7534656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2194560"/>
            <a:ext cx="7333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Retour sur les simulations · Célébration des progrès · 3 apprentissages collectifs de la semaine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07208"/>
            <a:ext cx="1325880" cy="64008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2880360"/>
            <a:ext cx="12893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11h30
12h30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18488" y="2807208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19072" y="2944368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Grille d'évaluation finale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9976" y="2807208"/>
            <a:ext cx="7534656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2862072"/>
            <a:ext cx="7333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Évaluation individuelle sur 24 critères · Entretien formateur 5 min · Feedback personnalisé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74720"/>
            <a:ext cx="1325880" cy="64008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3547872"/>
            <a:ext cx="12893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13h30
14h30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18488" y="3474720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19072" y="3611879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Quiz 40 questions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9976" y="3474720"/>
            <a:ext cx="7534656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98848" y="3529584"/>
            <a:ext cx="7333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Évaluation finale des connaissances : UNICEF, secteur associatif, script, objections, KPI FIDELIS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142231"/>
            <a:ext cx="1325880" cy="64008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4215383"/>
            <a:ext cx="12893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14h30
15h00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18488" y="4142231"/>
            <a:ext cx="274320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19072" y="4279392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Remise des certifications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79976" y="4142231"/>
            <a:ext cx="7534656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8848" y="4197095"/>
            <a:ext cx="7333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Remise officielle des certifications FIM · Votre plan d'action terrain · Premier appel demain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91440"/>
            <a:ext cx="36576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914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Votre Grille d'Évaluation Finale — 24 Critères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0"/>
            <a:ext cx="822960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777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55"/>
                </a:solidFill>
              </a:rPr>
              <a:t>Voici exactement ce sur quoi vous serez évalué(e) — aucune surprise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393192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1133856"/>
            <a:ext cx="3017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1097280"/>
            <a:ext cx="5687568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133856"/>
            <a:ext cx="5596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Ce que vous devez démontrer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97280"/>
            <a:ext cx="2624328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133856"/>
            <a:ext cx="25328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Catégorie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097280"/>
            <a:ext cx="713232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1133856"/>
            <a:ext cx="621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097280"/>
            <a:ext cx="713232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1133856"/>
            <a:ext cx="621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0" y="1097280"/>
            <a:ext cx="713232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70464" y="1133856"/>
            <a:ext cx="6217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47120" y="1097280"/>
            <a:ext cx="685800" cy="2743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01984" y="113385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1389888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1444752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" y="1389888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1444752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Respect des 5 règles d'accroche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389888"/>
            <a:ext cx="2624328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1444752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Accroche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138988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84080" y="138988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15600" y="138988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247120" y="1389888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1728216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1783080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" y="1728216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1783080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Présentation claire de l'organisation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1728216"/>
            <a:ext cx="2624328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1783080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Accroche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172821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84080" y="172821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15600" y="172821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47120" y="1728216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2066544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2121408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4944" y="2066544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" y="2121408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Ton chaleureux et naturel dès l'ouverture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066544"/>
            <a:ext cx="2624328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55664" y="2121408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Accroche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206654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784080" y="206654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15600" y="206654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247120" y="2066544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2404872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" y="2459736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" y="2404872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2459736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Présentation de la cause malnutrition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2404872"/>
            <a:ext cx="2624328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55664" y="2459736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240487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784080" y="240487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515600" y="240487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247120" y="2404872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4320" y="2743200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279806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944" y="2743200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8096" y="2798064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Explication des sachets RUTF avec précision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2743200"/>
            <a:ext cx="2624328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55664" y="2798064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52560" y="274320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784080" y="274320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515600" y="274320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247120" y="2743200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74320" y="3081528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0896" y="3136392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4944" y="3081528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68096" y="3136392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Appel au soutien clair avec montant suggéré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00800" y="3081528"/>
            <a:ext cx="2624328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55664" y="3136392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52560" y="308152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84080" y="308152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15600" y="308152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47120" y="3081528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3419856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0896" y="3474720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4944" y="3419856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8096" y="3474720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Gestion du don ponctuel → réorientation PA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3419856"/>
            <a:ext cx="2624328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55664" y="3474720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52560" y="341985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784080" y="341985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515600" y="341985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247120" y="3419856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74320" y="3758184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0896" y="3813048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4944" y="3758184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68096" y="3813048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Gestion de l'indécis — relance constructive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00800" y="3758184"/>
            <a:ext cx="2624328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55664" y="3813048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Script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52560" y="375818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784080" y="375818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15600" y="375818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247120" y="3758184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74320" y="4096512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10896" y="4151376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94944" y="4096512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68096" y="4151376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Validation coordonnées — mode de paiement choisi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4096512"/>
            <a:ext cx="2624328" cy="329184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55664" y="4151376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052560" y="409651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84080" y="409651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515600" y="409651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247120" y="4096512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74320" y="4434840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10896" y="448970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94944" y="4434840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68096" y="4489704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Accusé réception sincère des objections Cat.1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400800" y="4434840"/>
            <a:ext cx="2624328" cy="32918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55664" y="4489704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052560" y="443484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784080" y="443484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515600" y="443484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247120" y="4434840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74320" y="4773168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10896" y="4828032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94944" y="4773168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68096" y="4828032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Argument financier précis + preuve concrète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400800" y="4773168"/>
            <a:ext cx="2624328" cy="32918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455664" y="4828032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052560" y="477316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784080" y="477316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515600" y="477316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247120" y="4773168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74320" y="5111496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10896" y="5166360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94944" y="5111496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68096" y="5166360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Réorientation PA après objection ponctuel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00800" y="5111496"/>
            <a:ext cx="2624328" cy="32918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455664" y="5166360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052560" y="511149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784080" y="511149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515600" y="511149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1247120" y="5111496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74320" y="5449824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10896" y="5504688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B4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94944" y="5449824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68096" y="5504688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Réassurance IBAN / SEPA convaincante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400800" y="5449824"/>
            <a:ext cx="2624328" cy="32918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55664" y="5504688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052560" y="544982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784080" y="544982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0515600" y="544982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1247120" y="5449824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74320" y="5788152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10896" y="5843016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94944" y="5788152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68096" y="5843016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Gestion calme des objections conflictuelles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400800" y="5788152"/>
            <a:ext cx="2624328" cy="32918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455664" y="5843016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Objections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052560" y="578815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784080" y="578815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515600" y="578815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1247120" y="5788152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74320" y="6126480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10896" y="618134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94944" y="6126480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68096" y="6181344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Ton maintenu chaleureux sur toute la durée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400800" y="6126480"/>
            <a:ext cx="2624328" cy="329184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55664" y="6181344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052560" y="612648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784080" y="612648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515600" y="612648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247120" y="6126480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74320" y="6464808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10896" y="6519672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94944" y="6464808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68096" y="6519672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Débit adapté — ni trop rapide, ni trop lent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400800" y="6464808"/>
            <a:ext cx="2624328" cy="329184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455664" y="6519672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052560" y="646480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784080" y="646480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0515600" y="646480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1247120" y="6464808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74320" y="6803136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10896" y="6858000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94944" y="6803136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768096" y="6858000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Absence d'hésitations et de tics verbaux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400800" y="6803136"/>
            <a:ext cx="2624328" cy="329184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455664" y="6858000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052560" y="680313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784080" y="680313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515600" y="680313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1247120" y="6803136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274320" y="7141464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10896" y="7196328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94944" y="7141464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768096" y="7196328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Conviction sincère pour la mission UNICEF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6400800" y="7141464"/>
            <a:ext cx="2624328" cy="329184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455664" y="7196328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9052560" y="714146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784080" y="714146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10515600" y="7141464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1247120" y="7141464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74320" y="7479792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10896" y="7534656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C5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694944" y="7479792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768096" y="7534656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Résilience après un refus direct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400800" y="7479792"/>
            <a:ext cx="2624328" cy="329184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455664" y="7534656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Posture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9052560" y="747979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784080" y="747979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0515600" y="7479792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1247120" y="7479792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74320" y="7818120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310896" y="7872984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C6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94944" y="7818120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768096" y="7872984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Respect des règles éthiques et RGPD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6400800" y="7818120"/>
            <a:ext cx="2624328" cy="329184"/>
          </a:xfrm>
          <a:prstGeom prst="rect">
            <a:avLst/>
          </a:prstGeom>
          <a:solidFill>
            <a:srgbClr val="22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6455664" y="7872984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Éthique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9052560" y="781812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784080" y="781812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0515600" y="7818120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247120" y="7818120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274320" y="8156448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10896" y="8211312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D1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94944" y="8156448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68096" y="8211312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Qualification conforme FIDELIS (DON/IND/REFUS)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400800" y="8156448"/>
            <a:ext cx="2624328" cy="329184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6455664" y="8211312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9052560" y="815644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784080" y="815644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0515600" y="8156448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1247120" y="8156448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274320" y="8494776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10896" y="8549640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D2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694944" y="8494776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768096" y="8549640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Nomination correcte du mode de validation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400800" y="8494776"/>
            <a:ext cx="2624328" cy="329184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455664" y="8549640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9052560" y="849477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784080" y="849477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0515600" y="8494776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1247120" y="8494776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274320" y="8833103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310896" y="8887967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D3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694944" y="8833103"/>
            <a:ext cx="568756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768096" y="8887967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Durée d'appel dans la norme (3–5 min)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6400800" y="8833103"/>
            <a:ext cx="2624328" cy="329184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455664" y="8887967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052560" y="8833103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784080" y="8833103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0515600" y="8833103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1247120" y="8833103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74320" y="9171431"/>
            <a:ext cx="393192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310896" y="9226295"/>
            <a:ext cx="338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D4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694944" y="9171431"/>
            <a:ext cx="5687568" cy="3291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68096" y="9226295"/>
            <a:ext cx="55778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Saisie coordonnées complète et exacte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400800" y="9171431"/>
            <a:ext cx="2624328" cy="329184"/>
          </a:xfrm>
          <a:prstGeom prst="rect">
            <a:avLst/>
          </a:prstGeom>
          <a:solidFill>
            <a:srgbClr val="11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455664" y="9226295"/>
            <a:ext cx="253288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FIDELIS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052560" y="9171431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84080" y="9171431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0515600" y="9171431"/>
            <a:ext cx="713232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1247120" y="9171431"/>
            <a:ext cx="68580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274320" y="9509759"/>
            <a:ext cx="8741663" cy="310896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84048" y="9564623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  /24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9052560" y="9509759"/>
            <a:ext cx="2862072" cy="310896"/>
          </a:xfrm>
          <a:prstGeom prst="rect">
            <a:avLst/>
          </a:prstGeom>
          <a:solidFill>
            <a:srgbClr val="F0F7F7"/>
          </a:solidFill>
          <a:ln w="25400">
            <a:solidFill>
              <a:srgbClr val="00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9144000" y="9564623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5555"/>
                </a:solidFill>
              </a:rPr>
              <a:t>__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91440"/>
            <a:ext cx="36576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914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Quiz 40 Questions &amp; Votre Plan d'Action Terrain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0"/>
            <a:ext cx="822960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5650992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50392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Quiz final — 40 questions · 5 parties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52144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20700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Partie A (Q1–Q8) : Connaissance UNICEF &amp; de la cause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72768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627632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Partie B (Q9–Q15) : Secteur associatif &amp; humanitaire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93392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048256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Partie C (Q16–Q23) : Script officiel &amp; règles d'accroche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14016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468880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Partie D (Q24–Q32) : Traitement des objections &amp; méthode AAR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34640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889504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Partie E (Q33–Q40) : KPI FIDELIS, nomenclature &amp; modes de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55264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31012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Seuil de validation : 28/40 (70%)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804672"/>
            <a:ext cx="5650992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850392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Votre plan d'action — 4 semaines terrain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152144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20700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Semaine 1 (J+7) : Objectif 9 CU/H atteint et 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1572768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627632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Semaine 2 (J+14) : TX Transfo ≥ cible FIDELIS première mesure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1993392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2048256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Semaine 3 (J+21) : 0 disqualification nomenclature FIDELIS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2414016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468880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Semaine 4 (J+30) : Bilan formateur SHY-Performance + objectifs M2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834640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2889504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J+15 : Observation supervisée par SHY-Performance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5352" y="3255264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331012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J+90 : Analyse KPI terrain consolidée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504688"/>
            <a:ext cx="11640312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5577840"/>
            <a:ext cx="11365992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Bienvenue dans la famille SHY-Performance × FIDELIS × UNICEF France.
Vous êtes maintenant Fundraiser Impact Mission certifié(e). Votre premier appel de production commence demain.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