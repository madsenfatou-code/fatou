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7744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1218895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BOOK J5 · Journée 5 — Certification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Synthèse &amp; Simulations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DEEEE"/>
                </a:solidFill>
              </a:rPr>
              <a:t>Certification opérationnelle · Grille 28 pts · Plan d'Action Personnel (PAP)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SHY-Performance · V6-01062026SHY-TE · Référentiel UM6P/CMC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Programme Journée 5 — Certification FIM V6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371600" cy="68580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96112"/>
            <a:ext cx="1335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08h30
09h00</a:t>
            </a:r>
          </a:p>
        </p:txBody>
      </p:sp>
      <p:sp>
        <p:nvSpPr>
          <p:cNvPr id="8" name="Rectangle 7"/>
          <p:cNvSpPr/>
          <p:nvPr/>
        </p:nvSpPr>
        <p:spPr>
          <a:xfrm>
            <a:off x="1664208" y="822960"/>
            <a:ext cx="2560320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987552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Révision flash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822960"/>
            <a:ext cx="7863840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4256" y="877824"/>
            <a:ext cx="7680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Quiz 7 compétences C1–C7 · rappel des seuils · météo émotionnelle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536192"/>
            <a:ext cx="1371600" cy="68580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1609344"/>
            <a:ext cx="1335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09h00
11h00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64208" y="1536192"/>
            <a:ext cx="2560320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170078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Simulation terrain ×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42816" y="1536192"/>
            <a:ext cx="7863840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34256" y="1591056"/>
            <a:ext cx="7680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Round 1 : passant 'neutre' · Round 2 : passant 'difficile avec 3 objections'
Formateur joue le rôle du passant · apprenants observent avec grille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249424"/>
            <a:ext cx="1371600" cy="68580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2322576"/>
            <a:ext cx="1335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11h00
11h30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64208" y="2249424"/>
            <a:ext cx="2560320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37360" y="2414016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Debriefing collectif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42816" y="2249424"/>
            <a:ext cx="7863840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34256" y="2304288"/>
            <a:ext cx="7680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Célébration des progrès individuels · 3 apprentissages collectifs retenus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962656"/>
            <a:ext cx="1371600" cy="68580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3035808"/>
            <a:ext cx="1335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11h30
12h30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64208" y="2962656"/>
            <a:ext cx="2560320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37360" y="3127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Évaluation sommative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42816" y="2962656"/>
            <a:ext cx="7863840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34256" y="3017520"/>
            <a:ext cx="7680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Grille 28 pts — formateur + superviseur · entretien individuel 5 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675888"/>
            <a:ext cx="1371600" cy="68580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3749040"/>
            <a:ext cx="1335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13h30
14h30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64208" y="3675888"/>
            <a:ext cx="2560320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37360" y="384048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Construction PAP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42816" y="3675888"/>
            <a:ext cx="7863840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34256" y="3730752"/>
            <a:ext cx="7680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Plan d'Action Personnel : 4 objectifs sur 4 semaines · 1 mesure/semaine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389120"/>
            <a:ext cx="1371600" cy="68580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608" y="4462272"/>
            <a:ext cx="13350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14h30
15h00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64208" y="4389120"/>
            <a:ext cx="2560320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737360" y="4553712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Clôture ritualisée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42816" y="4389120"/>
            <a:ext cx="7863840" cy="6858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4256" y="4443984"/>
            <a:ext cx="7680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Remise attestations · Engagement public 1 min/apprenant · Photos groupe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Grille de Certification FIM V6 — 7 Critères / 28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04672"/>
            <a:ext cx="393192" cy="2743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841248"/>
            <a:ext cx="30175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804672"/>
            <a:ext cx="3730752" cy="2743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3639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Critère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804672"/>
            <a:ext cx="5010912" cy="2743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841248"/>
            <a:ext cx="4919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Indicateurs observables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804672"/>
            <a:ext cx="713232" cy="2743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0" y="841248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95560" y="804672"/>
            <a:ext cx="713232" cy="2743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0" y="841248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27080" y="804672"/>
            <a:ext cx="713232" cy="2743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841248"/>
            <a:ext cx="6217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658600" y="804672"/>
            <a:ext cx="457200" cy="2743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0" y="841248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097280"/>
            <a:ext cx="393192" cy="5029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1207007"/>
            <a:ext cx="356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1097280"/>
            <a:ext cx="3730752" cy="50292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1188720"/>
            <a:ext cx="35844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Accroche naturelle ≤ 15 sec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1097280"/>
            <a:ext cx="5010912" cy="50292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07992" y="1152144"/>
            <a:ext cx="48646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Contact visuel, sourire, question ouverte, aisance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097280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5480" y="1207007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95560" y="1097280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87000" y="1207007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27080" y="1097280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18519" y="1207007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658600" y="1097280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750040" y="1207007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1618488"/>
            <a:ext cx="393192" cy="5029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" y="1728216"/>
            <a:ext cx="356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1618488"/>
            <a:ext cx="3730752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952" y="1709928"/>
            <a:ext cx="35844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Script fluide et personnalisé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34840" y="1618488"/>
            <a:ext cx="5010912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07992" y="1673352"/>
            <a:ext cx="48646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5 étapes dans l'ordre, langage adapté au passant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64040" y="1618488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55480" y="1728216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195560" y="1618488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87000" y="1728216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927080" y="1618488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018519" y="1728216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658600" y="1618488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50040" y="17282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2139696"/>
            <a:ext cx="393192" cy="5029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2608" y="2249424"/>
            <a:ext cx="356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2139696"/>
            <a:ext cx="3730752" cy="50292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8952" y="2231136"/>
            <a:ext cx="35844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Impact Story (émotion + faits)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34840" y="2139696"/>
            <a:ext cx="5010912" cy="50292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07992" y="2194560"/>
            <a:ext cx="48646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Récit bénéficiaire spécifique, chiffre concret, résolution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64040" y="2139696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55480" y="2249424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195560" y="2139696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87000" y="2249424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927080" y="2139696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18519" y="2249424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658600" y="2139696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50040" y="224942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2660904"/>
            <a:ext cx="393192" cy="5029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2608" y="2770632"/>
            <a:ext cx="356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85800" y="2660904"/>
            <a:ext cx="3730752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58952" y="2752344"/>
            <a:ext cx="35844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Traitement ≥ 2 objections CROC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434840" y="2660904"/>
            <a:ext cx="5010912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07992" y="2715768"/>
            <a:ext cx="48646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Considérer, reformuler, organiser, conclure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464040" y="2660904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55480" y="2770632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195560" y="2660904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287000" y="2770632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927080" y="2660904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018519" y="2770632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658600" y="2660904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50040" y="277063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3182112"/>
            <a:ext cx="393192" cy="5029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2608" y="3291840"/>
            <a:ext cx="356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85800" y="3182112"/>
            <a:ext cx="3730752" cy="50292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58952" y="3273552"/>
            <a:ext cx="35844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Engagement au don / closing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4840" y="3182112"/>
            <a:ext cx="5010912" cy="50292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07992" y="3236976"/>
            <a:ext cx="48646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Proposition montant, signature, remerciement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464040" y="3182112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555480" y="3291840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195560" y="3182112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287000" y="3291840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927080" y="3182112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018519" y="3291840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658600" y="3182112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1750040" y="329184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74320" y="3703320"/>
            <a:ext cx="393192" cy="5029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2608" y="3813048"/>
            <a:ext cx="356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85800" y="3703320"/>
            <a:ext cx="3730752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8952" y="3794760"/>
            <a:ext cx="35844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Posture éthique &amp; conformité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34840" y="3703320"/>
            <a:ext cx="5010912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507992" y="3758184"/>
            <a:ext cx="48646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Badge visible, pas de pression, règles déontologiques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464040" y="3703320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555480" y="3813048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95560" y="3703320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87000" y="3813048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27080" y="3703320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8519" y="3813048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1658600" y="3703320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750040" y="381304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74320" y="4224528"/>
            <a:ext cx="393192" cy="50292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92608" y="4334256"/>
            <a:ext cx="356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85800" y="4224528"/>
            <a:ext cx="3730752" cy="50292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58952" y="4315968"/>
            <a:ext cx="35844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Gestion émotionnelle &amp; résilience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434840" y="4224528"/>
            <a:ext cx="5010912" cy="50292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507992" y="4279392"/>
            <a:ext cx="486460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</a:rPr>
              <a:t>Maintien posture positive après refus, 0 découragement visible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464040" y="4224528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555480" y="4334256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1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195560" y="4224528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287000" y="4334256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927080" y="4224528"/>
            <a:ext cx="71323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018519" y="4334256"/>
            <a:ext cx="530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1658600" y="4224528"/>
            <a:ext cx="457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1750040" y="433425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BBBBB"/>
                </a:solidFill>
              </a:rPr>
              <a:t>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74320" y="4745736"/>
            <a:ext cx="11841480" cy="384048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65760" y="481888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TOTAL  /28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0195560" y="4745736"/>
            <a:ext cx="1920240" cy="384048"/>
          </a:xfrm>
          <a:prstGeom prst="rect">
            <a:avLst/>
          </a:prstGeom>
          <a:solidFill>
            <a:srgbClr val="FFFFFF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24128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5050"/>
                </a:solidFill>
              </a:rPr>
              <a:t>__ / 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74320" y="5221224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5050"/>
                </a:solidFill>
              </a:rPr>
              <a:t>✅ Certifié FIM : ≥ 20/28 (71%)     ⚠ Formation complémentaire : 14–19/28     🔄 Reconduction J+15 : &lt; 14/28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Plan d'Action Personnel &amp; Suivi Post-Formation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Plan d'Action Personnel (PAP) — 4 semaines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Suivi post-formation Kirkpatrick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S1 (J+7) : Maîtriser l'accroche en &lt; 12 sec — chrono + feedback formateur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S2 (J+14) : Traiter O1 et O2 sans hésitation — 0 rupture de discours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S3 (J+21) : Atteindre ≥ 1 don/heure terrain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S4 (J+30) : Révision PAP + définition objectifs M2 avec formateur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J+15 : Observation terrain supervisée (grille Niv. 3) + 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J+30 : Revue PAP — 4 objectifs atteints ? Adaptation si besoin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J+90 : KPI terrain : taux conversion, montant moyen, rétention donateur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Kirkpatrick Niv. 4 : impact collecte mesuré et rapporté à SHY-Performance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486400"/>
            <a:ext cx="11612880" cy="2743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5522976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🎯 Évaluation sommative &amp; Kirkpatrick Niv. 1–2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Questionnaire satisfaction (NPS formateur, contenu, rythme, utilité)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Grille 28 pts archivée dans le dossier apprenant CMC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PAP signé apprenant + formateur → copie dans le LFI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50474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050"/>
                </a:solidFill>
              </a:rPr>
              <a:t>Taxonomie de Bloom 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303520"/>
            <a:ext cx="1920240" cy="320040"/>
          </a:xfrm>
          <a:prstGeom prst="rect">
            <a:avLst/>
          </a:prstGeom>
          <a:solidFill>
            <a:srgbClr val="78A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1 Se souvenir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12848" y="5303520"/>
            <a:ext cx="1920240" cy="320040"/>
          </a:xfrm>
          <a:prstGeom prst="rect">
            <a:avLst/>
          </a:prstGeom>
          <a:solidFill>
            <a:srgbClr val="5D9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58568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2 Comprendre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51376" y="5303520"/>
            <a:ext cx="1920240" cy="320040"/>
          </a:xfrm>
          <a:prstGeom prst="rect">
            <a:avLst/>
          </a:prstGeom>
          <a:solidFill>
            <a:srgbClr val="4A9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97096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3 Appliquer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9904" y="5303520"/>
            <a:ext cx="1920240" cy="3200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35624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4 Analyser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28432" y="5303520"/>
            <a:ext cx="1920240" cy="320040"/>
          </a:xfrm>
          <a:prstGeom prst="rect">
            <a:avLst/>
          </a:prstGeom>
          <a:solidFill>
            <a:srgbClr val="D27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5 Évaluer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5303520"/>
            <a:ext cx="1920240" cy="3200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12680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6 Créer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