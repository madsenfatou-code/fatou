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317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13432"/>
            <a:ext cx="12188952" cy="54864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9377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BEEEE"/>
                </a:solidFill>
              </a:rPr>
              <a:t>Formation Initiale Module — Fundraising Téléphonique UNICEF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7782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DDDD"/>
                </a:solidFill>
              </a:rPr>
              <a:t>BOOK J5  ·  Journée 5  ·  Certification FIDELIS × UNICEF France × SHY-Performance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18872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</a:rPr>
              <a:t>Synthèse Générale &amp; Simulations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2024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Certification FIM · Grille 24 critères · Quiz 40 questions</a:t>
            </a:r>
          </a:p>
        </p:txBody>
      </p:sp>
      <p:pic>
        <p:nvPicPr>
          <p:cNvPr id="10" name="Picture 9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Programme Journée 5 — Certification FIM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1261872" cy="64008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877824"/>
            <a:ext cx="12252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08h30
09h00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54480" y="804672"/>
            <a:ext cx="2743200" cy="6400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941832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Révision consolidée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804672"/>
            <a:ext cx="7598664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868680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Révision des 5 modules FIM · Quiz flash · Météo émotionnelle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472184"/>
            <a:ext cx="1261872" cy="64008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1545336"/>
            <a:ext cx="12252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09h00
11h00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1472184"/>
            <a:ext cx="2743200" cy="6400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1609343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Simulations d'appels complets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5968" y="1472184"/>
            <a:ext cx="7598664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5696" y="1536192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Script + objections + closing chronométrés · Jeux de rôle fundraiser vs prospect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139696"/>
            <a:ext cx="1261872" cy="64008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" y="2212848"/>
            <a:ext cx="12252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11h00
11h30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2139696"/>
            <a:ext cx="2743200" cy="6400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2276856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Débriefing collectif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5968" y="2139696"/>
            <a:ext cx="7598664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5696" y="2203703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Retour simulations · Célébration progrès · 3 apprentissages collectifs de la semaine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807208"/>
            <a:ext cx="1261872" cy="64008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" y="2880360"/>
            <a:ext cx="12252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11h30
12h30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54480" y="2807208"/>
            <a:ext cx="2743200" cy="6400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2944368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Grille 24 critères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5968" y="2807208"/>
            <a:ext cx="7598664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25696" y="2871215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Évaluation individuelle · Entretien formateur 5 min · Feedback personnalisé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474720"/>
            <a:ext cx="1261872" cy="64008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2608" y="3547872"/>
            <a:ext cx="12252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13h30
14h30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3474720"/>
            <a:ext cx="2743200" cy="6400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45920" y="3611879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Quiz 40 questions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15968" y="3474720"/>
            <a:ext cx="7598664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25696" y="3538727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Évaluation finale des connaissances · Seuil 28/40 · Corrigé collectif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142231"/>
            <a:ext cx="1261872" cy="64008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" y="4215383"/>
            <a:ext cx="12252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14h30
15h00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54480" y="4142231"/>
            <a:ext cx="2743200" cy="6400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45920" y="4279392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Remise certifications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15968" y="4142231"/>
            <a:ext cx="7598664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25696" y="4206240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Attestations officielles FIM · Plan d'action terrain · 1er appel de production demain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Grille de Certification — 24 Critères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777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050"/>
                </a:solidFill>
              </a:rPr>
              <a:t>Voici exactement ce sur quoi vous serez évalué(e) — aucune surprise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393192" cy="2743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133856"/>
            <a:ext cx="30175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1097280"/>
            <a:ext cx="5687568" cy="2743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133856"/>
            <a:ext cx="55961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Ce que vous devez démontrer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097280"/>
            <a:ext cx="2624328" cy="2743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133856"/>
            <a:ext cx="2532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Catégorie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097280"/>
            <a:ext cx="713232" cy="2743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07424" y="1133856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097280"/>
            <a:ext cx="713232" cy="2743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38944" y="1133856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1097280"/>
            <a:ext cx="713232" cy="2743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70464" y="1133856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47120" y="1097280"/>
            <a:ext cx="685800" cy="2743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01984" y="1133856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1389888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" y="1444752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" y="1389888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144475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Respect des 5 règles d'accroche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1389888"/>
            <a:ext cx="2624328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1444752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Accroche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138988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84080" y="138988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515600" y="138988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0" y="1389888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1709928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" y="1764792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" y="1709928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176479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Présentation claire de l'organisation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1709928"/>
            <a:ext cx="2624328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1764792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Accroche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52560" y="170992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84080" y="170992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515600" y="170992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0" y="1709928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2029968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0896" y="2084832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" y="2029968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208483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Ton chaleureux et naturel dès l'ouverture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2029968"/>
            <a:ext cx="2624328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55664" y="2084832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Accroche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52560" y="202996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784080" y="202996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15600" y="202996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0" y="2029968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74320" y="2350008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" y="2404872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944" y="2350008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8096" y="240487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Présentation de la cause malnutrition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2350008"/>
            <a:ext cx="2624328" cy="31089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55664" y="2404872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Script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52560" y="235000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784080" y="235000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515600" y="235000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0" y="2350008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74320" y="2670048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0896" y="2724912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944" y="2670048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8096" y="272491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Explication des sachets RUTF avec précision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00800" y="2670048"/>
            <a:ext cx="2624328" cy="31089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55664" y="2724912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Script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52560" y="267004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784080" y="267004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515600" y="267004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0" y="2670048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74320" y="2990088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" y="3044952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4944" y="2990088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8096" y="304495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Appel au soutien clair avec montant suggéré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0" y="2990088"/>
            <a:ext cx="2624328" cy="31089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55664" y="3044952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Script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052560" y="299008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784080" y="299008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15600" y="299008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0" y="2990088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3310128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3364992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4944" y="3310128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8096" y="336499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Gestion don ponctuel → réorientation PA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400800" y="3310128"/>
            <a:ext cx="2624328" cy="31089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55664" y="3364992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Script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052560" y="331012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784080" y="331012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15600" y="331012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247120" y="3310128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74320" y="3630168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0896" y="3685032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4944" y="3630168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68096" y="368503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Gestion indécis — relance constructive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00800" y="3630168"/>
            <a:ext cx="2624328" cy="31089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55664" y="3685032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Script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052560" y="363016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784080" y="363016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15600" y="363016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247120" y="3630168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74320" y="3950208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10896" y="4005072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4944" y="3950208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68096" y="400507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Validation coordonnées — mode paiement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400800" y="3950208"/>
            <a:ext cx="2624328" cy="310896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55664" y="4005072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Closing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052560" y="395020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784080" y="395020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515600" y="395020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1247120" y="3950208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74320" y="4270248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10896" y="4325112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B1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4944" y="4270248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68096" y="432511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Accusé réception objections Cat.1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0" y="4270248"/>
            <a:ext cx="2624328" cy="310896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55664" y="4325112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Objections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052560" y="427024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784080" y="427024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515600" y="427024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47120" y="4270248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74320" y="4590288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10896" y="464515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B2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4944" y="4590288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68096" y="464515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Argument financier + preuve concrète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00800" y="4590288"/>
            <a:ext cx="2624328" cy="310896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55664" y="464515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Objections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052560" y="459028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9784080" y="459028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0515600" y="4590288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247120" y="4590288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74320" y="491032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10896" y="496519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B3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4944" y="4910327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68096" y="496519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Réorientation PA après refus ponctuel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00800" y="4910327"/>
            <a:ext cx="2624328" cy="310896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55664" y="496519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Objections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052560" y="491032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784080" y="491032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515600" y="491032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1247120" y="491032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74320" y="523036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10896" y="528523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B4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4944" y="5230367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68096" y="528523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Réassurance IBAN / SEPA convaincante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400800" y="5230367"/>
            <a:ext cx="2624328" cy="310896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55664" y="528523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Objections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052560" y="523036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784080" y="523036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0515600" y="523036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1247120" y="523036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74320" y="555040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10896" y="560527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B5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4944" y="5550407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68096" y="560527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Gestion calme des objections Cat.5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400800" y="5550407"/>
            <a:ext cx="2624328" cy="310896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455664" y="560527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Objections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9052560" y="555040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9784080" y="555040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10515600" y="555040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1247120" y="555040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74320" y="587044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10896" y="592531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C1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4944" y="5870447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68096" y="592531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Ton chaleureux maintenu sur toute la durée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400800" y="5870447"/>
            <a:ext cx="2624328" cy="310896"/>
          </a:xfrm>
          <a:prstGeom prst="rect">
            <a:avLst/>
          </a:prstGeom>
          <a:solidFill>
            <a:srgbClr val="33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455664" y="592531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Posture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9052560" y="587044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784080" y="587044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515600" y="587044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1247120" y="587044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74320" y="619048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310896" y="624535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C2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4944" y="6190487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68096" y="624535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Débit adapté — ni trop rapide, ni trop lent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400800" y="6190487"/>
            <a:ext cx="2624328" cy="310896"/>
          </a:xfrm>
          <a:prstGeom prst="rect">
            <a:avLst/>
          </a:prstGeom>
          <a:solidFill>
            <a:srgbClr val="33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455664" y="624535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Posture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052560" y="619048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9784080" y="619048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10515600" y="619048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247120" y="619048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274320" y="651052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10896" y="656539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C3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4944" y="6510527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768096" y="656539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Absence d'hésitations et tics verbaux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400800" y="6510527"/>
            <a:ext cx="2624328" cy="310896"/>
          </a:xfrm>
          <a:prstGeom prst="rect">
            <a:avLst/>
          </a:prstGeom>
          <a:solidFill>
            <a:srgbClr val="33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455664" y="656539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Posture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9052560" y="651052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9784080" y="651052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0515600" y="651052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1247120" y="651052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74320" y="683056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310896" y="688543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C4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94944" y="6830567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8096" y="688543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Conviction sincère pour la mission UNICEF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6400800" y="6830567"/>
            <a:ext cx="2624328" cy="310896"/>
          </a:xfrm>
          <a:prstGeom prst="rect">
            <a:avLst/>
          </a:prstGeom>
          <a:solidFill>
            <a:srgbClr val="33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455664" y="688543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Posture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9052560" y="683056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9784080" y="683056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0515600" y="683056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1247120" y="683056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4320" y="715060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310896" y="720547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694944" y="7150607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768096" y="720547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Résilience après un refus direct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400800" y="7150607"/>
            <a:ext cx="2624328" cy="310896"/>
          </a:xfrm>
          <a:prstGeom prst="rect">
            <a:avLst/>
          </a:prstGeom>
          <a:solidFill>
            <a:srgbClr val="33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455664" y="720547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Posture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9052560" y="715060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9784080" y="715060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0515600" y="715060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1247120" y="715060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274320" y="747064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310896" y="752551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C6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694944" y="7470647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768096" y="752551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Respect des règles éthiques et RGPD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6400800" y="7470647"/>
            <a:ext cx="2624328" cy="310896"/>
          </a:xfrm>
          <a:prstGeom prst="rect">
            <a:avLst/>
          </a:prstGeom>
          <a:solidFill>
            <a:srgbClr val="22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6455664" y="752551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Éthique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9052560" y="747064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9784080" y="747064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10515600" y="747064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1247120" y="747064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274320" y="779068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310896" y="784555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D1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694944" y="7790687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768096" y="784555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Qualification conforme FIDELIS (DON/IND/REF)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400800" y="7790687"/>
            <a:ext cx="2624328" cy="310896"/>
          </a:xfrm>
          <a:prstGeom prst="rect">
            <a:avLst/>
          </a:prstGeom>
          <a:solidFill>
            <a:srgbClr val="11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6455664" y="784555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FIDELIS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9052560" y="779068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9784080" y="779068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515600" y="779068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1247120" y="779068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274320" y="811072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310896" y="816559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694944" y="8110727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768096" y="816559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Nomination correcte du mode de validation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6400800" y="8110727"/>
            <a:ext cx="2624328" cy="310896"/>
          </a:xfrm>
          <a:prstGeom prst="rect">
            <a:avLst/>
          </a:prstGeom>
          <a:solidFill>
            <a:srgbClr val="11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455664" y="816559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FIDELIS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9052560" y="811072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9784080" y="811072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0515600" y="811072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1247120" y="811072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274320" y="843076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310896" y="848563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D3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694944" y="8430767"/>
            <a:ext cx="568756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768096" y="848563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Durée d'appel dans la norme (3–5 min)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6400800" y="8430767"/>
            <a:ext cx="2624328" cy="310896"/>
          </a:xfrm>
          <a:prstGeom prst="rect">
            <a:avLst/>
          </a:prstGeom>
          <a:solidFill>
            <a:srgbClr val="11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455664" y="848563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FIDELIS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9052560" y="843076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9784080" y="843076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0515600" y="843076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1247120" y="843076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74320" y="8750807"/>
            <a:ext cx="393192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310896" y="8805671"/>
            <a:ext cx="338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D4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94944" y="8750807"/>
            <a:ext cx="5687568" cy="31089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768096" y="880567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Saisie coordonnées complète et exacte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6400800" y="8750807"/>
            <a:ext cx="2624328" cy="310896"/>
          </a:xfrm>
          <a:prstGeom prst="rect">
            <a:avLst/>
          </a:prstGeom>
          <a:solidFill>
            <a:srgbClr val="11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455664" y="8805671"/>
            <a:ext cx="2532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FIDELIS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9052560" y="875080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9784080" y="875080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0515600" y="8750807"/>
            <a:ext cx="713232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1247120" y="8750807"/>
            <a:ext cx="6858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274320" y="9070847"/>
            <a:ext cx="8741663" cy="292608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84048" y="9125711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TOTAL  /24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9052560" y="9070847"/>
            <a:ext cx="2862072" cy="292608"/>
          </a:xfrm>
          <a:prstGeom prst="rect">
            <a:avLst/>
          </a:prstGeom>
          <a:solidFill>
            <a:srgbClr val="F0F7F7"/>
          </a:solidFill>
          <a:ln w="2540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9144000" y="9125711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5050"/>
                </a:solidFill>
              </a:rPr>
              <a:t>__ / 24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274320" y="9436607"/>
            <a:ext cx="11640312" cy="329184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411479" y="9509759"/>
            <a:ext cx="11365992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✅ Certifié(e) FIM : ≥ 17/24  ·  ⚠ Formation complémentaire : 12–16/24  ·  🔄 Rattrapage J+15 : &lt; 12/24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Votre Plan d'Action — 4 Semaines Terrain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5650992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850392"/>
            <a:ext cx="5468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Quiz final — 40 questions réparties en 6 parties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152144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1207008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Partie A (Q1–Q8) : Connaissance UNICEF &amp; de la cause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72768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1627632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Partie B (Q9–Q15) : Secteur associatif &amp; humanitaire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993392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" y="2048256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Partie C (Q16–Q22) : Script officiel &amp; règles d'accroche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414016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" y="2468880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Partie D (Q23–Q28) : KPI FIDELIS, nomenclature &amp;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834640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2889504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Partie E (Q29–Q35) : Traitement des objections &amp; méthode AAR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255264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" y="3310128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Partie F (Q36–Q40) : Éthique, posture &amp; vocabulaire métier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804672"/>
            <a:ext cx="5650992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850392"/>
            <a:ext cx="5468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Votre plan d'action — 4 semaines terrain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5352" y="1152144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1207008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S1 (J+7) : 9 CU/H atteint et stable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5352" y="1572768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1627632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S2 (J+14) : TX Transfo ≥ cible FIDELIS première mesure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352" y="1993392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3368" y="2048256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S3 (J+21) : 0 disqualification nomenclature FIDELIS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45352" y="2414016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468880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S4 (J+30) : Bilan formateur SHY-Performance + objectifs M2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5352" y="2834640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3368" y="2889504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J+15 : Observation supervisée SHY-Performance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5352" y="3255264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3310128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J+90 : Analyse KPI terrain FIDELIS × UNICEF France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504688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79" y="5577840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Bienvenue dans la famille SHY-Performance × FIDELIS × UNICEF France — Certifié(e) FIM.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0" y="1097280"/>
            <a:ext cx="3931920" cy="3931920"/>
          </a:xfrm>
          <a:prstGeom prst="ellipse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0116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</a:rPr>
              <a:t>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28016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Merci à Tous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06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EEEE"/>
                </a:solidFill>
              </a:rPr>
              <a:t>Votre engagement fait la différence pour les enfants du monde entier.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46120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DDDD"/>
                </a:solidFill>
              </a:rPr>
              <a:t>BOOK J5  ·  Journée 5  ·  Certification FIDELIS × UNICEF France × SHY-Performance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749039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DDDD"/>
                </a:solidFill>
              </a:rPr>
              <a:t>« Le refus d'aujourd'hui peut être le don de demain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7200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DDDD"/>
                </a:solidFill>
              </a:rPr>
              <a:t>SHY-Performance  ·  Formation FIM  ·  UNICEF France  ·  V6-01062026SHY-TE</a:t>
            </a:r>
          </a:p>
        </p:txBody>
      </p:sp>
      <p:pic>
        <p:nvPicPr>
          <p:cNvPr id="12" name="Picture 11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5120640"/>
            <a:ext cx="914400" cy="896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0" y="603504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