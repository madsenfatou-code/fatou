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0"/>
            <a:ext cx="54864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RÉVEIL PÉDAGOGIQUE  ·  PRÉ-SESSION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Segoe UI"/>
              </a:rPr>
              <a:t>SYNTHÈSE</a:t>
            </a:r>
          </a:p>
          <a:p>
            <a:pPr algn="l"/>
            <a:r>
              <a:rPr sz="2800" b="0" i="0">
                <a:solidFill>
                  <a:srgbClr val="00AEEF"/>
                </a:solidFill>
                <a:latin typeface="Segoe UI"/>
              </a:rPr>
              <a:t>MODULE J1 FIM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29000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CCEE"/>
                </a:solidFill>
                <a:latin typeface="Segoe UI"/>
              </a:rPr>
              <a:t>Rappel des points clés avant de démarrer
la suite du programme de 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5852160" cy="54864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Objectif de cette synthèse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63440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▸  Revoir les définitions et formules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92624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▸  Valider les acquis avant la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21808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▸  Identifier les notions à consolider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594360"/>
            <a:ext cx="5029200" cy="587044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71323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AU PROGRAMME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2592" y="1115568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1115568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1170432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Mission &amp; Mandat UNICEF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2592" y="1591056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1591056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164592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La Nomenclature Clé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22592" y="2066544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2066544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1" y="212140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Les Formules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22592" y="2542032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2542032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259689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Les 3 Qualifications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22592" y="3017520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2592" y="3017520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1" y="3072384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Carte Bancaire — L'essentiel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22592" y="3493008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22592" y="3493008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3547872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Conquête &amp; Fidélisation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22592" y="3968496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22592" y="3968496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1231" y="402336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La Phrase d'Accroche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22592" y="4443984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22592" y="4443984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1" y="4498848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Les Horaires J1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2592" y="4919472"/>
            <a:ext cx="475488" cy="40233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2592" y="4919472"/>
            <a:ext cx="475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4974336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Quiz Flash — Testez-vous 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01  —  MISSION &amp; MANDAT UNICEF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Rappel  |  Pourquoi nous appelons et qui nous représentons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3749039" cy="4956048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89888"/>
            <a:ext cx="3749039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508760"/>
            <a:ext cx="3419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57B8"/>
                </a:solidFill>
                <a:latin typeface="Segoe UI"/>
              </a:rPr>
              <a:t>🌍  QUI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65960"/>
            <a:ext cx="341985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Fidelis, mandaté par l'UNICEF.
L'UNICEF est présent dans 190 pays pour défendre les droits et la survie des enfants : nutrition, santé, eau potable, éducation, protection en zones de conflit.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7" y="1389888"/>
            <a:ext cx="3749039" cy="4956048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24527" y="1389888"/>
            <a:ext cx="3749039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19" y="1508760"/>
            <a:ext cx="3419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7941D"/>
                </a:solidFill>
                <a:latin typeface="Segoe UI"/>
              </a:rPr>
              <a:t>🎯  QUOI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1965960"/>
            <a:ext cx="341985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Obtenir des dons sous forme de prélèvements automatiques réguliers.
Permettre à l'association de CONTINUER son action humanitaire et d'AUGMENTER durablement le taux de dons.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4" y="1389888"/>
            <a:ext cx="3749039" cy="4956048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9014" y="1389888"/>
            <a:ext cx="3749039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6" y="1508760"/>
            <a:ext cx="34198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  <a:latin typeface="Segoe UI"/>
              </a:rPr>
              <a:t>💡  POURQUOI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6" y="1965960"/>
            <a:ext cx="341985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Chaque prélèvement régulier = des vies impactées sur le long terme.
Vous êtes le seul lien humain direct entre la cause et le donateur. Votre conviction fait la différence.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446520"/>
            <a:ext cx="11521440" cy="1828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49224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7611D"/>
                </a:solidFill>
                <a:latin typeface="Segoe UI"/>
              </a:rPr>
              <a:t>"LE REFUS D'AUJOURD'HUI PEUT ÊTRE LE DON DE DEMAIN."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02  —  LA NOMENCLATURE CLÉ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Les termes que vous devez savoir définir instantanément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54864" cy="89611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4264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1426464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Contact Utile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755648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Appel dont la durée dépasse strictement 60 secondes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04288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04288"/>
            <a:ext cx="54864" cy="89611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3591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CU/H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2359152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Contacts Utiles / Heure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5608" y="2688336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Nombre de CU ÷ Heures de production  →  Objectif :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36976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36976"/>
            <a:ext cx="54864" cy="8961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329184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Segoe UI"/>
              </a:rPr>
              <a:t>PDC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8" y="3291840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Plan de 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3621024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Volume de CU à produire sur le mois (fixé par la campagne)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69664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169664"/>
            <a:ext cx="54864" cy="89611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224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Segoe UI"/>
              </a:rPr>
              <a:t>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5608" y="4224528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Prélèvement Automatique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5608" y="4553712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Mode de don régulier  —  seul produit proposé sur cette campagne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102352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102352"/>
            <a:ext cx="54864" cy="89611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1572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Segoe UI"/>
              </a:rPr>
              <a:t>PEL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35608" y="5157216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Prélèvement En Ligne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8" y="5486400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Synonyme opérationnel de PA  —  entre dans le calcul du 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371600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1371600"/>
            <a:ext cx="54864" cy="8961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14264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TX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1426464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Taux de Transformation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7768" y="1755648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(Nombre de PEL × 100) ÷ Nombre de CU  —  Objectif selon association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304288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2200" y="2304288"/>
            <a:ext cx="54864" cy="8961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6792" y="23591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DON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8" y="2359152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Qualification : Don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2688336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CU dont l'issue est un PA confirmé (à chaud ou promesse)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236976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2200" y="3236976"/>
            <a:ext cx="54864" cy="8961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6792" y="329184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REF ARG.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3291840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Refus Argumenté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87768" y="3621024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CU conclu par refus après qu'au moins 1 contre-argument a été présenté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4169664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72200" y="4169664"/>
            <a:ext cx="54864" cy="8961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36792" y="4224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INDÉCIS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87768" y="4224528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Indécis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87768" y="4553712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CU conclu par hésitation  —  lien ou rappel à prévoir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102352"/>
            <a:ext cx="566928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72200" y="5102352"/>
            <a:ext cx="54864" cy="8961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6792" y="51572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Segoe UI"/>
              </a:rPr>
              <a:t>ERR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87768" y="5157216"/>
            <a:ext cx="4407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Écouter → Reformuler → Rebondir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87768" y="5486400"/>
            <a:ext cx="44074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Méthode officielle de traitement des objections (book dédié)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03  —  LES FORMULES KPI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Savoir les énoncer, les calculer et les interpréter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325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KPI 1 — CU/H  (Objectif : 9 minimum)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4FF"/>
                </a:solidFill>
                <a:latin typeface="Courier New"/>
              </a:rPr>
              <a:t>CU/H  =  CU réalisés  ÷  Heures de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082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urier New"/>
              </a:rPr>
              <a:t>Exemple Philippe :  68  ÷  7h  =  9,71 CU/H  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816352"/>
            <a:ext cx="11521440" cy="1417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89504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KPI 2 — TAUX DE TRANSFORMATION  (Objectif selon association)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363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4FF"/>
                </a:solidFill>
                <a:latin typeface="Courier New"/>
              </a:rPr>
              <a:t>TX (%)  =  ( Nombre de PEL ou PA  ×  100 )  ÷  Nombre de 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65576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urier New"/>
              </a:rPr>
              <a:t>Exemple Michel  :  ( 1 PEL  ×  100 )  ÷  72 CU  =  1,39 %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352544"/>
            <a:ext cx="11521440" cy="1325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425696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KPI 3 — PDC  (Plan de Charge mensuel — valeur communiquée par superviseur)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7258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4FF"/>
                </a:solidFill>
                <a:latin typeface="Courier New"/>
              </a:rPr>
              <a:t>PDC atteint  =  CU/H moyen équipe  ×  Heures produites totales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017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urier New"/>
              </a:rPr>
              <a:t>Objectif journée  =  9 CU/H  ×  6,67 h production  =  60 CU/jour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79008"/>
            <a:ext cx="11521440" cy="73152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5897880"/>
            <a:ext cx="3749039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" y="594360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✅  CU/H ≥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61813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Objectif atteint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7" y="5897880"/>
            <a:ext cx="3749039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5" y="594360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C40F"/>
                </a:solidFill>
                <a:latin typeface="Segoe UI"/>
              </a:rPr>
              <a:t>⚠  CU/H 7 –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5" y="61813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Zone d'alerte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4" y="5897880"/>
            <a:ext cx="3749039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38742" y="594360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✗  CU/H &lt;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2" y="61813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Sous le seuil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 —  LES 3 QUALIFICATIONS DE CONTACT UTILE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Tout appel &gt; 60 secondes DOIT être qualifié immédiatement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53312"/>
            <a:ext cx="11521440" cy="475488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0817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RAPPEL :  Un appel n'est un CU que si sa durée dépasse strictement 60 secondes. En dessous → non comptabilisé.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20240"/>
            <a:ext cx="3749039" cy="457200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20240"/>
            <a:ext cx="3749039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0116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7AE60"/>
                </a:solidFill>
                <a:latin typeface="Segoe UI"/>
              </a:rPr>
              <a:t>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4871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Segoe UI"/>
              </a:rPr>
              <a:t>DON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944368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PA confirmé à chaud (IBAN collecté)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328416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OU lien envoyé avec engagement 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3712464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→ Entre dans le calcul du 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096512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→ Qualifier DON seulement si PA initié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1" y="1920240"/>
            <a:ext cx="3749039" cy="4572000"/>
          </a:xfrm>
          <a:prstGeom prst="rect">
            <a:avLst/>
          </a:prstGeom>
          <a:solidFill>
            <a:srgbClr val="FDF0E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7951" y="1920240"/>
            <a:ext cx="3749039" cy="502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87951" y="20116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E74C3C"/>
                </a:solidFill>
                <a:latin typeface="Segoe UI"/>
              </a:rPr>
              <a:t>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7951" y="24871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Segoe UI"/>
              </a:rPr>
              <a:t>REFUS ARGUMENTÉ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3" y="2944368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Contact a refusé après échange argumenté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2543" y="3328416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Agent a présenté ≥ 1 contre-argument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2543" y="3712464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→ Ne compte pas dans le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3" y="4096512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→ Ne jamais qualifier sans avoir argumenté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2" y="1920240"/>
            <a:ext cx="3749039" cy="457200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55862" y="1920240"/>
            <a:ext cx="3749039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55862" y="20116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7941D"/>
                </a:solidFill>
                <a:latin typeface="Segoe UI"/>
              </a:rPr>
              <a:t>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55862" y="24871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7941D"/>
                </a:solidFill>
                <a:latin typeface="Segoe UI"/>
              </a:rPr>
              <a:t>INDÉCIS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4" y="2944368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Contact hésite ou veut réfléchir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0454" y="3328416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Lien de don peut être envoyé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4" y="3712464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→ Rappel possible à planifier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4" y="4096512"/>
            <a:ext cx="34198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→ Potentiel de transformation futur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6492240"/>
            <a:ext cx="11521440" cy="274320"/>
          </a:xfrm>
          <a:prstGeom prst="rect">
            <a:avLst/>
          </a:prstGeom>
          <a:solidFill>
            <a:srgbClr val="FEFDE8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3500"/>
                </a:solidFill>
                <a:latin typeface="Segoe UI"/>
              </a:rPr>
              <a:t>RÈGLE ABSOLUE : Tout doute sur la qualification = INDÉCIS. Ne jamais forcer un DON sans PA réellement initié.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05  —  CARTE BANCAIRE &amp; LE PRODUIT PA RÉGULIER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L'essentiel à retenir pour collecter avec confiance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53312"/>
            <a:ext cx="5486400" cy="502920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CARTE BANCAIRE — Composants clés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847088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11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Puce (depuis 1992)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Élément de sécurité du système CB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2322576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3865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Numéro de carte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395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16 chiffres — identifiant unique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798064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8620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Nom du titulaire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712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Propriétaire de la carte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273552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337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Date d'expiration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3467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MM/AA — validité de la carte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3749040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813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Cryptogramme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8221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 derniers chiffres — sécurise le paiement à distance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4224528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2885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Logo Visa / Mastercard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297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Réseau de paiement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4700016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47640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Piste magnétique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47731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Données de paiement en bande noire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5175504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23951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Hologramme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2486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Élément anti-contrefaçon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5650992"/>
            <a:ext cx="5431536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57150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IBAN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57241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Identifiant bancaire pour le prélèvement automatique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1353312"/>
            <a:ext cx="58064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2" y="1463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LE PRODUIT — PA RÉGULIER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847088"/>
            <a:ext cx="5806440" cy="43891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2" y="190195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SEUL produit proposé sur cette campagne — Aucun don ponctuel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53328" y="2395728"/>
            <a:ext cx="5769864" cy="173736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24871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MODE A — À CHAUD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2798064"/>
            <a:ext cx="5577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L'agent recueille l'IBAN pendant l'appel et valide lui-même le prélèvement en ligne.
→ Don sécurisé immédiatement  ·  Mode prioritaire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53328" y="4224528"/>
            <a:ext cx="5769864" cy="1737360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2" y="43159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MODE B — PROMESSE (LIEN)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9632" y="4626864"/>
            <a:ext cx="55778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L'agent envoie un lien sécurisé. Le donateur finalise lui-même.
→ Lien permanent (pas de date d'expiration)
→ E-mail de confirmation automatique au donateur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06  —  TYPES D'OPÉRATIONS  :  CONQUÊTE &amp; FIDÉLISATION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Deux missions distinctes — adapter son discours en conséquence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53312"/>
            <a:ext cx="5486400" cy="5138928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53312"/>
            <a:ext cx="548640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087"/>
                </a:solidFill>
                <a:latin typeface="Segoe UI"/>
              </a:rPr>
              <a:t>🎯  LA CONQUÊTE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5681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Appeler pour la 1ère fois un prospect.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Présenter les missions de l'association.
Convaincre d'adhérer à la cause.
Inciter à effectuer un PA en ligne.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51206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1363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▶  Dossier conquête 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6966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Prélèvement automatique en ligne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08576"/>
            <a:ext cx="51206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68172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▶  Dossier conquête DON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 en ligne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353312"/>
            <a:ext cx="5715000" cy="5138928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353312"/>
            <a:ext cx="5715000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1463040"/>
            <a:ext cx="5394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7941D"/>
                </a:solidFill>
                <a:latin typeface="Segoe UI"/>
              </a:rPr>
              <a:t>🔄  LA FIDÉLISATION (Réactivation)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195681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Rappeler un donateur existant mais inactif.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2860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Lui indiquer l'importance de son soutien.
Le tenir informé de l'actualité de l'association.
L'inciter à soutenir de nouveau.
S'il accepte → réactiver son soutien.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4224528"/>
            <a:ext cx="5715000" cy="1261872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4315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⚠  POINT DE VIGILANCE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4626864"/>
            <a:ext cx="53949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Veiller à ce que cet appel ne soit JAMAIS vécu par le donateur comme un rappel de paiement de cotisation.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07  —  LA PHRASE D'ACCROCHE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5 étapes obligatoires — dans cet ordre exact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438912" cy="89611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438912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71600"/>
            <a:ext cx="1234440" cy="89611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71600"/>
            <a:ext cx="12344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ALLÔ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4475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Décrocher et prononcer uniquement « Allô ? ». Attendre la réponse.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426464"/>
            <a:ext cx="50292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La voix identifie le genre : masculine → M.  /  féminine → Mme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304288"/>
            <a:ext cx="115214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304288"/>
            <a:ext cx="438912" cy="89611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304288"/>
            <a:ext cx="438912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304288"/>
            <a:ext cx="1234440" cy="89611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304288"/>
            <a:ext cx="12344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IDENTIFIER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76272" y="237744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Nommer le contact : PRÉNOM + NOM (jamais l'inverse).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359152"/>
            <a:ext cx="50292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✓ « Manuel Macron »  ·  « Christiano Ronaldo »  ·  « Donald Trump »
✗ JAMAIS « Macron Manuel » — ce n'est pas français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36976"/>
            <a:ext cx="115214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236976"/>
            <a:ext cx="438912" cy="8961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236976"/>
            <a:ext cx="438912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236976"/>
            <a:ext cx="1234440" cy="8961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36976"/>
            <a:ext cx="12344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BONJOUR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6272" y="331012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Formule de politesse avec le genre identifié.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291840"/>
            <a:ext cx="50292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« Bonjour M. [Prénom Nom] »  ou  « Bonjour Mme [Prénom Nom] 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169664"/>
            <a:ext cx="115214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4169664"/>
            <a:ext cx="438912" cy="8961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4169664"/>
            <a:ext cx="438912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69664"/>
            <a:ext cx="1234440" cy="8961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169664"/>
            <a:ext cx="12344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SE PRÉSENTER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6272" y="424281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Donner son prénom + présenter Fidelis mandaté par l'UNICEF.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224528"/>
            <a:ext cx="50292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« Je suis [Prénom], j'appelle de la part de Fidelis, mandaté par l'UNICEF. 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102352"/>
            <a:ext cx="1152144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102352"/>
            <a:ext cx="438912" cy="8961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102352"/>
            <a:ext cx="438912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102352"/>
            <a:ext cx="1234440" cy="8961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102352"/>
            <a:ext cx="12344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CRÉER LE LIEN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6272" y="5175504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Demander si le contact connaît les actions humanitaires de l'UNICEF.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157216"/>
            <a:ext cx="50292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Quelle que soit la réponse → expliquer la mission de l'UNICEF et créer l'engagement émotionnel.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08  —  ORGANISATION DU TEMPS — HORAIRES J1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9h30 → 17h30  |  Production effective : 6h40  |  Objectif : 60 CU / journée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810512"/>
            <a:ext cx="11521440" cy="5486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54864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" y="1280160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3087"/>
                </a:solidFill>
                <a:latin typeface="Segoe UI"/>
              </a:rPr>
              <a:t>9h30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1664208" cy="1115568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29968"/>
            <a:ext cx="148132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PRISE DE POSTE
Briefing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554480"/>
            <a:ext cx="54864" cy="5029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3392" y="1280160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3087"/>
                </a:solidFill>
                <a:latin typeface="Segoe UI"/>
              </a:rPr>
              <a:t>10h00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938528"/>
            <a:ext cx="1664208" cy="1115568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029968"/>
            <a:ext cx="148132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7B8"/>
                </a:solidFill>
                <a:latin typeface="Segoe UI"/>
              </a:rPr>
              <a:t>PRODUCTION
Appels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554480"/>
            <a:ext cx="54864" cy="5029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1280160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3087"/>
                </a:solidFill>
                <a:latin typeface="Segoe UI"/>
              </a:rPr>
              <a:t>12h30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1938528"/>
            <a:ext cx="1664208" cy="1115568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029968"/>
            <a:ext cx="148132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  <a:latin typeface="Segoe UI"/>
              </a:rPr>
              <a:t>DÉJEUNER
1 heure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1554480"/>
            <a:ext cx="54864" cy="5029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1280160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3087"/>
                </a:solidFill>
                <a:latin typeface="Segoe UI"/>
              </a:rPr>
              <a:t>13h30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1938528"/>
            <a:ext cx="1664208" cy="1115568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2029968"/>
            <a:ext cx="148132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7B8"/>
                </a:solidFill>
                <a:latin typeface="Segoe UI"/>
              </a:rPr>
              <a:t>REPRISE
Production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280160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3087"/>
                </a:solidFill>
                <a:latin typeface="Segoe UI"/>
              </a:rPr>
              <a:t>15h30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938528"/>
            <a:ext cx="1664208" cy="1115568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029968"/>
            <a:ext cx="148132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Segoe UI"/>
              </a:rPr>
              <a:t>PAUSETTES
20 minutes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0" y="1554480"/>
            <a:ext cx="54864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2992" y="1280160"/>
            <a:ext cx="676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3087"/>
                </a:solidFill>
                <a:latin typeface="Segoe UI"/>
              </a:rPr>
              <a:t>17h30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1938528"/>
            <a:ext cx="1664208" cy="1115568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07040" y="2029968"/>
            <a:ext cx="148132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74C3C"/>
                </a:solidFill>
                <a:latin typeface="Segoe UI"/>
              </a:rPr>
              <a:t>FIN
Débriefing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200400"/>
            <a:ext cx="2834640" cy="1371600"/>
          </a:xfrm>
          <a:prstGeom prst="rect">
            <a:avLst/>
          </a:prstGeom>
          <a:solidFill>
            <a:srgbClr val="E8F0FB"/>
          </a:solidFill>
          <a:ln w="2540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3101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⏰  Amplitude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3087"/>
                </a:solidFill>
                <a:latin typeface="Segoe UI"/>
              </a:rPr>
              <a:t>8 heures
9h30 → 17h30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0128" y="3200400"/>
            <a:ext cx="2834640" cy="1371600"/>
          </a:xfrm>
          <a:prstGeom prst="rect">
            <a:avLst/>
          </a:prstGeom>
          <a:solidFill>
            <a:srgbClr val="FDF0E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47288" y="33101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🍽  Déjeuner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47288" y="365760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74C3C"/>
                </a:solidFill>
                <a:latin typeface="Segoe UI"/>
              </a:rPr>
              <a:t>– 1h00
non produite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0216" y="3200400"/>
            <a:ext cx="2834640" cy="137160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37376" y="33101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☕  Pausettes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65760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7941D"/>
                </a:solidFill>
                <a:latin typeface="Segoe UI"/>
              </a:rPr>
              <a:t>– 0h20
non produites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90304" y="3200400"/>
            <a:ext cx="2834640" cy="137160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27464" y="33101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✅  Production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365760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  <a:latin typeface="Segoe UI"/>
              </a:rPr>
              <a:t>= 6h40
base CU/H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709160"/>
            <a:ext cx="11521440" cy="1298448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782312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CALCUL DE L'OBJECTIF CU JOURNALIER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2920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D399"/>
                </a:solidFill>
                <a:latin typeface="Courier New"/>
              </a:rPr>
              <a:t>Objectif CU / journée  =  9 CU/H  ×  6,67 h  =  60 CU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35838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D3FC"/>
                </a:solidFill>
                <a:latin typeface="Courier New"/>
              </a:rPr>
              <a:t>Soit environ 10 CU par heure de production effective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71500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⚠  6h40 = 6,67 h décimales. Cet objectif s'adapte si les horaires varient.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09  —  QUIZ FLASH — TESTEZ-VOUS 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6 questions clés — répondez avant de regarder la réponse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53312"/>
            <a:ext cx="5687568" cy="80924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399032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  <a:latin typeface="Segoe UI"/>
              </a:rPr>
              <a:t>❓ 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09344"/>
            <a:ext cx="5468112" cy="516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Qu'est-ce qu'un CU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35708"/>
            <a:ext cx="5687568" cy="80924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72284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Segoe UI"/>
              </a:rPr>
              <a:t>✅  RÉPONSE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491740"/>
            <a:ext cx="5468112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Un appel dont la durée dépasse STRICTEMENT 60 secondes.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118104"/>
            <a:ext cx="5687568" cy="80924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163824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  <a:latin typeface="Segoe UI"/>
              </a:rPr>
              <a:t>❓ 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3374136"/>
            <a:ext cx="5468112" cy="516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Quelle est la formule du CU/H 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000500"/>
            <a:ext cx="5687568" cy="80924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4037076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Segoe UI"/>
              </a:rPr>
              <a:t>✅  RÉPONSE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256532"/>
            <a:ext cx="5468112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CU/H = Nombre de CU réalisés ÷ Heures de production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882896"/>
            <a:ext cx="5687568" cy="80924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4928616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  <a:latin typeface="Segoe UI"/>
              </a:rPr>
              <a:t>❓ 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138928"/>
            <a:ext cx="5468112" cy="516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Quelle est la formule du TX de transformation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765292"/>
            <a:ext cx="5687568" cy="80924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5801868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Segoe UI"/>
              </a:rPr>
              <a:t>✅  RÉPONSE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6021324"/>
            <a:ext cx="5468112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TX (%) = (Nombre de PEL ou PA × 100) ÷ Nombre de CU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353312"/>
            <a:ext cx="5687568" cy="80924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1399032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  <a:latin typeface="Segoe UI"/>
              </a:rPr>
              <a:t>❓ 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8" y="1609344"/>
            <a:ext cx="5468112" cy="516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Quel est l'objectif CU/H de la campagne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2235708"/>
            <a:ext cx="5687568" cy="80924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2272284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Segoe UI"/>
              </a:rPr>
              <a:t>✅  RÉPONSE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2491740"/>
            <a:ext cx="5468112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9 CU/H minimum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118104"/>
            <a:ext cx="5687568" cy="80924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1928" y="3163824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  <a:latin typeface="Segoe UI"/>
              </a:rPr>
              <a:t>❓ 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8" y="3374136"/>
            <a:ext cx="5468112" cy="516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Quel est le seul produit proposé sur cette campagne 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000500"/>
            <a:ext cx="5687568" cy="80924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4037076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Segoe UI"/>
              </a:rPr>
              <a:t>✅  RÉPONSE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8" y="4256532"/>
            <a:ext cx="5468112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Le prélèvement automatique régulier (PA). Aucun don ponctuel.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4882896"/>
            <a:ext cx="5687568" cy="80924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81928" y="4928616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  <a:latin typeface="Segoe UI"/>
              </a:rPr>
              <a:t>❓  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5138928"/>
            <a:ext cx="5468112" cy="516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Dans quel ordre doit-on nommer un contact 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5765292"/>
            <a:ext cx="5687568" cy="80924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5801868"/>
            <a:ext cx="54681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7AE60"/>
                </a:solidFill>
                <a:latin typeface="Segoe UI"/>
              </a:rPr>
              <a:t>✅  RÉPONSE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6021324"/>
            <a:ext cx="5468112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Toujours PRÉNOM puis NOM. Exemple : « Manuel Macron ». Jamais l'inverse.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Réveil Pédagogique  |  Fidelis × SHY Performance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53328" y="0"/>
            <a:ext cx="502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LE MANTRA DE LA CAMPAGNE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36192"/>
            <a:ext cx="5303520" cy="3657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"LE REFUS
D'AUJOURD'HUI
PEUT ÊTRE
LE DON DE DEMAIN."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CCEE"/>
                </a:solidFill>
                <a:latin typeface="Segoe UI"/>
              </a:rPr>
              <a:t>Chaque appel compte.
Chaque argument compte.
Chaque donateur compte.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LES 10 RÉFLEXES À ANCRER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72768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572768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7276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645920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Un CU = appel &gt; 60 secondes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066544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066544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6654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139696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CU/H = CU ÷ heures  →  objectif 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560320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560320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56032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33472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TX = (PEL × 100) ÷ CU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054096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054096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05409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127248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Seul le PA régulier est proposé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547872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3547872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621024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Allô ? → identifier genre → Prénom Nom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041648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041648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04164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114800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Présenter Fidelis mandaté par l'UNICEF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535424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4535424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53542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608576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Qualifier chaque CU : DON / REFUS ARG. / INDÉCIS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029200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5029200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502920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02352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Conquête = 1ère fois  |  Fidélisation = réactivation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22976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5522976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552297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5596128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Lien de don = permanent, pas de date d'expiration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6016752"/>
            <a:ext cx="539496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6016752"/>
            <a:ext cx="384048" cy="4572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601675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087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6089904"/>
            <a:ext cx="4892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Production effective J1 : 6h40 → objectif 60 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SYNTHÈSE J1 FIM  |  Fidelis × SHY Performance  |  Prêt(e) pour la suite 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