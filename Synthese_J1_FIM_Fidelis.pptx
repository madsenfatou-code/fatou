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0"/>
            <a:ext cx="54864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RÉVEIL PÉDAGOGIQUE  ·  PRÉ-SESSION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SYNTHÈSE</a:t>
            </a:r>
          </a:p>
          <a:p>
            <a:pPr algn="l"/>
            <a:r>
              <a:rPr sz="2800" b="0" i="0">
                <a:solidFill>
                  <a:srgbClr val="00AEEF"/>
                </a:solidFill>
                <a:latin typeface="Segoe UI"/>
              </a:rPr>
              <a:t>MODULE J1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  <a:latin typeface="Segoe UI"/>
              </a:rPr>
              <a:t>Rappel des points clés du J1 avant de
démarrer la suite du programme.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69080"/>
            <a:ext cx="5852160" cy="457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24528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Objectif de cette synthèse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▸  Revoir les définitions vues en J1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▸  Ancrer les formules et qualifications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▸  Identifier les notions à consolider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66928"/>
            <a:ext cx="5047488" cy="587044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6949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AU PROGRAMME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2592" y="1097280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09728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11521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Mission, Mandat &amp; Acteurs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1591056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5910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1645920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La Nomenclature Clé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2592" y="2084832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08483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2139696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Les Formules KPI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2578608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257860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26334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Les 3 Qualifications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2592" y="3072384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307238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312724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Modes de Paiement &amp; Produit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2" y="3566160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356616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362102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Conquête &amp; Fidélisation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2592" y="4059936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405993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4114800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La Phrase d'Accroche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22592" y="4553712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455371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4608576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Quiz Flash — Testez-vous 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01  —  MISSION, MANDAT &amp; ACTEURS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Qui fait quoi — la chaîne de responsabilité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2801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5029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EF"/>
                </a:solidFill>
                <a:latin typeface="Segoe UI"/>
              </a:rPr>
              <a:t>🏛  FIDELIS — LE DONNEUR D'ORDRE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Fidelis est le partenaire central. Il mandate SHY Performance pour la Conquête et les PA. Il gère lui-même la Fidélisation / Réactivation. Fidelis est le coordinateur de toutes les opérations — il fait tout.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0448" y="2788920"/>
            <a:ext cx="274320" cy="4572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816352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7941D"/>
                </a:solidFill>
                <a:latin typeface="Segoe UI"/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44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941D"/>
                </a:solidFill>
                <a:latin typeface="Segoe UI"/>
              </a:rPr>
              <a:t>MANDATE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73552"/>
            <a:ext cx="3749039" cy="3127248"/>
          </a:xfrm>
          <a:prstGeom prst="rect">
            <a:avLst/>
          </a:prstGeom>
          <a:solidFill>
            <a:srgbClr val="E8F0FB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73552"/>
            <a:ext cx="3749039" cy="5029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7B8"/>
                </a:solidFill>
                <a:latin typeface="Segoe UI"/>
              </a:rPr>
              <a:t>🎯  SHY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Mandatée par Fidelis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Réalise la CONQUÊTE (1ère fois)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70832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Collecte les PA (Prélèvements Automatiques)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1830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Représente l'UNICEF lors de chaque appel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65776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Qualifie chaque CU dans l'outil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1" y="3273552"/>
            <a:ext cx="3749039" cy="3127248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1" y="3273552"/>
            <a:ext cx="3749039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1" y="336499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Segoe UI"/>
              </a:rPr>
              <a:t>🌍  L'UNICEF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1" y="370332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Association partenaire représentée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1" y="4023360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Présent dans 190 pays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1" y="4370832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Défend les droits et la survie des enfants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1" y="471830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Nutrition · Santé · Eau · Éducation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1" y="5065776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Les dons financent ses programmes terrain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2" y="3273552"/>
            <a:ext cx="3749039" cy="3127248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2" y="3273552"/>
            <a:ext cx="3749039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2" y="336499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Segoe UI"/>
              </a:rPr>
              <a:t>🔄  FIDELIS — FIDÉLISATION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2" y="370332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Géré directement par Fidelis (pas SHY)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2" y="4023360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Rappelle les anciens donateurs inactifs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2" y="4370832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Les informe de l'actualité de l'association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71830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Réactive leur soutien si accord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2" y="5065776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⚠ Ne doit pas ressembler à un rappel de cotisation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55664"/>
            <a:ext cx="11521440" cy="2743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611D"/>
                </a:solidFill>
                <a:latin typeface="Segoe UI"/>
              </a:rPr>
              <a:t>"LE REFUS D'AUJOURD'HUI PEUT ÊTRE LE DON DE DEMAIN."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02  —  LA NOMENCLATURE CLÉ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Les termes que vous devez savoir définir instantanément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" cy="8961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4173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FUNDRAISER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17320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Collecteur de fonds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19072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Agent SHY Performance mandaté par Fidelis pour collecter des dons par téléphone au nom de l'UNICEF.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95144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295144"/>
            <a:ext cx="54864" cy="89611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34086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40864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Contact Utile / Contact Argumenté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42616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Appel dont la durée de communication dépasse STRICTEMENT 60 secondes. En dessous → non comptabilisé.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18688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18688"/>
            <a:ext cx="54864" cy="89611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2644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CU/H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64408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Contacts Utiles par Heure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60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Nombre de CU réalisés ÷ Heures de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42232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42232"/>
            <a:ext cx="54864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18795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PDC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87952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Plan de 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9704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Volume de CU à produire sur le mois, fixé par la campagne.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65776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65776"/>
            <a:ext cx="54864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1114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Segoe UI"/>
              </a:rPr>
              <a:t>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11496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Prélèvement Automatique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13248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Don régulier prélevé automatiquement. SEUL produit proposé par SHY sur cette campagne.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371600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1371600"/>
            <a:ext cx="54864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14173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Segoe UI"/>
              </a:rPr>
              <a:t>PEL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1417320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Prélèvement En Ligne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719072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PA finalisé en ligne. Peut être effectué par le FUNDRAISER (à chaud, avec l'IBAN) OU par le client lui-même via le lien.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295144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2295144"/>
            <a:ext cx="54864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34086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TX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340864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Taux de Transformation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2642616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(Nombre de PEL × 100) ÷ Nombre de CU  —  % de dons parmi les CU.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18688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3218688"/>
            <a:ext cx="54864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32644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DON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3264408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Qualification : Don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566160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CU dont l'issue est un PA confirmé — à chaud (IBAN collecté) ou par promesse (lien envoyé).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142232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4142232"/>
            <a:ext cx="54864" cy="8961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6792" y="418795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REF ARG.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4187952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Refus Argumenté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489704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CU conclu par refus, après présentation d'au moins 1 contre-argument par le fundraiser.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065776"/>
            <a:ext cx="56692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72200" y="5065776"/>
            <a:ext cx="54864" cy="8961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6792" y="51114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INDÉCIS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111496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Indécis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413248"/>
            <a:ext cx="4279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Segoe UI"/>
              </a:rPr>
              <a:t>CU conclu par hésitation du contact. Lien ou rappel possible. Potentiel de transformation futur.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03  —  LES FORMULES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Savoir les énoncer et les calculer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KPI 1 — CU/H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F"/>
                </a:solidFill>
                <a:latin typeface="Courier New"/>
              </a:rPr>
              <a:t>CU/H  =  CU réalisés  ÷  Heures de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082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urier New"/>
              </a:rPr>
              <a:t>Exemple Philippe :  68 CU  ÷  7 h  =  9,71 CU/H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16352"/>
            <a:ext cx="11521440" cy="1444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9504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KPI 2 — TAUX DE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363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F"/>
                </a:solidFill>
                <a:latin typeface="Courier New"/>
              </a:rPr>
              <a:t>TX (%)  =  ( Nombre de PEL ou PA  ×  100 )  ÷  Nombre de 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655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Courier New"/>
              </a:rPr>
              <a:t>Exemple Michel  :  ( 1 PEL  ×  100 )  ÷  72 CU  =  1,39 %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 PEL = fait par le fundraiser (IBAN) OU par le client (lien)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89120"/>
            <a:ext cx="115214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KPI 3 — PDC (Plan de Charge)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F"/>
                </a:solidFill>
                <a:latin typeface="Courier New"/>
              </a:rPr>
              <a:t>PDC atteint  =  CU/H moyen équipe  ×  Heures produites totales équipe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66944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Segoe UI"/>
              </a:rPr>
              <a:t>La valeur PDC est communiquée par le superviseur en début de campagne.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87568"/>
            <a:ext cx="11521440" cy="329184"/>
          </a:xfrm>
          <a:prstGeom prst="rect">
            <a:avLst/>
          </a:prstGeom>
          <a:solidFill>
            <a:srgbClr val="E8F0FB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42432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INTERPRÉTATION CU/H :    ✅  ≥ 9  →  Objectif atteint     ⚠  7–9  →  Zone d'alerte     ✗  &lt; 7  →  Sous le seuil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080760"/>
            <a:ext cx="11521440" cy="438912"/>
          </a:xfrm>
          <a:prstGeom prst="rect">
            <a:avLst/>
          </a:prstGeom>
          <a:solidFill>
            <a:srgbClr val="FEFDE8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1264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6000"/>
                </a:solidFill>
                <a:latin typeface="Segoe UI"/>
              </a:rPr>
              <a:t>RAPPEL :  Le CU/H et le TX sont des KPI de production. Durant cette formation initiale, ils servent à comprendre le pilotage, pas à mesurer une performance.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04  —  LES 3 QUALIFICATIONS DE CONTACT UTILE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Tout appel &gt; 60 secondes DOIT être qualifié immédiatement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1521440" cy="45720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RAPPEL :  Un appel n'est un CU que si sa durée dépasse STRICTEMENT 60 secondes. En dessous → non comptabilisé.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3749039" cy="457200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3749039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7AE60"/>
                </a:solidFill>
                <a:latin typeface="Segoe UI"/>
              </a:rPr>
              <a:t>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87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Segoe UI"/>
              </a:rPr>
              <a:t>DON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4436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PA confirmé à chaud (IBAN collecté par le fundraiser)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375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OU lien envoyé — client finalise lui-même en ligne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7307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Entre dans le calcul du TX de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12394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Ne qualifier DON que si PA réellement initié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1" y="1920240"/>
            <a:ext cx="3749039" cy="4572000"/>
          </a:xfrm>
          <a:prstGeom prst="rect">
            <a:avLst/>
          </a:prstGeom>
          <a:solidFill>
            <a:srgbClr val="FDF0E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1" y="1920240"/>
            <a:ext cx="3749039" cy="502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1" y="2011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74C3C"/>
                </a:solidFill>
                <a:latin typeface="Segoe UI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1" y="2487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REFUS ARGUMENTÉ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3" y="294436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Contact a refusé après un échange argumenté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3" y="33375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Le fundraiser a présenté au moins 1 contre-argument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3" y="37307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Ne compte pas dans le TX de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3" y="412394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Ne jamais qualifier sans avoir vraiment argumenté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5862" y="1920240"/>
            <a:ext cx="3749039" cy="457200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2" y="1920240"/>
            <a:ext cx="3749039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5862" y="2011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7941D"/>
                </a:solidFill>
                <a:latin typeface="Segoe UI"/>
              </a:rPr>
              <a:t>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2" y="2487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941D"/>
                </a:solidFill>
                <a:latin typeface="Segoe UI"/>
              </a:rPr>
              <a:t>INDÉCIS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4" y="294436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Contact hésite ou souhaite réfléchir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4" y="33375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Un lien de don peut lui être envoyé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4" y="37307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Un rappel ultérieur peut être planifié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4" y="412394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Potentiel de transformation futur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solidFill>
            <a:srgbClr val="FEFDE8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3500"/>
                </a:solidFill>
                <a:latin typeface="Segoe UI"/>
              </a:rPr>
              <a:t>RÈGLE ABSOLUE : Tout doute sur la qualification = INDÉCIS. Ne jamais forcer un DON sans PA réellement initié.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05  —  MODES DE PAIEMENT &amp; LE PRODUIT PA RÉGULIER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Comment le don est collecté — l'essentiel à retenir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1521440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RÈGLE D'OR : Seul le Prélèvement Automatique Régulier est proposé sur cette campagne. Aucun don ponctuel.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3749039" cy="457200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3749039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✅  IBAN — Prélèvement automatique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3474719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1401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MODE RECOMMANDÉ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34747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Le fundraiser collecte l'IBAN du client pendant l'appel et valide le prélèvement en ligne lui-même.
OU le client reçoit un lien et saisit son IBAN seul.
✓  Don sécurisé et pérenne
✓  L'IBAN ne périme jamais
✓  Mode prioritaire sur cette campagne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1" y="1920240"/>
            <a:ext cx="3749039" cy="457200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1" y="1920240"/>
            <a:ext cx="3749039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1" y="201168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⚠  CB — Carte Bancaire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1" y="2395728"/>
            <a:ext cx="3474719" cy="2743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241401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POSSIBLE MAIS NON RECOMMANDÉ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1" y="2743200"/>
            <a:ext cx="34747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Le paiement peut techniquement être réalisé par carte bancaire.
❌  La CB a une date d'expiration — le prélèvement s'arrête
     automatiquement à l'expiration de la carte.
❌  Risque de perte du donateur sans action de sa part.
→  Préférer systématiquement l'IBAN.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5862" y="1920240"/>
            <a:ext cx="3749039" cy="45720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5862" y="1920240"/>
            <a:ext cx="3749039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2" y="201168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Segoe UI"/>
              </a:rPr>
              <a:t>🔗  Lien de don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2" y="2395728"/>
            <a:ext cx="3474719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2" y="241401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PROMESSE — CLIENT FINALISE SEUL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2" y="2743200"/>
            <a:ext cx="34747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Le fundraiser envoie un lien sécurisé au client.
Le client finalise lui-même en ligne.
✓  Lien PERMANENT — aucune date d'expiration
✓  Redirige vers le site officiel de l'association
✓  E-mail de confirmation automatique au donateur
→  Qualification : INDÉCIS jusqu'à confirmation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06  —  TYPES D'OPÉRATIONS : CONQUÊTE &amp; FIDÉLISATION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Deux missions distinctes — deux acteurs différents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1521440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Segoe UI"/>
              </a:rPr>
              <a:t>🏛  FIDELIS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EE"/>
                </a:solidFill>
                <a:latin typeface="Segoe UI"/>
              </a:rPr>
              <a:t>Coordinateur — mandate SHY Performance — gère lui-même la Fidélisation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447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941D"/>
                </a:solidFill>
                <a:latin typeface="Segoe UI"/>
              </a:rPr>
              <a:t>→ mandate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2646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41D"/>
                </a:solidFill>
                <a:latin typeface="Segoe UI"/>
              </a:rPr>
              <a:t>🎯  SHY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00784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EE"/>
                </a:solidFill>
                <a:latin typeface="Segoe UI"/>
              </a:rPr>
              <a:t>Réalise la Conquête et collecte les 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66543"/>
            <a:ext cx="5486400" cy="4224528"/>
          </a:xfrm>
          <a:prstGeom prst="rect">
            <a:avLst/>
          </a:prstGeom>
          <a:solidFill>
            <a:srgbClr val="E8F0FB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66543"/>
            <a:ext cx="5486400" cy="5029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76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Segoe UI"/>
              </a:rPr>
              <a:t>🎯  LA CONQUÊTE  —  SHY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Appeler pour la 1ère fois un prospect.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4436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Présenter les missions de l'UNICEF représenté par Fidelis.
Convaincre d'adhérer à la cause.
Inciter à effectuer un PA en ligne (PEL).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5074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891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▶  Dossier conquête 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45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Prélèvement automatique en ligne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65776"/>
            <a:ext cx="5074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389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▶  Dossier conquête DON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Don en ligne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066543"/>
            <a:ext cx="5715000" cy="4224528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066543"/>
            <a:ext cx="5715000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  <a:latin typeface="Segoe UI"/>
              </a:rPr>
              <a:t>🔄  LA FIDÉLISATION  —  FIDELIS uniquement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6151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Rappeler un donateur existant mais inactif.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294436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L'informer de l'importance de son soutien à la cause.
Le tenir informé de l'actualité de l'association.
L'inciter à soutenir de nouveau.
S'il accepte → réactiver son soutien.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4498848"/>
            <a:ext cx="5678424" cy="1170432"/>
          </a:xfrm>
          <a:prstGeom prst="rect">
            <a:avLst/>
          </a:prstGeom>
          <a:solidFill>
            <a:srgbClr val="FD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5902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⚠  POINT DE VIGILANCE ABSOLU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90118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Cet appel ne doit JAMAIS être vécu par le donateur
comme un rappel de paiement de cotisation.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07  —  LA PHRASE D'ACCROCHE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5 étapes obligatoires — dans cet ordre exact — sans exception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438912" cy="8778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4389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1188720" cy="8778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11887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ALLÔ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4356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Prononcer uniquement « Allô ? » puis attendre la réponse.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8272" y="1426464"/>
            <a:ext cx="18288" cy="768096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2646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La voix permet d'identifier le genre.  Masculine → M.   Féminine → Mme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1152144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86000"/>
            <a:ext cx="438912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86000"/>
            <a:ext cx="4389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286000"/>
            <a:ext cx="1188720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286000"/>
            <a:ext cx="11887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IDENTIFIER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9696" y="23500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Nommer le contact : PRÉNOM + NOM — jamais l'inverse.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8272" y="2340864"/>
            <a:ext cx="18288" cy="768096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34086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✓  "Manuel Macron"  ·  "Christiano Ronaldo"  ·  "Donald Trump"
✗  JAMAIS "Macron Manuel" — ce n'est pas français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00400"/>
            <a:ext cx="1152144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200400"/>
            <a:ext cx="438912" cy="8778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00400"/>
            <a:ext cx="4389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200400"/>
            <a:ext cx="1188720" cy="8778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0400"/>
            <a:ext cx="11887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BONJOUR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32644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Formule de politesse avec le genre identifié à l'étape 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8272" y="3255264"/>
            <a:ext cx="18288" cy="768096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25526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"Bonjour M. [Prénom Nom]"   ou   "Bonjour Mme [Prénom Nom]"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14800"/>
            <a:ext cx="1152144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114800"/>
            <a:ext cx="438912" cy="87782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114800"/>
            <a:ext cx="4389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114800"/>
            <a:ext cx="1188720" cy="87782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14800"/>
            <a:ext cx="11887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SE PRÉSENTER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9696" y="4178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Son prénom + Fidelis mandaté par l'UNICEF.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4169664"/>
            <a:ext cx="18288" cy="768096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16966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"Je suis [Prénom], j'appelle de la part de Fidelis, mandaté par l'UNICEF."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029200"/>
            <a:ext cx="1152144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5029200"/>
            <a:ext cx="438912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029200"/>
            <a:ext cx="4389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029200"/>
            <a:ext cx="1188720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029200"/>
            <a:ext cx="11887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CRÉER LE LIEN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9696" y="50932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Demander si le contact connaît les actions humanitaires de l'UNICEF.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5084064"/>
            <a:ext cx="18288" cy="768096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08406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Quelle que soit la réponse → expliquer la mission UNICEF et créer l'engagement émotionnel.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08  —  QUIZ FLASH — TESTEZ-VOUS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8 questions clés — répondez mentalement avant de regarder la réponse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17320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18488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Qu'est-ce qu'un CU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0824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57400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58568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Appel dont la durée dépasse STRICTEMENT 60 secondes.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88336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734056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935224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Quelle est la formule du CU/H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374136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575304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CU/H = Nombre de CU réalisés ÷ Heures de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05072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050792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251960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Formule du Taux de Transformation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54296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690872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892040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TX (%) = (Nombre de PEL × 100) ÷ Nombre de 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21808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367528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68696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Qui peut réaliser un PEL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971032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6007608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6208776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Le FUNDRAISER (IBAN à chaud) OU le CLIENT lui-même (via le lien).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371600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417320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618488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Pourquoi l'IBAN est préféré à la CB 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020824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2057400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258568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L'IBAN ne périme jamais. La CB a une date d'expiration → le don s'arrête.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688336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2734056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935224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Qui gère la Fidélisation 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337560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3374136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8" y="3575304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FIDELIS uniquement — pas SHY Performance.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005072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4050792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8" y="4251960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Dans quel ordre nommer un contact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654296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4690872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4892040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PRÉNOM puis NOM. Ex : « Manuel Macron ». Jamais l'inverse.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321808"/>
            <a:ext cx="5687568" cy="59436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5367528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  <a:latin typeface="Segoe UI"/>
              </a:rPr>
              <a:t>❓  QUESTION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5568696"/>
            <a:ext cx="54681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Quel est le seul produit proposé par SHY sur cette campagne 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971032"/>
            <a:ext cx="5687568" cy="594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6007608"/>
            <a:ext cx="5468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Segoe UI"/>
              </a:rPr>
              <a:t>✅  RÉPONSE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1928" y="6208776"/>
            <a:ext cx="5468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087"/>
                </a:solidFill>
                <a:latin typeface="Segoe UI"/>
              </a:rPr>
              <a:t>Le Prélèvement Automatique Régulier (PA). Aucun don ponctuel.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 |  Réveil Pédagogique  |  Fidelis × SHY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3328" y="0"/>
            <a:ext cx="502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LE MANTRA DE LA CAMPAGNE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6464"/>
            <a:ext cx="530352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"LE REFUS
D'AUJOURD'HUI
PEUT ÊTRE
LE DON DE DEMAIN."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  <a:latin typeface="Segoe UI"/>
              </a:rPr>
              <a:t>Chaque appel compte.
Chaque argument compte.
Chaque donateur compte.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LES RÉFLEXES FONDAMENTAUX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54533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CU = appel dépassant STRICTEMENT 60 secondes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38528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38528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385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2082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CU/H = CU ÷ heures de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14016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414016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1401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49631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TX = (PEL × 100) ÷ CU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889504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889504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8950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71800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PEL : fait par le fundraiser OU par le client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64992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364992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649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4728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IBAN recommandé — CB non (expiration)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40480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840480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4048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9227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Seul le PA régulier est proposé par SHY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315968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315968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159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39826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Conquête + PA → SHY 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791456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791456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79145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87375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Fidélisation → Fidelis uniquement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266944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5266944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669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349240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Allô ? → genre → Prénom Nom → Bonjour → Fidelis/UNICEF → UNICEF 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742432"/>
            <a:ext cx="539496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742432"/>
            <a:ext cx="384048" cy="4572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74243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82472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DON / REFUS ARG. / INDÉCIS : qualifier chaque CU immédiatement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SYNTHÈSE J1 FIM v2  |  Fidelis × SHY Performance  |  Prêt(e) pour la suite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