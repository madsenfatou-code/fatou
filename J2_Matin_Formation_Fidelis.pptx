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0"/>
            <a:ext cx="54864" cy="68580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FORMATION INITIALE MODULE  ·  J2 MATINÉE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Segoe UI"/>
              </a:rPr>
              <a:t>MODULE J2 — MATINÉE</a:t>
            </a:r>
          </a:p>
          <a:p>
            <a:pPr algn="l"/>
            <a:r>
              <a:rPr sz="1600" b="0" i="0">
                <a:solidFill>
                  <a:srgbClr val="00AEEF"/>
                </a:solidFill>
                <a:latin typeface="Segoe UI"/>
              </a:rPr>
              <a:t>Le Monde Associatif &amp; Humanitaire en France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10128"/>
            <a:ext cx="5852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BCCEE"/>
                </a:solidFill>
                <a:latin typeface="Segoe UI"/>
              </a:rPr>
              <a:t>9h30 – 13h30  |  4 heures  |  Fidelis mandaté par l'UNICEF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886200"/>
            <a:ext cx="5852160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4041648"/>
            <a:ext cx="5852160" cy="512064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087368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COMPRENDRE POUR CONVAINCRE — CHAQUE CITOYEN EST CONCERNÉ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566928"/>
            <a:ext cx="5047488" cy="5925312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694944"/>
            <a:ext cx="4663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EF"/>
                </a:solidFill>
                <a:latin typeface="Segoe UI"/>
              </a:rPr>
              <a:t>AU PROGRAMME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22592" y="1115568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1115568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1170432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Le Monde Associatif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22592" y="1609344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1609344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231" y="1664208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Définition Loi 1901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22592" y="2103120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2592" y="2103120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1" y="2157984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Types d'Associations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22592" y="2596896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22592" y="2596896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2651760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Ressources des Associations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22592" y="3090672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22592" y="3090672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1231" y="3145536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Histoire &amp; Humanitaire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22592" y="3584448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22592" y="3584448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71231" y="3639312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Marché de la Collecte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22592" y="4078224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22592" y="4078224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1231" y="4133088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Tout Citoyen est Concerné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22592" y="4572000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22592" y="4572000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71231" y="4626864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Impact Concret — Exemples Vérifiables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— Matinée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01 — LE MONDE ASSOCIATIF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La France associative : 1,5 million d'associations actives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11521440" cy="53035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89888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En France, 1,5 million d'associations emploient 1,8 million de salariés et mobilisent 22 millions de bénévoles.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993392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54864" cy="658368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579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CARE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1993392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18688" y="1993392"/>
            <a:ext cx="54864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21579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SOS SAHEL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1993392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17336" y="1993392"/>
            <a:ext cx="54864" cy="6583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4496" y="21579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KTO Télévision Catholique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15984" y="1993392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15984" y="1993392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1579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Institut de Cancérologie de Lorraine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743200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2743200"/>
            <a:ext cx="54864" cy="6583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90779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ICM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18688" y="2743200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18688" y="2743200"/>
            <a:ext cx="54864" cy="65836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5848" y="290779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UNADeV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17336" y="2743200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17336" y="2743200"/>
            <a:ext cx="54864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290779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Terre Solidaire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2743200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15984" y="2743200"/>
            <a:ext cx="54864" cy="65836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53144" y="290779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UNICEF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3493008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" y="3493008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36576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Douleurs sans frontières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18688" y="3493008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F76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18688" y="3493008"/>
            <a:ext cx="54864" cy="658368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55848" y="36576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Break Poverty Foundation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17336" y="3493008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17336" y="3493008"/>
            <a:ext cx="54864" cy="658368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54496" y="36576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Unapei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15984" y="3493008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15984" y="3493008"/>
            <a:ext cx="54864" cy="65836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53144" y="36576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Action contre la Faim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5230368"/>
            <a:ext cx="11521440" cy="548640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294376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L'UNICEF — partenaire de Fidelis — fait partie de ce monde associatif que vous représentez lors de chaque appel.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— Matinée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02 — DÉFINITION D'UNE 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Loi du 1er juillet 1901 — Texte fondateur du droit associatif français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11521440" cy="13716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1152144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44752"/>
            <a:ext cx="1115568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Segoe UI"/>
              </a:rPr>
              <a:t>L'article 1er de la loi du 1er juillet 1901 définit une association comme : « la convention par laquelle deux ou plusieurs personnes mettent en commun, d'une façon permanente, leurs connaissances ou leur activité dans un but autre que de partager des bénéfices... 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880360"/>
            <a:ext cx="5577840" cy="2834640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880360"/>
            <a:ext cx="5577840" cy="5029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9718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QU'EST-CE QU'UNE ASSOCIATION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55848"/>
            <a:ext cx="53492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Une association est un regroupement de deux personnes au minimum réunies autour d'un projet commun ou partageant des activités, mais sans chercher à réaliser de bénéfices. Elle peut avoir des buts très divers : sportif, défense des intérêts des membres, humanitaire, promotion d'idées ou d'œuvres...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2880360"/>
            <a:ext cx="5669280" cy="2834640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35040" y="2880360"/>
            <a:ext cx="5669280" cy="502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2971800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Segoe UI"/>
              </a:rPr>
              <a:t>LE CARACTÈRE DÉSINTÉRESSÉ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3355848"/>
            <a:ext cx="544068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Le caractère désintéressé interdit la distribution d'un bénéfice aux associés MAIS n'implique pas que l'activité soit non-commerciale ou déficitaire. L'objet peut être commercial (ex : commerce équitable) et le bénéfice peut servir à la développer.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— Matinée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03 — LES TYPES D'ASSOCIATIONS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Trois statuts — des droits et obligations différents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3749039" cy="4023360"/>
          </a:xfrm>
          <a:prstGeom prst="rect">
            <a:avLst/>
          </a:prstGeom>
          <a:solidFill>
            <a:srgbClr val="FFF4E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3749039" cy="502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47471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7941D"/>
                </a:solidFill>
                <a:latin typeface="Segoe UI"/>
              </a:rPr>
              <a:t>L'ASSOCIATION DE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4747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N'a pas fait l'objet d'une déclaration officielle → n'existe pas aux yeux de l'administration. Tout ce que ses membres entreprennent est réalisé en leur nom. Aucun accès aux avantages d'une association déclarée (subventions, agrément, dons...).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1371600"/>
            <a:ext cx="3749039" cy="4023360"/>
          </a:xfrm>
          <a:prstGeom prst="rect">
            <a:avLst/>
          </a:prstGeom>
          <a:solidFill>
            <a:srgbClr val="E8F0FB"/>
          </a:solidFill>
          <a:ln w="254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1" y="1371600"/>
            <a:ext cx="3749039" cy="5029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1" y="1463040"/>
            <a:ext cx="347471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7B8"/>
                </a:solidFill>
                <a:latin typeface="Segoe UI"/>
              </a:rPr>
              <a:t>L'ASSOCIATION DÉCLARÉE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5111" y="1965960"/>
            <a:ext cx="34747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Association classique par excellence. Officiellement enregistrée par l'administration française → existe aux yeux de l'État. Exemple : association culturelle, club de cinéma, club sportif.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2" y="1371600"/>
            <a:ext cx="3749039" cy="4023360"/>
          </a:xfrm>
          <a:prstGeom prst="rect">
            <a:avLst/>
          </a:prstGeom>
          <a:solidFill>
            <a:srgbClr val="EAFAF1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5862" y="1371600"/>
            <a:ext cx="3749039" cy="502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2" y="1463040"/>
            <a:ext cx="347471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  <a:latin typeface="Segoe UI"/>
              </a:rPr>
              <a:t>L'ASSOCIATION RECONNUE D'UTILITÉ PUBLIQUE (RUP)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2" y="1965960"/>
            <a:ext cx="34747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Statut accordé par l'État. Confère des avantages importants : réception de donations et legs. Toute association loi 1901 peut obtenir l'agrément. → L'UNICEF dispose de ce statut en France.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532120"/>
            <a:ext cx="11521440" cy="5120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59612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LES RESSOURCES DES ASSOCIATIONS : Cotisations  ·  Subventions  ·  Dons  ·  Legs  ·  Mécénat  ·  Ventes de produits/services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— Matinée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04 — L'HISTOIRE DES ASSOCIATIONS CARITATIVES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Du Moyen Âge à l'humanitaire moderne — une longue histoire de solidarité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2788920" cy="27432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MOYEN ÂGE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25146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29968"/>
            <a:ext cx="25146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Les associations caritatives et humanitaires trouvent leur origine au Moyen Âge en Europe. D'émanation religieuse, elles combattent pour les populations indigentes et les soldats blessés.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1371600"/>
            <a:ext cx="2788920" cy="2743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146304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1859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5848" y="1920240"/>
            <a:ext cx="25146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2029968"/>
            <a:ext cx="25146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Henry Dunant, homme d'affaires suisse, vient en aide aux soldats blessés à la bataille de Solférino. Naissance de la Croix-Rouge et du droit humanitaire international.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788920" cy="2743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4496" y="146304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1901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1920240"/>
            <a:ext cx="25146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2029968"/>
            <a:ext cx="25146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Loi du 1er juillet 1901 : cadre légal des associations en France. Explosion du monde associatif. Apparition des grandes ONG modernes.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15984" y="1371600"/>
            <a:ext cx="2788920" cy="274320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46304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AUJOURD'HUI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53144" y="1920240"/>
            <a:ext cx="25146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3144" y="2029968"/>
            <a:ext cx="25146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1,5 million d'associations en France. L'UNICEF présent dans 190 pays. Les dons réguliers financent des actions continues et vitales.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251960"/>
            <a:ext cx="11521440" cy="8412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315968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EEF"/>
                </a:solidFill>
                <a:latin typeface="Segoe UI"/>
              </a:rPr>
              <a:t>DÉFINITION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590288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L'HUMANITAIRE se résume à l'ASSISTANCE et aux SECOURS dans les situations de conflits armés ou catastrophes naturelles.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— Matinée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04 — LES PRINCIPES DE L'HUMANITAIRE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Les valeurs fondamentales qui guident l'action associative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5577840" cy="21945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EEF"/>
                </a:solidFill>
                <a:latin typeface="Segoe UI"/>
              </a:rPr>
              <a:t>LES BASES DE L'ASSISTANCE HUMANITAIRE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83664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  ▸  L'Humanité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  ▸  L'Impartialité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05456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  ▸  La Neutralité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1635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  ▸  L'Indépendance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2724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  ▸  L'Assistance aux plus vulnérables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675887"/>
            <a:ext cx="5577840" cy="1920240"/>
          </a:xfrm>
          <a:prstGeom prst="rect">
            <a:avLst/>
          </a:prstGeom>
          <a:solidFill>
            <a:srgbClr val="E8F0FB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67327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LES PRINCIPES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9663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Interdiction que l'aide soit distribuée pour des motifs religieux ou politiques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57199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Devoir de transparence envers les bénéficiaires et les donateurs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974335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Contrôle par un commissaire aux comptes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371600"/>
            <a:ext cx="5669280" cy="34747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4173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LES ACTEURS DE L'HUMANITAIRE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773936"/>
            <a:ext cx="5669280" cy="1115568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773936"/>
            <a:ext cx="5669280" cy="411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184708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L'ÉTAT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176272"/>
            <a:ext cx="5394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Financements publics, cadre légal, diplomatie internationale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944368"/>
            <a:ext cx="5669280" cy="1115568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2944368"/>
            <a:ext cx="5669280" cy="4114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301752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LES ONG GÉNÉRALISTES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46704"/>
            <a:ext cx="5394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UNICEF, Croix-Rouge, Médecins Sans Frontières...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4114800"/>
            <a:ext cx="5669280" cy="1115568"/>
          </a:xfrm>
          <a:prstGeom prst="rect">
            <a:avLst/>
          </a:prstGeom>
          <a:solidFill>
            <a:srgbClr val="F3F0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4114800"/>
            <a:ext cx="566928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418795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LES ONG SPÉCIALISÉES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517136"/>
            <a:ext cx="5394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Action contre la Faim, Care, SOS Sahel, Break Poverty...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715000"/>
            <a:ext cx="11521440" cy="43891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76986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AEEF"/>
                </a:solidFill>
                <a:latin typeface="Segoe UI"/>
              </a:rPr>
              <a:t>LES PRINCIPALES CAUSES : Sociale &amp; Enfance  ·  Développement du tiers monde  ·  Santé &amp; Recherche  ·  Cause animale  ·  Environnement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— Matinée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05 — LE MARCHÉ DE LA COLLECTE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Évolution historique — du boom à la crise de confiance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3749039" cy="3017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81328"/>
            <a:ext cx="3383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AVANT 1990 — PLEIN BOOM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3383279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84832"/>
            <a:ext cx="3383279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Les ONG reconnues pour leurs actions. Collecte facile. Outil quasi unique : le courrier postal (mailing). Confiance totale des donateurs.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1371600"/>
            <a:ext cx="3749039" cy="30175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70831" y="1481328"/>
            <a:ext cx="3383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1989–1995 — RENFORCEMENT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1" y="1965960"/>
            <a:ext cx="3383279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1" y="2084832"/>
            <a:ext cx="3383279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Création du Comité de la Charte (1989) et de l'AFF (Association Française des Fundraisers). Pleine expansion. Mailing dominant. Certaines causes s'offrent la TV : Le Téléthon.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2" y="1371600"/>
            <a:ext cx="3749039" cy="30175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2" y="1481328"/>
            <a:ext cx="3383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1996 — TOURNANT : L'AFFAIRE ARC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8742" y="1965960"/>
            <a:ext cx="3383279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2" y="2084832"/>
            <a:ext cx="3383279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L'affaire de l'ARC (Association pour la Recherche contre le Cancer) éclabousse tout le secteur. Toutes les associations caritatives sont pointées du doigt. Crise de confiance majeure.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35424"/>
            <a:ext cx="11521440" cy="1481328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608576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DEPUIS 2000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5546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F"/>
                </a:solidFill>
                <a:latin typeface="Courier New"/>
              </a:rPr>
              <a:t>DEPUIS 2000 : Saturation du marché · Concurrence accrue entre ONG · Sollicitations multiples · Contexte socio-économique difficile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18464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EEF"/>
                </a:solidFill>
                <a:latin typeface="Courier New"/>
              </a:rPr>
              <a:t>→ Le FUNDRAISER professionnel et éthique devient INDISPENSABLE.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— Matinée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06 — TOUT CITOYEN EST CONCERNÉ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Vous, vos proches, votre communauté — la preuve par les faits en France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53312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Segoe UI"/>
              </a:rPr>
              <a:t>Pensez-y : chacun d'entre nous a bénéficié directement ou indirectement d'une action associative ou humanitaire au cours de sa vie.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783080"/>
            <a:ext cx="3749039" cy="1426464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783080"/>
            <a:ext cx="3749039" cy="457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56232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SANTE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Les Restos du Cœur : 170 millions de repas/an. La Croix-Rouge : aide aux sans-abri. Les Hôpitaux : financés en partie par des fondations. → Si vous ou un proche avez été hospitalisé, des associations ont probablement contribué.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19" y="1783080"/>
            <a:ext cx="3749039" cy="1426464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19" y="1783080"/>
            <a:ext cx="3749039" cy="457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856232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ENFANCE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79" y="2148840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L'UNICEF agit aussi en France pour les enfants défavorisés. Des milliers d'associations protègent les enfants en danger. → Si vous connaissez un enfant en difficulté scolaire ou sociale, une association l'a peut-être aidé.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0998" y="1783080"/>
            <a:ext cx="3749039" cy="1426464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0998" y="1783080"/>
            <a:ext cx="3749039" cy="457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58" y="1856232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CATASTROPHES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8" y="2148840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Inondations dans le Var, tremblements de terre en Outre-mer. Croix-Rouge, Secours Populaire. → En cas de catastrophe naturelle en France, ce sont les bénévoles associatifs qui arrivent en premiers.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300984"/>
            <a:ext cx="3749039" cy="1426464"/>
          </a:xfrm>
          <a:prstGeom prst="rect">
            <a:avLst/>
          </a:prstGeom>
          <a:solidFill>
            <a:srgbClr val="F3F0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300984"/>
            <a:ext cx="3749039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374136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HANDICAP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666744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Unapei : 3 000 établissements pour personnes handicapées. APF France Handicap. → Si vous ou un proche êtes en situation de handicap, des associations permettent leur inclusion.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19" y="3300984"/>
            <a:ext cx="3749039" cy="1426464"/>
          </a:xfrm>
          <a:prstGeom prst="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19" y="3300984"/>
            <a:ext cx="3749039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79" y="3374136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Segoe UI"/>
              </a:rPr>
              <a:t>EDUCATION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79" y="3666744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Des milliers d'associations de soutien scolaire. ATD Quart Monde lutte contre l'illettrisme. → Des millions d'élèves ont reçu une aide associative pour réussir leur scolarité.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00998" y="3300984"/>
            <a:ext cx="3749039" cy="1426464"/>
          </a:xfrm>
          <a:prstGeom prst="rect">
            <a:avLst/>
          </a:prstGeom>
          <a:solidFill>
            <a:srgbClr val="FDF0E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00998" y="3300984"/>
            <a:ext cx="3749039" cy="457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58" y="3374136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PERSONNES AGEES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58" y="3666744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Les Petits Frères des Pauvres combattent l'isolement. ADMR : aide à domicile pour 700 000 personnes/an. → Si un de vos proches âgés a besoin d'aide, des associations sont là.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— Matinée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07 — IMPACT MONDIAL — L'UNICEF EN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Des exemples concrets et vérifiables à travers le monde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11521440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89888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L'UNICEF : 75 ans d'action dans 190 pays — quelques résultats concrets et vérifiables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901952"/>
            <a:ext cx="3749039" cy="1426464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3749039" cy="457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975104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VACCINATION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67712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L'UNICEF vaccine 45% des enfants du monde. En 2022 : 2,2 milliards de vaccins distribués. → La polio, quasi éradiquée grâce à l'UNICEF, aurait paralysé des millions d'enfants.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19" y="1901952"/>
            <a:ext cx="3749039" cy="1426464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19" y="1901952"/>
            <a:ext cx="3749039" cy="457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1975104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EAU POTABLE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79" y="2267712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6,4 millions de personnes ont accès à l'eau potable grâce à l'UNICEF. Des milliers de puits et pompes installés en Afrique subsaharienne. → Sans eau propre : diarrhées mortelles, choléra.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998" y="1901952"/>
            <a:ext cx="3749039" cy="1426464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0998" y="1901952"/>
            <a:ext cx="3749039" cy="457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58" y="1975104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NUTRITION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8" y="2267712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Chaque année : 3 millions d'enfants souffrent de malnutrition sévère. L'UNICEF fournit des sachets de Plumpy'Nut (aliment thérapeutique). → Un sachet de 5€ peut sauver un enfant de la mort.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419856"/>
            <a:ext cx="3749039" cy="1426464"/>
          </a:xfrm>
          <a:prstGeom prst="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419856"/>
            <a:ext cx="3749039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493008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Segoe UI"/>
              </a:rPr>
              <a:t>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85616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L'UNICEF scolarise des millions d'enfants dans les zones de conflit. Écoles mobiles, kits scolaires. → 244 millions d'enfants ne vont pas à l'école sans aide humanitaire.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19" y="3419856"/>
            <a:ext cx="3749039" cy="1426464"/>
          </a:xfrm>
          <a:prstGeom prst="rect">
            <a:avLst/>
          </a:prstGeom>
          <a:solidFill>
            <a:srgbClr val="F3F0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0519" y="3419856"/>
            <a:ext cx="3749039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9" y="3493008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PROTECTION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9" y="3785616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Protection des enfants soldats, lutte contre les mariages forcés. → 300 000 enfants soldats dans le monde. L'UNICEF travaille à leur démobilisation.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998" y="3419856"/>
            <a:ext cx="3749039" cy="1426464"/>
          </a:xfrm>
          <a:prstGeom prst="rect">
            <a:avLst/>
          </a:prstGeom>
          <a:solidFill>
            <a:srgbClr val="FDF0E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00998" y="3419856"/>
            <a:ext cx="3749039" cy="457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58" y="3493008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URGENCES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58" y="3785616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Haïti, Syrie, Ukraine, Gaza, Yémen. L'UNICEF intervient dans les 72h après une catastrophe. → Sans intervention rapide : épidémies, famines, mortalité infantile explosive.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— Matinée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08 — POURQUOI LE DON RÉGULIER EST VITAL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La légitimité de notre demande — transformer la compréhension en conviction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11521440" cy="1078992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44752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COMPRENDRE → S'ENGAGER → CONVAINCRE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COMPRENDRE → S'ENGAGER → CONVAINCRE  |  Un donateur qui comprend l'impact de son don donne davantage, plus longtemps, et convainc son entourage.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578608"/>
            <a:ext cx="5577840" cy="3017520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578608"/>
            <a:ext cx="5577840" cy="5029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70048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POURQUOI LE PRÉLÈVEMENT RÉGULIER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54096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Permet de planifier les actions sur le long terme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4728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Finance des programmes pluriannuels (ex : construction d'écoles)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Un don de 10€/mois = 120€/an = 1 enfant vacciné et nourri pendant 4 mois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33672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La régularité est plus efficace que les dons ponctuels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26864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L'IBAN garantit la continuité du soutien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20056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Chaque donateur régulier est un partenaire de l'UNICEF.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578608"/>
            <a:ext cx="5650992" cy="3017520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35040" y="2578608"/>
            <a:ext cx="5650992" cy="502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670048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941D"/>
                </a:solidFill>
                <a:latin typeface="Segoe UI"/>
              </a:rPr>
              <a:t>VOTRE RÔLE DE FUNDRAISER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054096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Vous n'êtes pas un vendeur — vous êtes un messager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447288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Vous relayez une cause qui touche chaque citoyen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840480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Vous permettez à l'UNICEF de continuer son 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233672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Un refus aujourd'hui peut être un don demain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626864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Votre conviction et votre culture de la cause font la différence.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687568"/>
            <a:ext cx="11521440" cy="475488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7424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"Sans vos appels, sans votre conviction — des programmes vitaux s'arrêtent. Vous êtes un maillon essentiel de la chaîne humanitaire."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— Matinée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53328" y="0"/>
            <a:ext cx="50292" cy="68580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MANTRA DE LA MATINÉE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5303520" cy="3657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26464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COMPRENDRE
POUR CONVAINCRE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957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EF"/>
                </a:solidFill>
                <a:latin typeface="Segoe UI"/>
              </a:rPr>
              <a:t>5 MESSAGES CLÉS À RETENIR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16352"/>
            <a:ext cx="5303520" cy="475488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816352"/>
            <a:ext cx="384048" cy="47548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16352"/>
            <a:ext cx="384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3087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898648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Le monde associatif représente 1,5 M d'associations &amp; 22 M de bénévoles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28416"/>
            <a:ext cx="5303520" cy="475488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28416"/>
            <a:ext cx="384048" cy="47548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328416"/>
            <a:ext cx="384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3087"/>
                </a:solidFill>
                <a:latin typeface="Segoe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3410712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Une association = 2 personnes min. + but non lucratif (loi 1901)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5303520" cy="475488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40480"/>
            <a:ext cx="384048" cy="47548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840480"/>
            <a:ext cx="384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3087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3922776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L'UNICEF est RUP — statut le plus solide accordé par l'État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52544"/>
            <a:ext cx="5303520" cy="475488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52544"/>
            <a:ext cx="384048" cy="47548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352544"/>
            <a:ext cx="384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3087"/>
                </a:solidFill>
                <a:latin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434840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1996 : crise ARC — la confiance doit se reconquérir par l'éthique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864608"/>
            <a:ext cx="5303520" cy="475488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64608"/>
            <a:ext cx="384048" cy="47548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864608"/>
            <a:ext cx="384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3087"/>
                </a:solidFill>
                <a:latin typeface="Segoe U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946904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Chaque citoyen est concerné — vous êtes un maillon vital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822960"/>
            <a:ext cx="5440680" cy="42062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87782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10 CHIFFRES À RETENIR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1325880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1325880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132588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76288" y="1408176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1,5 million d'associations en France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1801368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1801368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1801368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76288" y="1883664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22 millions de bénévoles en France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2276856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0" y="2276856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2276856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76288" y="2359152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Loi du 1er juillet 1901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2752344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0" y="2752344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2752344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6288" y="2834640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2 personnes minimum pour créer une association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3227832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00800" y="3227832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3227832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3310128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1859 : Henry Dunant fonde l'humanitaire moderne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3703320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00800" y="3703320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0" y="370332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76288" y="3785616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1996 : affaire ARC — crise de confiance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0" y="4178808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00800" y="4178808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0" y="4178808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76288" y="4261104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190 pays : présence de l'UNICEF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4654296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00800" y="4654296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0" y="4654296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76288" y="4736592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45% des enfants du monde vaccinés par l'UNICEF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0" y="5129784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400800" y="5129784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0" y="5129784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76288" y="5212080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3 millions d'enfants souffrant de malnutrition sévère/an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0" y="5605272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400800" y="5605272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0" y="5605272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76288" y="5687568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10€/mois = impact concret et mesurable sur le terrain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— Récapitulatif Matinée  |  Fidelis × SHY Performance  |  Prêt(e) pour l'après-midi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— Matinée  |  Fidelis × SHY Performance  |  Le Monde Associatif &amp; Humanitaire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2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1440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LA BATAILLE DE SOLFÉRINO — 24 JUIN 1859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03504"/>
            <a:ext cx="9144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74C3C"/>
                </a:solidFill>
                <a:latin typeface="Segoe UI"/>
              </a:rPr>
              <a:t>L'événement fondateur du droit humanitaire international et de la Croix-Rouge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0" y="109728"/>
            <a:ext cx="1828800" cy="8046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0" y="18288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24 JUIN 1859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50292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DDDD"/>
                </a:solidFill>
                <a:latin typeface="Segoe UI"/>
              </a:rPr>
              <a:t>SOLFÉRINO, ITALIE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115568"/>
            <a:ext cx="3749039" cy="5074920"/>
          </a:xfrm>
          <a:prstGeom prst="rect">
            <a:avLst/>
          </a:prstGeom>
          <a:solidFill>
            <a:srgbClr val="1A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1115568"/>
            <a:ext cx="3749039" cy="3657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207008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⚔  LA BATAILLE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1572768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57276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300 000 soldats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182880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DCCCC"/>
                </a:solidFill>
                <a:latin typeface="Segoe UI"/>
              </a:rPr>
              <a:t>Franco-Sardiniens (France + Piémont) contre l'Empire austro-hongrois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2322576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32257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40 000 victimes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578608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DCCCC"/>
                </a:solidFill>
                <a:latin typeface="Segoe UI"/>
              </a:rPr>
              <a:t>Morts et blessés en une seule journée de combat acharné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072384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07238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Chaleur extrême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328416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DCCCC"/>
                </a:solidFill>
                <a:latin typeface="Segoe UI"/>
              </a:rPr>
              <a:t>38°C sous le soleil lombard — soif, épuisement, sang partout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3822192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82219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Aucun soin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078224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DCCCC"/>
                </a:solidFill>
                <a:latin typeface="Segoe UI"/>
              </a:rPr>
              <a:t>Les blessés abandonnés sur le champ de bataille, sans médecins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4572000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57200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Victoire française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8280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DCCCC"/>
                </a:solidFill>
                <a:latin typeface="Segoe UI"/>
              </a:rPr>
              <a:t>Napoléon III décide l'armistice de Villafranca — 11 juillet 1859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1115568"/>
            <a:ext cx="3749039" cy="5074920"/>
          </a:xfrm>
          <a:prstGeom prst="rect">
            <a:avLst/>
          </a:prstGeom>
          <a:solidFill>
            <a:srgbClr val="05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06240" y="1115568"/>
            <a:ext cx="3749039" cy="36576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1207008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EF"/>
                </a:solidFill>
                <a:latin typeface="Segoe UI"/>
              </a:rPr>
              <a:t>👤  HENRY DUNANT — LE TÉMOIN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1572768"/>
            <a:ext cx="1463040" cy="1097280"/>
          </a:xfrm>
          <a:prstGeom prst="rect">
            <a:avLst/>
          </a:prstGeom>
          <a:solidFill>
            <a:srgbClr val="0A2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9240" y="1664208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AEEF"/>
                </a:solidFill>
                <a:latin typeface="Segoe UI"/>
              </a:rPr>
              <a:t>🇨🇭
Henry
Dunant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1609344"/>
            <a:ext cx="868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ABBDD"/>
                </a:solidFill>
                <a:latin typeface="Segoe UI"/>
              </a:rPr>
              <a:t>Genevois
Homme
d'affaires
31 ans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272491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EEF"/>
                </a:solidFill>
                <a:latin typeface="Segoe UI"/>
              </a:rPr>
              <a:t>De passage en Italie pour rencontrer Napoléon III,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29992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Dunant arrive à Solférino le soir même de la bataille.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327355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35478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EEF"/>
                </a:solidFill>
                <a:latin typeface="Segoe UI"/>
              </a:rPr>
              <a:t>Horrifié par les milliers de blessés abandonnés,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382219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EEF"/>
                </a:solidFill>
                <a:latin typeface="Segoe UI"/>
              </a:rPr>
              <a:t>il organise les femmes des villages voisins.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409651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43708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Mot d'ordre : « TUTTI FRATELLI 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0" y="464515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7941D"/>
                </a:solidFill>
                <a:latin typeface="Segoe UI"/>
              </a:rPr>
              <a:t>— « Tous frères » 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120" y="49194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Sans distinction de nationalité ni d'uniforme.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519379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89120" y="546811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EEF"/>
                </a:solidFill>
                <a:latin typeface="Segoe UI"/>
              </a:rPr>
              <a:t>Il finance les soins de sa propre fortune.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115568"/>
            <a:ext cx="3749039" cy="5074920"/>
          </a:xfrm>
          <a:prstGeom prst="rect">
            <a:avLst/>
          </a:prstGeom>
          <a:solidFill>
            <a:srgbClr val="051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115568"/>
            <a:ext cx="3749039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1207008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🌍  CONSÉQUENCES HISTORIQUES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9600" y="1554480"/>
            <a:ext cx="502920" cy="749808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0" y="166420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1C40F"/>
                </a:solidFill>
                <a:latin typeface="Segoe UI"/>
              </a:rPr>
              <a:t>1862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23960" y="160020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Publication de « Un Souvenir de Solférino »
Livre choc — 1 600 exemplaires vendus en 3 jours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0" y="2377440"/>
            <a:ext cx="502920" cy="749808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0" y="248716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1863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23960" y="242316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Fondation de la Croix-Rouge à Genève
5 pays fondateurs — Comité International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29600" y="3200400"/>
            <a:ext cx="502920" cy="749808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600" y="331012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AEEF"/>
                </a:solidFill>
                <a:latin typeface="Segoe UI"/>
              </a:rPr>
              <a:t>1864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23960" y="324612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Première Convention de Genève
Droit humanitaire international — 12 États signataires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29600" y="4023360"/>
            <a:ext cx="502920" cy="749808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0" y="413308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Drapeau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406908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Drapeau suisse INVERSÉ
🇨🇭 fond rouge → ✚ fond blanc
En hommage à Dunant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29600" y="4846320"/>
            <a:ext cx="502920" cy="749808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0" y="495604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7941D"/>
                </a:solidFill>
                <a:latin typeface="Segoe UI"/>
              </a:rPr>
              <a:t>1901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23960" y="489204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Nobel de la Paix — 1er prix jamais décerné
Henry Dunant, 73 ans, mourait dans la pauvreté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6053328"/>
            <a:ext cx="11612880" cy="43891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" y="61264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LEÇON CLÉS : Un seul homme témoin d'une tragédie peut changer le droit international. La Croix-Rouge protège aujourd'hui 140+ millions de personnes dans 192 pays.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→  ACTEURS CLÉS &amp; CONTRÔLE DU SECTEUR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Le Comité de la Charte, le CICR et l'engagement exclusif de Fidelis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— Matinée  |  Fidelis × SHY Performance  |  Le Monde Associatif &amp; Humanitaire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5394960" cy="2331720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5394960" cy="457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🏛  COMITÉ DE LA CHARTE DU DON EN CONFIANCE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828800"/>
            <a:ext cx="50292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Créé en 1989, renforcé après l'Affaire ARC en 1996.
Mission : renforcer le contrôle de l'État sur les associations collectant des dons. Audit obligatoire des comptes, publication annuelle, transparence totale sur l'utilisation des fonds.
Label « Don en Confiance » : garantie pour le donateur que l'association est sérieuse et contrôlée. UNICEF France en est membre — c'est votre argument de légitimité.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371600"/>
            <a:ext cx="5852160" cy="2331720"/>
          </a:xfrm>
          <a:prstGeom prst="rect">
            <a:avLst/>
          </a:prstGeom>
          <a:solidFill>
            <a:srgbClr val="FDF0E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1371600"/>
            <a:ext cx="5852160" cy="457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4813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Segoe UI"/>
              </a:rPr>
              <a:t>✚  CICR — COMITÉ INTERNATIONAL DE LA CROIX-ROUGE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828800"/>
            <a:ext cx="54864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Fondé en 1863 à Genève par Henry Dunant — organisation distincte de la Croix-Rouge nationale.
Rôle spécifique : agit EXCLUSIVEMENT en zones de CONFLIT armé.
• Protection des prisonniers de guerre (Conventions de Genève)
• Échanges d'otages et visites de détenus
• Aide humanitaire aux civils en zones de guerre
• 192 pays — 20 000 collaborateurs sur le terrain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840480"/>
            <a:ext cx="11521440" cy="1325880"/>
          </a:xfrm>
          <a:prstGeom prst="rect">
            <a:avLst/>
          </a:prstGeom>
          <a:solidFill>
            <a:srgbClr val="0A1628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840480"/>
            <a:ext cx="11521440" cy="457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50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7941D"/>
                </a:solidFill>
                <a:latin typeface="Segoe UI"/>
              </a:rPr>
              <a:t>FIDELIS — ENGAGEMENT EXCLUSIF ASSOCIATIONS RECONNUES D'UTILITÉ PUBLIQUE (RUP)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97680"/>
            <a:ext cx="10972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Fidelis travaille EXCLUSIVEMENT avec des associations Reconnues d'Utilité Publique (RUP) par décret d'État. Cela garantit : contrôle de l'État renforcé, comptes certifiés, mission d'intérêt général prouvée. Pour le fundraiser : votre démarche est 100% légitime — vous représentez des causes auditées, transparentes, reconnues.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321808"/>
            <a:ext cx="11521440" cy="1170432"/>
          </a:xfrm>
          <a:prstGeom prst="rect">
            <a:avLst/>
          </a:prstGeom>
          <a:solidFill>
            <a:srgbClr val="FEFDE8"/>
          </a:solidFill>
          <a:ln w="1905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5321808"/>
            <a:ext cx="11521440" cy="3657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413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⚡  PARTICULIERS &amp; PROFESSIONNELS — RÈGLE FONDAMENTALE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7607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Lors de vos appels, vous pouvez tomber sur un PARTICULIER ou un PROFESSIONNEL (entreprise, cabinet, commerce). Les dons se font UNIQUEMENT par des particuliers — jamais au nom d'une entreprise. Si vous atteignez un professionnel : restez courtois, demandez si vous pouvez rappeler sur un numéro personnel. Ne qualifiez PAS une fiche professionnel comme refus — qualifiez : Absent / Rappel.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LA QUALIFICATION — ENJEU CRITIQUE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DDDD"/>
                </a:solidFill>
                <a:latin typeface="Segoe UI"/>
              </a:rPr>
              <a:t>50 % de la qualité de travail Fidelis repose sur une qualification CONFORME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— Matinée  |  Fidelis × SHY Performance  |  Le Monde Associatif &amp; Humanitaire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5394960" cy="2212848"/>
          </a:xfrm>
          <a:prstGeom prst="rect">
            <a:avLst/>
          </a:prstGeom>
          <a:solidFill>
            <a:srgbClr val="0A1628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71600"/>
            <a:ext cx="5394960" cy="457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813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Segoe UI"/>
              </a:rPr>
              <a:t>⚠  IMPACT D'UNE FAUSSE QUALIFICATION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828800"/>
            <a:ext cx="50292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Une qualification erronée entraîne un impact FINANCIER DIRECT sur Fidelis.
• Refus argumenté / Refus de répondre = NON CONTACTÉ pendant 4 mois
• Peut être affecté à d'autres associations — mais PAS UNICEF
• SHY Performance + Nescall reçoivent chacun 300 000 à 400 000 fiches/mois
• Une fiche mal qualifiée = un contact perdu, une opportunité manquée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371600"/>
            <a:ext cx="5852160" cy="2212848"/>
          </a:xfrm>
          <a:prstGeom prst="rect">
            <a:avLst/>
          </a:prstGeom>
          <a:solidFill>
            <a:srgbClr val="E8F0FB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9320" y="1371600"/>
            <a:ext cx="5852160" cy="457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4813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📊  VOLUMES — EXPLOITATION DES FICHES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1847088"/>
            <a:ext cx="54864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8745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SHY 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10312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300 000 – 400 000 fiches / mois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322576"/>
            <a:ext cx="54864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35000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Nescall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578608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300 000 – 400 000 fiches / mois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2798064"/>
            <a:ext cx="54864" cy="45720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282549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Total marché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054096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600 000 à 800 000 contacts / mois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3273552"/>
            <a:ext cx="54864" cy="457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330098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Exclusion UNICEF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529584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4 mois si refus argumenté / sans réponse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703320"/>
            <a:ext cx="11521440" cy="3474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77647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RÈGLE D'OR : TABLEAU DES QUALIFICATIONS OBLIGATOIRES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133087"/>
            <a:ext cx="11521440" cy="384048"/>
          </a:xfrm>
          <a:prstGeom prst="rect">
            <a:avLst/>
          </a:prstGeom>
          <a:solidFill>
            <a:srgbClr val="EAFAF1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133087"/>
            <a:ext cx="54864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206239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✅  PEL — Prélèvement En Ligne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4206239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Donateur accepte le prélèvement automatique — mission accomplie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526279"/>
            <a:ext cx="11521440" cy="384048"/>
          </a:xfrm>
          <a:prstGeom prst="rect">
            <a:avLst/>
          </a:prstGeom>
          <a:solidFill>
            <a:srgbClr val="EAFAF1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0040" y="4526279"/>
            <a:ext cx="54864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599431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✅  RIM — Rappel Imminent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60" y="4599431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Intéressé, pas disponible, demande à être rappelé très vite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919471"/>
            <a:ext cx="11521440" cy="384048"/>
          </a:xfrm>
          <a:prstGeom prst="rect">
            <a:avLst/>
          </a:prstGeom>
          <a:solidFill>
            <a:srgbClr val="FEFDE8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4919471"/>
            <a:ext cx="54864" cy="38404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992623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🕐  ABSENT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4992623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Répondeur / NRP / Raccroché SANS identification — à rappeler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312663"/>
            <a:ext cx="11521440" cy="384048"/>
          </a:xfrm>
          <a:prstGeom prst="rect">
            <a:avLst/>
          </a:prstGeom>
          <a:solidFill>
            <a:srgbClr val="FEFDE8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0040" y="5312663"/>
            <a:ext cx="54864" cy="38404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385815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🕐  DEL — Don En Ligne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09160" y="5385815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Prêt à donner mais préfère le faire via lien web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705855"/>
            <a:ext cx="11521440" cy="384048"/>
          </a:xfrm>
          <a:prstGeom prst="rect">
            <a:avLst/>
          </a:prstGeom>
          <a:solidFill>
            <a:srgbClr val="FDF0E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0040" y="5705855"/>
            <a:ext cx="54864" cy="38404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779007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❌  RA — Refus Argumenté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9160" y="5779007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Refuse avec une raison valide — NE PLUS CONTACTER 4 mois UNICEF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6099047"/>
            <a:ext cx="11521440" cy="384048"/>
          </a:xfrm>
          <a:prstGeom prst="rect">
            <a:avLst/>
          </a:prstGeom>
          <a:solidFill>
            <a:srgbClr val="FDF0E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20040" y="6099047"/>
            <a:ext cx="54864" cy="38404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6172199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❌  RR — Refus de Répondre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09160" y="6172199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Raccroche sans raison / agressif — idem 4 mois UNICEF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6565391"/>
            <a:ext cx="11521440" cy="566928"/>
          </a:xfrm>
          <a:prstGeom prst="rect">
            <a:avLst/>
          </a:prstGeom>
          <a:solidFill>
            <a:srgbClr val="F7941D"/>
          </a:solidFill>
          <a:ln w="19050">
            <a:solidFill>
              <a:srgbClr val="F76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6638543"/>
            <a:ext cx="10972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EXEMPLE D'ERREUR DE QUALIFICATION : Un appel tombe sur un répondeur → Le fundraiser qualifie 'RA' (Refus Argumenté). FAUX ! Le répondeur = ABSENT. La personne n'a pas refusé — elle n'était pas là. Qualifier RA = perdre ce contact 4 mois.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→  NOMENCLATURE COMPLÉMENTAIRE — J2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Nouveaux termes : ABSENT, CICR, Comité de la Charte, Particulier / Professionnel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— Matinée  |  Fidelis × SHY Performance  |  Le Monde Associatif &amp; Humanitaire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1152144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54864" cy="1234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904" y="1371600"/>
            <a:ext cx="1920240" cy="12344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44475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ABSENT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28800"/>
            <a:ext cx="1783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  <a:latin typeface="Segoe UI"/>
              </a:rPr>
              <a:t>Qualification utilisée lorsqu'un appel n'aboutit pas à une identification réelle de la personne.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1426464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Répondeur téléphonique — NRP (No Response / pas de réponse) — Raccroché SANS identification de l'interlocuteur.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72600" y="1426464"/>
            <a:ext cx="2377440" cy="11155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64040" y="1463040"/>
            <a:ext cx="219456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D9488"/>
                </a:solidFill>
                <a:latin typeface="Segoe UI"/>
              </a:rPr>
              <a:t>⚡ À NE PAS CONFONDRE avec RA (Refus Argumenté) ou RR (Refus de Répondre).
L'ABSENT doit être recontacté — il n'a pas refusé, il n'était simplement pas disponible.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697480"/>
            <a:ext cx="1152144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697480"/>
            <a:ext cx="54864" cy="1234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2697480"/>
            <a:ext cx="1920240" cy="12344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77063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Segoe UI"/>
              </a:rPr>
              <a:t>CICR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154680"/>
            <a:ext cx="1783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  <a:latin typeface="Segoe UI"/>
              </a:rPr>
              <a:t>Comité International de la Croix-Rouge — organisation humanitaire fondée à Genève en 1863.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752344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Agit EXCLUSIVEMENT dans les zones de CONFLIT armé : protection des prisonniers de guerre, échange d'otages, visites aux détenus, aide aux civils victimes de guerre.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72600" y="2752344"/>
            <a:ext cx="2377440" cy="11155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64040" y="2788920"/>
            <a:ext cx="219456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74C3C"/>
                </a:solidFill>
                <a:latin typeface="Segoe UI"/>
              </a:rPr>
              <a:t>⚡ DISTINCT de la Croix-Rouge française (action nationale, catastrophes) et de l'UNICEF (enfance, développement).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023360"/>
            <a:ext cx="1152144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4023360"/>
            <a:ext cx="54864" cy="123444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4" y="4023360"/>
            <a:ext cx="1920240" cy="12344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09651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7B8"/>
                </a:solidFill>
                <a:latin typeface="Segoe UI"/>
              </a:rPr>
              <a:t>COMITÉ DE LA CHARTE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480560"/>
            <a:ext cx="1783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  <a:latin typeface="Segoe UI"/>
              </a:rPr>
              <a:t>Comité de la Charte du Don en Confiance — organisme de régulation et de contrôle du secteur associatif.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4078224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Créé en 1989, renforcé après l'Affaire ARC (1996). Délivre le label « Don en Confiance ».
Renforce le contrôle de l'État sur les associations : audits annuels obligatoires, publication des comptes, transparence sur l'utilisation des dons. UNICEF France est membre labellisé.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72600" y="4078224"/>
            <a:ext cx="2377440" cy="11155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64040" y="4114800"/>
            <a:ext cx="219456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57B8"/>
                </a:solidFill>
                <a:latin typeface="Segoe UI"/>
              </a:rPr>
              <a:t>⚡ Pour le fundraiser : le label Don en Confiance est un argument fort face aux donateurs méfiants.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349240"/>
            <a:ext cx="1152144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5349240"/>
            <a:ext cx="54864" cy="123444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4" y="5349240"/>
            <a:ext cx="1920240" cy="12344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42239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7941D"/>
                </a:solidFill>
                <a:latin typeface="Segoe UI"/>
              </a:rPr>
              <a:t>PARTICULIER / PROFESSIONNEL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806440"/>
            <a:ext cx="1783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  <a:latin typeface="Segoe UI"/>
              </a:rPr>
              <a:t>Distinction fondamentale lors de vos appels téléphoniques.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5404104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PARTICULIER : personne physique appelée à titre personnel — cible principale, peut faire un don.
PROFESSIONNEL : entreprise, cabinet, commerce, artisan appelé sur numéro pro. Les dons se font UNIQUEMENT par les particuliers, jamais au nom d'une entreprise.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72600" y="5404104"/>
            <a:ext cx="2377440" cy="11155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64040" y="5440680"/>
            <a:ext cx="219456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7941D"/>
                </a:solidFill>
                <a:latin typeface="Segoe UI"/>
              </a:rPr>
              <a:t>⚡ Si vous atteignez un professionnel : restez courtois, qualifiez ABSENT ou demandez le numéro personnel.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