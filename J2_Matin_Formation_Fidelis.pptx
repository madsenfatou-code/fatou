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0" y="0"/>
            <a:ext cx="54864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FORMATION INITIALE MODULE  ·  J2 MATINÉE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MODULE J2 — MATINÉE</a:t>
            </a:r>
          </a:p>
          <a:p>
            <a:pPr algn="l"/>
            <a:r>
              <a:rPr sz="1600" b="0" i="0">
                <a:solidFill>
                  <a:srgbClr val="00AEEF"/>
                </a:solidFill>
                <a:latin typeface="Segoe UI"/>
              </a:rPr>
              <a:t>Le Monde Associatif &amp; Humanitaire en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EE"/>
                </a:solidFill>
                <a:latin typeface="Segoe UI"/>
              </a:rPr>
              <a:t>9h30 – 13h30  |  4 heures  |  Fidelis mandaté par l'UNICEF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86200"/>
            <a:ext cx="5852160" cy="54864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041648"/>
            <a:ext cx="5852160" cy="512064"/>
          </a:xfrm>
          <a:prstGeom prst="rect">
            <a:avLst/>
          </a:prstGeom>
          <a:solidFill>
            <a:srgbClr val="F76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87368"/>
            <a:ext cx="5669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COMPRENDRE POUR CONVAINCRE — CHAQUE CITOYEN EST CONCERNÉ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566928"/>
            <a:ext cx="5047488" cy="5925312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69494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  <a:latin typeface="Segoe UI"/>
              </a:rPr>
              <a:t>AU PROGRAMME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2592" y="1115568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111556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117043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Le Monde Associatif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2592" y="1609344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1609344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166420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Définition Loi 1901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22592" y="2103120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210312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215798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Types d'Associations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22592" y="2596896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2596896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2651760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Ressources des Associations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2592" y="3090672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3090672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3145536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Histoire &amp; Humanitaire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2592" y="3584448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3584448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363931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Marché de la Collecte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22592" y="4078224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4078224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413308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Tout Citoyen est Concerné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22592" y="4572000"/>
            <a:ext cx="475488" cy="42062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4572000"/>
            <a:ext cx="475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462686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Impact Concret — Exemples Vérifiables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Matinée  |  Fidelis × SHY Performance  |  Le Monde Associatif &amp; Humanitaire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01 — LE MONDE ASSOCIATIF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La France associative : 1,5 million d'associations actives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1521440" cy="5303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Segoe UI"/>
              </a:rPr>
              <a:t>En France, 1,5 million d'associations emploient 1,8 million de salariés et mobilisent 22 millions de bénévoles.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93392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54864" cy="658368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5798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CARE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993392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8688" y="1993392"/>
            <a:ext cx="54864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15798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SOS SAHEL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993392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1993392"/>
            <a:ext cx="54864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15798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KTO Télévision Catholique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984" y="1993392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984" y="1993392"/>
            <a:ext cx="54864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15798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Institut de Cancérologie de Lorraine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43200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743200"/>
            <a:ext cx="54864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077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ICM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2743200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18688" y="2743200"/>
            <a:ext cx="54864" cy="65836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29077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UNADeV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17336" y="2743200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17336" y="2743200"/>
            <a:ext cx="54864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29077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Terre Solidaire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2743200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15984" y="2743200"/>
            <a:ext cx="54864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53144" y="29077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UNICEF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493008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493008"/>
            <a:ext cx="54864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6576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Douleurs sans frontières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18688" y="3493008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761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18688" y="3493008"/>
            <a:ext cx="54864" cy="658368"/>
          </a:xfrm>
          <a:prstGeom prst="rect">
            <a:avLst/>
          </a:prstGeom>
          <a:solidFill>
            <a:srgbClr val="F76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55848" y="36576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Break Poverty Foundation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17336" y="3493008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17336" y="3493008"/>
            <a:ext cx="54864" cy="658368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36576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Unapei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5984" y="3493008"/>
            <a:ext cx="2788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15984" y="3493008"/>
            <a:ext cx="54864" cy="65836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3144" y="36576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3087"/>
                </a:solidFill>
                <a:latin typeface="Segoe UI"/>
              </a:rPr>
              <a:t>Action contre la Faim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230368"/>
            <a:ext cx="11521440" cy="548640"/>
          </a:xfrm>
          <a:prstGeom prst="rect">
            <a:avLst/>
          </a:prstGeom>
          <a:solidFill>
            <a:srgbClr val="F76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2943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L'UNICEF — partenaire de Fidelis — fait partie de ce monde associatif que vous représentez lors de chaque appel.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Matinée  |  Fidelis × SHY Performance  |  Le Monde Associatif &amp; Humanitaire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02 — DÉFINITION D'UNE 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Loi du 1er juillet 1901 — Texte fondateur du droit associatif français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21440" cy="13716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2144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111556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Segoe UI"/>
              </a:rPr>
              <a:t>L'article 1er de la loi du 1er juillet 1901 définit une association comme : « la convention par laquelle deux ou plusieurs personnes mettent en commun, d'une façon permanente, leurs connaissances ou leur activité dans un but autre que de partager des bénéfices... 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80360"/>
            <a:ext cx="5577840" cy="2834640"/>
          </a:xfrm>
          <a:prstGeom prst="rect">
            <a:avLst/>
          </a:prstGeom>
          <a:solidFill>
            <a:srgbClr val="E8F0FB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880360"/>
            <a:ext cx="5577840" cy="5029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7180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Segoe UI"/>
              </a:rPr>
              <a:t>QU'EST-CE QU'UNE ASSOCIATION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55848"/>
            <a:ext cx="5349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Une association est un regroupement de deux personnes au minimum réunies autour d'un projet commun ou partageant des activités, mais sans chercher à réaliser de bénéfices. Elle peut avoir des buts très divers : sportif, défense des intérêts des membres, humanitaire, promotion d'idées ou d'œuvres...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880360"/>
            <a:ext cx="5669280" cy="283464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880360"/>
            <a:ext cx="5669280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9718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Segoe UI"/>
              </a:rPr>
              <a:t>LE CARACTÈRE DÉSINTÉRESSÉ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355848"/>
            <a:ext cx="54406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Le caractère désintéressé interdit la distribution d'un bénéfice aux associés MAIS n'implique pas que l'activité soit non-commerciale ou déficitaire. L'objet peut être commercial (ex : commerce équitable) et le bénéfice peut servir à la développer.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Matinée  |  Fidelis × SHY Performance  |  Le Monde Associatif &amp; Humanitaire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03 — LES TYPES D'ASSOCIATIONS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Trois statuts — des droits et obligations différents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749039" cy="4023360"/>
          </a:xfrm>
          <a:prstGeom prst="rect">
            <a:avLst/>
          </a:prstGeom>
          <a:solidFill>
            <a:srgbClr val="FFF4E6"/>
          </a:solidFill>
          <a:ln w="2540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3749039" cy="502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4747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41D"/>
                </a:solidFill>
                <a:latin typeface="Segoe UI"/>
              </a:rPr>
              <a:t>L'ASSOCIATION DE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4747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N'a pas fait l'objet d'une déclaration officielle → n'existe pas aux yeux de l'administration. Tout ce que ses membres entreprennent est réalisé en leur nom. Aucun accès aux avantages d'une association déclarée (subventions, agrément, dons...).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1371600"/>
            <a:ext cx="3749039" cy="4023360"/>
          </a:xfrm>
          <a:prstGeom prst="rect">
            <a:avLst/>
          </a:prstGeom>
          <a:solidFill>
            <a:srgbClr val="E8F0FB"/>
          </a:solidFill>
          <a:ln w="254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1" y="1371600"/>
            <a:ext cx="3749039" cy="5029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1" y="1463040"/>
            <a:ext cx="34747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7B8"/>
                </a:solidFill>
                <a:latin typeface="Segoe UI"/>
              </a:rPr>
              <a:t>L'ASSOCIATION DÉCLARÉE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1" y="1965960"/>
            <a:ext cx="34747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Association classique par excellence. Officiellement enregistrée par l'administration française → existe aux yeux de l'État. Exemple : association culturelle, club de cinéma, club sportif.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2" y="1371600"/>
            <a:ext cx="3749039" cy="4023360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2" y="1371600"/>
            <a:ext cx="3749039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2" y="1463040"/>
            <a:ext cx="34747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Segoe UI"/>
              </a:rPr>
              <a:t>L'ASSOCIATION RECONNUE D'UTILITÉ PUBLIQUE (RUP)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2" y="1965960"/>
            <a:ext cx="34747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Segoe UI"/>
              </a:rPr>
              <a:t>Statut accordé par l'État. Confère des avantages importants : réception de donations et legs. Toute association loi 1901 peut obtenir l'agrément. → L'UNICEF dispose de ce statut en France.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532120"/>
            <a:ext cx="11521440" cy="5120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5961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LES RESSOURCES DES ASSOCIATIONS : Cotisations  ·  Subventions  ·  Dons  ·  Legs  ·  Mécénat  ·  Ventes de produits/services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Matinée  |  Fidelis × SHY Performance  |  Le Monde Associatif &amp; Humanitaire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04 — L'HISTOIRE DES ASSOCIATIONS CARITATIVES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Du Moyen Âge à l'humanitaire moderne — une longue histoire de solidarité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788920" cy="27432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MOYEN ÂGE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2514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2514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Les associations caritatives et humanitaires trouvent leur origine au Moyen Âge en Europe. D'émanation religieuse, elles combattent pour les populations indigentes et les soldats blessés.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371600"/>
            <a:ext cx="2788920" cy="2743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46304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1859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920240"/>
            <a:ext cx="2514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029968"/>
            <a:ext cx="2514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Henry Dunant, homme d'affaires suisse, vient en aide aux soldats blessés à la bataille de Solférino. Naissance de la Croix-Rouge et du droit humanitaire international.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371600"/>
            <a:ext cx="2788920" cy="274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46304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1901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920240"/>
            <a:ext cx="2514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2029968"/>
            <a:ext cx="2514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Loi du 1er juillet 1901 : cadre légal des associations en France. Explosion du monde associatif. Apparition des grandes ONG modernes.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984" y="1371600"/>
            <a:ext cx="2788920" cy="274320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146304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AUJOURD'HUI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53144" y="1920240"/>
            <a:ext cx="2514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2029968"/>
            <a:ext cx="2514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1,5 million d'associations en France. L'UNICEF présent dans 190 pays. Les dons réguliers financent des actions continues et vitales.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51960"/>
            <a:ext cx="11521440" cy="8412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31596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EEF"/>
                </a:solidFill>
                <a:latin typeface="Segoe UI"/>
              </a:rPr>
              <a:t>DÉFINITION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9028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L'HUMANITAIRE se résume à l'ASSISTANCE et aux SECOURS dans les situations de conflits armés ou catastrophes naturelles.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Matinée  |  Fidelis × SHY Performance  |  Le Monde Associatif &amp; Humanitaire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04 — LES PRINCIPES DE L'HUMANITAIRE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Les valeurs fondamentales qui guident l'action associative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577840" cy="21945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EEF"/>
                </a:solidFill>
                <a:latin typeface="Segoe UI"/>
              </a:rPr>
              <a:t>LES BASES DE L'ASSISTANCE HUMANITAIRE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▸  L'Humanité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▸  L'Impartialité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05456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▸  La Neutralité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1635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▸  L'Indépendance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2724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▸  L'Assistance aux plus vulnérables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75887"/>
            <a:ext cx="5577840" cy="1920240"/>
          </a:xfrm>
          <a:prstGeom prst="rect">
            <a:avLst/>
          </a:prstGeom>
          <a:solidFill>
            <a:srgbClr val="E8F0FB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67327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Segoe UI"/>
              </a:rPr>
              <a:t>LES PRINCIPES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9663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Interdiction que l'aide soit distribuée pour des motifs religieux ou politiques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719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Devoir de transparence envers les bénéficiaires et les donateurs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74335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Contrôle par un commissaire aux comptes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5669280" cy="34747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17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LES ACTEURS DE L'HUMANITAIRE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73936"/>
            <a:ext cx="5669280" cy="1115568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773936"/>
            <a:ext cx="5669280" cy="411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8470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Segoe UI"/>
              </a:rPr>
              <a:t>L'ÉTAT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176272"/>
            <a:ext cx="5394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Financements publics, cadre légal, diplomatie internationale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944368"/>
            <a:ext cx="5669280" cy="1115568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2944368"/>
            <a:ext cx="5669280" cy="4114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0175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LES ONG GÉNÉRALISTES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46704"/>
            <a:ext cx="5394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UNICEF, Croix-Rouge, Médecins Sans Frontières...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114800"/>
            <a:ext cx="5669280" cy="1115568"/>
          </a:xfrm>
          <a:prstGeom prst="rect">
            <a:avLst/>
          </a:prstGeom>
          <a:solidFill>
            <a:srgbClr val="F3F0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114800"/>
            <a:ext cx="5669280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1879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LES ONG SPÉCIALISÉES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517136"/>
            <a:ext cx="5394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Action contre la Faim, Care, SOS Sahel, Break Poverty...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715000"/>
            <a:ext cx="11521440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769864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AEEF"/>
                </a:solidFill>
                <a:latin typeface="Segoe UI"/>
              </a:rPr>
              <a:t>LES PRINCIPALES CAUSES : Sociale &amp; Enfance  ·  Développement du tiers monde  ·  Santé &amp; Recherche  ·  Cause animale  ·  Environnement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Matinée  |  Fidelis × SHY Performance  |  Le Monde Associatif &amp; Humanitaire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05 — LE MARCHÉ DE LA COLLECTE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Évolution historique — du boom à la crise de confiance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749039" cy="3017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AVANT 1990 — PLEIN BOOM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3383279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3383279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Les ONG reconnues pour leurs actions. Collecte facile. Outil quasi unique : le courrier postal (mailing). Confiance totale des donateurs.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1371600"/>
            <a:ext cx="3749039" cy="301752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148132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1989–1995 — RENFORCEMENT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1" y="1965960"/>
            <a:ext cx="3383279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1" y="2084832"/>
            <a:ext cx="3383279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Création du Comité de la Charte (1989) et de l'AFF (Association Française des Fundraisers). Pleine expansion. Mailing dominant. Certaines causes s'offrent la TV : Le Téléthon.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2" y="1371600"/>
            <a:ext cx="3749039" cy="3017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2" y="148132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1996 — TOURNANT : L'AFFAIRE ARC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38742" y="1965960"/>
            <a:ext cx="3383279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2" y="2084832"/>
            <a:ext cx="3383279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L'affaire de l'ARC (Association pour la Recherche contre le Cancer) éclabousse tout le secteur. Toutes les associations caritatives sont pointées du doigt. Crise de confiance majeure.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35424"/>
            <a:ext cx="11521440" cy="1481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08576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DEPUIS 2000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5546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ourier New"/>
              </a:rPr>
              <a:t>DEPUIS 2000 : Saturation du marché · Concurrence accrue entre ONG · Sollicitations multiples · Contexte socio-économique difficile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846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ourier New"/>
              </a:rPr>
              <a:t>→ Le FUNDRAISER professionnel et éthique devient INDISPENSABLE.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Matinée  |  Fidelis × SHY Performance  |  Le Monde Associatif &amp; Humanitaire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06 — TOUT CITOYEN EST CONCERNÉ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Vous, vos proches, votre communauté — la preuve par les faits en France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5331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Segoe UI"/>
              </a:rPr>
              <a:t>Pensez-y : chacun d'entre nous a bénéficié directement ou indirectement d'une action associative ou humanitaire au cours de sa vie.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3749039" cy="1426464"/>
          </a:xfrm>
          <a:prstGeom prst="rect">
            <a:avLst/>
          </a:prstGeom>
          <a:solidFill>
            <a:srgbClr val="E8F0FB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3749039" cy="45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5623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SANTE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Les Restos du Cœur : 170 millions de repas/an. La Croix-Rouge : aide aux sans-abri. Les Hôpitaux : financés en partie par des fondations. → Si vous ou un proche avez été hospitalisé, des associations ont probablement contribué.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19" y="1783080"/>
            <a:ext cx="3749039" cy="1426464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19" y="1783080"/>
            <a:ext cx="3749039" cy="4572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85623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ENFANCE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148840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L'UNICEF agit aussi en France pour les enfants défavorisés. Des milliers d'associations protègent les enfants en danger. → Si vous connaissez un enfant en difficulté scolaire ou sociale, une association l'a peut-être aidé.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0998" y="1783080"/>
            <a:ext cx="3749039" cy="1426464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0998" y="1783080"/>
            <a:ext cx="3749039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8" y="185623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Segoe UI"/>
              </a:rPr>
              <a:t>CATASTROPHES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8" y="2148840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Inondations dans le Var, tremblements de terre en Outre-mer. Croix-Rouge, Secours Populaire. → En cas de catastrophe naturelle en France, ce sont les bénévoles associatifs qui arrivent en premiers.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00984"/>
            <a:ext cx="3749039" cy="1426464"/>
          </a:xfrm>
          <a:prstGeom prst="rect">
            <a:avLst/>
          </a:prstGeom>
          <a:solidFill>
            <a:srgbClr val="F3F0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00984"/>
            <a:ext cx="3749039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74136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HANDICAP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66744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Unapei : 3 000 établissements pour personnes handicapées. APF France Handicap. → Si vous ou un proche êtes en situation de handicap, des associations permettent leur inclusion.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19" y="3300984"/>
            <a:ext cx="3749039" cy="1426464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19" y="3300984"/>
            <a:ext cx="3749039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3374136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Segoe UI"/>
              </a:rPr>
              <a:t>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9" y="3666744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Des milliers d'associations de soutien scolaire. ATD Quart Monde lutte contre l'illettrisme. → Des millions d'élèves ont reçu une aide associative pour réussir leur scolarité.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0998" y="3300984"/>
            <a:ext cx="3749039" cy="1426464"/>
          </a:xfrm>
          <a:prstGeom prst="rect">
            <a:avLst/>
          </a:prstGeom>
          <a:solidFill>
            <a:srgbClr val="FDF0E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0998" y="3300984"/>
            <a:ext cx="3749039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58" y="3374136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PERSONNES AGEES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8" y="3666744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Les Petits Frères des Pauvres combattent l'isolement. ADMR : aide à domicile pour 700 000 personnes/an. → Si un de vos proches âgés a besoin d'aide, des associations sont là.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Matinée  |  Fidelis × SHY Performance  |  Le Monde Associatif &amp; Humanitaire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07 — IMPACT MONDIAL — L'UNICEF EN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Des exemples concrets et vérifiables à travers le monde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1521440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L'UNICEF : 75 ans d'action dans 190 pays — quelques résultats concrets et vérifiables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01952"/>
            <a:ext cx="3749039" cy="1426464"/>
          </a:xfrm>
          <a:prstGeom prst="rect">
            <a:avLst/>
          </a:prstGeom>
          <a:solidFill>
            <a:srgbClr val="E8F0FB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901952"/>
            <a:ext cx="3749039" cy="457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75104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7B8"/>
                </a:solidFill>
                <a:latin typeface="Segoe UI"/>
              </a:rPr>
              <a:t>VACCINATION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7712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L'UNICEF vaccine 45% des enfants du monde. En 2022 : 2,2 milliards de vaccins distribués. → La polio, quasi éradiquée grâce à l'UNICEF, aurait paralysé des millions d'enfants.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19" y="1901952"/>
            <a:ext cx="3749039" cy="1426464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19" y="1901952"/>
            <a:ext cx="3749039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975104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Segoe UI"/>
              </a:rPr>
              <a:t>EAU POTABLE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267712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6,4 millions de personnes ont accès à l'eau potable grâce à l'UNICEF. Des milliers de puits et pompes installés en Afrique subsaharienne. → Sans eau propre : diarrhées mortelles, choléra.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998" y="1901952"/>
            <a:ext cx="3749039" cy="1426464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0998" y="1901952"/>
            <a:ext cx="3749039" cy="4572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8" y="1975104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NUTRITION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8" y="2267712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Chaque année : 3 millions d'enfants souffrent de malnutrition sévère. L'UNICEF fournit des sachets de Plumpy'Nut (aliment thérapeutique). → Un sachet de 5€ peut sauver un enfant de la mort.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19856"/>
            <a:ext cx="3749039" cy="1426464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419856"/>
            <a:ext cx="3749039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93008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Segoe UI"/>
              </a:rPr>
              <a:t>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85616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L'UNICEF scolarise des millions d'enfants dans les zones de conflit. Écoles mobiles, kits scolaires. → 244 millions d'enfants ne vont pas à l'école sans aide humanitaire.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19" y="3419856"/>
            <a:ext cx="3749039" cy="1426464"/>
          </a:xfrm>
          <a:prstGeom prst="rect">
            <a:avLst/>
          </a:prstGeom>
          <a:solidFill>
            <a:srgbClr val="F3F0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19" y="3419856"/>
            <a:ext cx="3749039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9" y="3493008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3785616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Protection des enfants soldats, lutte contre les mariages forcés. → 300 000 enfants soldats dans le monde. L'UNICEF travaille à leur démobilisation.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998" y="3419856"/>
            <a:ext cx="3749039" cy="1426464"/>
          </a:xfrm>
          <a:prstGeom prst="rect">
            <a:avLst/>
          </a:prstGeom>
          <a:solidFill>
            <a:srgbClr val="FDF0E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0998" y="3419856"/>
            <a:ext cx="3749039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58" y="3493008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Segoe UI"/>
              </a:rPr>
              <a:t>URGENCES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8" y="3785616"/>
            <a:ext cx="3474719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Segoe UI"/>
              </a:rPr>
              <a:t>Haïti, Syrie, Ukraine, Gaza, Yémen. L'UNICEF intervient dans les 72h après une catastrophe. → Sans intervention rapide : épidémies, famines, mortalité infantile explosive.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Matinée  |  Fidelis × SHY Performance  |  Le Monde Associatif &amp; Humanitaire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08 — POURQUOI LE DON RÉGULIER EST VITAL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AEEF"/>
                </a:solidFill>
                <a:latin typeface="Segoe UI"/>
              </a:rPr>
              <a:t>La légitimité de notre demande — transformer la compréhension en conviction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214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EEF"/>
                </a:solidFill>
                <a:latin typeface="Segoe UI"/>
              </a:rPr>
              <a:t>COMPRENDRE → S'ENGAGER → CONVAINCRE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COMPRENDRE → S'ENGAGER → CONVAINCRE  |  Un donateur qui comprend l'impact de son don donne davantage, plus longtemps, et convainc son entourage.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78608"/>
            <a:ext cx="5577840" cy="3017520"/>
          </a:xfrm>
          <a:prstGeom prst="rect">
            <a:avLst/>
          </a:prstGeom>
          <a:solidFill>
            <a:srgbClr val="E8F0FB"/>
          </a:solidFill>
          <a:ln w="190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578608"/>
            <a:ext cx="5577840" cy="5029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700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Segoe UI"/>
              </a:rPr>
              <a:t>POURQUOI LE PRÉLÈVEMENT RÉGULIER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5409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Permet de planifier les actions sur le long terme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4728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Finance des programmes pluriannuels (ex : construction d'écoles)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Un don de 10€/mois = 120€/an = 1 enfant vacciné et nourri pendant 4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3367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La régularité est plus efficace que les dons ponctuels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2686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L'IBAN garantit la continuité du soutien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005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Chaque donateur régulier est un partenaire de l'UNICEF.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578608"/>
            <a:ext cx="5650992" cy="3017520"/>
          </a:xfrm>
          <a:prstGeom prst="rect">
            <a:avLst/>
          </a:prstGeom>
          <a:solidFill>
            <a:srgbClr val="FFF4E6"/>
          </a:solidFill>
          <a:ln w="19050">
            <a:solidFill>
              <a:srgbClr val="F79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2578608"/>
            <a:ext cx="5650992" cy="5029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67004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41D"/>
                </a:solidFill>
                <a:latin typeface="Segoe UI"/>
              </a:rPr>
              <a:t>VOTRE RÔLE DE FUNDRAISER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054096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Vous n'êtes pas un vendeur — vous êtes un messager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44728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Vous relayez une cause qui touche chaque citoyen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840480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Vous permettez à l'UNICEF de continuer son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233672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Un refus aujourd'hui peut être un don demain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626864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Segoe UI"/>
              </a:rPr>
              <a:t>  ▸  Votre conviction et votre culture de la cause font la différence.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687568"/>
            <a:ext cx="11521440" cy="475488"/>
          </a:xfrm>
          <a:prstGeom prst="rect">
            <a:avLst/>
          </a:prstGeom>
          <a:solidFill>
            <a:srgbClr val="F76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424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"Sans vos appels, sans votre conviction — des programmes vitaux s'arrêtent. Vous êtes un maillon essentiel de la chaîne humanitaire."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Matinée  |  Fidelis × SHY Performance  |  Le Monde Associatif &amp; Humanitaire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53328" y="0"/>
            <a:ext cx="502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41D"/>
                </a:solidFill>
                <a:latin typeface="Segoe UI"/>
              </a:rPr>
              <a:t>MANTRA DE LA MATINÉE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303520" cy="3657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26464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COMPRENDRE
POUR CONVAINCRE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  <a:latin typeface="Segoe UI"/>
              </a:rPr>
              <a:t>5 MESSAGES CLÉS À RETENIR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16352"/>
            <a:ext cx="5303520" cy="475488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16352"/>
            <a:ext cx="384048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898648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Le monde associatif représente 1,5 M d'associations &amp; 22 M de bénévoles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28416"/>
            <a:ext cx="5303520" cy="475488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28416"/>
            <a:ext cx="384048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28416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1071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Une association = 2 personnes min. + but non lucratif (loi 1901)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5303520" cy="475488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384048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92277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L'UNICEF est RUP — statut le plus solide accordé par l'État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52544"/>
            <a:ext cx="5303520" cy="475488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52544"/>
            <a:ext cx="384048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352544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434840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1996 : crise ARC — la confiance doit se reconquérir par l'éthique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64608"/>
            <a:ext cx="5303520" cy="475488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64608"/>
            <a:ext cx="384048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6460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3087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94690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Chaque citoyen est concerné — vous êtes un maillon vital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822960"/>
            <a:ext cx="5440680" cy="420624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877824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10 CHIFFRES À RETENIR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325880"/>
            <a:ext cx="544068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325880"/>
            <a:ext cx="384048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32588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1408176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1,5 million d'associations en France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801368"/>
            <a:ext cx="544068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1801368"/>
            <a:ext cx="384048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180136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1883664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22 millions de bénévoles en France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276856"/>
            <a:ext cx="544068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276856"/>
            <a:ext cx="384048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227685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2359152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Loi du 1er juillet 1901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752344"/>
            <a:ext cx="544068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2752344"/>
            <a:ext cx="384048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75234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2834640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2 personnes minimum pour créer une association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227832"/>
            <a:ext cx="544068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3227832"/>
            <a:ext cx="384048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322783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3310128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1859 : Henry Dunant fonde l'humanitaire moderne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703320"/>
            <a:ext cx="544068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3703320"/>
            <a:ext cx="384048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370332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76288" y="3785616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1996 : affaire ARC — crise de confiance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178808"/>
            <a:ext cx="544068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0" y="4178808"/>
            <a:ext cx="384048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417880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76288" y="4261104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190 pays : présence de l'UNICEF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654296"/>
            <a:ext cx="544068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0" y="4654296"/>
            <a:ext cx="384048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465429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76288" y="4736592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45% des enfants du monde vaccinés par l'UNICEF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5129784"/>
            <a:ext cx="544068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00800" y="5129784"/>
            <a:ext cx="384048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512978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76288" y="5212080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3 millions d'enfants souffrant de malnutrition sévère/an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5605272"/>
            <a:ext cx="5440680" cy="457200"/>
          </a:xfrm>
          <a:prstGeom prst="rect">
            <a:avLst/>
          </a:prstGeom>
          <a:solidFill>
            <a:srgbClr val="00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5605272"/>
            <a:ext cx="384048" cy="4572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560527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76288" y="5687568"/>
            <a:ext cx="4919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10€/mois = impact concret et mesurable sur le terrain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4320" y="6510528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  <a:latin typeface="Segoe UI"/>
              </a:rPr>
              <a:t>J2 FIM — Récapitulatif Matinée  |  Fidelis × SHY Performance  |  Prêt(e) pour l'après-midi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