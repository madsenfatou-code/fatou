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0" y="0"/>
            <a:ext cx="54864" cy="68580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777240"/>
            <a:ext cx="5852160" cy="384048"/>
          </a:xfrm>
          <a:prstGeom prst="rect">
            <a:avLst/>
          </a:prstGeom>
          <a:noFill/>
        </p:spPr>
        <p:txBody>
          <a:bodyPr wrap="square">
            <a:spAutoFit/>
          </a:bodyPr>
          <a:lstStyle/>
          <a:p>
            <a:pPr algn="l"/>
            <a:r>
              <a:rPr sz="1000" b="1" i="0">
                <a:solidFill>
                  <a:srgbClr val="F7941D"/>
                </a:solidFill>
                <a:latin typeface="Segoe UI"/>
              </a:rPr>
              <a:t>RÉVEIL PÉDAGOGIQUE  ·  PRÉ-SESSION J2 APRÈS-MIDI</a:t>
            </a:r>
          </a:p>
        </p:txBody>
      </p:sp>
      <p:sp>
        <p:nvSpPr>
          <p:cNvPr id="7" name="TextBox 6"/>
          <p:cNvSpPr txBox="1"/>
          <p:nvPr/>
        </p:nvSpPr>
        <p:spPr>
          <a:xfrm>
            <a:off x="502920" y="1234440"/>
            <a:ext cx="5852160" cy="2011680"/>
          </a:xfrm>
          <a:prstGeom prst="rect">
            <a:avLst/>
          </a:prstGeom>
          <a:noFill/>
        </p:spPr>
        <p:txBody>
          <a:bodyPr wrap="square">
            <a:spAutoFit/>
          </a:bodyPr>
          <a:lstStyle/>
          <a:p>
            <a:pPr algn="l"/>
            <a:r>
              <a:rPr sz="5200" b="1" i="0">
                <a:solidFill>
                  <a:srgbClr val="FFFFFF"/>
                </a:solidFill>
                <a:latin typeface="Segoe UI"/>
              </a:rPr>
              <a:t>SYNTHÈSE</a:t>
            </a:r>
          </a:p>
          <a:p>
            <a:pPr algn="l"/>
            <a:r>
              <a:rPr sz="2400" b="0" i="0">
                <a:solidFill>
                  <a:srgbClr val="00AEEF"/>
                </a:solidFill>
                <a:latin typeface="Segoe UI"/>
              </a:rPr>
              <a:t>MODULE J2 — MATINÉE</a:t>
            </a:r>
          </a:p>
          <a:p>
            <a:pPr algn="l">
              <a:spcBef>
                <a:spcPts val="800"/>
              </a:spcBef>
            </a:pPr>
            <a:r>
              <a:rPr sz="1400" b="0" i="1">
                <a:solidFill>
                  <a:srgbClr val="BBCCEE"/>
                </a:solidFill>
                <a:latin typeface="Segoe UI"/>
              </a:rPr>
              <a:t>Le Monde Associatif &amp; Humanitaire en France</a:t>
            </a:r>
          </a:p>
        </p:txBody>
      </p:sp>
      <p:sp>
        <p:nvSpPr>
          <p:cNvPr id="8" name="TextBox 7"/>
          <p:cNvSpPr txBox="1"/>
          <p:nvPr/>
        </p:nvSpPr>
        <p:spPr>
          <a:xfrm>
            <a:off x="502920" y="3401568"/>
            <a:ext cx="5852160" cy="502920"/>
          </a:xfrm>
          <a:prstGeom prst="rect">
            <a:avLst/>
          </a:prstGeom>
          <a:noFill/>
        </p:spPr>
        <p:txBody>
          <a:bodyPr wrap="square">
            <a:spAutoFit/>
          </a:bodyPr>
          <a:lstStyle/>
          <a:p>
            <a:pPr algn="l"/>
            <a:r>
              <a:rPr sz="1300" b="0" i="1">
                <a:solidFill>
                  <a:srgbClr val="BBCCEE"/>
                </a:solidFill>
                <a:latin typeface="Segoe UI"/>
              </a:rPr>
              <a:t>Rappel des axes clés de la matinée avant de
démarrer la suite du programme.</a:t>
            </a:r>
          </a:p>
        </p:txBody>
      </p:sp>
      <p:sp>
        <p:nvSpPr>
          <p:cNvPr id="9" name="Rectangle 8"/>
          <p:cNvSpPr/>
          <p:nvPr/>
        </p:nvSpPr>
        <p:spPr>
          <a:xfrm>
            <a:off x="502920" y="4069080"/>
            <a:ext cx="5852160" cy="4572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224528"/>
            <a:ext cx="5852160" cy="310896"/>
          </a:xfrm>
          <a:prstGeom prst="rect">
            <a:avLst/>
          </a:prstGeom>
          <a:noFill/>
        </p:spPr>
        <p:txBody>
          <a:bodyPr wrap="square">
            <a:spAutoFit/>
          </a:bodyPr>
          <a:lstStyle/>
          <a:p>
            <a:pPr algn="l"/>
            <a:r>
              <a:rPr sz="1100" b="1" i="0">
                <a:solidFill>
                  <a:srgbClr val="00AEEF"/>
                </a:solidFill>
                <a:latin typeface="Segoe UI"/>
              </a:rPr>
              <a:t>Objectif de cette synthèse :</a:t>
            </a:r>
          </a:p>
        </p:txBody>
      </p:sp>
      <p:sp>
        <p:nvSpPr>
          <p:cNvPr id="11" name="TextBox 10"/>
          <p:cNvSpPr txBox="1"/>
          <p:nvPr/>
        </p:nvSpPr>
        <p:spPr>
          <a:xfrm>
            <a:off x="640080" y="4590288"/>
            <a:ext cx="5577840" cy="329184"/>
          </a:xfrm>
          <a:prstGeom prst="rect">
            <a:avLst/>
          </a:prstGeom>
          <a:noFill/>
        </p:spPr>
        <p:txBody>
          <a:bodyPr wrap="square">
            <a:spAutoFit/>
          </a:bodyPr>
          <a:lstStyle/>
          <a:p>
            <a:pPr algn="l"/>
            <a:r>
              <a:rPr sz="1100" b="0" i="0">
                <a:solidFill>
                  <a:srgbClr val="FFFFFF"/>
                </a:solidFill>
                <a:latin typeface="Segoe UI"/>
              </a:rPr>
              <a:t>→  Ancrer les chiffres et définitions clés</a:t>
            </a:r>
          </a:p>
        </p:txBody>
      </p:sp>
      <p:sp>
        <p:nvSpPr>
          <p:cNvPr id="12" name="TextBox 11"/>
          <p:cNvSpPr txBox="1"/>
          <p:nvPr/>
        </p:nvSpPr>
        <p:spPr>
          <a:xfrm>
            <a:off x="640080" y="4956048"/>
            <a:ext cx="5577840" cy="329184"/>
          </a:xfrm>
          <a:prstGeom prst="rect">
            <a:avLst/>
          </a:prstGeom>
          <a:noFill/>
        </p:spPr>
        <p:txBody>
          <a:bodyPr wrap="square">
            <a:spAutoFit/>
          </a:bodyPr>
          <a:lstStyle/>
          <a:p>
            <a:pPr algn="l"/>
            <a:r>
              <a:rPr sz="1100" b="0" i="0">
                <a:solidFill>
                  <a:srgbClr val="FFFFFF"/>
                </a:solidFill>
                <a:latin typeface="Segoe UI"/>
              </a:rPr>
              <a:t>→  Comprendre le contexte historique et juridique</a:t>
            </a:r>
          </a:p>
        </p:txBody>
      </p:sp>
      <p:sp>
        <p:nvSpPr>
          <p:cNvPr id="13" name="TextBox 12"/>
          <p:cNvSpPr txBox="1"/>
          <p:nvPr/>
        </p:nvSpPr>
        <p:spPr>
          <a:xfrm>
            <a:off x="640080" y="5321808"/>
            <a:ext cx="5577840" cy="329184"/>
          </a:xfrm>
          <a:prstGeom prst="rect">
            <a:avLst/>
          </a:prstGeom>
          <a:noFill/>
        </p:spPr>
        <p:txBody>
          <a:bodyPr wrap="square">
            <a:spAutoFit/>
          </a:bodyPr>
          <a:lstStyle/>
          <a:p>
            <a:pPr algn="l"/>
            <a:r>
              <a:rPr sz="1100" b="0" i="0">
                <a:solidFill>
                  <a:srgbClr val="FFFFFF"/>
                </a:solidFill>
                <a:latin typeface="Segoe UI"/>
              </a:rPr>
              <a:t>→  Renforcer la légitimité du fundraiser</a:t>
            </a:r>
          </a:p>
        </p:txBody>
      </p:sp>
      <p:sp>
        <p:nvSpPr>
          <p:cNvPr id="14" name="Rectangle 13"/>
          <p:cNvSpPr/>
          <p:nvPr/>
        </p:nvSpPr>
        <p:spPr>
          <a:xfrm>
            <a:off x="6858000" y="365760"/>
            <a:ext cx="5029200" cy="60350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0" y="365760"/>
            <a:ext cx="5029200" cy="36576"/>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475488"/>
            <a:ext cx="4572000" cy="274320"/>
          </a:xfrm>
          <a:prstGeom prst="rect">
            <a:avLst/>
          </a:prstGeom>
          <a:noFill/>
        </p:spPr>
        <p:txBody>
          <a:bodyPr wrap="square">
            <a:spAutoFit/>
          </a:bodyPr>
          <a:lstStyle/>
          <a:p>
            <a:pPr algn="l"/>
            <a:r>
              <a:rPr sz="1100" b="1" i="0">
                <a:solidFill>
                  <a:srgbClr val="F7941D"/>
                </a:solidFill>
                <a:latin typeface="Segoe UI"/>
              </a:rPr>
              <a:t>AU PROGRAMME — SYNTHÈSE</a:t>
            </a:r>
          </a:p>
        </p:txBody>
      </p:sp>
      <p:sp>
        <p:nvSpPr>
          <p:cNvPr id="17" name="Rectangle 16"/>
          <p:cNvSpPr/>
          <p:nvPr/>
        </p:nvSpPr>
        <p:spPr>
          <a:xfrm>
            <a:off x="7086600" y="804672"/>
            <a:ext cx="4572000" cy="27432"/>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0" y="932688"/>
            <a:ext cx="36576" cy="4572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22592" y="969264"/>
            <a:ext cx="4663440" cy="384048"/>
          </a:xfrm>
          <a:prstGeom prst="rect">
            <a:avLst/>
          </a:prstGeom>
          <a:noFill/>
        </p:spPr>
        <p:txBody>
          <a:bodyPr wrap="square">
            <a:spAutoFit/>
          </a:bodyPr>
          <a:lstStyle/>
          <a:p>
            <a:pPr algn="l"/>
            <a:r>
              <a:rPr sz="1100" b="0" i="0">
                <a:solidFill>
                  <a:srgbClr val="FFFFFF"/>
                </a:solidFill>
                <a:latin typeface="Segoe UI"/>
              </a:rPr>
              <a:t>01  Le Monde Associatif — 1,5 M associations</a:t>
            </a:r>
          </a:p>
        </p:txBody>
      </p:sp>
      <p:sp>
        <p:nvSpPr>
          <p:cNvPr id="20" name="Rectangle 19"/>
          <p:cNvSpPr/>
          <p:nvPr/>
        </p:nvSpPr>
        <p:spPr>
          <a:xfrm>
            <a:off x="6858000" y="1554480"/>
            <a:ext cx="36576" cy="4572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22592" y="1591056"/>
            <a:ext cx="4663440" cy="384048"/>
          </a:xfrm>
          <a:prstGeom prst="rect">
            <a:avLst/>
          </a:prstGeom>
          <a:noFill/>
        </p:spPr>
        <p:txBody>
          <a:bodyPr wrap="square">
            <a:spAutoFit/>
          </a:bodyPr>
          <a:lstStyle/>
          <a:p>
            <a:pPr algn="l"/>
            <a:r>
              <a:rPr sz="1100" b="0" i="0">
                <a:solidFill>
                  <a:srgbClr val="FFFFFF"/>
                </a:solidFill>
                <a:latin typeface="Segoe UI"/>
              </a:rPr>
              <a:t>02  Loi 1901 — Définition &amp; principes</a:t>
            </a:r>
          </a:p>
        </p:txBody>
      </p:sp>
      <p:sp>
        <p:nvSpPr>
          <p:cNvPr id="22" name="Rectangle 21"/>
          <p:cNvSpPr/>
          <p:nvPr/>
        </p:nvSpPr>
        <p:spPr>
          <a:xfrm>
            <a:off x="6858000" y="2176272"/>
            <a:ext cx="36576" cy="4572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2212848"/>
            <a:ext cx="4663440" cy="384048"/>
          </a:xfrm>
          <a:prstGeom prst="rect">
            <a:avLst/>
          </a:prstGeom>
          <a:noFill/>
        </p:spPr>
        <p:txBody>
          <a:bodyPr wrap="square">
            <a:spAutoFit/>
          </a:bodyPr>
          <a:lstStyle/>
          <a:p>
            <a:pPr algn="l"/>
            <a:r>
              <a:rPr sz="1100" b="0" i="0">
                <a:solidFill>
                  <a:srgbClr val="FFFFFF"/>
                </a:solidFill>
                <a:latin typeface="Segoe UI"/>
              </a:rPr>
              <a:t>03  Types d'associations — RUP / déclarée / fait</a:t>
            </a:r>
          </a:p>
        </p:txBody>
      </p:sp>
      <p:sp>
        <p:nvSpPr>
          <p:cNvPr id="24" name="Rectangle 23"/>
          <p:cNvSpPr/>
          <p:nvPr/>
        </p:nvSpPr>
        <p:spPr>
          <a:xfrm>
            <a:off x="6858000" y="2798064"/>
            <a:ext cx="36576" cy="4572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22592" y="2834640"/>
            <a:ext cx="4663440" cy="384048"/>
          </a:xfrm>
          <a:prstGeom prst="rect">
            <a:avLst/>
          </a:prstGeom>
          <a:noFill/>
        </p:spPr>
        <p:txBody>
          <a:bodyPr wrap="square">
            <a:spAutoFit/>
          </a:bodyPr>
          <a:lstStyle/>
          <a:p>
            <a:pPr algn="l"/>
            <a:r>
              <a:rPr sz="1100" b="0" i="0">
                <a:solidFill>
                  <a:srgbClr val="FFFFFF"/>
                </a:solidFill>
                <a:latin typeface="Segoe UI"/>
              </a:rPr>
              <a:t>04  Ressources — Sources de financement</a:t>
            </a:r>
          </a:p>
        </p:txBody>
      </p:sp>
      <p:sp>
        <p:nvSpPr>
          <p:cNvPr id="26" name="Rectangle 25"/>
          <p:cNvSpPr/>
          <p:nvPr/>
        </p:nvSpPr>
        <p:spPr>
          <a:xfrm>
            <a:off x="6858000" y="3419856"/>
            <a:ext cx="36576" cy="4572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22592" y="3456432"/>
            <a:ext cx="4663440" cy="384048"/>
          </a:xfrm>
          <a:prstGeom prst="rect">
            <a:avLst/>
          </a:prstGeom>
          <a:noFill/>
        </p:spPr>
        <p:txBody>
          <a:bodyPr wrap="square">
            <a:spAutoFit/>
          </a:bodyPr>
          <a:lstStyle/>
          <a:p>
            <a:pPr algn="l"/>
            <a:r>
              <a:rPr sz="1100" b="0" i="0">
                <a:solidFill>
                  <a:srgbClr val="FFFFFF"/>
                </a:solidFill>
                <a:latin typeface="Segoe UI"/>
              </a:rPr>
              <a:t>05  Histoire &amp; Humanitaire — Chronologie</a:t>
            </a:r>
          </a:p>
        </p:txBody>
      </p:sp>
      <p:sp>
        <p:nvSpPr>
          <p:cNvPr id="28" name="Rectangle 27"/>
          <p:cNvSpPr/>
          <p:nvPr/>
        </p:nvSpPr>
        <p:spPr>
          <a:xfrm>
            <a:off x="6858000" y="4041648"/>
            <a:ext cx="36576" cy="4572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22592" y="4078224"/>
            <a:ext cx="4663440" cy="384048"/>
          </a:xfrm>
          <a:prstGeom prst="rect">
            <a:avLst/>
          </a:prstGeom>
          <a:noFill/>
        </p:spPr>
        <p:txBody>
          <a:bodyPr wrap="square">
            <a:spAutoFit/>
          </a:bodyPr>
          <a:lstStyle/>
          <a:p>
            <a:pPr algn="l"/>
            <a:r>
              <a:rPr sz="1100" b="0" i="0">
                <a:solidFill>
                  <a:srgbClr val="FFFFFF"/>
                </a:solidFill>
                <a:latin typeface="Segoe UI"/>
              </a:rPr>
              <a:t>06  Marché de la Collecte — Affaire ARC</a:t>
            </a:r>
          </a:p>
        </p:txBody>
      </p:sp>
      <p:sp>
        <p:nvSpPr>
          <p:cNvPr id="30" name="Rectangle 29"/>
          <p:cNvSpPr/>
          <p:nvPr/>
        </p:nvSpPr>
        <p:spPr>
          <a:xfrm>
            <a:off x="6858000" y="4663440"/>
            <a:ext cx="36576" cy="4572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22592" y="4700016"/>
            <a:ext cx="4663440" cy="384048"/>
          </a:xfrm>
          <a:prstGeom prst="rect">
            <a:avLst/>
          </a:prstGeom>
          <a:noFill/>
        </p:spPr>
        <p:txBody>
          <a:bodyPr wrap="square">
            <a:spAutoFit/>
          </a:bodyPr>
          <a:lstStyle/>
          <a:p>
            <a:pPr algn="l"/>
            <a:r>
              <a:rPr sz="1100" b="0" i="0">
                <a:solidFill>
                  <a:srgbClr val="FFFFFF"/>
                </a:solidFill>
                <a:latin typeface="Segoe UI"/>
              </a:rPr>
              <a:t>07  Tout Citoyen est Concerné — Exemples FR</a:t>
            </a:r>
          </a:p>
        </p:txBody>
      </p:sp>
      <p:sp>
        <p:nvSpPr>
          <p:cNvPr id="32" name="Rectangle 31"/>
          <p:cNvSpPr/>
          <p:nvPr/>
        </p:nvSpPr>
        <p:spPr>
          <a:xfrm>
            <a:off x="6858000" y="5285232"/>
            <a:ext cx="36576" cy="4572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22592" y="5321808"/>
            <a:ext cx="4663440" cy="384048"/>
          </a:xfrm>
          <a:prstGeom prst="rect">
            <a:avLst/>
          </a:prstGeom>
          <a:noFill/>
        </p:spPr>
        <p:txBody>
          <a:bodyPr wrap="square">
            <a:spAutoFit/>
          </a:bodyPr>
          <a:lstStyle/>
          <a:p>
            <a:pPr algn="l"/>
            <a:r>
              <a:rPr sz="1100" b="0" i="0">
                <a:solidFill>
                  <a:srgbClr val="FFFFFF"/>
                </a:solidFill>
                <a:latin typeface="Segoe UI"/>
              </a:rPr>
              <a:t>08  Impact UNICEF — Chiffres vérifiables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30352"/>
          </a:xfrm>
          <a:prstGeom prst="rect">
            <a:avLst/>
          </a:prstGeom>
          <a:noFill/>
        </p:spPr>
        <p:txBody>
          <a:bodyPr wrap="square">
            <a:spAutoFit/>
          </a:bodyPr>
          <a:lstStyle/>
          <a:p>
            <a:pPr algn="l"/>
            <a:r>
              <a:rPr sz="2200" b="1" i="0">
                <a:solidFill>
                  <a:srgbClr val="FFFFFF"/>
                </a:solidFill>
                <a:latin typeface="Segoe UI"/>
              </a:rPr>
              <a:t>01  —  CHIFFRES CLÉS — LE MONDE ASSOCIATIF</a:t>
            </a:r>
          </a:p>
        </p:txBody>
      </p:sp>
      <p:sp>
        <p:nvSpPr>
          <p:cNvPr id="5" name="TextBox 4"/>
          <p:cNvSpPr txBox="1"/>
          <p:nvPr/>
        </p:nvSpPr>
        <p:spPr>
          <a:xfrm>
            <a:off x="365760" y="658368"/>
            <a:ext cx="11430000" cy="402336"/>
          </a:xfrm>
          <a:prstGeom prst="rect">
            <a:avLst/>
          </a:prstGeom>
          <a:noFill/>
        </p:spPr>
        <p:txBody>
          <a:bodyPr wrap="square">
            <a:spAutoFit/>
          </a:bodyPr>
          <a:lstStyle/>
          <a:p>
            <a:pPr algn="l"/>
            <a:r>
              <a:rPr sz="1200" b="0" i="1">
                <a:solidFill>
                  <a:srgbClr val="00AEEF"/>
                </a:solidFill>
                <a:latin typeface="Segoe UI"/>
              </a:rPr>
              <a:t>Les données essentielles à retenir sur la vie associative française</a:t>
            </a:r>
          </a:p>
        </p:txBody>
      </p:sp>
      <p:sp>
        <p:nvSpPr>
          <p:cNvPr id="6" name="Rectangle 5"/>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
        <p:nvSpPr>
          <p:cNvPr id="8" name="Rectangle 7"/>
          <p:cNvSpPr/>
          <p:nvPr/>
        </p:nvSpPr>
        <p:spPr>
          <a:xfrm>
            <a:off x="365760" y="1417320"/>
            <a:ext cx="3703320" cy="2057400"/>
          </a:xfrm>
          <a:prstGeom prst="rect">
            <a:avLst/>
          </a:prstGeom>
          <a:solidFill>
            <a:srgbClr val="0A1628"/>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17320"/>
            <a:ext cx="3703320" cy="4572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54480"/>
            <a:ext cx="3429000" cy="640080"/>
          </a:xfrm>
          <a:prstGeom prst="rect">
            <a:avLst/>
          </a:prstGeom>
          <a:noFill/>
        </p:spPr>
        <p:txBody>
          <a:bodyPr wrap="square">
            <a:spAutoFit/>
          </a:bodyPr>
          <a:lstStyle/>
          <a:p>
            <a:pPr algn="ctr"/>
            <a:r>
              <a:rPr sz="3800" b="1" i="0">
                <a:solidFill>
                  <a:srgbClr val="F7941D"/>
                </a:solidFill>
                <a:latin typeface="Segoe UI"/>
              </a:rPr>
              <a:t>1,5 M</a:t>
            </a:r>
          </a:p>
        </p:txBody>
      </p:sp>
      <p:sp>
        <p:nvSpPr>
          <p:cNvPr id="11" name="TextBox 10"/>
          <p:cNvSpPr txBox="1"/>
          <p:nvPr/>
        </p:nvSpPr>
        <p:spPr>
          <a:xfrm>
            <a:off x="502920" y="2221992"/>
            <a:ext cx="3429000" cy="292608"/>
          </a:xfrm>
          <a:prstGeom prst="rect">
            <a:avLst/>
          </a:prstGeom>
          <a:noFill/>
        </p:spPr>
        <p:txBody>
          <a:bodyPr wrap="square">
            <a:spAutoFit/>
          </a:bodyPr>
          <a:lstStyle/>
          <a:p>
            <a:pPr algn="ctr"/>
            <a:r>
              <a:rPr sz="1200" b="1" i="0">
                <a:solidFill>
                  <a:srgbClr val="FFFFFF"/>
                </a:solidFill>
                <a:latin typeface="Segoe UI"/>
              </a:rPr>
              <a:t>associations en France</a:t>
            </a:r>
          </a:p>
        </p:txBody>
      </p:sp>
      <p:sp>
        <p:nvSpPr>
          <p:cNvPr id="12" name="Rectangle 11"/>
          <p:cNvSpPr/>
          <p:nvPr/>
        </p:nvSpPr>
        <p:spPr>
          <a:xfrm>
            <a:off x="502920" y="2587752"/>
            <a:ext cx="3429000" cy="274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679192"/>
            <a:ext cx="3429000" cy="658368"/>
          </a:xfrm>
          <a:prstGeom prst="rect">
            <a:avLst/>
          </a:prstGeom>
          <a:noFill/>
        </p:spPr>
        <p:txBody>
          <a:bodyPr wrap="square">
            <a:spAutoFit/>
          </a:bodyPr>
          <a:lstStyle/>
          <a:p>
            <a:pPr algn="ctr"/>
            <a:r>
              <a:rPr sz="900" b="0" i="1">
                <a:solidFill>
                  <a:srgbClr val="BBCCDD"/>
                </a:solidFill>
                <a:latin typeface="Segoe UI"/>
              </a:rPr>
              <a:t>2e pays le plus associatif d'Europe après la Suède</a:t>
            </a:r>
          </a:p>
        </p:txBody>
      </p:sp>
      <p:sp>
        <p:nvSpPr>
          <p:cNvPr id="14" name="Rectangle 13"/>
          <p:cNvSpPr/>
          <p:nvPr/>
        </p:nvSpPr>
        <p:spPr>
          <a:xfrm>
            <a:off x="4297680" y="1417320"/>
            <a:ext cx="3703320" cy="2057400"/>
          </a:xfrm>
          <a:prstGeom prst="rect">
            <a:avLst/>
          </a:prstGeom>
          <a:solidFill>
            <a:srgbClr val="0A1628"/>
          </a:solidFill>
          <a:ln w="1905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417320"/>
            <a:ext cx="3703320" cy="4572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554480"/>
            <a:ext cx="3429000" cy="640080"/>
          </a:xfrm>
          <a:prstGeom prst="rect">
            <a:avLst/>
          </a:prstGeom>
          <a:noFill/>
        </p:spPr>
        <p:txBody>
          <a:bodyPr wrap="square">
            <a:spAutoFit/>
          </a:bodyPr>
          <a:lstStyle/>
          <a:p>
            <a:pPr algn="ctr"/>
            <a:r>
              <a:rPr sz="3800" b="1" i="0">
                <a:solidFill>
                  <a:srgbClr val="0057B8"/>
                </a:solidFill>
                <a:latin typeface="Segoe UI"/>
              </a:rPr>
              <a:t>23 M</a:t>
            </a:r>
          </a:p>
        </p:txBody>
      </p:sp>
      <p:sp>
        <p:nvSpPr>
          <p:cNvPr id="17" name="TextBox 16"/>
          <p:cNvSpPr txBox="1"/>
          <p:nvPr/>
        </p:nvSpPr>
        <p:spPr>
          <a:xfrm>
            <a:off x="4434840" y="2221992"/>
            <a:ext cx="3429000" cy="292608"/>
          </a:xfrm>
          <a:prstGeom prst="rect">
            <a:avLst/>
          </a:prstGeom>
          <a:noFill/>
        </p:spPr>
        <p:txBody>
          <a:bodyPr wrap="square">
            <a:spAutoFit/>
          </a:bodyPr>
          <a:lstStyle/>
          <a:p>
            <a:pPr algn="ctr"/>
            <a:r>
              <a:rPr sz="1200" b="1" i="0">
                <a:solidFill>
                  <a:srgbClr val="FFFFFF"/>
                </a:solidFill>
                <a:latin typeface="Segoe UI"/>
              </a:rPr>
              <a:t>bénévoles engagés</a:t>
            </a:r>
          </a:p>
        </p:txBody>
      </p:sp>
      <p:sp>
        <p:nvSpPr>
          <p:cNvPr id="18" name="Rectangle 17"/>
          <p:cNvSpPr/>
          <p:nvPr/>
        </p:nvSpPr>
        <p:spPr>
          <a:xfrm>
            <a:off x="4434840" y="2587752"/>
            <a:ext cx="3429000" cy="27432"/>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2679192"/>
            <a:ext cx="3429000" cy="658368"/>
          </a:xfrm>
          <a:prstGeom prst="rect">
            <a:avLst/>
          </a:prstGeom>
          <a:noFill/>
        </p:spPr>
        <p:txBody>
          <a:bodyPr wrap="square">
            <a:spAutoFit/>
          </a:bodyPr>
          <a:lstStyle/>
          <a:p>
            <a:pPr algn="ctr"/>
            <a:r>
              <a:rPr sz="900" b="0" i="1">
                <a:solidFill>
                  <a:srgbClr val="BBCCDD"/>
                </a:solidFill>
                <a:latin typeface="Segoe UI"/>
              </a:rPr>
              <a:t>Soit 1 Français sur 3 actif dans une asso</a:t>
            </a:r>
          </a:p>
        </p:txBody>
      </p:sp>
      <p:sp>
        <p:nvSpPr>
          <p:cNvPr id="20" name="Rectangle 19"/>
          <p:cNvSpPr/>
          <p:nvPr/>
        </p:nvSpPr>
        <p:spPr>
          <a:xfrm>
            <a:off x="8229600" y="1417320"/>
            <a:ext cx="3703320" cy="2057400"/>
          </a:xfrm>
          <a:prstGeom prst="rect">
            <a:avLst/>
          </a:prstGeom>
          <a:solidFill>
            <a:srgbClr val="0A1628"/>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417320"/>
            <a:ext cx="3703320" cy="45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554480"/>
            <a:ext cx="3429000" cy="640080"/>
          </a:xfrm>
          <a:prstGeom prst="rect">
            <a:avLst/>
          </a:prstGeom>
          <a:noFill/>
        </p:spPr>
        <p:txBody>
          <a:bodyPr wrap="square">
            <a:spAutoFit/>
          </a:bodyPr>
          <a:lstStyle/>
          <a:p>
            <a:pPr algn="ctr"/>
            <a:r>
              <a:rPr sz="3800" b="1" i="0">
                <a:solidFill>
                  <a:srgbClr val="27AE60"/>
                </a:solidFill>
                <a:latin typeface="Segoe UI"/>
              </a:rPr>
              <a:t>1,8 M</a:t>
            </a:r>
          </a:p>
        </p:txBody>
      </p:sp>
      <p:sp>
        <p:nvSpPr>
          <p:cNvPr id="23" name="TextBox 22"/>
          <p:cNvSpPr txBox="1"/>
          <p:nvPr/>
        </p:nvSpPr>
        <p:spPr>
          <a:xfrm>
            <a:off x="8366760" y="2221992"/>
            <a:ext cx="3429000" cy="292608"/>
          </a:xfrm>
          <a:prstGeom prst="rect">
            <a:avLst/>
          </a:prstGeom>
          <a:noFill/>
        </p:spPr>
        <p:txBody>
          <a:bodyPr wrap="square">
            <a:spAutoFit/>
          </a:bodyPr>
          <a:lstStyle/>
          <a:p>
            <a:pPr algn="ctr"/>
            <a:r>
              <a:rPr sz="1200" b="1" i="0">
                <a:solidFill>
                  <a:srgbClr val="FFFFFF"/>
                </a:solidFill>
                <a:latin typeface="Segoe UI"/>
              </a:rPr>
              <a:t>salariés du secteur</a:t>
            </a:r>
          </a:p>
        </p:txBody>
      </p:sp>
      <p:sp>
        <p:nvSpPr>
          <p:cNvPr id="24" name="Rectangle 23"/>
          <p:cNvSpPr/>
          <p:nvPr/>
        </p:nvSpPr>
        <p:spPr>
          <a:xfrm>
            <a:off x="8366760" y="2587752"/>
            <a:ext cx="3429000" cy="274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2679192"/>
            <a:ext cx="3429000" cy="658368"/>
          </a:xfrm>
          <a:prstGeom prst="rect">
            <a:avLst/>
          </a:prstGeom>
          <a:noFill/>
        </p:spPr>
        <p:txBody>
          <a:bodyPr wrap="square">
            <a:spAutoFit/>
          </a:bodyPr>
          <a:lstStyle/>
          <a:p>
            <a:pPr algn="ctr"/>
            <a:r>
              <a:rPr sz="900" b="0" i="1">
                <a:solidFill>
                  <a:srgbClr val="BBCCDD"/>
                </a:solidFill>
                <a:latin typeface="Segoe UI"/>
              </a:rPr>
              <a:t>Devant l'industrie automobile en France</a:t>
            </a:r>
          </a:p>
        </p:txBody>
      </p:sp>
      <p:sp>
        <p:nvSpPr>
          <p:cNvPr id="26" name="Rectangle 25"/>
          <p:cNvSpPr/>
          <p:nvPr/>
        </p:nvSpPr>
        <p:spPr>
          <a:xfrm>
            <a:off x="365760" y="3703320"/>
            <a:ext cx="3703320" cy="2057400"/>
          </a:xfrm>
          <a:prstGeom prst="rect">
            <a:avLst/>
          </a:prstGeom>
          <a:solidFill>
            <a:srgbClr val="0A1628"/>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3703320"/>
            <a:ext cx="370332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840480"/>
            <a:ext cx="3429000" cy="640080"/>
          </a:xfrm>
          <a:prstGeom prst="rect">
            <a:avLst/>
          </a:prstGeom>
          <a:noFill/>
        </p:spPr>
        <p:txBody>
          <a:bodyPr wrap="square">
            <a:spAutoFit/>
          </a:bodyPr>
          <a:lstStyle/>
          <a:p>
            <a:pPr algn="ctr"/>
            <a:r>
              <a:rPr sz="3800" b="1" i="0">
                <a:solidFill>
                  <a:srgbClr val="0D9488"/>
                </a:solidFill>
                <a:latin typeface="Segoe UI"/>
              </a:rPr>
              <a:t>113 Mds€</a:t>
            </a:r>
          </a:p>
        </p:txBody>
      </p:sp>
      <p:sp>
        <p:nvSpPr>
          <p:cNvPr id="29" name="TextBox 28"/>
          <p:cNvSpPr txBox="1"/>
          <p:nvPr/>
        </p:nvSpPr>
        <p:spPr>
          <a:xfrm>
            <a:off x="502920" y="4507992"/>
            <a:ext cx="3429000" cy="292608"/>
          </a:xfrm>
          <a:prstGeom prst="rect">
            <a:avLst/>
          </a:prstGeom>
          <a:noFill/>
        </p:spPr>
        <p:txBody>
          <a:bodyPr wrap="square">
            <a:spAutoFit/>
          </a:bodyPr>
          <a:lstStyle/>
          <a:p>
            <a:pPr algn="ctr"/>
            <a:r>
              <a:rPr sz="1200" b="1" i="0">
                <a:solidFill>
                  <a:srgbClr val="FFFFFF"/>
                </a:solidFill>
                <a:latin typeface="Segoe UI"/>
              </a:rPr>
              <a:t>contribution au PIB</a:t>
            </a:r>
          </a:p>
        </p:txBody>
      </p:sp>
      <p:sp>
        <p:nvSpPr>
          <p:cNvPr id="30" name="Rectangle 29"/>
          <p:cNvSpPr/>
          <p:nvPr/>
        </p:nvSpPr>
        <p:spPr>
          <a:xfrm>
            <a:off x="502920" y="4873752"/>
            <a:ext cx="3429000"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4965192"/>
            <a:ext cx="3429000" cy="658368"/>
          </a:xfrm>
          <a:prstGeom prst="rect">
            <a:avLst/>
          </a:prstGeom>
          <a:noFill/>
        </p:spPr>
        <p:txBody>
          <a:bodyPr wrap="square">
            <a:spAutoFit/>
          </a:bodyPr>
          <a:lstStyle/>
          <a:p>
            <a:pPr algn="ctr"/>
            <a:r>
              <a:rPr sz="900" b="0" i="1">
                <a:solidFill>
                  <a:srgbClr val="BBCCDD"/>
                </a:solidFill>
                <a:latin typeface="Segoe UI"/>
              </a:rPr>
              <a:t>5 % du PIB national — secteur économique majeur</a:t>
            </a:r>
          </a:p>
        </p:txBody>
      </p:sp>
      <p:sp>
        <p:nvSpPr>
          <p:cNvPr id="32" name="Rectangle 31"/>
          <p:cNvSpPr/>
          <p:nvPr/>
        </p:nvSpPr>
        <p:spPr>
          <a:xfrm>
            <a:off x="4297680" y="3703320"/>
            <a:ext cx="3703320" cy="2057400"/>
          </a:xfrm>
          <a:prstGeom prst="rect">
            <a:avLst/>
          </a:prstGeom>
          <a:solidFill>
            <a:srgbClr val="0A1628"/>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97680" y="3703320"/>
            <a:ext cx="370332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34840" y="3840480"/>
            <a:ext cx="3429000" cy="640080"/>
          </a:xfrm>
          <a:prstGeom prst="rect">
            <a:avLst/>
          </a:prstGeom>
          <a:noFill/>
        </p:spPr>
        <p:txBody>
          <a:bodyPr wrap="square">
            <a:spAutoFit/>
          </a:bodyPr>
          <a:lstStyle/>
          <a:p>
            <a:pPr algn="ctr"/>
            <a:r>
              <a:rPr sz="3800" b="1" i="0">
                <a:solidFill>
                  <a:srgbClr val="7C3AED"/>
                </a:solidFill>
                <a:latin typeface="Segoe UI"/>
              </a:rPr>
              <a:t>165 000</a:t>
            </a:r>
          </a:p>
        </p:txBody>
      </p:sp>
      <p:sp>
        <p:nvSpPr>
          <p:cNvPr id="35" name="TextBox 34"/>
          <p:cNvSpPr txBox="1"/>
          <p:nvPr/>
        </p:nvSpPr>
        <p:spPr>
          <a:xfrm>
            <a:off x="4434840" y="4507992"/>
            <a:ext cx="3429000" cy="292608"/>
          </a:xfrm>
          <a:prstGeom prst="rect">
            <a:avLst/>
          </a:prstGeom>
          <a:noFill/>
        </p:spPr>
        <p:txBody>
          <a:bodyPr wrap="square">
            <a:spAutoFit/>
          </a:bodyPr>
          <a:lstStyle/>
          <a:p>
            <a:pPr algn="ctr"/>
            <a:r>
              <a:rPr sz="1200" b="1" i="0">
                <a:solidFill>
                  <a:srgbClr val="FFFFFF"/>
                </a:solidFill>
                <a:latin typeface="Segoe UI"/>
              </a:rPr>
              <a:t>RUP reconnues</a:t>
            </a:r>
          </a:p>
        </p:txBody>
      </p:sp>
      <p:sp>
        <p:nvSpPr>
          <p:cNvPr id="36" name="Rectangle 35"/>
          <p:cNvSpPr/>
          <p:nvPr/>
        </p:nvSpPr>
        <p:spPr>
          <a:xfrm>
            <a:off x="4434840" y="4873752"/>
            <a:ext cx="3429000" cy="274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34840" y="4965192"/>
            <a:ext cx="3429000" cy="658368"/>
          </a:xfrm>
          <a:prstGeom prst="rect">
            <a:avLst/>
          </a:prstGeom>
          <a:noFill/>
        </p:spPr>
        <p:txBody>
          <a:bodyPr wrap="square">
            <a:spAutoFit/>
          </a:bodyPr>
          <a:lstStyle/>
          <a:p>
            <a:pPr algn="ctr"/>
            <a:r>
              <a:rPr sz="900" b="0" i="1">
                <a:solidFill>
                  <a:srgbClr val="BBCCDD"/>
                </a:solidFill>
                <a:latin typeface="Segoe UI"/>
              </a:rPr>
              <a:t>dont UNICEF, Croix-Rouge, MSF, Restos du Cœur</a:t>
            </a:r>
          </a:p>
        </p:txBody>
      </p:sp>
      <p:sp>
        <p:nvSpPr>
          <p:cNvPr id="38" name="Rectangle 37"/>
          <p:cNvSpPr/>
          <p:nvPr/>
        </p:nvSpPr>
        <p:spPr>
          <a:xfrm>
            <a:off x="8229600" y="3703320"/>
            <a:ext cx="3703320" cy="2057400"/>
          </a:xfrm>
          <a:prstGeom prst="rect">
            <a:avLst/>
          </a:prstGeom>
          <a:solidFill>
            <a:srgbClr val="0A1628"/>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29600" y="3703320"/>
            <a:ext cx="3703320" cy="45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66760" y="3840480"/>
            <a:ext cx="3429000" cy="640080"/>
          </a:xfrm>
          <a:prstGeom prst="rect">
            <a:avLst/>
          </a:prstGeom>
          <a:noFill/>
        </p:spPr>
        <p:txBody>
          <a:bodyPr wrap="square">
            <a:spAutoFit/>
          </a:bodyPr>
          <a:lstStyle/>
          <a:p>
            <a:pPr algn="ctr"/>
            <a:r>
              <a:rPr sz="3800" b="1" i="0">
                <a:solidFill>
                  <a:srgbClr val="E74C3C"/>
                </a:solidFill>
                <a:latin typeface="Segoe UI"/>
              </a:rPr>
              <a:t>36 %</a:t>
            </a:r>
          </a:p>
        </p:txBody>
      </p:sp>
      <p:sp>
        <p:nvSpPr>
          <p:cNvPr id="41" name="TextBox 40"/>
          <p:cNvSpPr txBox="1"/>
          <p:nvPr/>
        </p:nvSpPr>
        <p:spPr>
          <a:xfrm>
            <a:off x="8366760" y="4507992"/>
            <a:ext cx="3429000" cy="292608"/>
          </a:xfrm>
          <a:prstGeom prst="rect">
            <a:avLst/>
          </a:prstGeom>
          <a:noFill/>
        </p:spPr>
        <p:txBody>
          <a:bodyPr wrap="square">
            <a:spAutoFit/>
          </a:bodyPr>
          <a:lstStyle/>
          <a:p>
            <a:pPr algn="ctr"/>
            <a:r>
              <a:rPr sz="1200" b="1" i="0">
                <a:solidFill>
                  <a:srgbClr val="FFFFFF"/>
                </a:solidFill>
                <a:latin typeface="Segoe UI"/>
              </a:rPr>
              <a:t>des ressources = dons</a:t>
            </a:r>
          </a:p>
        </p:txBody>
      </p:sp>
      <p:sp>
        <p:nvSpPr>
          <p:cNvPr id="42" name="Rectangle 41"/>
          <p:cNvSpPr/>
          <p:nvPr/>
        </p:nvSpPr>
        <p:spPr>
          <a:xfrm>
            <a:off x="8366760" y="4873752"/>
            <a:ext cx="3429000" cy="2743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66760" y="4965192"/>
            <a:ext cx="3429000" cy="658368"/>
          </a:xfrm>
          <a:prstGeom prst="rect">
            <a:avLst/>
          </a:prstGeom>
          <a:noFill/>
        </p:spPr>
        <p:txBody>
          <a:bodyPr wrap="square">
            <a:spAutoFit/>
          </a:bodyPr>
          <a:lstStyle/>
          <a:p>
            <a:pPr algn="ctr"/>
            <a:r>
              <a:rPr sz="900" b="0" i="1">
                <a:solidFill>
                  <a:srgbClr val="BBCCDD"/>
                </a:solidFill>
                <a:latin typeface="Segoe UI"/>
              </a:rPr>
              <a:t>1er poste de financement pour les grandes 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30352"/>
          </a:xfrm>
          <a:prstGeom prst="rect">
            <a:avLst/>
          </a:prstGeom>
          <a:noFill/>
        </p:spPr>
        <p:txBody>
          <a:bodyPr wrap="square">
            <a:spAutoFit/>
          </a:bodyPr>
          <a:lstStyle/>
          <a:p>
            <a:pPr algn="l"/>
            <a:r>
              <a:rPr sz="2200" b="1" i="0">
                <a:solidFill>
                  <a:srgbClr val="FFFFFF"/>
                </a:solidFill>
                <a:latin typeface="Segoe UI"/>
              </a:rPr>
              <a:t>02-03  —  LOI 1901 &amp; TYPES D'ASSOCIATIONS</a:t>
            </a:r>
          </a:p>
        </p:txBody>
      </p:sp>
      <p:sp>
        <p:nvSpPr>
          <p:cNvPr id="5" name="TextBox 4"/>
          <p:cNvSpPr txBox="1"/>
          <p:nvPr/>
        </p:nvSpPr>
        <p:spPr>
          <a:xfrm>
            <a:off x="365760" y="658368"/>
            <a:ext cx="11430000" cy="402336"/>
          </a:xfrm>
          <a:prstGeom prst="rect">
            <a:avLst/>
          </a:prstGeom>
          <a:noFill/>
        </p:spPr>
        <p:txBody>
          <a:bodyPr wrap="square">
            <a:spAutoFit/>
          </a:bodyPr>
          <a:lstStyle/>
          <a:p>
            <a:pPr algn="l"/>
            <a:r>
              <a:rPr sz="1200" b="0" i="1">
                <a:solidFill>
                  <a:srgbClr val="00AEEF"/>
                </a:solidFill>
                <a:latin typeface="Segoe UI"/>
              </a:rPr>
              <a:t>Définition légale et classifications — ce que vous devez savoir</a:t>
            </a:r>
          </a:p>
        </p:txBody>
      </p:sp>
      <p:sp>
        <p:nvSpPr>
          <p:cNvPr id="6" name="Rectangle 5"/>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
        <p:nvSpPr>
          <p:cNvPr id="8" name="Rectangle 7"/>
          <p:cNvSpPr/>
          <p:nvPr/>
        </p:nvSpPr>
        <p:spPr>
          <a:xfrm>
            <a:off x="365760" y="1371600"/>
            <a:ext cx="11430000" cy="1097280"/>
          </a:xfrm>
          <a:prstGeom prst="rect">
            <a:avLst/>
          </a:prstGeom>
          <a:solidFill>
            <a:srgbClr val="0A1628"/>
          </a:solidFill>
          <a:ln w="15240">
            <a:solidFill>
              <a:srgbClr val="00A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11430000" cy="36576"/>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44752"/>
            <a:ext cx="10972800" cy="219456"/>
          </a:xfrm>
          <a:prstGeom prst="rect">
            <a:avLst/>
          </a:prstGeom>
          <a:noFill/>
        </p:spPr>
        <p:txBody>
          <a:bodyPr wrap="square">
            <a:spAutoFit/>
          </a:bodyPr>
          <a:lstStyle/>
          <a:p>
            <a:pPr algn="l"/>
            <a:r>
              <a:rPr sz="900" b="1" i="0">
                <a:solidFill>
                  <a:srgbClr val="00AEEF"/>
                </a:solidFill>
                <a:latin typeface="Segoe UI"/>
              </a:rPr>
              <a:t>LOI DU 1er JUILLET 1901 — ARTICLE 1er</a:t>
            </a:r>
          </a:p>
        </p:txBody>
      </p:sp>
      <p:sp>
        <p:nvSpPr>
          <p:cNvPr id="11" name="TextBox 10"/>
          <p:cNvSpPr txBox="1"/>
          <p:nvPr/>
        </p:nvSpPr>
        <p:spPr>
          <a:xfrm>
            <a:off x="594360" y="1700784"/>
            <a:ext cx="10972800" cy="658368"/>
          </a:xfrm>
          <a:prstGeom prst="rect">
            <a:avLst/>
          </a:prstGeom>
          <a:noFill/>
        </p:spPr>
        <p:txBody>
          <a:bodyPr wrap="square">
            <a:spAutoFit/>
          </a:bodyPr>
          <a:lstStyle/>
          <a:p>
            <a:pPr algn="l"/>
            <a:r>
              <a:rPr sz="1200" b="0" i="1">
                <a:solidFill>
                  <a:srgbClr val="FFFFFF"/>
                </a:solidFill>
                <a:latin typeface="Segoe UI"/>
              </a:rPr>
              <a:t>« Une association est la convention par laquelle deux ou plusieurs personnes mettent en commun, d'une façon permanente, leurs connaissances ou leur activité dans un but autre que de partager des bénéfices. »</a:t>
            </a:r>
          </a:p>
        </p:txBody>
      </p:sp>
      <p:sp>
        <p:nvSpPr>
          <p:cNvPr id="12" name="Rectangle 11"/>
          <p:cNvSpPr/>
          <p:nvPr/>
        </p:nvSpPr>
        <p:spPr>
          <a:xfrm>
            <a:off x="365760" y="2606040"/>
            <a:ext cx="3703320" cy="3383280"/>
          </a:xfrm>
          <a:prstGeom prst="rect">
            <a:avLst/>
          </a:prstGeom>
          <a:solidFill>
            <a:srgbClr val="FFFFFF"/>
          </a:solidFill>
          <a:ln w="1905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606040"/>
            <a:ext cx="3703320" cy="45720"/>
          </a:xfrm>
          <a:prstGeom prst="rect">
            <a:avLst/>
          </a:prstGeom>
          <a:solidFill>
            <a:srgbClr val="DCE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651760"/>
            <a:ext cx="3703320" cy="475488"/>
          </a:xfrm>
          <a:prstGeom prst="rect">
            <a:avLst/>
          </a:prstGeom>
          <a:solidFill>
            <a:srgbClr val="DCE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734056"/>
            <a:ext cx="3474720" cy="274320"/>
          </a:xfrm>
          <a:prstGeom prst="rect">
            <a:avLst/>
          </a:prstGeom>
          <a:noFill/>
        </p:spPr>
        <p:txBody>
          <a:bodyPr wrap="square">
            <a:spAutoFit/>
          </a:bodyPr>
          <a:lstStyle/>
          <a:p>
            <a:pPr algn="l"/>
            <a:r>
              <a:rPr sz="1100" b="1" i="0">
                <a:solidFill>
                  <a:srgbClr val="FFFFFF"/>
                </a:solidFill>
                <a:latin typeface="Segoe UI"/>
              </a:rPr>
              <a:t>ASSOCIATION DE FAIT</a:t>
            </a:r>
          </a:p>
        </p:txBody>
      </p:sp>
      <p:sp>
        <p:nvSpPr>
          <p:cNvPr id="16" name="TextBox 15"/>
          <p:cNvSpPr txBox="1"/>
          <p:nvPr/>
        </p:nvSpPr>
        <p:spPr>
          <a:xfrm>
            <a:off x="502920" y="3264408"/>
            <a:ext cx="3429000" cy="420624"/>
          </a:xfrm>
          <a:prstGeom prst="rect">
            <a:avLst/>
          </a:prstGeom>
          <a:noFill/>
        </p:spPr>
        <p:txBody>
          <a:bodyPr wrap="square">
            <a:spAutoFit/>
          </a:bodyPr>
          <a:lstStyle/>
          <a:p>
            <a:pPr algn="l"/>
            <a:r>
              <a:rPr sz="950" b="0" i="0">
                <a:solidFill>
                  <a:srgbClr val="555555"/>
                </a:solidFill>
                <a:latin typeface="Segoe UI"/>
              </a:rPr>
              <a:t>• Non déclarée</a:t>
            </a:r>
          </a:p>
        </p:txBody>
      </p:sp>
      <p:sp>
        <p:nvSpPr>
          <p:cNvPr id="17" name="TextBox 16"/>
          <p:cNvSpPr txBox="1"/>
          <p:nvPr/>
        </p:nvSpPr>
        <p:spPr>
          <a:xfrm>
            <a:off x="502920" y="3739896"/>
            <a:ext cx="3429000" cy="420624"/>
          </a:xfrm>
          <a:prstGeom prst="rect">
            <a:avLst/>
          </a:prstGeom>
          <a:noFill/>
        </p:spPr>
        <p:txBody>
          <a:bodyPr wrap="square">
            <a:spAutoFit/>
          </a:bodyPr>
          <a:lstStyle/>
          <a:p>
            <a:pPr algn="l"/>
            <a:r>
              <a:rPr sz="950" b="0" i="0">
                <a:solidFill>
                  <a:srgbClr val="555555"/>
                </a:solidFill>
                <a:latin typeface="Segoe UI"/>
              </a:rPr>
              <a:t>• Pas de personnalité juridique</a:t>
            </a:r>
          </a:p>
        </p:txBody>
      </p:sp>
      <p:sp>
        <p:nvSpPr>
          <p:cNvPr id="18" name="TextBox 17"/>
          <p:cNvSpPr txBox="1"/>
          <p:nvPr/>
        </p:nvSpPr>
        <p:spPr>
          <a:xfrm>
            <a:off x="502920" y="4215384"/>
            <a:ext cx="3429000" cy="420624"/>
          </a:xfrm>
          <a:prstGeom prst="rect">
            <a:avLst/>
          </a:prstGeom>
          <a:noFill/>
        </p:spPr>
        <p:txBody>
          <a:bodyPr wrap="square">
            <a:spAutoFit/>
          </a:bodyPr>
          <a:lstStyle/>
          <a:p>
            <a:pPr algn="l"/>
            <a:r>
              <a:rPr sz="950" b="0" i="0">
                <a:solidFill>
                  <a:srgbClr val="555555"/>
                </a:solidFill>
                <a:latin typeface="Segoe UI"/>
              </a:rPr>
              <a:t>• Pas de compte bancaire</a:t>
            </a:r>
          </a:p>
        </p:txBody>
      </p:sp>
      <p:sp>
        <p:nvSpPr>
          <p:cNvPr id="19" name="TextBox 18"/>
          <p:cNvSpPr txBox="1"/>
          <p:nvPr/>
        </p:nvSpPr>
        <p:spPr>
          <a:xfrm>
            <a:off x="502920" y="4690872"/>
            <a:ext cx="3429000" cy="420624"/>
          </a:xfrm>
          <a:prstGeom prst="rect">
            <a:avLst/>
          </a:prstGeom>
          <a:noFill/>
        </p:spPr>
        <p:txBody>
          <a:bodyPr wrap="square">
            <a:spAutoFit/>
          </a:bodyPr>
          <a:lstStyle/>
          <a:p>
            <a:pPr algn="l"/>
            <a:r>
              <a:rPr sz="950" b="0" i="0">
                <a:solidFill>
                  <a:srgbClr val="555555"/>
                </a:solidFill>
                <a:latin typeface="Segoe UI"/>
              </a:rPr>
              <a:t>• Responsabilité personnelle des membres</a:t>
            </a:r>
          </a:p>
        </p:txBody>
      </p:sp>
      <p:sp>
        <p:nvSpPr>
          <p:cNvPr id="20" name="Rectangle 19"/>
          <p:cNvSpPr/>
          <p:nvPr/>
        </p:nvSpPr>
        <p:spPr>
          <a:xfrm>
            <a:off x="475488" y="5276088"/>
            <a:ext cx="3474720" cy="594360"/>
          </a:xfrm>
          <a:prstGeom prst="rect">
            <a:avLst/>
          </a:prstGeom>
          <a:solidFill>
            <a:srgbClr val="F0F4F9"/>
          </a:solidFill>
          <a:ln w="1016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5330952"/>
            <a:ext cx="3291840" cy="530352"/>
          </a:xfrm>
          <a:prstGeom prst="rect">
            <a:avLst/>
          </a:prstGeom>
          <a:noFill/>
        </p:spPr>
        <p:txBody>
          <a:bodyPr wrap="square">
            <a:spAutoFit/>
          </a:bodyPr>
          <a:lstStyle/>
          <a:p>
            <a:pPr algn="l"/>
            <a:r>
              <a:rPr sz="900" b="0" i="1">
                <a:solidFill>
                  <a:srgbClr val="003087"/>
                </a:solidFill>
                <a:latin typeface="Segoe UI"/>
              </a:rPr>
              <a:t>Ex : Groupe de voisins,
collectif informel</a:t>
            </a:r>
          </a:p>
        </p:txBody>
      </p:sp>
      <p:sp>
        <p:nvSpPr>
          <p:cNvPr id="22" name="Rectangle 21"/>
          <p:cNvSpPr/>
          <p:nvPr/>
        </p:nvSpPr>
        <p:spPr>
          <a:xfrm>
            <a:off x="4297680" y="2606040"/>
            <a:ext cx="3703320" cy="3383280"/>
          </a:xfrm>
          <a:prstGeom prst="rect">
            <a:avLst/>
          </a:prstGeom>
          <a:solidFill>
            <a:srgbClr val="FFFFFF"/>
          </a:solidFill>
          <a:ln w="1905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0" y="2606040"/>
            <a:ext cx="3703320" cy="4572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2651760"/>
            <a:ext cx="3703320" cy="47548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8" y="2734056"/>
            <a:ext cx="3474720" cy="274320"/>
          </a:xfrm>
          <a:prstGeom prst="rect">
            <a:avLst/>
          </a:prstGeom>
          <a:noFill/>
        </p:spPr>
        <p:txBody>
          <a:bodyPr wrap="square">
            <a:spAutoFit/>
          </a:bodyPr>
          <a:lstStyle/>
          <a:p>
            <a:pPr algn="l"/>
            <a:r>
              <a:rPr sz="1100" b="1" i="0">
                <a:solidFill>
                  <a:srgbClr val="FFFFFF"/>
                </a:solidFill>
                <a:latin typeface="Segoe UI"/>
              </a:rPr>
              <a:t>ASSOCIATION DÉCLARÉE</a:t>
            </a:r>
          </a:p>
        </p:txBody>
      </p:sp>
      <p:sp>
        <p:nvSpPr>
          <p:cNvPr id="26" name="TextBox 25"/>
          <p:cNvSpPr txBox="1"/>
          <p:nvPr/>
        </p:nvSpPr>
        <p:spPr>
          <a:xfrm>
            <a:off x="4434840" y="3264408"/>
            <a:ext cx="3429000" cy="420624"/>
          </a:xfrm>
          <a:prstGeom prst="rect">
            <a:avLst/>
          </a:prstGeom>
          <a:noFill/>
        </p:spPr>
        <p:txBody>
          <a:bodyPr wrap="square">
            <a:spAutoFit/>
          </a:bodyPr>
          <a:lstStyle/>
          <a:p>
            <a:pPr algn="l"/>
            <a:r>
              <a:rPr sz="950" b="0" i="0">
                <a:solidFill>
                  <a:srgbClr val="555555"/>
                </a:solidFill>
                <a:latin typeface="Segoe UI"/>
              </a:rPr>
              <a:t>• Déclarée en préfecture (JO)</a:t>
            </a:r>
          </a:p>
        </p:txBody>
      </p:sp>
      <p:sp>
        <p:nvSpPr>
          <p:cNvPr id="27" name="TextBox 26"/>
          <p:cNvSpPr txBox="1"/>
          <p:nvPr/>
        </p:nvSpPr>
        <p:spPr>
          <a:xfrm>
            <a:off x="4434840" y="3739896"/>
            <a:ext cx="3429000" cy="420624"/>
          </a:xfrm>
          <a:prstGeom prst="rect">
            <a:avLst/>
          </a:prstGeom>
          <a:noFill/>
        </p:spPr>
        <p:txBody>
          <a:bodyPr wrap="square">
            <a:spAutoFit/>
          </a:bodyPr>
          <a:lstStyle/>
          <a:p>
            <a:pPr algn="l"/>
            <a:r>
              <a:rPr sz="950" b="0" i="0">
                <a:solidFill>
                  <a:srgbClr val="555555"/>
                </a:solidFill>
                <a:latin typeface="Segoe UI"/>
              </a:rPr>
              <a:t>• Personnalité juridique</a:t>
            </a:r>
          </a:p>
        </p:txBody>
      </p:sp>
      <p:sp>
        <p:nvSpPr>
          <p:cNvPr id="28" name="TextBox 27"/>
          <p:cNvSpPr txBox="1"/>
          <p:nvPr/>
        </p:nvSpPr>
        <p:spPr>
          <a:xfrm>
            <a:off x="4434840" y="4215384"/>
            <a:ext cx="3429000" cy="420624"/>
          </a:xfrm>
          <a:prstGeom prst="rect">
            <a:avLst/>
          </a:prstGeom>
          <a:noFill/>
        </p:spPr>
        <p:txBody>
          <a:bodyPr wrap="square">
            <a:spAutoFit/>
          </a:bodyPr>
          <a:lstStyle/>
          <a:p>
            <a:pPr algn="l"/>
            <a:r>
              <a:rPr sz="950" b="0" i="0">
                <a:solidFill>
                  <a:srgbClr val="555555"/>
                </a:solidFill>
                <a:latin typeface="Segoe UI"/>
              </a:rPr>
              <a:t>• Compte bancaire possible</a:t>
            </a:r>
          </a:p>
        </p:txBody>
      </p:sp>
      <p:sp>
        <p:nvSpPr>
          <p:cNvPr id="29" name="TextBox 28"/>
          <p:cNvSpPr txBox="1"/>
          <p:nvPr/>
        </p:nvSpPr>
        <p:spPr>
          <a:xfrm>
            <a:off x="4434840" y="4690872"/>
            <a:ext cx="3429000" cy="420624"/>
          </a:xfrm>
          <a:prstGeom prst="rect">
            <a:avLst/>
          </a:prstGeom>
          <a:noFill/>
        </p:spPr>
        <p:txBody>
          <a:bodyPr wrap="square">
            <a:spAutoFit/>
          </a:bodyPr>
          <a:lstStyle/>
          <a:p>
            <a:pPr algn="l"/>
            <a:r>
              <a:rPr sz="950" b="0" i="0">
                <a:solidFill>
                  <a:srgbClr val="555555"/>
                </a:solidFill>
                <a:latin typeface="Segoe UI"/>
              </a:rPr>
              <a:t>• Peut recevoir des dons — forme la + courante</a:t>
            </a:r>
          </a:p>
        </p:txBody>
      </p:sp>
      <p:sp>
        <p:nvSpPr>
          <p:cNvPr id="30" name="Rectangle 29"/>
          <p:cNvSpPr/>
          <p:nvPr/>
        </p:nvSpPr>
        <p:spPr>
          <a:xfrm>
            <a:off x="4407408" y="5276088"/>
            <a:ext cx="3474720" cy="594360"/>
          </a:xfrm>
          <a:prstGeom prst="rect">
            <a:avLst/>
          </a:prstGeom>
          <a:solidFill>
            <a:srgbClr val="F0F4F9"/>
          </a:solidFill>
          <a:ln w="1016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98848" y="5330952"/>
            <a:ext cx="3291840" cy="530352"/>
          </a:xfrm>
          <a:prstGeom prst="rect">
            <a:avLst/>
          </a:prstGeom>
          <a:noFill/>
        </p:spPr>
        <p:txBody>
          <a:bodyPr wrap="square">
            <a:spAutoFit/>
          </a:bodyPr>
          <a:lstStyle/>
          <a:p>
            <a:pPr algn="l"/>
            <a:r>
              <a:rPr sz="900" b="0" i="1">
                <a:solidFill>
                  <a:srgbClr val="003087"/>
                </a:solidFill>
                <a:latin typeface="Segoe UI"/>
              </a:rPr>
              <a:t>Ex : Club de foot, asso parents
d'élèves, association locale</a:t>
            </a:r>
          </a:p>
        </p:txBody>
      </p:sp>
      <p:sp>
        <p:nvSpPr>
          <p:cNvPr id="32" name="Rectangle 31"/>
          <p:cNvSpPr/>
          <p:nvPr/>
        </p:nvSpPr>
        <p:spPr>
          <a:xfrm>
            <a:off x="8229600" y="2606040"/>
            <a:ext cx="3703320" cy="3383280"/>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0" y="2606040"/>
            <a:ext cx="3703320" cy="4572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0" y="2651760"/>
            <a:ext cx="3703320" cy="47548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9328" y="2734056"/>
            <a:ext cx="3474720" cy="274320"/>
          </a:xfrm>
          <a:prstGeom prst="rect">
            <a:avLst/>
          </a:prstGeom>
          <a:noFill/>
        </p:spPr>
        <p:txBody>
          <a:bodyPr wrap="square">
            <a:spAutoFit/>
          </a:bodyPr>
          <a:lstStyle/>
          <a:p>
            <a:pPr algn="l"/>
            <a:r>
              <a:rPr sz="1100" b="1" i="0">
                <a:solidFill>
                  <a:srgbClr val="FFFFFF"/>
                </a:solidFill>
                <a:latin typeface="Segoe UI"/>
              </a:rPr>
              <a:t>RUP — UTILITÉ PUBLIQUE</a:t>
            </a:r>
          </a:p>
        </p:txBody>
      </p:sp>
      <p:sp>
        <p:nvSpPr>
          <p:cNvPr id="36" name="TextBox 35"/>
          <p:cNvSpPr txBox="1"/>
          <p:nvPr/>
        </p:nvSpPr>
        <p:spPr>
          <a:xfrm>
            <a:off x="8366760" y="3264408"/>
            <a:ext cx="3429000" cy="420624"/>
          </a:xfrm>
          <a:prstGeom prst="rect">
            <a:avLst/>
          </a:prstGeom>
          <a:noFill/>
        </p:spPr>
        <p:txBody>
          <a:bodyPr wrap="square">
            <a:spAutoFit/>
          </a:bodyPr>
          <a:lstStyle/>
          <a:p>
            <a:pPr algn="l"/>
            <a:r>
              <a:rPr sz="950" b="0" i="0">
                <a:solidFill>
                  <a:srgbClr val="555555"/>
                </a:solidFill>
                <a:latin typeface="Segoe UI"/>
              </a:rPr>
              <a:t>• Décret en Conseil d'État</a:t>
            </a:r>
          </a:p>
        </p:txBody>
      </p:sp>
      <p:sp>
        <p:nvSpPr>
          <p:cNvPr id="37" name="TextBox 36"/>
          <p:cNvSpPr txBox="1"/>
          <p:nvPr/>
        </p:nvSpPr>
        <p:spPr>
          <a:xfrm>
            <a:off x="8366760" y="3739896"/>
            <a:ext cx="3429000" cy="420624"/>
          </a:xfrm>
          <a:prstGeom prst="rect">
            <a:avLst/>
          </a:prstGeom>
          <a:noFill/>
        </p:spPr>
        <p:txBody>
          <a:bodyPr wrap="square">
            <a:spAutoFit/>
          </a:bodyPr>
          <a:lstStyle/>
          <a:p>
            <a:pPr algn="l"/>
            <a:r>
              <a:rPr sz="950" b="0" i="0">
                <a:solidFill>
                  <a:srgbClr val="555555"/>
                </a:solidFill>
                <a:latin typeface="Segoe UI"/>
              </a:rPr>
              <a:t>• Critères stricts : 3 ans+ / 200+ membres</a:t>
            </a:r>
          </a:p>
        </p:txBody>
      </p:sp>
      <p:sp>
        <p:nvSpPr>
          <p:cNvPr id="38" name="TextBox 37"/>
          <p:cNvSpPr txBox="1"/>
          <p:nvPr/>
        </p:nvSpPr>
        <p:spPr>
          <a:xfrm>
            <a:off x="8366760" y="4215384"/>
            <a:ext cx="3429000" cy="420624"/>
          </a:xfrm>
          <a:prstGeom prst="rect">
            <a:avLst/>
          </a:prstGeom>
          <a:noFill/>
        </p:spPr>
        <p:txBody>
          <a:bodyPr wrap="square">
            <a:spAutoFit/>
          </a:bodyPr>
          <a:lstStyle/>
          <a:p>
            <a:pPr algn="l"/>
            <a:r>
              <a:rPr sz="950" b="0" i="0">
                <a:solidFill>
                  <a:srgbClr val="555555"/>
                </a:solidFill>
                <a:latin typeface="Segoe UI"/>
              </a:rPr>
              <a:t>• Legs, donations avantages fiscaux</a:t>
            </a:r>
          </a:p>
        </p:txBody>
      </p:sp>
      <p:sp>
        <p:nvSpPr>
          <p:cNvPr id="39" name="TextBox 38"/>
          <p:cNvSpPr txBox="1"/>
          <p:nvPr/>
        </p:nvSpPr>
        <p:spPr>
          <a:xfrm>
            <a:off x="8366760" y="4690872"/>
            <a:ext cx="3429000" cy="420624"/>
          </a:xfrm>
          <a:prstGeom prst="rect">
            <a:avLst/>
          </a:prstGeom>
          <a:noFill/>
        </p:spPr>
        <p:txBody>
          <a:bodyPr wrap="square">
            <a:spAutoFit/>
          </a:bodyPr>
          <a:lstStyle/>
          <a:p>
            <a:pPr algn="l"/>
            <a:r>
              <a:rPr sz="950" b="0" i="0">
                <a:solidFill>
                  <a:srgbClr val="555555"/>
                </a:solidFill>
                <a:latin typeface="Segoe UI"/>
              </a:rPr>
              <a:t>• ~2 800 en France — UNICEF France</a:t>
            </a:r>
          </a:p>
        </p:txBody>
      </p:sp>
      <p:sp>
        <p:nvSpPr>
          <p:cNvPr id="40" name="Rectangle 39"/>
          <p:cNvSpPr/>
          <p:nvPr/>
        </p:nvSpPr>
        <p:spPr>
          <a:xfrm>
            <a:off x="8339328" y="5276088"/>
            <a:ext cx="3474720" cy="594360"/>
          </a:xfrm>
          <a:prstGeom prst="rect">
            <a:avLst/>
          </a:prstGeom>
          <a:solidFill>
            <a:srgbClr val="F0F4F9"/>
          </a:solidFill>
          <a:ln w="1016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30768" y="5330952"/>
            <a:ext cx="3291840" cy="530352"/>
          </a:xfrm>
          <a:prstGeom prst="rect">
            <a:avLst/>
          </a:prstGeom>
          <a:noFill/>
        </p:spPr>
        <p:txBody>
          <a:bodyPr wrap="square">
            <a:spAutoFit/>
          </a:bodyPr>
          <a:lstStyle/>
          <a:p>
            <a:pPr algn="l"/>
            <a:r>
              <a:rPr sz="900" b="0" i="1">
                <a:solidFill>
                  <a:srgbClr val="003087"/>
                </a:solidFill>
                <a:latin typeface="Segoe UI"/>
              </a:rPr>
              <a:t>Ex : UNICEF France, Croix-Rouge,
Restos du Cœur, MSF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30352"/>
          </a:xfrm>
          <a:prstGeom prst="rect">
            <a:avLst/>
          </a:prstGeom>
          <a:noFill/>
        </p:spPr>
        <p:txBody>
          <a:bodyPr wrap="square">
            <a:spAutoFit/>
          </a:bodyPr>
          <a:lstStyle/>
          <a:p>
            <a:pPr algn="l"/>
            <a:r>
              <a:rPr sz="2200" b="1" i="0">
                <a:solidFill>
                  <a:srgbClr val="FFFFFF"/>
                </a:solidFill>
                <a:latin typeface="Segoe UI"/>
              </a:rPr>
              <a:t>04-05  —  CHRONOLOGIE &amp; PRINCIPES HUMANITAIRES</a:t>
            </a:r>
          </a:p>
        </p:txBody>
      </p:sp>
      <p:sp>
        <p:nvSpPr>
          <p:cNvPr id="5" name="TextBox 4"/>
          <p:cNvSpPr txBox="1"/>
          <p:nvPr/>
        </p:nvSpPr>
        <p:spPr>
          <a:xfrm>
            <a:off x="365760" y="658368"/>
            <a:ext cx="11430000" cy="402336"/>
          </a:xfrm>
          <a:prstGeom prst="rect">
            <a:avLst/>
          </a:prstGeom>
          <a:noFill/>
        </p:spPr>
        <p:txBody>
          <a:bodyPr wrap="square">
            <a:spAutoFit/>
          </a:bodyPr>
          <a:lstStyle/>
          <a:p>
            <a:pPr algn="l"/>
            <a:r>
              <a:rPr sz="1200" b="0" i="1">
                <a:solidFill>
                  <a:srgbClr val="00AEEF"/>
                </a:solidFill>
                <a:latin typeface="Segoe UI"/>
              </a:rPr>
              <a:t>Histoire du secteur et valeurs fondatrices de l'action humanitaire</a:t>
            </a:r>
          </a:p>
        </p:txBody>
      </p:sp>
      <p:sp>
        <p:nvSpPr>
          <p:cNvPr id="6" name="Rectangle 5"/>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
        <p:nvSpPr>
          <p:cNvPr id="8" name="Rectangle 7"/>
          <p:cNvSpPr/>
          <p:nvPr/>
        </p:nvSpPr>
        <p:spPr>
          <a:xfrm>
            <a:off x="365760" y="1371600"/>
            <a:ext cx="5303520" cy="4846320"/>
          </a:xfrm>
          <a:prstGeom prst="rect">
            <a:avLst/>
          </a:prstGeom>
          <a:solidFill>
            <a:srgbClr val="FFFFFF"/>
          </a:solidFill>
          <a:ln w="1270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530352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63040"/>
            <a:ext cx="4846320" cy="274320"/>
          </a:xfrm>
          <a:prstGeom prst="rect">
            <a:avLst/>
          </a:prstGeom>
          <a:noFill/>
        </p:spPr>
        <p:txBody>
          <a:bodyPr wrap="square">
            <a:spAutoFit/>
          </a:bodyPr>
          <a:lstStyle/>
          <a:p>
            <a:pPr algn="l"/>
            <a:r>
              <a:rPr sz="1200" b="1" i="0">
                <a:solidFill>
                  <a:srgbClr val="0D9488"/>
                </a:solidFill>
                <a:latin typeface="Segoe UI"/>
              </a:rPr>
              <a:t>CHRONOLOGIE CLÉS</a:t>
            </a:r>
          </a:p>
        </p:txBody>
      </p:sp>
      <p:sp>
        <p:nvSpPr>
          <p:cNvPr id="11" name="Rectangle 10"/>
          <p:cNvSpPr/>
          <p:nvPr/>
        </p:nvSpPr>
        <p:spPr>
          <a:xfrm>
            <a:off x="1115568" y="1874519"/>
            <a:ext cx="36576" cy="4114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87552" y="1965959"/>
            <a:ext cx="274320"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74519"/>
            <a:ext cx="512064" cy="256032"/>
          </a:xfrm>
          <a:prstGeom prst="rect">
            <a:avLst/>
          </a:prstGeom>
          <a:noFill/>
        </p:spPr>
        <p:txBody>
          <a:bodyPr wrap="square">
            <a:spAutoFit/>
          </a:bodyPr>
          <a:lstStyle/>
          <a:p>
            <a:pPr algn="l"/>
            <a:r>
              <a:rPr sz="800" b="1" i="0">
                <a:solidFill>
                  <a:srgbClr val="0D9488"/>
                </a:solidFill>
                <a:latin typeface="Segoe UI"/>
              </a:rPr>
              <a:t>XIIe s.</a:t>
            </a:r>
          </a:p>
        </p:txBody>
      </p:sp>
      <p:sp>
        <p:nvSpPr>
          <p:cNvPr id="14" name="TextBox 13"/>
          <p:cNvSpPr txBox="1"/>
          <p:nvPr/>
        </p:nvSpPr>
        <p:spPr>
          <a:xfrm>
            <a:off x="1417320" y="1874519"/>
            <a:ext cx="4023360" cy="621792"/>
          </a:xfrm>
          <a:prstGeom prst="rect">
            <a:avLst/>
          </a:prstGeom>
          <a:noFill/>
        </p:spPr>
        <p:txBody>
          <a:bodyPr wrap="square">
            <a:spAutoFit/>
          </a:bodyPr>
          <a:lstStyle/>
          <a:p>
            <a:pPr algn="l"/>
            <a:r>
              <a:rPr sz="900" b="0" i="0">
                <a:solidFill>
                  <a:srgbClr val="555555"/>
                </a:solidFill>
                <a:latin typeface="Segoe UI"/>
              </a:rPr>
              <a:t>Confréries médiévales — premières formes de solidarité collective organisée en Europe.</a:t>
            </a:r>
          </a:p>
        </p:txBody>
      </p:sp>
      <p:sp>
        <p:nvSpPr>
          <p:cNvPr id="15" name="Rectangle 14"/>
          <p:cNvSpPr/>
          <p:nvPr/>
        </p:nvSpPr>
        <p:spPr>
          <a:xfrm>
            <a:off x="987552" y="2679191"/>
            <a:ext cx="274320"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587751"/>
            <a:ext cx="512064" cy="256032"/>
          </a:xfrm>
          <a:prstGeom prst="rect">
            <a:avLst/>
          </a:prstGeom>
          <a:noFill/>
        </p:spPr>
        <p:txBody>
          <a:bodyPr wrap="square">
            <a:spAutoFit/>
          </a:bodyPr>
          <a:lstStyle/>
          <a:p>
            <a:pPr algn="l"/>
            <a:r>
              <a:rPr sz="800" b="1" i="0">
                <a:solidFill>
                  <a:srgbClr val="0D9488"/>
                </a:solidFill>
                <a:latin typeface="Segoe UI"/>
              </a:rPr>
              <a:t>1859</a:t>
            </a:r>
          </a:p>
        </p:txBody>
      </p:sp>
      <p:sp>
        <p:nvSpPr>
          <p:cNvPr id="17" name="TextBox 16"/>
          <p:cNvSpPr txBox="1"/>
          <p:nvPr/>
        </p:nvSpPr>
        <p:spPr>
          <a:xfrm>
            <a:off x="1417320" y="2587751"/>
            <a:ext cx="4023360" cy="621792"/>
          </a:xfrm>
          <a:prstGeom prst="rect">
            <a:avLst/>
          </a:prstGeom>
          <a:noFill/>
        </p:spPr>
        <p:txBody>
          <a:bodyPr wrap="square">
            <a:spAutoFit/>
          </a:bodyPr>
          <a:lstStyle/>
          <a:p>
            <a:pPr algn="l"/>
            <a:r>
              <a:rPr sz="900" b="0" i="0">
                <a:solidFill>
                  <a:srgbClr val="555555"/>
                </a:solidFill>
                <a:latin typeface="Segoe UI"/>
              </a:rPr>
              <a:t>Solférino — Henry Dunant → Croix-Rouge. Naissance du droit humanitaire international.</a:t>
            </a:r>
          </a:p>
        </p:txBody>
      </p:sp>
      <p:sp>
        <p:nvSpPr>
          <p:cNvPr id="18" name="Rectangle 17"/>
          <p:cNvSpPr/>
          <p:nvPr/>
        </p:nvSpPr>
        <p:spPr>
          <a:xfrm>
            <a:off x="987552" y="3392423"/>
            <a:ext cx="274320"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300983"/>
            <a:ext cx="512064" cy="256032"/>
          </a:xfrm>
          <a:prstGeom prst="rect">
            <a:avLst/>
          </a:prstGeom>
          <a:noFill/>
        </p:spPr>
        <p:txBody>
          <a:bodyPr wrap="square">
            <a:spAutoFit/>
          </a:bodyPr>
          <a:lstStyle/>
          <a:p>
            <a:pPr algn="l"/>
            <a:r>
              <a:rPr sz="800" b="1" i="0">
                <a:solidFill>
                  <a:srgbClr val="0D9488"/>
                </a:solidFill>
                <a:latin typeface="Segoe UI"/>
              </a:rPr>
              <a:t>1901</a:t>
            </a:r>
          </a:p>
        </p:txBody>
      </p:sp>
      <p:sp>
        <p:nvSpPr>
          <p:cNvPr id="20" name="TextBox 19"/>
          <p:cNvSpPr txBox="1"/>
          <p:nvPr/>
        </p:nvSpPr>
        <p:spPr>
          <a:xfrm>
            <a:off x="1417320" y="3300983"/>
            <a:ext cx="4023360" cy="621792"/>
          </a:xfrm>
          <a:prstGeom prst="rect">
            <a:avLst/>
          </a:prstGeom>
          <a:noFill/>
        </p:spPr>
        <p:txBody>
          <a:bodyPr wrap="square">
            <a:spAutoFit/>
          </a:bodyPr>
          <a:lstStyle/>
          <a:p>
            <a:pPr algn="l"/>
            <a:r>
              <a:rPr sz="900" b="0" i="0">
                <a:solidFill>
                  <a:srgbClr val="555555"/>
                </a:solidFill>
                <a:latin typeface="Segoe UI"/>
              </a:rPr>
              <a:t>Loi du 1er juillet 1901 — liberté d'association garantie en France par la loi.</a:t>
            </a:r>
          </a:p>
        </p:txBody>
      </p:sp>
      <p:sp>
        <p:nvSpPr>
          <p:cNvPr id="21" name="Rectangle 20"/>
          <p:cNvSpPr/>
          <p:nvPr/>
        </p:nvSpPr>
        <p:spPr>
          <a:xfrm>
            <a:off x="987552" y="4105655"/>
            <a:ext cx="274320"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014215"/>
            <a:ext cx="512064" cy="256032"/>
          </a:xfrm>
          <a:prstGeom prst="rect">
            <a:avLst/>
          </a:prstGeom>
          <a:noFill/>
        </p:spPr>
        <p:txBody>
          <a:bodyPr wrap="square">
            <a:spAutoFit/>
          </a:bodyPr>
          <a:lstStyle/>
          <a:p>
            <a:pPr algn="l"/>
            <a:r>
              <a:rPr sz="800" b="1" i="0">
                <a:solidFill>
                  <a:srgbClr val="0D9488"/>
                </a:solidFill>
                <a:latin typeface="Segoe UI"/>
              </a:rPr>
              <a:t>1946</a:t>
            </a:r>
          </a:p>
        </p:txBody>
      </p:sp>
      <p:sp>
        <p:nvSpPr>
          <p:cNvPr id="23" name="TextBox 22"/>
          <p:cNvSpPr txBox="1"/>
          <p:nvPr/>
        </p:nvSpPr>
        <p:spPr>
          <a:xfrm>
            <a:off x="1417320" y="4014215"/>
            <a:ext cx="4023360" cy="621792"/>
          </a:xfrm>
          <a:prstGeom prst="rect">
            <a:avLst/>
          </a:prstGeom>
          <a:noFill/>
        </p:spPr>
        <p:txBody>
          <a:bodyPr wrap="square">
            <a:spAutoFit/>
          </a:bodyPr>
          <a:lstStyle/>
          <a:p>
            <a:pPr algn="l"/>
            <a:r>
              <a:rPr sz="900" b="0" i="0">
                <a:solidFill>
                  <a:srgbClr val="555555"/>
                </a:solidFill>
                <a:latin typeface="Segoe UI"/>
              </a:rPr>
              <a:t>Création de l'UNICEF par l'ONU. Présent aujourd'hui dans 190 pays.</a:t>
            </a:r>
          </a:p>
        </p:txBody>
      </p:sp>
      <p:sp>
        <p:nvSpPr>
          <p:cNvPr id="24" name="Rectangle 23"/>
          <p:cNvSpPr/>
          <p:nvPr/>
        </p:nvSpPr>
        <p:spPr>
          <a:xfrm>
            <a:off x="987552" y="4818887"/>
            <a:ext cx="274320"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727447"/>
            <a:ext cx="512064" cy="256032"/>
          </a:xfrm>
          <a:prstGeom prst="rect">
            <a:avLst/>
          </a:prstGeom>
          <a:noFill/>
        </p:spPr>
        <p:txBody>
          <a:bodyPr wrap="square">
            <a:spAutoFit/>
          </a:bodyPr>
          <a:lstStyle/>
          <a:p>
            <a:pPr algn="l"/>
            <a:r>
              <a:rPr sz="800" b="1" i="0">
                <a:solidFill>
                  <a:srgbClr val="0D9488"/>
                </a:solidFill>
                <a:latin typeface="Segoe UI"/>
              </a:rPr>
              <a:t>1971</a:t>
            </a:r>
          </a:p>
        </p:txBody>
      </p:sp>
      <p:sp>
        <p:nvSpPr>
          <p:cNvPr id="26" name="TextBox 25"/>
          <p:cNvSpPr txBox="1"/>
          <p:nvPr/>
        </p:nvSpPr>
        <p:spPr>
          <a:xfrm>
            <a:off x="1417320" y="4727447"/>
            <a:ext cx="4023360" cy="621792"/>
          </a:xfrm>
          <a:prstGeom prst="rect">
            <a:avLst/>
          </a:prstGeom>
          <a:noFill/>
        </p:spPr>
        <p:txBody>
          <a:bodyPr wrap="square">
            <a:spAutoFit/>
          </a:bodyPr>
          <a:lstStyle/>
          <a:p>
            <a:pPr algn="l"/>
            <a:r>
              <a:rPr sz="900" b="0" i="0">
                <a:solidFill>
                  <a:srgbClr val="555555"/>
                </a:solidFill>
                <a:latin typeface="Segoe UI"/>
              </a:rPr>
              <a:t>Fondation de MSF — Médecins Sans Frontières. Modèle de l'urgence médicale.</a:t>
            </a:r>
          </a:p>
        </p:txBody>
      </p:sp>
      <p:sp>
        <p:nvSpPr>
          <p:cNvPr id="27" name="Rectangle 26"/>
          <p:cNvSpPr/>
          <p:nvPr/>
        </p:nvSpPr>
        <p:spPr>
          <a:xfrm>
            <a:off x="987552" y="5532119"/>
            <a:ext cx="274320"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440679"/>
            <a:ext cx="512064" cy="256032"/>
          </a:xfrm>
          <a:prstGeom prst="rect">
            <a:avLst/>
          </a:prstGeom>
          <a:noFill/>
        </p:spPr>
        <p:txBody>
          <a:bodyPr wrap="square">
            <a:spAutoFit/>
          </a:bodyPr>
          <a:lstStyle/>
          <a:p>
            <a:pPr algn="l"/>
            <a:r>
              <a:rPr sz="800" b="1" i="0">
                <a:solidFill>
                  <a:srgbClr val="0D9488"/>
                </a:solidFill>
                <a:latin typeface="Segoe UI"/>
              </a:rPr>
              <a:t>1996</a:t>
            </a:r>
          </a:p>
        </p:txBody>
      </p:sp>
      <p:sp>
        <p:nvSpPr>
          <p:cNvPr id="29" name="TextBox 28"/>
          <p:cNvSpPr txBox="1"/>
          <p:nvPr/>
        </p:nvSpPr>
        <p:spPr>
          <a:xfrm>
            <a:off x="1417320" y="5440679"/>
            <a:ext cx="4023360" cy="621792"/>
          </a:xfrm>
          <a:prstGeom prst="rect">
            <a:avLst/>
          </a:prstGeom>
          <a:noFill/>
        </p:spPr>
        <p:txBody>
          <a:bodyPr wrap="square">
            <a:spAutoFit/>
          </a:bodyPr>
          <a:lstStyle/>
          <a:p>
            <a:pPr algn="l"/>
            <a:r>
              <a:rPr sz="900" b="0" i="0">
                <a:solidFill>
                  <a:srgbClr val="555555"/>
                </a:solidFill>
                <a:latin typeface="Segoe UI"/>
              </a:rPr>
              <a:t>Affaire ARC — crise de confiance. Réglementation et transparence imposées.</a:t>
            </a:r>
          </a:p>
        </p:txBody>
      </p:sp>
      <p:sp>
        <p:nvSpPr>
          <p:cNvPr id="30" name="Rectangle 29"/>
          <p:cNvSpPr/>
          <p:nvPr/>
        </p:nvSpPr>
        <p:spPr>
          <a:xfrm>
            <a:off x="6035040" y="1371600"/>
            <a:ext cx="5760720" cy="4846320"/>
          </a:xfrm>
          <a:prstGeom prst="rect">
            <a:avLst/>
          </a:prstGeom>
          <a:solidFill>
            <a:srgbClr val="F0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1371600"/>
            <a:ext cx="5760720" cy="36576"/>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1463040"/>
            <a:ext cx="5303520" cy="274320"/>
          </a:xfrm>
          <a:prstGeom prst="rect">
            <a:avLst/>
          </a:prstGeom>
          <a:noFill/>
        </p:spPr>
        <p:txBody>
          <a:bodyPr wrap="square">
            <a:spAutoFit/>
          </a:bodyPr>
          <a:lstStyle/>
          <a:p>
            <a:pPr algn="l"/>
            <a:r>
              <a:rPr sz="1100" b="1" i="0">
                <a:solidFill>
                  <a:srgbClr val="F7941D"/>
                </a:solidFill>
                <a:latin typeface="Segoe UI"/>
              </a:rPr>
              <a:t>4 PRINCIPES HUMANITAIRES FONDAMENTAUX</a:t>
            </a:r>
          </a:p>
        </p:txBody>
      </p:sp>
      <p:sp>
        <p:nvSpPr>
          <p:cNvPr id="33" name="Rectangle 32"/>
          <p:cNvSpPr/>
          <p:nvPr/>
        </p:nvSpPr>
        <p:spPr>
          <a:xfrm>
            <a:off x="6126480" y="1901952"/>
            <a:ext cx="54864" cy="8229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1938528"/>
            <a:ext cx="5120640" cy="274320"/>
          </a:xfrm>
          <a:prstGeom prst="rect">
            <a:avLst/>
          </a:prstGeom>
          <a:noFill/>
        </p:spPr>
        <p:txBody>
          <a:bodyPr wrap="square">
            <a:spAutoFit/>
          </a:bodyPr>
          <a:lstStyle/>
          <a:p>
            <a:pPr algn="l"/>
            <a:r>
              <a:rPr sz="1100" b="1" i="0">
                <a:solidFill>
                  <a:srgbClr val="E74C3C"/>
                </a:solidFill>
                <a:latin typeface="Segoe UI"/>
              </a:rPr>
              <a:t>HUMANITÉ</a:t>
            </a:r>
          </a:p>
        </p:txBody>
      </p:sp>
      <p:sp>
        <p:nvSpPr>
          <p:cNvPr id="35" name="TextBox 34"/>
          <p:cNvSpPr txBox="1"/>
          <p:nvPr/>
        </p:nvSpPr>
        <p:spPr>
          <a:xfrm>
            <a:off x="6355080" y="2221992"/>
            <a:ext cx="5120640" cy="530352"/>
          </a:xfrm>
          <a:prstGeom prst="rect">
            <a:avLst/>
          </a:prstGeom>
          <a:noFill/>
        </p:spPr>
        <p:txBody>
          <a:bodyPr wrap="square">
            <a:spAutoFit/>
          </a:bodyPr>
          <a:lstStyle/>
          <a:p>
            <a:pPr algn="l"/>
            <a:r>
              <a:rPr sz="950" b="0" i="0">
                <a:solidFill>
                  <a:srgbClr val="555555"/>
                </a:solidFill>
                <a:latin typeface="Segoe UI"/>
              </a:rPr>
              <a:t>Protéger la vie et la santé. Secourir sans distinction. Prévenir et alléger la souffrance.</a:t>
            </a:r>
          </a:p>
        </p:txBody>
      </p:sp>
      <p:sp>
        <p:nvSpPr>
          <p:cNvPr id="36" name="Rectangle 35"/>
          <p:cNvSpPr/>
          <p:nvPr/>
        </p:nvSpPr>
        <p:spPr>
          <a:xfrm>
            <a:off x="6126480" y="2926080"/>
            <a:ext cx="54864" cy="82296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962656"/>
            <a:ext cx="5120640" cy="274320"/>
          </a:xfrm>
          <a:prstGeom prst="rect">
            <a:avLst/>
          </a:prstGeom>
          <a:noFill/>
        </p:spPr>
        <p:txBody>
          <a:bodyPr wrap="square">
            <a:spAutoFit/>
          </a:bodyPr>
          <a:lstStyle/>
          <a:p>
            <a:pPr algn="l"/>
            <a:r>
              <a:rPr sz="1100" b="1" i="0">
                <a:solidFill>
                  <a:srgbClr val="0057B8"/>
                </a:solidFill>
                <a:latin typeface="Segoe UI"/>
              </a:rPr>
              <a:t>IMPARTIALITÉ</a:t>
            </a:r>
          </a:p>
        </p:txBody>
      </p:sp>
      <p:sp>
        <p:nvSpPr>
          <p:cNvPr id="38" name="TextBox 37"/>
          <p:cNvSpPr txBox="1"/>
          <p:nvPr/>
        </p:nvSpPr>
        <p:spPr>
          <a:xfrm>
            <a:off x="6355080" y="3246120"/>
            <a:ext cx="5120640" cy="530352"/>
          </a:xfrm>
          <a:prstGeom prst="rect">
            <a:avLst/>
          </a:prstGeom>
          <a:noFill/>
        </p:spPr>
        <p:txBody>
          <a:bodyPr wrap="square">
            <a:spAutoFit/>
          </a:bodyPr>
          <a:lstStyle/>
          <a:p>
            <a:pPr algn="l"/>
            <a:r>
              <a:rPr sz="950" b="0" i="0">
                <a:solidFill>
                  <a:srgbClr val="555555"/>
                </a:solidFill>
                <a:latin typeface="Segoe UI"/>
              </a:rPr>
              <a:t>Aide basée uniquement sur les besoins. Aucune discrimination par nationalité, race, religion.</a:t>
            </a:r>
          </a:p>
        </p:txBody>
      </p:sp>
      <p:sp>
        <p:nvSpPr>
          <p:cNvPr id="39" name="Rectangle 38"/>
          <p:cNvSpPr/>
          <p:nvPr/>
        </p:nvSpPr>
        <p:spPr>
          <a:xfrm>
            <a:off x="6126480" y="3950208"/>
            <a:ext cx="54864"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986784"/>
            <a:ext cx="5120640" cy="274320"/>
          </a:xfrm>
          <a:prstGeom prst="rect">
            <a:avLst/>
          </a:prstGeom>
          <a:noFill/>
        </p:spPr>
        <p:txBody>
          <a:bodyPr wrap="square">
            <a:spAutoFit/>
          </a:bodyPr>
          <a:lstStyle/>
          <a:p>
            <a:pPr algn="l"/>
            <a:r>
              <a:rPr sz="1100" b="1" i="0">
                <a:solidFill>
                  <a:srgbClr val="27AE60"/>
                </a:solidFill>
                <a:latin typeface="Segoe UI"/>
              </a:rPr>
              <a:t>NEUTRALITÉ</a:t>
            </a:r>
          </a:p>
        </p:txBody>
      </p:sp>
      <p:sp>
        <p:nvSpPr>
          <p:cNvPr id="41" name="TextBox 40"/>
          <p:cNvSpPr txBox="1"/>
          <p:nvPr/>
        </p:nvSpPr>
        <p:spPr>
          <a:xfrm>
            <a:off x="6355080" y="4270248"/>
            <a:ext cx="5120640" cy="530352"/>
          </a:xfrm>
          <a:prstGeom prst="rect">
            <a:avLst/>
          </a:prstGeom>
          <a:noFill/>
        </p:spPr>
        <p:txBody>
          <a:bodyPr wrap="square">
            <a:spAutoFit/>
          </a:bodyPr>
          <a:lstStyle/>
          <a:p>
            <a:pPr algn="l"/>
            <a:r>
              <a:rPr sz="950" b="0" i="0">
                <a:solidFill>
                  <a:srgbClr val="555555"/>
                </a:solidFill>
                <a:latin typeface="Segoe UI"/>
              </a:rPr>
              <a:t>Ne pas prendre parti dans les hostilités ni dans les controverses politiques ou idéologiques.</a:t>
            </a:r>
          </a:p>
        </p:txBody>
      </p:sp>
      <p:sp>
        <p:nvSpPr>
          <p:cNvPr id="42" name="Rectangle 41"/>
          <p:cNvSpPr/>
          <p:nvPr/>
        </p:nvSpPr>
        <p:spPr>
          <a:xfrm>
            <a:off x="6126480" y="4974336"/>
            <a:ext cx="54864" cy="82296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5010912"/>
            <a:ext cx="5120640" cy="274320"/>
          </a:xfrm>
          <a:prstGeom prst="rect">
            <a:avLst/>
          </a:prstGeom>
          <a:noFill/>
        </p:spPr>
        <p:txBody>
          <a:bodyPr wrap="square">
            <a:spAutoFit/>
          </a:bodyPr>
          <a:lstStyle/>
          <a:p>
            <a:pPr algn="l"/>
            <a:r>
              <a:rPr sz="1100" b="1" i="0">
                <a:solidFill>
                  <a:srgbClr val="F7941D"/>
                </a:solidFill>
                <a:latin typeface="Segoe UI"/>
              </a:rPr>
              <a:t>INDÉPENDANCE</a:t>
            </a:r>
          </a:p>
        </p:txBody>
      </p:sp>
      <p:sp>
        <p:nvSpPr>
          <p:cNvPr id="44" name="TextBox 43"/>
          <p:cNvSpPr txBox="1"/>
          <p:nvPr/>
        </p:nvSpPr>
        <p:spPr>
          <a:xfrm>
            <a:off x="6355080" y="5294376"/>
            <a:ext cx="5120640" cy="530352"/>
          </a:xfrm>
          <a:prstGeom prst="rect">
            <a:avLst/>
          </a:prstGeom>
          <a:noFill/>
        </p:spPr>
        <p:txBody>
          <a:bodyPr wrap="square">
            <a:spAutoFit/>
          </a:bodyPr>
          <a:lstStyle/>
          <a:p>
            <a:pPr algn="l"/>
            <a:r>
              <a:rPr sz="950" b="0" i="0">
                <a:solidFill>
                  <a:srgbClr val="555555"/>
                </a:solidFill>
                <a:latin typeface="Segoe UI"/>
              </a:rPr>
              <a:t>Autonomie par rapport aux gouvernements, partis, groupes économiques ou religieux.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30352"/>
          </a:xfrm>
          <a:prstGeom prst="rect">
            <a:avLst/>
          </a:prstGeom>
          <a:noFill/>
        </p:spPr>
        <p:txBody>
          <a:bodyPr wrap="square">
            <a:spAutoFit/>
          </a:bodyPr>
          <a:lstStyle/>
          <a:p>
            <a:pPr algn="l"/>
            <a:r>
              <a:rPr sz="2200" b="1" i="0">
                <a:solidFill>
                  <a:srgbClr val="FFFFFF"/>
                </a:solidFill>
                <a:latin typeface="Segoe UI"/>
              </a:rPr>
              <a:t>06  —  MARCHÉ DE LA COLLECTE</a:t>
            </a:r>
          </a:p>
        </p:txBody>
      </p:sp>
      <p:sp>
        <p:nvSpPr>
          <p:cNvPr id="5" name="TextBox 4"/>
          <p:cNvSpPr txBox="1"/>
          <p:nvPr/>
        </p:nvSpPr>
        <p:spPr>
          <a:xfrm>
            <a:off x="365760" y="658368"/>
            <a:ext cx="11430000" cy="402336"/>
          </a:xfrm>
          <a:prstGeom prst="rect">
            <a:avLst/>
          </a:prstGeom>
          <a:noFill/>
        </p:spPr>
        <p:txBody>
          <a:bodyPr wrap="square">
            <a:spAutoFit/>
          </a:bodyPr>
          <a:lstStyle/>
          <a:p>
            <a:pPr algn="l"/>
            <a:r>
              <a:rPr sz="1200" b="0" i="1">
                <a:solidFill>
                  <a:srgbClr val="00AEEF"/>
                </a:solidFill>
                <a:latin typeface="Segoe UI"/>
              </a:rPr>
              <a:t>Contexte, chiffres clés et leçon de l'Affaire ARC</a:t>
            </a:r>
          </a:p>
        </p:txBody>
      </p:sp>
      <p:sp>
        <p:nvSpPr>
          <p:cNvPr id="6" name="Rectangle 5"/>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
        <p:nvSpPr>
          <p:cNvPr id="8" name="Rectangle 7"/>
          <p:cNvSpPr/>
          <p:nvPr/>
        </p:nvSpPr>
        <p:spPr>
          <a:xfrm>
            <a:off x="365760" y="1371600"/>
            <a:ext cx="5303520" cy="4846320"/>
          </a:xfrm>
          <a:prstGeom prst="rect">
            <a:avLst/>
          </a:prstGeom>
          <a:solidFill>
            <a:srgbClr val="FDF0E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5303520" cy="45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81328"/>
            <a:ext cx="4846320" cy="274320"/>
          </a:xfrm>
          <a:prstGeom prst="rect">
            <a:avLst/>
          </a:prstGeom>
          <a:noFill/>
        </p:spPr>
        <p:txBody>
          <a:bodyPr wrap="square">
            <a:spAutoFit/>
          </a:bodyPr>
          <a:lstStyle/>
          <a:p>
            <a:pPr algn="l"/>
            <a:r>
              <a:rPr sz="1200" b="1" i="0">
                <a:solidFill>
                  <a:srgbClr val="E74C3C"/>
                </a:solidFill>
                <a:latin typeface="Segoe UI"/>
              </a:rPr>
              <a:t>⚠️  L'AFFAIRE ARC — CE QU'IL FAUT RETENIR</a:t>
            </a:r>
          </a:p>
        </p:txBody>
      </p:sp>
      <p:sp>
        <p:nvSpPr>
          <p:cNvPr id="11" name="TextBox 10"/>
          <p:cNvSpPr txBox="1"/>
          <p:nvPr/>
        </p:nvSpPr>
        <p:spPr>
          <a:xfrm>
            <a:off x="594360" y="1828800"/>
            <a:ext cx="4846320" cy="1920240"/>
          </a:xfrm>
          <a:prstGeom prst="rect">
            <a:avLst/>
          </a:prstGeom>
          <a:noFill/>
        </p:spPr>
        <p:txBody>
          <a:bodyPr wrap="square">
            <a:spAutoFit/>
          </a:bodyPr>
          <a:lstStyle/>
          <a:p>
            <a:pPr algn="l"/>
            <a:r>
              <a:rPr sz="1000" b="0" i="0">
                <a:solidFill>
                  <a:srgbClr val="555555"/>
                </a:solidFill>
                <a:latin typeface="Segoe UI"/>
              </a:rPr>
              <a:t>1996 — L'Association de Recherche sur le Cancer (fondée 1962) est au cœur d'un scandale sans précédent : son directeur Jacques Crozemarie détourne des millions de dons à des fins personnelles.
Conséquences : effondrement de la confiance, création du Comité de la Charte du Don en Confiance, audits obligatoires, publication des comptes.</a:t>
            </a:r>
          </a:p>
        </p:txBody>
      </p:sp>
      <p:sp>
        <p:nvSpPr>
          <p:cNvPr id="12" name="Rectangle 11"/>
          <p:cNvSpPr/>
          <p:nvPr/>
        </p:nvSpPr>
        <p:spPr>
          <a:xfrm>
            <a:off x="502920" y="3931920"/>
            <a:ext cx="5029200" cy="502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005072"/>
            <a:ext cx="4754880" cy="365760"/>
          </a:xfrm>
          <a:prstGeom prst="rect">
            <a:avLst/>
          </a:prstGeom>
          <a:noFill/>
        </p:spPr>
        <p:txBody>
          <a:bodyPr wrap="square">
            <a:spAutoFit/>
          </a:bodyPr>
          <a:lstStyle/>
          <a:p>
            <a:pPr algn="l"/>
            <a:r>
              <a:rPr sz="1100" b="1" i="0">
                <a:solidFill>
                  <a:srgbClr val="FFFFFF"/>
                </a:solidFill>
                <a:latin typeface="Segoe UI"/>
              </a:rPr>
              <a:t>LEÇON : Transparence + éthique = fondement de toute collecte.</a:t>
            </a:r>
          </a:p>
        </p:txBody>
      </p:sp>
      <p:sp>
        <p:nvSpPr>
          <p:cNvPr id="14" name="TextBox 13"/>
          <p:cNvSpPr txBox="1"/>
          <p:nvPr/>
        </p:nvSpPr>
        <p:spPr>
          <a:xfrm>
            <a:off x="594360" y="4617720"/>
            <a:ext cx="4846320" cy="594360"/>
          </a:xfrm>
          <a:prstGeom prst="rect">
            <a:avLst/>
          </a:prstGeom>
          <a:noFill/>
        </p:spPr>
        <p:txBody>
          <a:bodyPr wrap="square">
            <a:spAutoFit/>
          </a:bodyPr>
          <a:lstStyle/>
          <a:p>
            <a:pPr algn="l"/>
            <a:r>
              <a:rPr sz="1000" b="0" i="1">
                <a:solidFill>
                  <a:srgbClr val="555555"/>
                </a:solidFill>
                <a:latin typeface="Segoe UI"/>
              </a:rPr>
              <a:t>Pour le fundraiser : votre légitimité repose sur l'intégrité de l'UNICEF. Le donateur doit SAVOIR que son argent arrive à destination. Vous êtes garant de cette confiance.</a:t>
            </a:r>
          </a:p>
        </p:txBody>
      </p:sp>
      <p:sp>
        <p:nvSpPr>
          <p:cNvPr id="15" name="Rectangle 14"/>
          <p:cNvSpPr/>
          <p:nvPr/>
        </p:nvSpPr>
        <p:spPr>
          <a:xfrm>
            <a:off x="6035040" y="1371600"/>
            <a:ext cx="5760720" cy="4846320"/>
          </a:xfrm>
          <a:prstGeom prst="rect">
            <a:avLst/>
          </a:prstGeom>
          <a:solidFill>
            <a:srgbClr val="E8F0FB"/>
          </a:solidFill>
          <a:ln w="1270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71600"/>
            <a:ext cx="5760720" cy="4572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481328"/>
            <a:ext cx="5303520" cy="274320"/>
          </a:xfrm>
          <a:prstGeom prst="rect">
            <a:avLst/>
          </a:prstGeom>
          <a:noFill/>
        </p:spPr>
        <p:txBody>
          <a:bodyPr wrap="square">
            <a:spAutoFit/>
          </a:bodyPr>
          <a:lstStyle/>
          <a:p>
            <a:pPr algn="l"/>
            <a:r>
              <a:rPr sz="1200" b="1" i="0">
                <a:solidFill>
                  <a:srgbClr val="003087"/>
                </a:solidFill>
                <a:latin typeface="Segoe UI"/>
              </a:rPr>
              <a:t>LE MARCHÉ AUJOURD'HUI</a:t>
            </a:r>
          </a:p>
        </p:txBody>
      </p:sp>
      <p:sp>
        <p:nvSpPr>
          <p:cNvPr id="18" name="Rectangle 17"/>
          <p:cNvSpPr/>
          <p:nvPr/>
        </p:nvSpPr>
        <p:spPr>
          <a:xfrm>
            <a:off x="6126480" y="1874519"/>
            <a:ext cx="45720"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911095"/>
            <a:ext cx="1463040" cy="274320"/>
          </a:xfrm>
          <a:prstGeom prst="rect">
            <a:avLst/>
          </a:prstGeom>
          <a:noFill/>
        </p:spPr>
        <p:txBody>
          <a:bodyPr wrap="square">
            <a:spAutoFit/>
          </a:bodyPr>
          <a:lstStyle/>
          <a:p>
            <a:pPr algn="l"/>
            <a:r>
              <a:rPr sz="1100" b="1" i="0">
                <a:solidFill>
                  <a:srgbClr val="003087"/>
                </a:solidFill>
                <a:latin typeface="Segoe UI"/>
              </a:rPr>
              <a:t>5,5 Mds €</a:t>
            </a:r>
          </a:p>
        </p:txBody>
      </p:sp>
      <p:sp>
        <p:nvSpPr>
          <p:cNvPr id="20" name="TextBox 19"/>
          <p:cNvSpPr txBox="1"/>
          <p:nvPr/>
        </p:nvSpPr>
        <p:spPr>
          <a:xfrm>
            <a:off x="7863840" y="1929383"/>
            <a:ext cx="3749039" cy="256032"/>
          </a:xfrm>
          <a:prstGeom prst="rect">
            <a:avLst/>
          </a:prstGeom>
          <a:noFill/>
        </p:spPr>
        <p:txBody>
          <a:bodyPr wrap="square">
            <a:spAutoFit/>
          </a:bodyPr>
          <a:lstStyle/>
          <a:p>
            <a:pPr algn="l"/>
            <a:r>
              <a:rPr sz="1000" b="0" i="0">
                <a:solidFill>
                  <a:srgbClr val="555555"/>
                </a:solidFill>
                <a:latin typeface="Segoe UI"/>
              </a:rPr>
              <a:t>collectés par an en France</a:t>
            </a:r>
          </a:p>
        </p:txBody>
      </p:sp>
      <p:sp>
        <p:nvSpPr>
          <p:cNvPr id="21" name="Rectangle 20"/>
          <p:cNvSpPr/>
          <p:nvPr/>
        </p:nvSpPr>
        <p:spPr>
          <a:xfrm>
            <a:off x="6126480" y="2404871"/>
            <a:ext cx="45720"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441447"/>
            <a:ext cx="1463040" cy="274320"/>
          </a:xfrm>
          <a:prstGeom prst="rect">
            <a:avLst/>
          </a:prstGeom>
          <a:noFill/>
        </p:spPr>
        <p:txBody>
          <a:bodyPr wrap="square">
            <a:spAutoFit/>
          </a:bodyPr>
          <a:lstStyle/>
          <a:p>
            <a:pPr algn="l"/>
            <a:r>
              <a:rPr sz="1100" b="1" i="0">
                <a:solidFill>
                  <a:srgbClr val="003087"/>
                </a:solidFill>
                <a:latin typeface="Segoe UI"/>
              </a:rPr>
              <a:t>3 Mds €</a:t>
            </a:r>
          </a:p>
        </p:txBody>
      </p:sp>
      <p:sp>
        <p:nvSpPr>
          <p:cNvPr id="23" name="TextBox 22"/>
          <p:cNvSpPr txBox="1"/>
          <p:nvPr/>
        </p:nvSpPr>
        <p:spPr>
          <a:xfrm>
            <a:off x="7863840" y="2459735"/>
            <a:ext cx="3749039" cy="256032"/>
          </a:xfrm>
          <a:prstGeom prst="rect">
            <a:avLst/>
          </a:prstGeom>
          <a:noFill/>
        </p:spPr>
        <p:txBody>
          <a:bodyPr wrap="square">
            <a:spAutoFit/>
          </a:bodyPr>
          <a:lstStyle/>
          <a:p>
            <a:pPr algn="l"/>
            <a:r>
              <a:rPr sz="1000" b="0" i="0">
                <a:solidFill>
                  <a:srgbClr val="555555"/>
                </a:solidFill>
                <a:latin typeface="Segoe UI"/>
              </a:rPr>
              <a:t>via le phoning professionnel (55 %)</a:t>
            </a:r>
          </a:p>
        </p:txBody>
      </p:sp>
      <p:sp>
        <p:nvSpPr>
          <p:cNvPr id="24" name="Rectangle 23"/>
          <p:cNvSpPr/>
          <p:nvPr/>
        </p:nvSpPr>
        <p:spPr>
          <a:xfrm>
            <a:off x="6126480" y="2935223"/>
            <a:ext cx="45720"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2971799"/>
            <a:ext cx="1463040" cy="274320"/>
          </a:xfrm>
          <a:prstGeom prst="rect">
            <a:avLst/>
          </a:prstGeom>
          <a:noFill/>
        </p:spPr>
        <p:txBody>
          <a:bodyPr wrap="square">
            <a:spAutoFit/>
          </a:bodyPr>
          <a:lstStyle/>
          <a:p>
            <a:pPr algn="l"/>
            <a:r>
              <a:rPr sz="1100" b="1" i="0">
                <a:solidFill>
                  <a:srgbClr val="003087"/>
                </a:solidFill>
                <a:latin typeface="Segoe UI"/>
              </a:rPr>
              <a:t>7,5 M</a:t>
            </a:r>
          </a:p>
        </p:txBody>
      </p:sp>
      <p:sp>
        <p:nvSpPr>
          <p:cNvPr id="26" name="TextBox 25"/>
          <p:cNvSpPr txBox="1"/>
          <p:nvPr/>
        </p:nvSpPr>
        <p:spPr>
          <a:xfrm>
            <a:off x="7863840" y="2990087"/>
            <a:ext cx="3749039" cy="256032"/>
          </a:xfrm>
          <a:prstGeom prst="rect">
            <a:avLst/>
          </a:prstGeom>
          <a:noFill/>
        </p:spPr>
        <p:txBody>
          <a:bodyPr wrap="square">
            <a:spAutoFit/>
          </a:bodyPr>
          <a:lstStyle/>
          <a:p>
            <a:pPr algn="l"/>
            <a:r>
              <a:rPr sz="1000" b="0" i="0">
                <a:solidFill>
                  <a:srgbClr val="555555"/>
                </a:solidFill>
                <a:latin typeface="Segoe UI"/>
              </a:rPr>
              <a:t>donateurs réguliers actifs</a:t>
            </a:r>
          </a:p>
        </p:txBody>
      </p:sp>
      <p:sp>
        <p:nvSpPr>
          <p:cNvPr id="27" name="Rectangle 26"/>
          <p:cNvSpPr/>
          <p:nvPr/>
        </p:nvSpPr>
        <p:spPr>
          <a:xfrm>
            <a:off x="6126480" y="3465575"/>
            <a:ext cx="45720"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02151"/>
            <a:ext cx="1463040" cy="274320"/>
          </a:xfrm>
          <a:prstGeom prst="rect">
            <a:avLst/>
          </a:prstGeom>
          <a:noFill/>
        </p:spPr>
        <p:txBody>
          <a:bodyPr wrap="square">
            <a:spAutoFit/>
          </a:bodyPr>
          <a:lstStyle/>
          <a:p>
            <a:pPr algn="l"/>
            <a:r>
              <a:rPr sz="1100" b="1" i="0">
                <a:solidFill>
                  <a:srgbClr val="003087"/>
                </a:solidFill>
                <a:latin typeface="Segoe UI"/>
              </a:rPr>
              <a:t>24 %</a:t>
            </a:r>
          </a:p>
        </p:txBody>
      </p:sp>
      <p:sp>
        <p:nvSpPr>
          <p:cNvPr id="29" name="TextBox 28"/>
          <p:cNvSpPr txBox="1"/>
          <p:nvPr/>
        </p:nvSpPr>
        <p:spPr>
          <a:xfrm>
            <a:off x="7863840" y="3520439"/>
            <a:ext cx="3749039" cy="256032"/>
          </a:xfrm>
          <a:prstGeom prst="rect">
            <a:avLst/>
          </a:prstGeom>
          <a:noFill/>
        </p:spPr>
        <p:txBody>
          <a:bodyPr wrap="square">
            <a:spAutoFit/>
          </a:bodyPr>
          <a:lstStyle/>
          <a:p>
            <a:pPr algn="l"/>
            <a:r>
              <a:rPr sz="1000" b="0" i="0">
                <a:solidFill>
                  <a:srgbClr val="555555"/>
                </a:solidFill>
                <a:latin typeface="Segoe UI"/>
              </a:rPr>
              <a:t>des Français donnent régulièrement</a:t>
            </a:r>
          </a:p>
        </p:txBody>
      </p:sp>
      <p:sp>
        <p:nvSpPr>
          <p:cNvPr id="30" name="Rectangle 29"/>
          <p:cNvSpPr/>
          <p:nvPr/>
        </p:nvSpPr>
        <p:spPr>
          <a:xfrm>
            <a:off x="6126480" y="3995927"/>
            <a:ext cx="45720"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4032503"/>
            <a:ext cx="1463040" cy="274320"/>
          </a:xfrm>
          <a:prstGeom prst="rect">
            <a:avLst/>
          </a:prstGeom>
          <a:noFill/>
        </p:spPr>
        <p:txBody>
          <a:bodyPr wrap="square">
            <a:spAutoFit/>
          </a:bodyPr>
          <a:lstStyle/>
          <a:p>
            <a:pPr algn="l"/>
            <a:r>
              <a:rPr sz="1100" b="1" i="0">
                <a:solidFill>
                  <a:srgbClr val="003087"/>
                </a:solidFill>
                <a:latin typeface="Segoe UI"/>
              </a:rPr>
              <a:t>164 €</a:t>
            </a:r>
          </a:p>
        </p:txBody>
      </p:sp>
      <p:sp>
        <p:nvSpPr>
          <p:cNvPr id="32" name="TextBox 31"/>
          <p:cNvSpPr txBox="1"/>
          <p:nvPr/>
        </p:nvSpPr>
        <p:spPr>
          <a:xfrm>
            <a:off x="7863840" y="4050791"/>
            <a:ext cx="3749039" cy="256032"/>
          </a:xfrm>
          <a:prstGeom prst="rect">
            <a:avLst/>
          </a:prstGeom>
          <a:noFill/>
        </p:spPr>
        <p:txBody>
          <a:bodyPr wrap="square">
            <a:spAutoFit/>
          </a:bodyPr>
          <a:lstStyle/>
          <a:p>
            <a:pPr algn="l"/>
            <a:r>
              <a:rPr sz="1000" b="0" i="0">
                <a:solidFill>
                  <a:srgbClr val="555555"/>
                </a:solidFill>
                <a:latin typeface="Segoe UI"/>
              </a:rPr>
              <a:t>don moyen annuel par donateur</a:t>
            </a:r>
          </a:p>
        </p:txBody>
      </p:sp>
      <p:sp>
        <p:nvSpPr>
          <p:cNvPr id="33" name="Rectangle 32"/>
          <p:cNvSpPr/>
          <p:nvPr/>
        </p:nvSpPr>
        <p:spPr>
          <a:xfrm>
            <a:off x="6126480" y="4526279"/>
            <a:ext cx="45720"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4562855"/>
            <a:ext cx="1463040" cy="274320"/>
          </a:xfrm>
          <a:prstGeom prst="rect">
            <a:avLst/>
          </a:prstGeom>
          <a:noFill/>
        </p:spPr>
        <p:txBody>
          <a:bodyPr wrap="square">
            <a:spAutoFit/>
          </a:bodyPr>
          <a:lstStyle/>
          <a:p>
            <a:pPr algn="l"/>
            <a:r>
              <a:rPr sz="1100" b="1" i="0">
                <a:solidFill>
                  <a:srgbClr val="003087"/>
                </a:solidFill>
                <a:latin typeface="Segoe UI"/>
              </a:rPr>
              <a:t>Don Loi 1901</a:t>
            </a:r>
          </a:p>
        </p:txBody>
      </p:sp>
      <p:sp>
        <p:nvSpPr>
          <p:cNvPr id="35" name="TextBox 34"/>
          <p:cNvSpPr txBox="1"/>
          <p:nvPr/>
        </p:nvSpPr>
        <p:spPr>
          <a:xfrm>
            <a:off x="7863840" y="4581143"/>
            <a:ext cx="3749039" cy="256032"/>
          </a:xfrm>
          <a:prstGeom prst="rect">
            <a:avLst/>
          </a:prstGeom>
          <a:noFill/>
        </p:spPr>
        <p:txBody>
          <a:bodyPr wrap="square">
            <a:spAutoFit/>
          </a:bodyPr>
          <a:lstStyle/>
          <a:p>
            <a:pPr algn="l"/>
            <a:r>
              <a:rPr sz="1000" b="0" i="0">
                <a:solidFill>
                  <a:srgbClr val="555555"/>
                </a:solidFill>
                <a:latin typeface="Segoe UI"/>
              </a:rPr>
              <a:t>66 % à 75 % de réduction fiscale</a:t>
            </a:r>
          </a:p>
        </p:txBody>
      </p:sp>
      <p:sp>
        <p:nvSpPr>
          <p:cNvPr id="36" name="Rectangle 35"/>
          <p:cNvSpPr/>
          <p:nvPr/>
        </p:nvSpPr>
        <p:spPr>
          <a:xfrm>
            <a:off x="6126480" y="5056631"/>
            <a:ext cx="45720"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5093207"/>
            <a:ext cx="1463040" cy="274320"/>
          </a:xfrm>
          <a:prstGeom prst="rect">
            <a:avLst/>
          </a:prstGeom>
          <a:noFill/>
        </p:spPr>
        <p:txBody>
          <a:bodyPr wrap="square">
            <a:spAutoFit/>
          </a:bodyPr>
          <a:lstStyle/>
          <a:p>
            <a:pPr algn="l"/>
            <a:r>
              <a:rPr sz="1100" b="1" i="0">
                <a:solidFill>
                  <a:srgbClr val="003087"/>
                </a:solidFill>
                <a:latin typeface="Segoe UI"/>
              </a:rPr>
              <a:t>UNICEF = RUP</a:t>
            </a:r>
          </a:p>
        </p:txBody>
      </p:sp>
      <p:sp>
        <p:nvSpPr>
          <p:cNvPr id="38" name="TextBox 37"/>
          <p:cNvSpPr txBox="1"/>
          <p:nvPr/>
        </p:nvSpPr>
        <p:spPr>
          <a:xfrm>
            <a:off x="7863840" y="5111495"/>
            <a:ext cx="3749039" cy="256032"/>
          </a:xfrm>
          <a:prstGeom prst="rect">
            <a:avLst/>
          </a:prstGeom>
          <a:noFill/>
        </p:spPr>
        <p:txBody>
          <a:bodyPr wrap="square">
            <a:spAutoFit/>
          </a:bodyPr>
          <a:lstStyle/>
          <a:p>
            <a:pPr algn="l"/>
            <a:r>
              <a:rPr sz="1000" b="0" i="0">
                <a:solidFill>
                  <a:srgbClr val="555555"/>
                </a:solidFill>
                <a:latin typeface="Segoe UI"/>
              </a:rPr>
              <a:t>Audité, transparent, label Don en Confiance</a:t>
            </a:r>
          </a:p>
        </p:txBody>
      </p:sp>
      <p:sp>
        <p:nvSpPr>
          <p:cNvPr id="39" name="Rectangle 38"/>
          <p:cNvSpPr/>
          <p:nvPr/>
        </p:nvSpPr>
        <p:spPr>
          <a:xfrm>
            <a:off x="6126480" y="5586983"/>
            <a:ext cx="45720"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5623559"/>
            <a:ext cx="1463040" cy="274320"/>
          </a:xfrm>
          <a:prstGeom prst="rect">
            <a:avLst/>
          </a:prstGeom>
          <a:noFill/>
        </p:spPr>
        <p:txBody>
          <a:bodyPr wrap="square">
            <a:spAutoFit/>
          </a:bodyPr>
          <a:lstStyle/>
          <a:p>
            <a:pPr algn="l"/>
            <a:r>
              <a:rPr sz="1100" b="1" i="0">
                <a:solidFill>
                  <a:srgbClr val="003087"/>
                </a:solidFill>
                <a:latin typeface="Segoe UI"/>
              </a:rPr>
              <a:t>70 %+</a:t>
            </a:r>
          </a:p>
        </p:txBody>
      </p:sp>
      <p:sp>
        <p:nvSpPr>
          <p:cNvPr id="41" name="TextBox 40"/>
          <p:cNvSpPr txBox="1"/>
          <p:nvPr/>
        </p:nvSpPr>
        <p:spPr>
          <a:xfrm>
            <a:off x="7863840" y="5641847"/>
            <a:ext cx="3749039" cy="256032"/>
          </a:xfrm>
          <a:prstGeom prst="rect">
            <a:avLst/>
          </a:prstGeom>
          <a:noFill/>
        </p:spPr>
        <p:txBody>
          <a:bodyPr wrap="square">
            <a:spAutoFit/>
          </a:bodyPr>
          <a:lstStyle/>
          <a:p>
            <a:pPr algn="l"/>
            <a:r>
              <a:rPr sz="1000" b="0" i="0">
                <a:solidFill>
                  <a:srgbClr val="555555"/>
                </a:solidFill>
                <a:latin typeface="Segoe UI"/>
              </a:rPr>
              <a:t>des fonds vont directement aux programmes terrain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30352"/>
          </a:xfrm>
          <a:prstGeom prst="rect">
            <a:avLst/>
          </a:prstGeom>
          <a:noFill/>
        </p:spPr>
        <p:txBody>
          <a:bodyPr wrap="square">
            <a:spAutoFit/>
          </a:bodyPr>
          <a:lstStyle/>
          <a:p>
            <a:pPr algn="l"/>
            <a:r>
              <a:rPr sz="2200" b="1" i="0">
                <a:solidFill>
                  <a:srgbClr val="FFFFFF"/>
                </a:solidFill>
                <a:latin typeface="Segoe UI"/>
              </a:rPr>
              <a:t>07  —  TOUT CITOYEN EST CONCERNÉ</a:t>
            </a:r>
          </a:p>
        </p:txBody>
      </p:sp>
      <p:sp>
        <p:nvSpPr>
          <p:cNvPr id="5" name="TextBox 4"/>
          <p:cNvSpPr txBox="1"/>
          <p:nvPr/>
        </p:nvSpPr>
        <p:spPr>
          <a:xfrm>
            <a:off x="365760" y="658368"/>
            <a:ext cx="11430000" cy="402336"/>
          </a:xfrm>
          <a:prstGeom prst="rect">
            <a:avLst/>
          </a:prstGeom>
          <a:noFill/>
        </p:spPr>
        <p:txBody>
          <a:bodyPr wrap="square">
            <a:spAutoFit/>
          </a:bodyPr>
          <a:lstStyle/>
          <a:p>
            <a:pPr algn="l"/>
            <a:r>
              <a:rPr sz="1200" b="0" i="1">
                <a:solidFill>
                  <a:srgbClr val="00AEEF"/>
                </a:solidFill>
                <a:latin typeface="Segoe UI"/>
              </a:rPr>
              <a:t>Des exemples concrets vérifiables — France &amp; Monde</a:t>
            </a:r>
          </a:p>
        </p:txBody>
      </p:sp>
      <p:sp>
        <p:nvSpPr>
          <p:cNvPr id="6" name="Rectangle 5"/>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
        <p:nvSpPr>
          <p:cNvPr id="8" name="TextBox 7"/>
          <p:cNvSpPr txBox="1"/>
          <p:nvPr/>
        </p:nvSpPr>
        <p:spPr>
          <a:xfrm>
            <a:off x="365760" y="1325880"/>
            <a:ext cx="11430000" cy="292608"/>
          </a:xfrm>
          <a:prstGeom prst="rect">
            <a:avLst/>
          </a:prstGeom>
          <a:noFill/>
        </p:spPr>
        <p:txBody>
          <a:bodyPr wrap="square">
            <a:spAutoFit/>
          </a:bodyPr>
          <a:lstStyle/>
          <a:p>
            <a:pPr algn="l"/>
            <a:r>
              <a:rPr sz="1100" b="0" i="1">
                <a:solidFill>
                  <a:srgbClr val="555555"/>
                </a:solidFill>
                <a:latin typeface="Segoe UI"/>
              </a:rPr>
              <a:t>Chaque Français a bénéficié ou bénéficiera d'une action associative :</a:t>
            </a:r>
          </a:p>
        </p:txBody>
      </p:sp>
      <p:sp>
        <p:nvSpPr>
          <p:cNvPr id="9" name="Rectangle 8"/>
          <p:cNvSpPr/>
          <p:nvPr/>
        </p:nvSpPr>
        <p:spPr>
          <a:xfrm>
            <a:off x="320040" y="1719072"/>
            <a:ext cx="3749039" cy="2103120"/>
          </a:xfrm>
          <a:prstGeom prst="rect">
            <a:avLst/>
          </a:prstGeom>
          <a:solidFill>
            <a:srgbClr val="FFFFF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719072"/>
            <a:ext cx="3749039" cy="502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719072"/>
            <a:ext cx="3749039"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28800"/>
            <a:ext cx="3474720" cy="320040"/>
          </a:xfrm>
          <a:prstGeom prst="rect">
            <a:avLst/>
          </a:prstGeom>
          <a:noFill/>
        </p:spPr>
        <p:txBody>
          <a:bodyPr wrap="square">
            <a:spAutoFit/>
          </a:bodyPr>
          <a:lstStyle/>
          <a:p>
            <a:pPr algn="l"/>
            <a:r>
              <a:rPr sz="1300" b="1" i="0">
                <a:solidFill>
                  <a:srgbClr val="FFFFFF"/>
                </a:solidFill>
                <a:latin typeface="Segoe UI"/>
              </a:rPr>
              <a:t>🏥 SANTÉ</a:t>
            </a:r>
          </a:p>
        </p:txBody>
      </p:sp>
      <p:sp>
        <p:nvSpPr>
          <p:cNvPr id="13" name="TextBox 12"/>
          <p:cNvSpPr txBox="1"/>
          <p:nvPr/>
        </p:nvSpPr>
        <p:spPr>
          <a:xfrm>
            <a:off x="457200" y="2359152"/>
            <a:ext cx="3474720" cy="1280160"/>
          </a:xfrm>
          <a:prstGeom prst="rect">
            <a:avLst/>
          </a:prstGeom>
          <a:noFill/>
        </p:spPr>
        <p:txBody>
          <a:bodyPr wrap="square">
            <a:spAutoFit/>
          </a:bodyPr>
          <a:lstStyle/>
          <a:p>
            <a:pPr algn="l"/>
            <a:r>
              <a:rPr sz="1050" b="0" i="0">
                <a:solidFill>
                  <a:srgbClr val="555555"/>
                </a:solidFill>
                <a:latin typeface="Segoe UI"/>
              </a:rPr>
              <a:t>Ligue Cancer, AIDES, APF — 4M bénévoles soins / soutien</a:t>
            </a:r>
          </a:p>
        </p:txBody>
      </p:sp>
      <p:sp>
        <p:nvSpPr>
          <p:cNvPr id="14" name="Rectangle 13"/>
          <p:cNvSpPr/>
          <p:nvPr/>
        </p:nvSpPr>
        <p:spPr>
          <a:xfrm>
            <a:off x="4270248" y="1719072"/>
            <a:ext cx="3749039" cy="2103120"/>
          </a:xfrm>
          <a:prstGeom prst="rect">
            <a:avLst/>
          </a:prstGeom>
          <a:solidFill>
            <a:srgbClr val="FFFFFF"/>
          </a:solidFill>
          <a:ln w="1905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0248" y="1719072"/>
            <a:ext cx="3749039" cy="50292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70248" y="1719072"/>
            <a:ext cx="3749039"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7408" y="1828800"/>
            <a:ext cx="3474720" cy="320040"/>
          </a:xfrm>
          <a:prstGeom prst="rect">
            <a:avLst/>
          </a:prstGeom>
          <a:noFill/>
        </p:spPr>
        <p:txBody>
          <a:bodyPr wrap="square">
            <a:spAutoFit/>
          </a:bodyPr>
          <a:lstStyle/>
          <a:p>
            <a:pPr algn="l"/>
            <a:r>
              <a:rPr sz="1300" b="1" i="0">
                <a:solidFill>
                  <a:srgbClr val="FFFFFF"/>
                </a:solidFill>
                <a:latin typeface="Segoe UI"/>
              </a:rPr>
              <a:t>📚 ENFANCE</a:t>
            </a:r>
          </a:p>
        </p:txBody>
      </p:sp>
      <p:sp>
        <p:nvSpPr>
          <p:cNvPr id="18" name="TextBox 17"/>
          <p:cNvSpPr txBox="1"/>
          <p:nvPr/>
        </p:nvSpPr>
        <p:spPr>
          <a:xfrm>
            <a:off x="4407408" y="2359152"/>
            <a:ext cx="3474720" cy="1280160"/>
          </a:xfrm>
          <a:prstGeom prst="rect">
            <a:avLst/>
          </a:prstGeom>
          <a:noFill/>
        </p:spPr>
        <p:txBody>
          <a:bodyPr wrap="square">
            <a:spAutoFit/>
          </a:bodyPr>
          <a:lstStyle/>
          <a:p>
            <a:pPr algn="l"/>
            <a:r>
              <a:rPr sz="1050" b="0" i="0">
                <a:solidFill>
                  <a:srgbClr val="555555"/>
                </a:solidFill>
                <a:latin typeface="Segoe UI"/>
              </a:rPr>
              <a:t>UNICEF, SOS Villages Enfants, Croix-Rouge aide devoirs</a:t>
            </a:r>
          </a:p>
        </p:txBody>
      </p:sp>
      <p:sp>
        <p:nvSpPr>
          <p:cNvPr id="19" name="Rectangle 18"/>
          <p:cNvSpPr/>
          <p:nvPr/>
        </p:nvSpPr>
        <p:spPr>
          <a:xfrm>
            <a:off x="8220456" y="1719072"/>
            <a:ext cx="3749039" cy="2103120"/>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0456" y="1719072"/>
            <a:ext cx="3749039" cy="50292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0456" y="1719072"/>
            <a:ext cx="3749039"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7616" y="1828800"/>
            <a:ext cx="3474720" cy="320040"/>
          </a:xfrm>
          <a:prstGeom prst="rect">
            <a:avLst/>
          </a:prstGeom>
          <a:noFill/>
        </p:spPr>
        <p:txBody>
          <a:bodyPr wrap="square">
            <a:spAutoFit/>
          </a:bodyPr>
          <a:lstStyle/>
          <a:p>
            <a:pPr algn="l"/>
            <a:r>
              <a:rPr sz="1300" b="1" i="0">
                <a:solidFill>
                  <a:srgbClr val="FFFFFF"/>
                </a:solidFill>
                <a:latin typeface="Segoe UI"/>
              </a:rPr>
              <a:t>🌊 CATASTROPHES</a:t>
            </a:r>
          </a:p>
        </p:txBody>
      </p:sp>
      <p:sp>
        <p:nvSpPr>
          <p:cNvPr id="23" name="TextBox 22"/>
          <p:cNvSpPr txBox="1"/>
          <p:nvPr/>
        </p:nvSpPr>
        <p:spPr>
          <a:xfrm>
            <a:off x="8357616" y="2359152"/>
            <a:ext cx="3474720" cy="1280160"/>
          </a:xfrm>
          <a:prstGeom prst="rect">
            <a:avLst/>
          </a:prstGeom>
          <a:noFill/>
        </p:spPr>
        <p:txBody>
          <a:bodyPr wrap="square">
            <a:spAutoFit/>
          </a:bodyPr>
          <a:lstStyle/>
          <a:p>
            <a:pPr algn="l"/>
            <a:r>
              <a:rPr sz="1050" b="0" i="0">
                <a:solidFill>
                  <a:srgbClr val="555555"/>
                </a:solidFill>
                <a:latin typeface="Segoe UI"/>
              </a:rPr>
              <a:t>Séisme Turquie 18M€ mobilisés en 72h. COVID aide isolés</a:t>
            </a:r>
          </a:p>
        </p:txBody>
      </p:sp>
      <p:sp>
        <p:nvSpPr>
          <p:cNvPr id="24" name="Rectangle 23"/>
          <p:cNvSpPr/>
          <p:nvPr/>
        </p:nvSpPr>
        <p:spPr>
          <a:xfrm>
            <a:off x="320040" y="4005072"/>
            <a:ext cx="3749039" cy="210312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4005072"/>
            <a:ext cx="3749039"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040" y="4005072"/>
            <a:ext cx="3749039"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114800"/>
            <a:ext cx="3474720" cy="320040"/>
          </a:xfrm>
          <a:prstGeom prst="rect">
            <a:avLst/>
          </a:prstGeom>
          <a:noFill/>
        </p:spPr>
        <p:txBody>
          <a:bodyPr wrap="square">
            <a:spAutoFit/>
          </a:bodyPr>
          <a:lstStyle/>
          <a:p>
            <a:pPr algn="l"/>
            <a:r>
              <a:rPr sz="1300" b="1" i="0">
                <a:solidFill>
                  <a:srgbClr val="FFFFFF"/>
                </a:solidFill>
                <a:latin typeface="Segoe UI"/>
              </a:rPr>
              <a:t>👴 PERSONNES ÂGÉES</a:t>
            </a:r>
          </a:p>
        </p:txBody>
      </p:sp>
      <p:sp>
        <p:nvSpPr>
          <p:cNvPr id="28" name="TextBox 27"/>
          <p:cNvSpPr txBox="1"/>
          <p:nvPr/>
        </p:nvSpPr>
        <p:spPr>
          <a:xfrm>
            <a:off x="457200" y="4645152"/>
            <a:ext cx="3474720" cy="1280160"/>
          </a:xfrm>
          <a:prstGeom prst="rect">
            <a:avLst/>
          </a:prstGeom>
          <a:noFill/>
        </p:spPr>
        <p:txBody>
          <a:bodyPr wrap="square">
            <a:spAutoFit/>
          </a:bodyPr>
          <a:lstStyle/>
          <a:p>
            <a:pPr algn="l"/>
            <a:r>
              <a:rPr sz="1050" b="0" i="0">
                <a:solidFill>
                  <a:srgbClr val="555555"/>
                </a:solidFill>
                <a:latin typeface="Segoe UI"/>
              </a:rPr>
              <a:t>Petits Frères des Pauvres — 45 000 aîné(e)s accompagné(e)s</a:t>
            </a:r>
          </a:p>
        </p:txBody>
      </p:sp>
      <p:sp>
        <p:nvSpPr>
          <p:cNvPr id="29" name="Rectangle 28"/>
          <p:cNvSpPr/>
          <p:nvPr/>
        </p:nvSpPr>
        <p:spPr>
          <a:xfrm>
            <a:off x="4270248" y="4005072"/>
            <a:ext cx="3749039" cy="210312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70248" y="4005072"/>
            <a:ext cx="3749039"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005072"/>
            <a:ext cx="3749039"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07408" y="4114800"/>
            <a:ext cx="3474720" cy="320040"/>
          </a:xfrm>
          <a:prstGeom prst="rect">
            <a:avLst/>
          </a:prstGeom>
          <a:noFill/>
        </p:spPr>
        <p:txBody>
          <a:bodyPr wrap="square">
            <a:spAutoFit/>
          </a:bodyPr>
          <a:lstStyle/>
          <a:p>
            <a:pPr algn="l"/>
            <a:r>
              <a:rPr sz="1300" b="1" i="0">
                <a:solidFill>
                  <a:srgbClr val="FFFFFF"/>
                </a:solidFill>
                <a:latin typeface="Segoe UI"/>
              </a:rPr>
              <a:t>🏠 LOGEMENT</a:t>
            </a:r>
          </a:p>
        </p:txBody>
      </p:sp>
      <p:sp>
        <p:nvSpPr>
          <p:cNvPr id="33" name="TextBox 32"/>
          <p:cNvSpPr txBox="1"/>
          <p:nvPr/>
        </p:nvSpPr>
        <p:spPr>
          <a:xfrm>
            <a:off x="4407408" y="4645152"/>
            <a:ext cx="3474720" cy="1280160"/>
          </a:xfrm>
          <a:prstGeom prst="rect">
            <a:avLst/>
          </a:prstGeom>
          <a:noFill/>
        </p:spPr>
        <p:txBody>
          <a:bodyPr wrap="square">
            <a:spAutoFit/>
          </a:bodyPr>
          <a:lstStyle/>
          <a:p>
            <a:pPr algn="l"/>
            <a:r>
              <a:rPr sz="1050" b="0" i="0">
                <a:solidFill>
                  <a:srgbClr val="555555"/>
                </a:solidFill>
                <a:latin typeface="Segoe UI"/>
              </a:rPr>
              <a:t>Fondation Abbé Pierre — 4M de mal logés en France</a:t>
            </a:r>
          </a:p>
        </p:txBody>
      </p:sp>
      <p:sp>
        <p:nvSpPr>
          <p:cNvPr id="34" name="Rectangle 33"/>
          <p:cNvSpPr/>
          <p:nvPr/>
        </p:nvSpPr>
        <p:spPr>
          <a:xfrm>
            <a:off x="8220456" y="4005072"/>
            <a:ext cx="3749039" cy="2103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0456" y="4005072"/>
            <a:ext cx="3749039"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20456" y="4005072"/>
            <a:ext cx="3749039"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57616" y="4114800"/>
            <a:ext cx="3474720" cy="320040"/>
          </a:xfrm>
          <a:prstGeom prst="rect">
            <a:avLst/>
          </a:prstGeom>
          <a:noFill/>
        </p:spPr>
        <p:txBody>
          <a:bodyPr wrap="square">
            <a:spAutoFit/>
          </a:bodyPr>
          <a:lstStyle/>
          <a:p>
            <a:pPr algn="l"/>
            <a:r>
              <a:rPr sz="1300" b="1" i="0">
                <a:solidFill>
                  <a:srgbClr val="FFFFFF"/>
                </a:solidFill>
                <a:latin typeface="Segoe UI"/>
              </a:rPr>
              <a:t>🌍 INTERNATIONAL</a:t>
            </a:r>
          </a:p>
        </p:txBody>
      </p:sp>
      <p:sp>
        <p:nvSpPr>
          <p:cNvPr id="38" name="TextBox 37"/>
          <p:cNvSpPr txBox="1"/>
          <p:nvPr/>
        </p:nvSpPr>
        <p:spPr>
          <a:xfrm>
            <a:off x="8357616" y="4645152"/>
            <a:ext cx="3474720" cy="1280160"/>
          </a:xfrm>
          <a:prstGeom prst="rect">
            <a:avLst/>
          </a:prstGeom>
          <a:noFill/>
        </p:spPr>
        <p:txBody>
          <a:bodyPr wrap="square">
            <a:spAutoFit/>
          </a:bodyPr>
          <a:lstStyle/>
          <a:p>
            <a:pPr algn="l"/>
            <a:r>
              <a:rPr sz="1050" b="0" i="0">
                <a:solidFill>
                  <a:srgbClr val="555555"/>
                </a:solidFill>
                <a:latin typeface="Segoe UI"/>
              </a:rPr>
              <a:t>UNICEF — 190 pays, 1er acteur mondial de l'enfance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30352"/>
          </a:xfrm>
          <a:prstGeom prst="rect">
            <a:avLst/>
          </a:prstGeom>
          <a:noFill/>
        </p:spPr>
        <p:txBody>
          <a:bodyPr wrap="square">
            <a:spAutoFit/>
          </a:bodyPr>
          <a:lstStyle/>
          <a:p>
            <a:pPr algn="l"/>
            <a:r>
              <a:rPr sz="2200" b="1" i="0">
                <a:solidFill>
                  <a:srgbClr val="FFFFFF"/>
                </a:solidFill>
                <a:latin typeface="Segoe UI"/>
              </a:rPr>
              <a:t>08  —  IMPACT UNICEF — CHIFFRES VÉRIFIABLES</a:t>
            </a:r>
          </a:p>
        </p:txBody>
      </p:sp>
      <p:sp>
        <p:nvSpPr>
          <p:cNvPr id="5" name="TextBox 4"/>
          <p:cNvSpPr txBox="1"/>
          <p:nvPr/>
        </p:nvSpPr>
        <p:spPr>
          <a:xfrm>
            <a:off x="365760" y="658368"/>
            <a:ext cx="11430000" cy="402336"/>
          </a:xfrm>
          <a:prstGeom prst="rect">
            <a:avLst/>
          </a:prstGeom>
          <a:noFill/>
        </p:spPr>
        <p:txBody>
          <a:bodyPr wrap="square">
            <a:spAutoFit/>
          </a:bodyPr>
          <a:lstStyle/>
          <a:p>
            <a:pPr algn="l"/>
            <a:r>
              <a:rPr sz="1200" b="0" i="1">
                <a:solidFill>
                  <a:srgbClr val="00AEEF"/>
                </a:solidFill>
                <a:latin typeface="Segoe UI"/>
              </a:rPr>
              <a:t>Des résultats mesurables pour argumenter avec confiance</a:t>
            </a:r>
          </a:p>
        </p:txBody>
      </p:sp>
      <p:sp>
        <p:nvSpPr>
          <p:cNvPr id="6" name="Rectangle 5"/>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
        <p:nvSpPr>
          <p:cNvPr id="8" name="TextBox 7"/>
          <p:cNvSpPr txBox="1"/>
          <p:nvPr/>
        </p:nvSpPr>
        <p:spPr>
          <a:xfrm>
            <a:off x="365760" y="1325880"/>
            <a:ext cx="11430000" cy="256032"/>
          </a:xfrm>
          <a:prstGeom prst="rect">
            <a:avLst/>
          </a:prstGeom>
          <a:noFill/>
        </p:spPr>
        <p:txBody>
          <a:bodyPr wrap="square">
            <a:spAutoFit/>
          </a:bodyPr>
          <a:lstStyle/>
          <a:p>
            <a:pPr algn="l"/>
            <a:r>
              <a:rPr sz="1100" b="0" i="1">
                <a:solidFill>
                  <a:srgbClr val="555555"/>
                </a:solidFill>
                <a:latin typeface="Segoe UI"/>
              </a:rPr>
              <a:t>Chiffres officiels UNICEF — vérifiables sur unicef.fr et unicef.org :</a:t>
            </a:r>
          </a:p>
        </p:txBody>
      </p:sp>
      <p:sp>
        <p:nvSpPr>
          <p:cNvPr id="9" name="Rectangle 8"/>
          <p:cNvSpPr/>
          <p:nvPr/>
        </p:nvSpPr>
        <p:spPr>
          <a:xfrm>
            <a:off x="320040" y="1719072"/>
            <a:ext cx="3749039" cy="2103120"/>
          </a:xfrm>
          <a:prstGeom prst="rect">
            <a:avLst/>
          </a:prstGeom>
          <a:solidFill>
            <a:srgbClr val="0A1628"/>
          </a:solidFill>
          <a:ln w="1905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719072"/>
            <a:ext cx="3749039" cy="45720"/>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28800"/>
            <a:ext cx="457200" cy="457200"/>
          </a:xfrm>
          <a:prstGeom prst="rect">
            <a:avLst/>
          </a:prstGeom>
          <a:noFill/>
        </p:spPr>
        <p:txBody>
          <a:bodyPr wrap="square">
            <a:spAutoFit/>
          </a:bodyPr>
          <a:lstStyle/>
          <a:p>
            <a:pPr algn="l"/>
            <a:r>
              <a:rPr sz="2400" b="0" i="0">
                <a:solidFill>
                  <a:srgbClr val="FFFFFF"/>
                </a:solidFill>
                <a:latin typeface="Segoe UI"/>
              </a:rPr>
              <a:t>💉</a:t>
            </a:r>
          </a:p>
        </p:txBody>
      </p:sp>
      <p:sp>
        <p:nvSpPr>
          <p:cNvPr id="12" name="TextBox 11"/>
          <p:cNvSpPr txBox="1"/>
          <p:nvPr/>
        </p:nvSpPr>
        <p:spPr>
          <a:xfrm>
            <a:off x="1005840" y="1828800"/>
            <a:ext cx="2926080" cy="201168"/>
          </a:xfrm>
          <a:prstGeom prst="rect">
            <a:avLst/>
          </a:prstGeom>
          <a:noFill/>
        </p:spPr>
        <p:txBody>
          <a:bodyPr wrap="square">
            <a:spAutoFit/>
          </a:bodyPr>
          <a:lstStyle/>
          <a:p>
            <a:pPr algn="l"/>
            <a:r>
              <a:rPr sz="800" b="1" i="0">
                <a:solidFill>
                  <a:srgbClr val="0057B8"/>
                </a:solidFill>
                <a:latin typeface="Segoe UI"/>
              </a:rPr>
              <a:t>UNICEF</a:t>
            </a:r>
          </a:p>
        </p:txBody>
      </p:sp>
      <p:sp>
        <p:nvSpPr>
          <p:cNvPr id="13" name="TextBox 12"/>
          <p:cNvSpPr txBox="1"/>
          <p:nvPr/>
        </p:nvSpPr>
        <p:spPr>
          <a:xfrm>
            <a:off x="457200" y="2286000"/>
            <a:ext cx="3474720" cy="640080"/>
          </a:xfrm>
          <a:prstGeom prst="rect">
            <a:avLst/>
          </a:prstGeom>
          <a:noFill/>
        </p:spPr>
        <p:txBody>
          <a:bodyPr wrap="square">
            <a:spAutoFit/>
          </a:bodyPr>
          <a:lstStyle/>
          <a:p>
            <a:pPr algn="l"/>
            <a:r>
              <a:rPr sz="1800" b="1" i="0">
                <a:solidFill>
                  <a:srgbClr val="FFFFFF"/>
                </a:solidFill>
                <a:latin typeface="Segoe UI"/>
              </a:rPr>
              <a:t>560 M enfants
vaccinés / an</a:t>
            </a:r>
          </a:p>
        </p:txBody>
      </p:sp>
      <p:sp>
        <p:nvSpPr>
          <p:cNvPr id="14" name="Rectangle 13"/>
          <p:cNvSpPr/>
          <p:nvPr/>
        </p:nvSpPr>
        <p:spPr>
          <a:xfrm>
            <a:off x="457200" y="2980944"/>
            <a:ext cx="3474720" cy="36576"/>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72384"/>
            <a:ext cx="3474720" cy="658368"/>
          </a:xfrm>
          <a:prstGeom prst="rect">
            <a:avLst/>
          </a:prstGeom>
          <a:noFill/>
        </p:spPr>
        <p:txBody>
          <a:bodyPr wrap="square">
            <a:spAutoFit/>
          </a:bodyPr>
          <a:lstStyle/>
          <a:p>
            <a:pPr algn="l"/>
            <a:r>
              <a:rPr sz="950" b="0" i="0">
                <a:solidFill>
                  <a:srgbClr val="BBCCDD"/>
                </a:solidFill>
                <a:latin typeface="Segoe UI"/>
              </a:rPr>
              <a:t>Rougeole, polio, tétanos, méningite</a:t>
            </a:r>
          </a:p>
        </p:txBody>
      </p:sp>
      <p:sp>
        <p:nvSpPr>
          <p:cNvPr id="16" name="Rectangle 15"/>
          <p:cNvSpPr/>
          <p:nvPr/>
        </p:nvSpPr>
        <p:spPr>
          <a:xfrm>
            <a:off x="4270248" y="1719072"/>
            <a:ext cx="3749039" cy="2103120"/>
          </a:xfrm>
          <a:prstGeom prst="rect">
            <a:avLst/>
          </a:prstGeom>
          <a:solidFill>
            <a:srgbClr val="0A1628"/>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70248" y="1719072"/>
            <a:ext cx="3749039"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7408" y="1828800"/>
            <a:ext cx="457200" cy="457200"/>
          </a:xfrm>
          <a:prstGeom prst="rect">
            <a:avLst/>
          </a:prstGeom>
          <a:noFill/>
        </p:spPr>
        <p:txBody>
          <a:bodyPr wrap="square">
            <a:spAutoFit/>
          </a:bodyPr>
          <a:lstStyle/>
          <a:p>
            <a:pPr algn="l"/>
            <a:r>
              <a:rPr sz="2400" b="0" i="0">
                <a:solidFill>
                  <a:srgbClr val="FFFFFF"/>
                </a:solidFill>
                <a:latin typeface="Segoe UI"/>
              </a:rPr>
              <a:t>💧</a:t>
            </a:r>
          </a:p>
        </p:txBody>
      </p:sp>
      <p:sp>
        <p:nvSpPr>
          <p:cNvPr id="19" name="TextBox 18"/>
          <p:cNvSpPr txBox="1"/>
          <p:nvPr/>
        </p:nvSpPr>
        <p:spPr>
          <a:xfrm>
            <a:off x="4956048" y="1828800"/>
            <a:ext cx="2926080" cy="201168"/>
          </a:xfrm>
          <a:prstGeom prst="rect">
            <a:avLst/>
          </a:prstGeom>
          <a:noFill/>
        </p:spPr>
        <p:txBody>
          <a:bodyPr wrap="square">
            <a:spAutoFit/>
          </a:bodyPr>
          <a:lstStyle/>
          <a:p>
            <a:pPr algn="l"/>
            <a:r>
              <a:rPr sz="800" b="1" i="0">
                <a:solidFill>
                  <a:srgbClr val="0D9488"/>
                </a:solidFill>
                <a:latin typeface="Segoe UI"/>
              </a:rPr>
              <a:t>UNICEF</a:t>
            </a:r>
          </a:p>
        </p:txBody>
      </p:sp>
      <p:sp>
        <p:nvSpPr>
          <p:cNvPr id="20" name="TextBox 19"/>
          <p:cNvSpPr txBox="1"/>
          <p:nvPr/>
        </p:nvSpPr>
        <p:spPr>
          <a:xfrm>
            <a:off x="4407408" y="2286000"/>
            <a:ext cx="3474720" cy="640080"/>
          </a:xfrm>
          <a:prstGeom prst="rect">
            <a:avLst/>
          </a:prstGeom>
          <a:noFill/>
        </p:spPr>
        <p:txBody>
          <a:bodyPr wrap="square">
            <a:spAutoFit/>
          </a:bodyPr>
          <a:lstStyle/>
          <a:p>
            <a:pPr algn="l"/>
            <a:r>
              <a:rPr sz="1800" b="1" i="0">
                <a:solidFill>
                  <a:srgbClr val="FFFFFF"/>
                </a:solidFill>
                <a:latin typeface="Segoe UI"/>
              </a:rPr>
              <a:t>820 M personnes
accès eau potable</a:t>
            </a:r>
          </a:p>
        </p:txBody>
      </p:sp>
      <p:sp>
        <p:nvSpPr>
          <p:cNvPr id="21" name="Rectangle 20"/>
          <p:cNvSpPr/>
          <p:nvPr/>
        </p:nvSpPr>
        <p:spPr>
          <a:xfrm>
            <a:off x="4407408" y="2980944"/>
            <a:ext cx="347472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3072384"/>
            <a:ext cx="3474720" cy="658368"/>
          </a:xfrm>
          <a:prstGeom prst="rect">
            <a:avLst/>
          </a:prstGeom>
          <a:noFill/>
        </p:spPr>
        <p:txBody>
          <a:bodyPr wrap="square">
            <a:spAutoFit/>
          </a:bodyPr>
          <a:lstStyle/>
          <a:p>
            <a:pPr algn="l"/>
            <a:r>
              <a:rPr sz="950" b="0" i="0">
                <a:solidFill>
                  <a:srgbClr val="BBCCDD"/>
                </a:solidFill>
                <a:latin typeface="Segoe UI"/>
              </a:rPr>
              <a:t>3 € = eau pour 1 famille / 1 mois</a:t>
            </a:r>
          </a:p>
        </p:txBody>
      </p:sp>
      <p:sp>
        <p:nvSpPr>
          <p:cNvPr id="23" name="Rectangle 22"/>
          <p:cNvSpPr/>
          <p:nvPr/>
        </p:nvSpPr>
        <p:spPr>
          <a:xfrm>
            <a:off x="8220456" y="1719072"/>
            <a:ext cx="3749039" cy="2103120"/>
          </a:xfrm>
          <a:prstGeom prst="rect">
            <a:avLst/>
          </a:prstGeom>
          <a:solidFill>
            <a:srgbClr val="0A1628"/>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0456" y="1719072"/>
            <a:ext cx="3749039" cy="4572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7616" y="1828800"/>
            <a:ext cx="457200" cy="457200"/>
          </a:xfrm>
          <a:prstGeom prst="rect">
            <a:avLst/>
          </a:prstGeom>
          <a:noFill/>
        </p:spPr>
        <p:txBody>
          <a:bodyPr wrap="square">
            <a:spAutoFit/>
          </a:bodyPr>
          <a:lstStyle/>
          <a:p>
            <a:pPr algn="l"/>
            <a:r>
              <a:rPr sz="2400" b="0" i="0">
                <a:solidFill>
                  <a:srgbClr val="FFFFFF"/>
                </a:solidFill>
                <a:latin typeface="Segoe UI"/>
              </a:rPr>
              <a:t>🌾</a:t>
            </a:r>
          </a:p>
        </p:txBody>
      </p:sp>
      <p:sp>
        <p:nvSpPr>
          <p:cNvPr id="26" name="TextBox 25"/>
          <p:cNvSpPr txBox="1"/>
          <p:nvPr/>
        </p:nvSpPr>
        <p:spPr>
          <a:xfrm>
            <a:off x="8906256" y="1828800"/>
            <a:ext cx="2926080" cy="201168"/>
          </a:xfrm>
          <a:prstGeom prst="rect">
            <a:avLst/>
          </a:prstGeom>
          <a:noFill/>
        </p:spPr>
        <p:txBody>
          <a:bodyPr wrap="square">
            <a:spAutoFit/>
          </a:bodyPr>
          <a:lstStyle/>
          <a:p>
            <a:pPr algn="l"/>
            <a:r>
              <a:rPr sz="800" b="1" i="0">
                <a:solidFill>
                  <a:srgbClr val="F7941D"/>
                </a:solidFill>
                <a:latin typeface="Segoe UI"/>
              </a:rPr>
              <a:t>UNICEF</a:t>
            </a:r>
          </a:p>
        </p:txBody>
      </p:sp>
      <p:sp>
        <p:nvSpPr>
          <p:cNvPr id="27" name="TextBox 26"/>
          <p:cNvSpPr txBox="1"/>
          <p:nvPr/>
        </p:nvSpPr>
        <p:spPr>
          <a:xfrm>
            <a:off x="8357616" y="2286000"/>
            <a:ext cx="3474720" cy="640080"/>
          </a:xfrm>
          <a:prstGeom prst="rect">
            <a:avLst/>
          </a:prstGeom>
          <a:noFill/>
        </p:spPr>
        <p:txBody>
          <a:bodyPr wrap="square">
            <a:spAutoFit/>
          </a:bodyPr>
          <a:lstStyle/>
          <a:p>
            <a:pPr algn="l"/>
            <a:r>
              <a:rPr sz="1800" b="1" i="0">
                <a:solidFill>
                  <a:srgbClr val="FFFFFF"/>
                </a:solidFill>
                <a:latin typeface="Segoe UI"/>
              </a:rPr>
              <a:t>45 €
sauve 1 enfant</a:t>
            </a:r>
          </a:p>
        </p:txBody>
      </p:sp>
      <p:sp>
        <p:nvSpPr>
          <p:cNvPr id="28" name="Rectangle 27"/>
          <p:cNvSpPr/>
          <p:nvPr/>
        </p:nvSpPr>
        <p:spPr>
          <a:xfrm>
            <a:off x="8357616" y="2980944"/>
            <a:ext cx="3474720" cy="36576"/>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7616" y="3072384"/>
            <a:ext cx="3474720" cy="658368"/>
          </a:xfrm>
          <a:prstGeom prst="rect">
            <a:avLst/>
          </a:prstGeom>
          <a:noFill/>
        </p:spPr>
        <p:txBody>
          <a:bodyPr wrap="square">
            <a:spAutoFit/>
          </a:bodyPr>
          <a:lstStyle/>
          <a:p>
            <a:pPr algn="l"/>
            <a:r>
              <a:rPr sz="950" b="0" i="0">
                <a:solidFill>
                  <a:srgbClr val="BBCCDD"/>
                </a:solidFill>
                <a:latin typeface="Segoe UI"/>
              </a:rPr>
              <a:t>De la malnutrition sévère — RUTF thérapeutique</a:t>
            </a:r>
          </a:p>
        </p:txBody>
      </p:sp>
      <p:sp>
        <p:nvSpPr>
          <p:cNvPr id="30" name="Rectangle 29"/>
          <p:cNvSpPr/>
          <p:nvPr/>
        </p:nvSpPr>
        <p:spPr>
          <a:xfrm>
            <a:off x="320040" y="4005072"/>
            <a:ext cx="3749039" cy="2103120"/>
          </a:xfrm>
          <a:prstGeom prst="rect">
            <a:avLst/>
          </a:prstGeom>
          <a:solidFill>
            <a:srgbClr val="0A1628"/>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0040" y="4005072"/>
            <a:ext cx="3749039" cy="45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114800"/>
            <a:ext cx="457200" cy="457200"/>
          </a:xfrm>
          <a:prstGeom prst="rect">
            <a:avLst/>
          </a:prstGeom>
          <a:noFill/>
        </p:spPr>
        <p:txBody>
          <a:bodyPr wrap="square">
            <a:spAutoFit/>
          </a:bodyPr>
          <a:lstStyle/>
          <a:p>
            <a:pPr algn="l"/>
            <a:r>
              <a:rPr sz="2400" b="0" i="0">
                <a:solidFill>
                  <a:srgbClr val="FFFFFF"/>
                </a:solidFill>
                <a:latin typeface="Segoe UI"/>
              </a:rPr>
              <a:t>📚</a:t>
            </a:r>
          </a:p>
        </p:txBody>
      </p:sp>
      <p:sp>
        <p:nvSpPr>
          <p:cNvPr id="33" name="TextBox 32"/>
          <p:cNvSpPr txBox="1"/>
          <p:nvPr/>
        </p:nvSpPr>
        <p:spPr>
          <a:xfrm>
            <a:off x="1005840" y="4114800"/>
            <a:ext cx="2926080" cy="201168"/>
          </a:xfrm>
          <a:prstGeom prst="rect">
            <a:avLst/>
          </a:prstGeom>
          <a:noFill/>
        </p:spPr>
        <p:txBody>
          <a:bodyPr wrap="square">
            <a:spAutoFit/>
          </a:bodyPr>
          <a:lstStyle/>
          <a:p>
            <a:pPr algn="l"/>
            <a:r>
              <a:rPr sz="800" b="1" i="0">
                <a:solidFill>
                  <a:srgbClr val="27AE60"/>
                </a:solidFill>
                <a:latin typeface="Segoe UI"/>
              </a:rPr>
              <a:t>UNICEF</a:t>
            </a:r>
          </a:p>
        </p:txBody>
      </p:sp>
      <p:sp>
        <p:nvSpPr>
          <p:cNvPr id="34" name="TextBox 33"/>
          <p:cNvSpPr txBox="1"/>
          <p:nvPr/>
        </p:nvSpPr>
        <p:spPr>
          <a:xfrm>
            <a:off x="457200" y="4572000"/>
            <a:ext cx="3474720" cy="640080"/>
          </a:xfrm>
          <a:prstGeom prst="rect">
            <a:avLst/>
          </a:prstGeom>
          <a:noFill/>
        </p:spPr>
        <p:txBody>
          <a:bodyPr wrap="square">
            <a:spAutoFit/>
          </a:bodyPr>
          <a:lstStyle/>
          <a:p>
            <a:pPr algn="l"/>
            <a:r>
              <a:rPr sz="1800" b="1" i="0">
                <a:solidFill>
                  <a:srgbClr val="FFFFFF"/>
                </a:solidFill>
                <a:latin typeface="Segoe UI"/>
              </a:rPr>
              <a:t>73 M enfants
non scolarisés</a:t>
            </a:r>
          </a:p>
        </p:txBody>
      </p:sp>
      <p:sp>
        <p:nvSpPr>
          <p:cNvPr id="35" name="Rectangle 34"/>
          <p:cNvSpPr/>
          <p:nvPr/>
        </p:nvSpPr>
        <p:spPr>
          <a:xfrm>
            <a:off x="457200" y="5266944"/>
            <a:ext cx="3474720" cy="3657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358384"/>
            <a:ext cx="3474720" cy="658368"/>
          </a:xfrm>
          <a:prstGeom prst="rect">
            <a:avLst/>
          </a:prstGeom>
          <a:noFill/>
        </p:spPr>
        <p:txBody>
          <a:bodyPr wrap="square">
            <a:spAutoFit/>
          </a:bodyPr>
          <a:lstStyle/>
          <a:p>
            <a:pPr algn="l"/>
            <a:r>
              <a:rPr sz="950" b="0" i="0">
                <a:solidFill>
                  <a:srgbClr val="BBCCDD"/>
                </a:solidFill>
                <a:latin typeface="Segoe UI"/>
              </a:rPr>
              <a:t>Kits scolaires d'urgence déployés</a:t>
            </a:r>
          </a:p>
        </p:txBody>
      </p:sp>
      <p:sp>
        <p:nvSpPr>
          <p:cNvPr id="37" name="Rectangle 36"/>
          <p:cNvSpPr/>
          <p:nvPr/>
        </p:nvSpPr>
        <p:spPr>
          <a:xfrm>
            <a:off x="4270248" y="4005072"/>
            <a:ext cx="3749039" cy="2103120"/>
          </a:xfrm>
          <a:prstGeom prst="rect">
            <a:avLst/>
          </a:prstGeom>
          <a:solidFill>
            <a:srgbClr val="0A1628"/>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70248" y="4005072"/>
            <a:ext cx="3749039"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07408" y="4114800"/>
            <a:ext cx="457200" cy="457200"/>
          </a:xfrm>
          <a:prstGeom prst="rect">
            <a:avLst/>
          </a:prstGeom>
          <a:noFill/>
        </p:spPr>
        <p:txBody>
          <a:bodyPr wrap="square">
            <a:spAutoFit/>
          </a:bodyPr>
          <a:lstStyle/>
          <a:p>
            <a:pPr algn="l"/>
            <a:r>
              <a:rPr sz="2400" b="0" i="0">
                <a:solidFill>
                  <a:srgbClr val="FFFFFF"/>
                </a:solidFill>
                <a:latin typeface="Segoe UI"/>
              </a:rPr>
              <a:t>🛡️</a:t>
            </a:r>
          </a:p>
        </p:txBody>
      </p:sp>
      <p:sp>
        <p:nvSpPr>
          <p:cNvPr id="40" name="TextBox 39"/>
          <p:cNvSpPr txBox="1"/>
          <p:nvPr/>
        </p:nvSpPr>
        <p:spPr>
          <a:xfrm>
            <a:off x="4956048" y="4114800"/>
            <a:ext cx="2926080" cy="201168"/>
          </a:xfrm>
          <a:prstGeom prst="rect">
            <a:avLst/>
          </a:prstGeom>
          <a:noFill/>
        </p:spPr>
        <p:txBody>
          <a:bodyPr wrap="square">
            <a:spAutoFit/>
          </a:bodyPr>
          <a:lstStyle/>
          <a:p>
            <a:pPr algn="l"/>
            <a:r>
              <a:rPr sz="800" b="1" i="0">
                <a:solidFill>
                  <a:srgbClr val="7C3AED"/>
                </a:solidFill>
                <a:latin typeface="Segoe UI"/>
              </a:rPr>
              <a:t>UNICEF</a:t>
            </a:r>
          </a:p>
        </p:txBody>
      </p:sp>
      <p:sp>
        <p:nvSpPr>
          <p:cNvPr id="41" name="TextBox 40"/>
          <p:cNvSpPr txBox="1"/>
          <p:nvPr/>
        </p:nvSpPr>
        <p:spPr>
          <a:xfrm>
            <a:off x="4407408" y="4572000"/>
            <a:ext cx="3474720" cy="640080"/>
          </a:xfrm>
          <a:prstGeom prst="rect">
            <a:avLst/>
          </a:prstGeom>
          <a:noFill/>
        </p:spPr>
        <p:txBody>
          <a:bodyPr wrap="square">
            <a:spAutoFit/>
          </a:bodyPr>
          <a:lstStyle/>
          <a:p>
            <a:pPr algn="l"/>
            <a:r>
              <a:rPr sz="1800" b="1" i="0">
                <a:solidFill>
                  <a:srgbClr val="FFFFFF"/>
                </a:solidFill>
                <a:latin typeface="Segoe UI"/>
              </a:rPr>
              <a:t>120 pays
systèmes protection</a:t>
            </a:r>
          </a:p>
        </p:txBody>
      </p:sp>
      <p:sp>
        <p:nvSpPr>
          <p:cNvPr id="42" name="Rectangle 41"/>
          <p:cNvSpPr/>
          <p:nvPr/>
        </p:nvSpPr>
        <p:spPr>
          <a:xfrm>
            <a:off x="4407408" y="5266944"/>
            <a:ext cx="347472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07408" y="5358384"/>
            <a:ext cx="3474720" cy="658368"/>
          </a:xfrm>
          <a:prstGeom prst="rect">
            <a:avLst/>
          </a:prstGeom>
          <a:noFill/>
        </p:spPr>
        <p:txBody>
          <a:bodyPr wrap="square">
            <a:spAutoFit/>
          </a:bodyPr>
          <a:lstStyle/>
          <a:p>
            <a:pPr algn="l"/>
            <a:r>
              <a:rPr sz="950" b="0" i="0">
                <a:solidFill>
                  <a:srgbClr val="BBCCDD"/>
                </a:solidFill>
                <a:latin typeface="Segoe UI"/>
              </a:rPr>
              <a:t>300M enfants en situation de risque couverts</a:t>
            </a:r>
          </a:p>
        </p:txBody>
      </p:sp>
      <p:sp>
        <p:nvSpPr>
          <p:cNvPr id="44" name="Rectangle 43"/>
          <p:cNvSpPr/>
          <p:nvPr/>
        </p:nvSpPr>
        <p:spPr>
          <a:xfrm>
            <a:off x="8220456" y="4005072"/>
            <a:ext cx="3749039" cy="2103120"/>
          </a:xfrm>
          <a:prstGeom prst="rect">
            <a:avLst/>
          </a:prstGeom>
          <a:solidFill>
            <a:srgbClr val="0A1628"/>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20456" y="4005072"/>
            <a:ext cx="3749039" cy="45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57616" y="4114800"/>
            <a:ext cx="457200" cy="457200"/>
          </a:xfrm>
          <a:prstGeom prst="rect">
            <a:avLst/>
          </a:prstGeom>
          <a:noFill/>
        </p:spPr>
        <p:txBody>
          <a:bodyPr wrap="square">
            <a:spAutoFit/>
          </a:bodyPr>
          <a:lstStyle/>
          <a:p>
            <a:pPr algn="l"/>
            <a:r>
              <a:rPr sz="2400" b="0" i="0">
                <a:solidFill>
                  <a:srgbClr val="FFFFFF"/>
                </a:solidFill>
                <a:latin typeface="Segoe UI"/>
              </a:rPr>
              <a:t>🚨</a:t>
            </a:r>
          </a:p>
        </p:txBody>
      </p:sp>
      <p:sp>
        <p:nvSpPr>
          <p:cNvPr id="47" name="TextBox 46"/>
          <p:cNvSpPr txBox="1"/>
          <p:nvPr/>
        </p:nvSpPr>
        <p:spPr>
          <a:xfrm>
            <a:off x="8906256" y="4114800"/>
            <a:ext cx="2926080" cy="201168"/>
          </a:xfrm>
          <a:prstGeom prst="rect">
            <a:avLst/>
          </a:prstGeom>
          <a:noFill/>
        </p:spPr>
        <p:txBody>
          <a:bodyPr wrap="square">
            <a:spAutoFit/>
          </a:bodyPr>
          <a:lstStyle/>
          <a:p>
            <a:pPr algn="l"/>
            <a:r>
              <a:rPr sz="800" b="1" i="0">
                <a:solidFill>
                  <a:srgbClr val="E74C3C"/>
                </a:solidFill>
                <a:latin typeface="Segoe UI"/>
              </a:rPr>
              <a:t>UNICEF</a:t>
            </a:r>
          </a:p>
        </p:txBody>
      </p:sp>
      <p:sp>
        <p:nvSpPr>
          <p:cNvPr id="48" name="TextBox 47"/>
          <p:cNvSpPr txBox="1"/>
          <p:nvPr/>
        </p:nvSpPr>
        <p:spPr>
          <a:xfrm>
            <a:off x="8357616" y="4572000"/>
            <a:ext cx="3474720" cy="640080"/>
          </a:xfrm>
          <a:prstGeom prst="rect">
            <a:avLst/>
          </a:prstGeom>
          <a:noFill/>
        </p:spPr>
        <p:txBody>
          <a:bodyPr wrap="square">
            <a:spAutoFit/>
          </a:bodyPr>
          <a:lstStyle/>
          <a:p>
            <a:pPr algn="l"/>
            <a:r>
              <a:rPr sz="1800" b="1" i="0">
                <a:solidFill>
                  <a:srgbClr val="FFFFFF"/>
                </a:solidFill>
                <a:latin typeface="Segoe UI"/>
              </a:rPr>
              <a:t>247 opérations
d'urgence / an</a:t>
            </a:r>
          </a:p>
        </p:txBody>
      </p:sp>
      <p:sp>
        <p:nvSpPr>
          <p:cNvPr id="49" name="Rectangle 48"/>
          <p:cNvSpPr/>
          <p:nvPr/>
        </p:nvSpPr>
        <p:spPr>
          <a:xfrm>
            <a:off x="8357616" y="5266944"/>
            <a:ext cx="3474720" cy="36576"/>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57616" y="5358384"/>
            <a:ext cx="3474720" cy="658368"/>
          </a:xfrm>
          <a:prstGeom prst="rect">
            <a:avLst/>
          </a:prstGeom>
          <a:noFill/>
        </p:spPr>
        <p:txBody>
          <a:bodyPr wrap="square">
            <a:spAutoFit/>
          </a:bodyPr>
          <a:lstStyle/>
          <a:p>
            <a:pPr algn="l"/>
            <a:r>
              <a:rPr sz="950" b="0" i="0">
                <a:solidFill>
                  <a:srgbClr val="BBCCDD"/>
                </a:solidFill>
                <a:latin typeface="Segoe UI"/>
              </a:rPr>
              <a:t>Déploiement en 72h — Turquie, Gaza, Haïti...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30352"/>
          </a:xfrm>
          <a:prstGeom prst="rect">
            <a:avLst/>
          </a:prstGeom>
          <a:noFill/>
        </p:spPr>
        <p:txBody>
          <a:bodyPr wrap="square">
            <a:spAutoFit/>
          </a:bodyPr>
          <a:lstStyle/>
          <a:p>
            <a:pPr algn="l"/>
            <a:r>
              <a:rPr sz="2200" b="1" i="0">
                <a:solidFill>
                  <a:srgbClr val="FFFFFF"/>
                </a:solidFill>
                <a:latin typeface="Segoe UI"/>
              </a:rPr>
              <a:t>QUIZ  —  RÉVEIL PÉDAGOGIQUE — QUIZ FLASH</a:t>
            </a:r>
          </a:p>
        </p:txBody>
      </p:sp>
      <p:sp>
        <p:nvSpPr>
          <p:cNvPr id="5" name="TextBox 4"/>
          <p:cNvSpPr txBox="1"/>
          <p:nvPr/>
        </p:nvSpPr>
        <p:spPr>
          <a:xfrm>
            <a:off x="365760" y="658368"/>
            <a:ext cx="11430000" cy="402336"/>
          </a:xfrm>
          <a:prstGeom prst="rect">
            <a:avLst/>
          </a:prstGeom>
          <a:noFill/>
        </p:spPr>
        <p:txBody>
          <a:bodyPr wrap="square">
            <a:spAutoFit/>
          </a:bodyPr>
          <a:lstStyle/>
          <a:p>
            <a:pPr algn="l"/>
            <a:r>
              <a:rPr sz="1200" b="0" i="1">
                <a:solidFill>
                  <a:srgbClr val="00AEEF"/>
                </a:solidFill>
                <a:latin typeface="Segoe UI"/>
              </a:rPr>
              <a:t>Testez vos connaissances avant de démarrer l'après-midi</a:t>
            </a:r>
          </a:p>
        </p:txBody>
      </p:sp>
      <p:sp>
        <p:nvSpPr>
          <p:cNvPr id="6" name="Rectangle 5"/>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
        <p:nvSpPr>
          <p:cNvPr id="8" name="Rectangle 7"/>
          <p:cNvSpPr/>
          <p:nvPr/>
        </p:nvSpPr>
        <p:spPr>
          <a:xfrm>
            <a:off x="320040" y="1417320"/>
            <a:ext cx="5669280" cy="758952"/>
          </a:xfrm>
          <a:prstGeom prst="rect">
            <a:avLst/>
          </a:prstGeom>
          <a:solidFill>
            <a:srgbClr val="FFF4E6"/>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463040"/>
            <a:ext cx="5449824" cy="182880"/>
          </a:xfrm>
          <a:prstGeom prst="rect">
            <a:avLst/>
          </a:prstGeom>
          <a:noFill/>
        </p:spPr>
        <p:txBody>
          <a:bodyPr wrap="square">
            <a:spAutoFit/>
          </a:bodyPr>
          <a:lstStyle/>
          <a:p>
            <a:pPr algn="l"/>
            <a:r>
              <a:rPr sz="800" b="1" i="0">
                <a:solidFill>
                  <a:srgbClr val="F7941D"/>
                </a:solidFill>
                <a:latin typeface="Segoe UI"/>
              </a:rPr>
              <a:t>❓  QUESTION</a:t>
            </a:r>
          </a:p>
        </p:txBody>
      </p:sp>
      <p:sp>
        <p:nvSpPr>
          <p:cNvPr id="10" name="TextBox 9"/>
          <p:cNvSpPr txBox="1"/>
          <p:nvPr/>
        </p:nvSpPr>
        <p:spPr>
          <a:xfrm>
            <a:off x="429768" y="1664208"/>
            <a:ext cx="5449824" cy="466344"/>
          </a:xfrm>
          <a:prstGeom prst="rect">
            <a:avLst/>
          </a:prstGeom>
          <a:noFill/>
        </p:spPr>
        <p:txBody>
          <a:bodyPr wrap="square">
            <a:spAutoFit/>
          </a:bodyPr>
          <a:lstStyle/>
          <a:p>
            <a:pPr algn="l"/>
            <a:r>
              <a:rPr sz="1100" b="1" i="0">
                <a:solidFill>
                  <a:srgbClr val="003087"/>
                </a:solidFill>
                <a:latin typeface="Segoe UI"/>
              </a:rPr>
              <a:t>Combien d'associations existe-t-il en France ?</a:t>
            </a:r>
          </a:p>
        </p:txBody>
      </p:sp>
      <p:sp>
        <p:nvSpPr>
          <p:cNvPr id="11" name="Rectangle 10"/>
          <p:cNvSpPr/>
          <p:nvPr/>
        </p:nvSpPr>
        <p:spPr>
          <a:xfrm>
            <a:off x="320040" y="2231136"/>
            <a:ext cx="5669280" cy="758952"/>
          </a:xfrm>
          <a:prstGeom prst="rect">
            <a:avLst/>
          </a:prstGeom>
          <a:solidFill>
            <a:srgbClr val="EAFA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2267712"/>
            <a:ext cx="5449824" cy="182880"/>
          </a:xfrm>
          <a:prstGeom prst="rect">
            <a:avLst/>
          </a:prstGeom>
          <a:noFill/>
        </p:spPr>
        <p:txBody>
          <a:bodyPr wrap="square">
            <a:spAutoFit/>
          </a:bodyPr>
          <a:lstStyle/>
          <a:p>
            <a:pPr algn="l"/>
            <a:r>
              <a:rPr sz="800" b="1" i="0">
                <a:solidFill>
                  <a:srgbClr val="27AE60"/>
                </a:solidFill>
                <a:latin typeface="Segoe UI"/>
              </a:rPr>
              <a:t>✅  RÉPONSE</a:t>
            </a:r>
          </a:p>
        </p:txBody>
      </p:sp>
      <p:sp>
        <p:nvSpPr>
          <p:cNvPr id="13" name="TextBox 12"/>
          <p:cNvSpPr txBox="1"/>
          <p:nvPr/>
        </p:nvSpPr>
        <p:spPr>
          <a:xfrm>
            <a:off x="429768" y="2468880"/>
            <a:ext cx="5449824" cy="411480"/>
          </a:xfrm>
          <a:prstGeom prst="rect">
            <a:avLst/>
          </a:prstGeom>
          <a:noFill/>
        </p:spPr>
        <p:txBody>
          <a:bodyPr wrap="square">
            <a:spAutoFit/>
          </a:bodyPr>
          <a:lstStyle/>
          <a:p>
            <a:pPr algn="l"/>
            <a:r>
              <a:rPr sz="1100" b="0" i="0">
                <a:solidFill>
                  <a:srgbClr val="003087"/>
                </a:solidFill>
                <a:latin typeface="Segoe UI"/>
              </a:rPr>
              <a:t>1,5 million d'associations — dont 165 000 reconnues d'utilité publique (RUP)</a:t>
            </a:r>
          </a:p>
        </p:txBody>
      </p:sp>
      <p:sp>
        <p:nvSpPr>
          <p:cNvPr id="14" name="Rectangle 13"/>
          <p:cNvSpPr/>
          <p:nvPr/>
        </p:nvSpPr>
        <p:spPr>
          <a:xfrm>
            <a:off x="6263640" y="1417320"/>
            <a:ext cx="5669280" cy="758952"/>
          </a:xfrm>
          <a:prstGeom prst="rect">
            <a:avLst/>
          </a:prstGeom>
          <a:solidFill>
            <a:srgbClr val="FFF4E6"/>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1463040"/>
            <a:ext cx="5449824" cy="182880"/>
          </a:xfrm>
          <a:prstGeom prst="rect">
            <a:avLst/>
          </a:prstGeom>
          <a:noFill/>
        </p:spPr>
        <p:txBody>
          <a:bodyPr wrap="square">
            <a:spAutoFit/>
          </a:bodyPr>
          <a:lstStyle/>
          <a:p>
            <a:pPr algn="l"/>
            <a:r>
              <a:rPr sz="800" b="1" i="0">
                <a:solidFill>
                  <a:srgbClr val="F7941D"/>
                </a:solidFill>
                <a:latin typeface="Segoe UI"/>
              </a:rPr>
              <a:t>❓  QUESTION</a:t>
            </a:r>
          </a:p>
        </p:txBody>
      </p:sp>
      <p:sp>
        <p:nvSpPr>
          <p:cNvPr id="16" name="TextBox 15"/>
          <p:cNvSpPr txBox="1"/>
          <p:nvPr/>
        </p:nvSpPr>
        <p:spPr>
          <a:xfrm>
            <a:off x="6373368" y="1664208"/>
            <a:ext cx="5449824" cy="466344"/>
          </a:xfrm>
          <a:prstGeom prst="rect">
            <a:avLst/>
          </a:prstGeom>
          <a:noFill/>
        </p:spPr>
        <p:txBody>
          <a:bodyPr wrap="square">
            <a:spAutoFit/>
          </a:bodyPr>
          <a:lstStyle/>
          <a:p>
            <a:pPr algn="l"/>
            <a:r>
              <a:rPr sz="1100" b="1" i="0">
                <a:solidFill>
                  <a:srgbClr val="003087"/>
                </a:solidFill>
                <a:latin typeface="Segoe UI"/>
              </a:rPr>
              <a:t>Que dit l'Article 1er de la Loi 1901 ?</a:t>
            </a:r>
          </a:p>
        </p:txBody>
      </p:sp>
      <p:sp>
        <p:nvSpPr>
          <p:cNvPr id="17" name="Rectangle 16"/>
          <p:cNvSpPr/>
          <p:nvPr/>
        </p:nvSpPr>
        <p:spPr>
          <a:xfrm>
            <a:off x="6263640" y="2231136"/>
            <a:ext cx="5669280" cy="758952"/>
          </a:xfrm>
          <a:prstGeom prst="rect">
            <a:avLst/>
          </a:prstGeom>
          <a:solidFill>
            <a:srgbClr val="EAFA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2267712"/>
            <a:ext cx="5449824" cy="182880"/>
          </a:xfrm>
          <a:prstGeom prst="rect">
            <a:avLst/>
          </a:prstGeom>
          <a:noFill/>
        </p:spPr>
        <p:txBody>
          <a:bodyPr wrap="square">
            <a:spAutoFit/>
          </a:bodyPr>
          <a:lstStyle/>
          <a:p>
            <a:pPr algn="l"/>
            <a:r>
              <a:rPr sz="800" b="1" i="0">
                <a:solidFill>
                  <a:srgbClr val="27AE60"/>
                </a:solidFill>
                <a:latin typeface="Segoe UI"/>
              </a:rPr>
              <a:t>✅  RÉPONSE</a:t>
            </a:r>
          </a:p>
        </p:txBody>
      </p:sp>
      <p:sp>
        <p:nvSpPr>
          <p:cNvPr id="19" name="TextBox 18"/>
          <p:cNvSpPr txBox="1"/>
          <p:nvPr/>
        </p:nvSpPr>
        <p:spPr>
          <a:xfrm>
            <a:off x="6373368" y="2468880"/>
            <a:ext cx="5449824" cy="411480"/>
          </a:xfrm>
          <a:prstGeom prst="rect">
            <a:avLst/>
          </a:prstGeom>
          <a:noFill/>
        </p:spPr>
        <p:txBody>
          <a:bodyPr wrap="square">
            <a:spAutoFit/>
          </a:bodyPr>
          <a:lstStyle/>
          <a:p>
            <a:pPr algn="l"/>
            <a:r>
              <a:rPr sz="1100" b="0" i="0">
                <a:solidFill>
                  <a:srgbClr val="003087"/>
                </a:solidFill>
                <a:latin typeface="Segoe UI"/>
              </a:rPr>
              <a:t>Convention de 2+ personnes mettant en commun connaissances/activité dans un but NON lucratif</a:t>
            </a:r>
          </a:p>
        </p:txBody>
      </p:sp>
      <p:sp>
        <p:nvSpPr>
          <p:cNvPr id="20" name="Rectangle 19"/>
          <p:cNvSpPr/>
          <p:nvPr/>
        </p:nvSpPr>
        <p:spPr>
          <a:xfrm>
            <a:off x="320040" y="3136392"/>
            <a:ext cx="5669280" cy="758952"/>
          </a:xfrm>
          <a:prstGeom prst="rect">
            <a:avLst/>
          </a:prstGeom>
          <a:solidFill>
            <a:srgbClr val="FFF4E6"/>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 y="3182112"/>
            <a:ext cx="5449824" cy="182880"/>
          </a:xfrm>
          <a:prstGeom prst="rect">
            <a:avLst/>
          </a:prstGeom>
          <a:noFill/>
        </p:spPr>
        <p:txBody>
          <a:bodyPr wrap="square">
            <a:spAutoFit/>
          </a:bodyPr>
          <a:lstStyle/>
          <a:p>
            <a:pPr algn="l"/>
            <a:r>
              <a:rPr sz="800" b="1" i="0">
                <a:solidFill>
                  <a:srgbClr val="F7941D"/>
                </a:solidFill>
                <a:latin typeface="Segoe UI"/>
              </a:rPr>
              <a:t>❓  QUESTION</a:t>
            </a:r>
          </a:p>
        </p:txBody>
      </p:sp>
      <p:sp>
        <p:nvSpPr>
          <p:cNvPr id="22" name="TextBox 21"/>
          <p:cNvSpPr txBox="1"/>
          <p:nvPr/>
        </p:nvSpPr>
        <p:spPr>
          <a:xfrm>
            <a:off x="429768" y="3383280"/>
            <a:ext cx="5449824" cy="466344"/>
          </a:xfrm>
          <a:prstGeom prst="rect">
            <a:avLst/>
          </a:prstGeom>
          <a:noFill/>
        </p:spPr>
        <p:txBody>
          <a:bodyPr wrap="square">
            <a:spAutoFit/>
          </a:bodyPr>
          <a:lstStyle/>
          <a:p>
            <a:pPr algn="l"/>
            <a:r>
              <a:rPr sz="1100" b="1" i="0">
                <a:solidFill>
                  <a:srgbClr val="003087"/>
                </a:solidFill>
                <a:latin typeface="Segoe UI"/>
              </a:rPr>
              <a:t>Quelle est la différence entre une asso déclarée et une RUP ?</a:t>
            </a:r>
          </a:p>
        </p:txBody>
      </p:sp>
      <p:sp>
        <p:nvSpPr>
          <p:cNvPr id="23" name="Rectangle 22"/>
          <p:cNvSpPr/>
          <p:nvPr/>
        </p:nvSpPr>
        <p:spPr>
          <a:xfrm>
            <a:off x="320040" y="3950208"/>
            <a:ext cx="5669280" cy="758952"/>
          </a:xfrm>
          <a:prstGeom prst="rect">
            <a:avLst/>
          </a:prstGeom>
          <a:solidFill>
            <a:srgbClr val="EAFA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 y="3986784"/>
            <a:ext cx="5449824" cy="182880"/>
          </a:xfrm>
          <a:prstGeom prst="rect">
            <a:avLst/>
          </a:prstGeom>
          <a:noFill/>
        </p:spPr>
        <p:txBody>
          <a:bodyPr wrap="square">
            <a:spAutoFit/>
          </a:bodyPr>
          <a:lstStyle/>
          <a:p>
            <a:pPr algn="l"/>
            <a:r>
              <a:rPr sz="800" b="1" i="0">
                <a:solidFill>
                  <a:srgbClr val="27AE60"/>
                </a:solidFill>
                <a:latin typeface="Segoe UI"/>
              </a:rPr>
              <a:t>✅  RÉPONSE</a:t>
            </a:r>
          </a:p>
        </p:txBody>
      </p:sp>
      <p:sp>
        <p:nvSpPr>
          <p:cNvPr id="25" name="TextBox 24"/>
          <p:cNvSpPr txBox="1"/>
          <p:nvPr/>
        </p:nvSpPr>
        <p:spPr>
          <a:xfrm>
            <a:off x="429768" y="4187952"/>
            <a:ext cx="5449824" cy="411480"/>
          </a:xfrm>
          <a:prstGeom prst="rect">
            <a:avLst/>
          </a:prstGeom>
          <a:noFill/>
        </p:spPr>
        <p:txBody>
          <a:bodyPr wrap="square">
            <a:spAutoFit/>
          </a:bodyPr>
          <a:lstStyle/>
          <a:p>
            <a:pPr algn="l"/>
            <a:r>
              <a:rPr sz="1100" b="0" i="0">
                <a:solidFill>
                  <a:srgbClr val="003087"/>
                </a:solidFill>
                <a:latin typeface="Segoe UI"/>
              </a:rPr>
              <a:t>RUP = décret Conseil d'État, critères stricts, peut recevoir legs/donations avec avantages fiscaux</a:t>
            </a:r>
          </a:p>
        </p:txBody>
      </p:sp>
      <p:sp>
        <p:nvSpPr>
          <p:cNvPr id="26" name="Rectangle 25"/>
          <p:cNvSpPr/>
          <p:nvPr/>
        </p:nvSpPr>
        <p:spPr>
          <a:xfrm>
            <a:off x="6263640" y="3136392"/>
            <a:ext cx="5669280" cy="758952"/>
          </a:xfrm>
          <a:prstGeom prst="rect">
            <a:avLst/>
          </a:prstGeom>
          <a:solidFill>
            <a:srgbClr val="FFF4E6"/>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3368" y="3182112"/>
            <a:ext cx="5449824" cy="182880"/>
          </a:xfrm>
          <a:prstGeom prst="rect">
            <a:avLst/>
          </a:prstGeom>
          <a:noFill/>
        </p:spPr>
        <p:txBody>
          <a:bodyPr wrap="square">
            <a:spAutoFit/>
          </a:bodyPr>
          <a:lstStyle/>
          <a:p>
            <a:pPr algn="l"/>
            <a:r>
              <a:rPr sz="800" b="1" i="0">
                <a:solidFill>
                  <a:srgbClr val="F7941D"/>
                </a:solidFill>
                <a:latin typeface="Segoe UI"/>
              </a:rPr>
              <a:t>❓  QUESTION</a:t>
            </a:r>
          </a:p>
        </p:txBody>
      </p:sp>
      <p:sp>
        <p:nvSpPr>
          <p:cNvPr id="28" name="TextBox 27"/>
          <p:cNvSpPr txBox="1"/>
          <p:nvPr/>
        </p:nvSpPr>
        <p:spPr>
          <a:xfrm>
            <a:off x="6373368" y="3383280"/>
            <a:ext cx="5449824" cy="466344"/>
          </a:xfrm>
          <a:prstGeom prst="rect">
            <a:avLst/>
          </a:prstGeom>
          <a:noFill/>
        </p:spPr>
        <p:txBody>
          <a:bodyPr wrap="square">
            <a:spAutoFit/>
          </a:bodyPr>
          <a:lstStyle/>
          <a:p>
            <a:pPr algn="l"/>
            <a:r>
              <a:rPr sz="1100" b="1" i="0">
                <a:solidFill>
                  <a:srgbClr val="003087"/>
                </a:solidFill>
                <a:latin typeface="Segoe UI"/>
              </a:rPr>
              <a:t>Nommez les 4 principes humanitaires fondamentaux.</a:t>
            </a:r>
          </a:p>
        </p:txBody>
      </p:sp>
      <p:sp>
        <p:nvSpPr>
          <p:cNvPr id="29" name="Rectangle 28"/>
          <p:cNvSpPr/>
          <p:nvPr/>
        </p:nvSpPr>
        <p:spPr>
          <a:xfrm>
            <a:off x="6263640" y="3950208"/>
            <a:ext cx="5669280" cy="758952"/>
          </a:xfrm>
          <a:prstGeom prst="rect">
            <a:avLst/>
          </a:prstGeom>
          <a:solidFill>
            <a:srgbClr val="EAFA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3986784"/>
            <a:ext cx="5449824" cy="182880"/>
          </a:xfrm>
          <a:prstGeom prst="rect">
            <a:avLst/>
          </a:prstGeom>
          <a:noFill/>
        </p:spPr>
        <p:txBody>
          <a:bodyPr wrap="square">
            <a:spAutoFit/>
          </a:bodyPr>
          <a:lstStyle/>
          <a:p>
            <a:pPr algn="l"/>
            <a:r>
              <a:rPr sz="800" b="1" i="0">
                <a:solidFill>
                  <a:srgbClr val="27AE60"/>
                </a:solidFill>
                <a:latin typeface="Segoe UI"/>
              </a:rPr>
              <a:t>✅  RÉPONSE</a:t>
            </a:r>
          </a:p>
        </p:txBody>
      </p:sp>
      <p:sp>
        <p:nvSpPr>
          <p:cNvPr id="31" name="TextBox 30"/>
          <p:cNvSpPr txBox="1"/>
          <p:nvPr/>
        </p:nvSpPr>
        <p:spPr>
          <a:xfrm>
            <a:off x="6373368" y="4187952"/>
            <a:ext cx="5449824" cy="411480"/>
          </a:xfrm>
          <a:prstGeom prst="rect">
            <a:avLst/>
          </a:prstGeom>
          <a:noFill/>
        </p:spPr>
        <p:txBody>
          <a:bodyPr wrap="square">
            <a:spAutoFit/>
          </a:bodyPr>
          <a:lstStyle/>
          <a:p>
            <a:pPr algn="l"/>
            <a:r>
              <a:rPr sz="1100" b="0" i="0">
                <a:solidFill>
                  <a:srgbClr val="003087"/>
                </a:solidFill>
                <a:latin typeface="Segoe UI"/>
              </a:rPr>
              <a:t>Humanité — Impartialité — Neutralité — Indépendance</a:t>
            </a:r>
          </a:p>
        </p:txBody>
      </p:sp>
      <p:sp>
        <p:nvSpPr>
          <p:cNvPr id="32" name="Rectangle 31"/>
          <p:cNvSpPr/>
          <p:nvPr/>
        </p:nvSpPr>
        <p:spPr>
          <a:xfrm>
            <a:off x="320040" y="4855464"/>
            <a:ext cx="5669280" cy="758952"/>
          </a:xfrm>
          <a:prstGeom prst="rect">
            <a:avLst/>
          </a:prstGeom>
          <a:solidFill>
            <a:srgbClr val="FFF4E6"/>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 y="4901184"/>
            <a:ext cx="5449824" cy="182880"/>
          </a:xfrm>
          <a:prstGeom prst="rect">
            <a:avLst/>
          </a:prstGeom>
          <a:noFill/>
        </p:spPr>
        <p:txBody>
          <a:bodyPr wrap="square">
            <a:spAutoFit/>
          </a:bodyPr>
          <a:lstStyle/>
          <a:p>
            <a:pPr algn="l"/>
            <a:r>
              <a:rPr sz="800" b="1" i="0">
                <a:solidFill>
                  <a:srgbClr val="F7941D"/>
                </a:solidFill>
                <a:latin typeface="Segoe UI"/>
              </a:rPr>
              <a:t>❓  QUESTION</a:t>
            </a:r>
          </a:p>
        </p:txBody>
      </p:sp>
      <p:sp>
        <p:nvSpPr>
          <p:cNvPr id="34" name="TextBox 33"/>
          <p:cNvSpPr txBox="1"/>
          <p:nvPr/>
        </p:nvSpPr>
        <p:spPr>
          <a:xfrm>
            <a:off x="429768" y="5102352"/>
            <a:ext cx="5449824" cy="466344"/>
          </a:xfrm>
          <a:prstGeom prst="rect">
            <a:avLst/>
          </a:prstGeom>
          <a:noFill/>
        </p:spPr>
        <p:txBody>
          <a:bodyPr wrap="square">
            <a:spAutoFit/>
          </a:bodyPr>
          <a:lstStyle/>
          <a:p>
            <a:pPr algn="l"/>
            <a:r>
              <a:rPr sz="1100" b="1" i="0">
                <a:solidFill>
                  <a:srgbClr val="003087"/>
                </a:solidFill>
                <a:latin typeface="Segoe UI"/>
              </a:rPr>
              <a:t>Que s'est-il passé en 1996 avec l'Affaire ARC ?</a:t>
            </a:r>
          </a:p>
        </p:txBody>
      </p:sp>
      <p:sp>
        <p:nvSpPr>
          <p:cNvPr id="35" name="Rectangle 34"/>
          <p:cNvSpPr/>
          <p:nvPr/>
        </p:nvSpPr>
        <p:spPr>
          <a:xfrm>
            <a:off x="320040" y="5669280"/>
            <a:ext cx="5669280" cy="758952"/>
          </a:xfrm>
          <a:prstGeom prst="rect">
            <a:avLst/>
          </a:prstGeom>
          <a:solidFill>
            <a:srgbClr val="EAFA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9768" y="5705856"/>
            <a:ext cx="5449824" cy="182880"/>
          </a:xfrm>
          <a:prstGeom prst="rect">
            <a:avLst/>
          </a:prstGeom>
          <a:noFill/>
        </p:spPr>
        <p:txBody>
          <a:bodyPr wrap="square">
            <a:spAutoFit/>
          </a:bodyPr>
          <a:lstStyle/>
          <a:p>
            <a:pPr algn="l"/>
            <a:r>
              <a:rPr sz="800" b="1" i="0">
                <a:solidFill>
                  <a:srgbClr val="27AE60"/>
                </a:solidFill>
                <a:latin typeface="Segoe UI"/>
              </a:rPr>
              <a:t>✅  RÉPONSE</a:t>
            </a:r>
          </a:p>
        </p:txBody>
      </p:sp>
      <p:sp>
        <p:nvSpPr>
          <p:cNvPr id="37" name="TextBox 36"/>
          <p:cNvSpPr txBox="1"/>
          <p:nvPr/>
        </p:nvSpPr>
        <p:spPr>
          <a:xfrm>
            <a:off x="429768" y="5907024"/>
            <a:ext cx="5449824" cy="411480"/>
          </a:xfrm>
          <a:prstGeom prst="rect">
            <a:avLst/>
          </a:prstGeom>
          <a:noFill/>
        </p:spPr>
        <p:txBody>
          <a:bodyPr wrap="square">
            <a:spAutoFit/>
          </a:bodyPr>
          <a:lstStyle/>
          <a:p>
            <a:pPr algn="l"/>
            <a:r>
              <a:rPr sz="1100" b="0" i="0">
                <a:solidFill>
                  <a:srgbClr val="003087"/>
                </a:solidFill>
                <a:latin typeface="Segoe UI"/>
              </a:rPr>
              <a:t>Détournements massifs. Crise de confiance → Charte du Don en Confiance + audits obligatoires</a:t>
            </a:r>
          </a:p>
        </p:txBody>
      </p:sp>
      <p:sp>
        <p:nvSpPr>
          <p:cNvPr id="38" name="Rectangle 37"/>
          <p:cNvSpPr/>
          <p:nvPr/>
        </p:nvSpPr>
        <p:spPr>
          <a:xfrm>
            <a:off x="6263640" y="4855464"/>
            <a:ext cx="5669280" cy="758952"/>
          </a:xfrm>
          <a:prstGeom prst="rect">
            <a:avLst/>
          </a:prstGeom>
          <a:solidFill>
            <a:srgbClr val="FFF4E6"/>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73368" y="4901184"/>
            <a:ext cx="5449824" cy="182880"/>
          </a:xfrm>
          <a:prstGeom prst="rect">
            <a:avLst/>
          </a:prstGeom>
          <a:noFill/>
        </p:spPr>
        <p:txBody>
          <a:bodyPr wrap="square">
            <a:spAutoFit/>
          </a:bodyPr>
          <a:lstStyle/>
          <a:p>
            <a:pPr algn="l"/>
            <a:r>
              <a:rPr sz="800" b="1" i="0">
                <a:solidFill>
                  <a:srgbClr val="F7941D"/>
                </a:solidFill>
                <a:latin typeface="Segoe UI"/>
              </a:rPr>
              <a:t>❓  QUESTION</a:t>
            </a:r>
          </a:p>
        </p:txBody>
      </p:sp>
      <p:sp>
        <p:nvSpPr>
          <p:cNvPr id="40" name="TextBox 39"/>
          <p:cNvSpPr txBox="1"/>
          <p:nvPr/>
        </p:nvSpPr>
        <p:spPr>
          <a:xfrm>
            <a:off x="6373368" y="5102352"/>
            <a:ext cx="5449824" cy="466344"/>
          </a:xfrm>
          <a:prstGeom prst="rect">
            <a:avLst/>
          </a:prstGeom>
          <a:noFill/>
        </p:spPr>
        <p:txBody>
          <a:bodyPr wrap="square">
            <a:spAutoFit/>
          </a:bodyPr>
          <a:lstStyle/>
          <a:p>
            <a:pPr algn="l"/>
            <a:r>
              <a:rPr sz="1100" b="1" i="0">
                <a:solidFill>
                  <a:srgbClr val="003087"/>
                </a:solidFill>
                <a:latin typeface="Segoe UI"/>
              </a:rPr>
              <a:t>Quel est le montant collecté chaque année en France ?</a:t>
            </a:r>
          </a:p>
        </p:txBody>
      </p:sp>
      <p:sp>
        <p:nvSpPr>
          <p:cNvPr id="41" name="Rectangle 40"/>
          <p:cNvSpPr/>
          <p:nvPr/>
        </p:nvSpPr>
        <p:spPr>
          <a:xfrm>
            <a:off x="6263640" y="5669280"/>
            <a:ext cx="5669280" cy="758952"/>
          </a:xfrm>
          <a:prstGeom prst="rect">
            <a:avLst/>
          </a:prstGeom>
          <a:solidFill>
            <a:srgbClr val="EAFAF1"/>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73368" y="5705856"/>
            <a:ext cx="5449824" cy="182880"/>
          </a:xfrm>
          <a:prstGeom prst="rect">
            <a:avLst/>
          </a:prstGeom>
          <a:noFill/>
        </p:spPr>
        <p:txBody>
          <a:bodyPr wrap="square">
            <a:spAutoFit/>
          </a:bodyPr>
          <a:lstStyle/>
          <a:p>
            <a:pPr algn="l"/>
            <a:r>
              <a:rPr sz="800" b="1" i="0">
                <a:solidFill>
                  <a:srgbClr val="27AE60"/>
                </a:solidFill>
                <a:latin typeface="Segoe UI"/>
              </a:rPr>
              <a:t>✅  RÉPONSE</a:t>
            </a:r>
          </a:p>
        </p:txBody>
      </p:sp>
      <p:sp>
        <p:nvSpPr>
          <p:cNvPr id="43" name="TextBox 42"/>
          <p:cNvSpPr txBox="1"/>
          <p:nvPr/>
        </p:nvSpPr>
        <p:spPr>
          <a:xfrm>
            <a:off x="6373368" y="5907024"/>
            <a:ext cx="5449824" cy="411480"/>
          </a:xfrm>
          <a:prstGeom prst="rect">
            <a:avLst/>
          </a:prstGeom>
          <a:noFill/>
        </p:spPr>
        <p:txBody>
          <a:bodyPr wrap="square">
            <a:spAutoFit/>
          </a:bodyPr>
          <a:lstStyle/>
          <a:p>
            <a:pPr algn="l"/>
            <a:r>
              <a:rPr sz="1100" b="0" i="0">
                <a:solidFill>
                  <a:srgbClr val="003087"/>
                </a:solidFill>
                <a:latin typeface="Segoe UI"/>
              </a:rPr>
              <a:t>5,5 milliards d'euros dont 3 milliards via le phoning professionnel (55 %)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88952" cy="54864"/>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89320" y="0"/>
            <a:ext cx="36576" cy="68580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28600"/>
            <a:ext cx="5303520" cy="384048"/>
          </a:xfrm>
          <a:prstGeom prst="rect">
            <a:avLst/>
          </a:prstGeom>
          <a:noFill/>
        </p:spPr>
        <p:txBody>
          <a:bodyPr wrap="square">
            <a:spAutoFit/>
          </a:bodyPr>
          <a:lstStyle/>
          <a:p>
            <a:pPr algn="l"/>
            <a:r>
              <a:rPr sz="1800" b="1" i="0">
                <a:solidFill>
                  <a:srgbClr val="F7941D"/>
                </a:solidFill>
                <a:latin typeface="Segoe UI"/>
              </a:rPr>
              <a:t>LES 10 POINTS ESSENTIELS</a:t>
            </a:r>
          </a:p>
        </p:txBody>
      </p:sp>
      <p:sp>
        <p:nvSpPr>
          <p:cNvPr id="7" name="TextBox 6"/>
          <p:cNvSpPr txBox="1"/>
          <p:nvPr/>
        </p:nvSpPr>
        <p:spPr>
          <a:xfrm>
            <a:off x="365760" y="658368"/>
            <a:ext cx="5303520" cy="274320"/>
          </a:xfrm>
          <a:prstGeom prst="rect">
            <a:avLst/>
          </a:prstGeom>
          <a:noFill/>
        </p:spPr>
        <p:txBody>
          <a:bodyPr wrap="square">
            <a:spAutoFit/>
          </a:bodyPr>
          <a:lstStyle/>
          <a:p>
            <a:pPr algn="l"/>
            <a:r>
              <a:rPr sz="1200" b="0" i="1">
                <a:solidFill>
                  <a:srgbClr val="00AEEF"/>
                </a:solidFill>
                <a:latin typeface="Segoe UI"/>
              </a:rPr>
              <a:t>À retenir de la matinée J2</a:t>
            </a:r>
          </a:p>
        </p:txBody>
      </p:sp>
      <p:sp>
        <p:nvSpPr>
          <p:cNvPr id="8" name="Rectangle 7"/>
          <p:cNvSpPr/>
          <p:nvPr/>
        </p:nvSpPr>
        <p:spPr>
          <a:xfrm>
            <a:off x="365760" y="1097280"/>
            <a:ext cx="100584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52144"/>
            <a:ext cx="1005840" cy="274320"/>
          </a:xfrm>
          <a:prstGeom prst="rect">
            <a:avLst/>
          </a:prstGeom>
          <a:noFill/>
        </p:spPr>
        <p:txBody>
          <a:bodyPr wrap="square">
            <a:spAutoFit/>
          </a:bodyPr>
          <a:lstStyle/>
          <a:p>
            <a:pPr algn="ctr"/>
            <a:r>
              <a:rPr sz="1000" b="1" i="0">
                <a:solidFill>
                  <a:srgbClr val="F7941D"/>
                </a:solidFill>
                <a:latin typeface="Segoe UI"/>
              </a:rPr>
              <a:t>1,5 M</a:t>
            </a:r>
          </a:p>
        </p:txBody>
      </p:sp>
      <p:sp>
        <p:nvSpPr>
          <p:cNvPr id="10" name="TextBox 9"/>
          <p:cNvSpPr txBox="1"/>
          <p:nvPr/>
        </p:nvSpPr>
        <p:spPr>
          <a:xfrm>
            <a:off x="1481328" y="1170432"/>
            <a:ext cx="4023360" cy="274320"/>
          </a:xfrm>
          <a:prstGeom prst="rect">
            <a:avLst/>
          </a:prstGeom>
          <a:noFill/>
        </p:spPr>
        <p:txBody>
          <a:bodyPr wrap="square">
            <a:spAutoFit/>
          </a:bodyPr>
          <a:lstStyle/>
          <a:p>
            <a:pPr algn="l"/>
            <a:r>
              <a:rPr sz="1000" b="0" i="0">
                <a:solidFill>
                  <a:srgbClr val="FFFFFF"/>
                </a:solidFill>
                <a:latin typeface="Segoe UI"/>
              </a:rPr>
              <a:t>associations en France — 23 M bénévoles</a:t>
            </a:r>
          </a:p>
        </p:txBody>
      </p:sp>
      <p:sp>
        <p:nvSpPr>
          <p:cNvPr id="11" name="Rectangle 10"/>
          <p:cNvSpPr/>
          <p:nvPr/>
        </p:nvSpPr>
        <p:spPr>
          <a:xfrm>
            <a:off x="365760" y="1618487"/>
            <a:ext cx="100584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673351"/>
            <a:ext cx="1005840" cy="274320"/>
          </a:xfrm>
          <a:prstGeom prst="rect">
            <a:avLst/>
          </a:prstGeom>
          <a:noFill/>
        </p:spPr>
        <p:txBody>
          <a:bodyPr wrap="square">
            <a:spAutoFit/>
          </a:bodyPr>
          <a:lstStyle/>
          <a:p>
            <a:pPr algn="ctr"/>
            <a:r>
              <a:rPr sz="1000" b="1" i="0">
                <a:solidFill>
                  <a:srgbClr val="F7941D"/>
                </a:solidFill>
                <a:latin typeface="Segoe UI"/>
              </a:rPr>
              <a:t>Loi 1901</a:t>
            </a:r>
          </a:p>
        </p:txBody>
      </p:sp>
      <p:sp>
        <p:nvSpPr>
          <p:cNvPr id="13" name="TextBox 12"/>
          <p:cNvSpPr txBox="1"/>
          <p:nvPr/>
        </p:nvSpPr>
        <p:spPr>
          <a:xfrm>
            <a:off x="1481328" y="1691639"/>
            <a:ext cx="4023360" cy="274320"/>
          </a:xfrm>
          <a:prstGeom prst="rect">
            <a:avLst/>
          </a:prstGeom>
          <a:noFill/>
        </p:spPr>
        <p:txBody>
          <a:bodyPr wrap="square">
            <a:spAutoFit/>
          </a:bodyPr>
          <a:lstStyle/>
          <a:p>
            <a:pPr algn="l"/>
            <a:r>
              <a:rPr sz="1000" b="0" i="0">
                <a:solidFill>
                  <a:srgbClr val="FFFFFF"/>
                </a:solidFill>
                <a:latin typeface="Segoe UI"/>
              </a:rPr>
              <a:t>but non lucratif, convention, utilité sociale</a:t>
            </a:r>
          </a:p>
        </p:txBody>
      </p:sp>
      <p:sp>
        <p:nvSpPr>
          <p:cNvPr id="14" name="Rectangle 13"/>
          <p:cNvSpPr/>
          <p:nvPr/>
        </p:nvSpPr>
        <p:spPr>
          <a:xfrm>
            <a:off x="365760" y="2139694"/>
            <a:ext cx="100584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94558"/>
            <a:ext cx="1005840" cy="274320"/>
          </a:xfrm>
          <a:prstGeom prst="rect">
            <a:avLst/>
          </a:prstGeom>
          <a:noFill/>
        </p:spPr>
        <p:txBody>
          <a:bodyPr wrap="square">
            <a:spAutoFit/>
          </a:bodyPr>
          <a:lstStyle/>
          <a:p>
            <a:pPr algn="ctr"/>
            <a:r>
              <a:rPr sz="1000" b="1" i="0">
                <a:solidFill>
                  <a:srgbClr val="F7941D"/>
                </a:solidFill>
                <a:latin typeface="Segoe UI"/>
              </a:rPr>
              <a:t>3 statuts</a:t>
            </a:r>
          </a:p>
        </p:txBody>
      </p:sp>
      <p:sp>
        <p:nvSpPr>
          <p:cNvPr id="16" name="TextBox 15"/>
          <p:cNvSpPr txBox="1"/>
          <p:nvPr/>
        </p:nvSpPr>
        <p:spPr>
          <a:xfrm>
            <a:off x="1481328" y="2212846"/>
            <a:ext cx="4023360" cy="274320"/>
          </a:xfrm>
          <a:prstGeom prst="rect">
            <a:avLst/>
          </a:prstGeom>
          <a:noFill/>
        </p:spPr>
        <p:txBody>
          <a:bodyPr wrap="square">
            <a:spAutoFit/>
          </a:bodyPr>
          <a:lstStyle/>
          <a:p>
            <a:pPr algn="l"/>
            <a:r>
              <a:rPr sz="1000" b="0" i="0">
                <a:solidFill>
                  <a:srgbClr val="FFFFFF"/>
                </a:solidFill>
                <a:latin typeface="Segoe UI"/>
              </a:rPr>
              <a:t>de fait / déclarée / RUP — UNICEF = RUP</a:t>
            </a:r>
          </a:p>
        </p:txBody>
      </p:sp>
      <p:sp>
        <p:nvSpPr>
          <p:cNvPr id="17" name="Rectangle 16"/>
          <p:cNvSpPr/>
          <p:nvPr/>
        </p:nvSpPr>
        <p:spPr>
          <a:xfrm>
            <a:off x="365760" y="2660901"/>
            <a:ext cx="100584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715765"/>
            <a:ext cx="1005840" cy="274320"/>
          </a:xfrm>
          <a:prstGeom prst="rect">
            <a:avLst/>
          </a:prstGeom>
          <a:noFill/>
        </p:spPr>
        <p:txBody>
          <a:bodyPr wrap="square">
            <a:spAutoFit/>
          </a:bodyPr>
          <a:lstStyle/>
          <a:p>
            <a:pPr algn="ctr"/>
            <a:r>
              <a:rPr sz="1000" b="1" i="0">
                <a:solidFill>
                  <a:srgbClr val="F7941D"/>
                </a:solidFill>
                <a:latin typeface="Segoe UI"/>
              </a:rPr>
              <a:t>36 %</a:t>
            </a:r>
          </a:p>
        </p:txBody>
      </p:sp>
      <p:sp>
        <p:nvSpPr>
          <p:cNvPr id="19" name="TextBox 18"/>
          <p:cNvSpPr txBox="1"/>
          <p:nvPr/>
        </p:nvSpPr>
        <p:spPr>
          <a:xfrm>
            <a:off x="1481328" y="2734053"/>
            <a:ext cx="4023360" cy="274320"/>
          </a:xfrm>
          <a:prstGeom prst="rect">
            <a:avLst/>
          </a:prstGeom>
          <a:noFill/>
        </p:spPr>
        <p:txBody>
          <a:bodyPr wrap="square">
            <a:spAutoFit/>
          </a:bodyPr>
          <a:lstStyle/>
          <a:p>
            <a:pPr algn="l"/>
            <a:r>
              <a:rPr sz="1000" b="0" i="0">
                <a:solidFill>
                  <a:srgbClr val="FFFFFF"/>
                </a:solidFill>
                <a:latin typeface="Segoe UI"/>
              </a:rPr>
              <a:t>des ressources asso viennent des dons</a:t>
            </a:r>
          </a:p>
        </p:txBody>
      </p:sp>
      <p:sp>
        <p:nvSpPr>
          <p:cNvPr id="20" name="Rectangle 19"/>
          <p:cNvSpPr/>
          <p:nvPr/>
        </p:nvSpPr>
        <p:spPr>
          <a:xfrm>
            <a:off x="365760" y="3182108"/>
            <a:ext cx="100584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236972"/>
            <a:ext cx="1005840" cy="274320"/>
          </a:xfrm>
          <a:prstGeom prst="rect">
            <a:avLst/>
          </a:prstGeom>
          <a:noFill/>
        </p:spPr>
        <p:txBody>
          <a:bodyPr wrap="square">
            <a:spAutoFit/>
          </a:bodyPr>
          <a:lstStyle/>
          <a:p>
            <a:pPr algn="ctr"/>
            <a:r>
              <a:rPr sz="1000" b="1" i="0">
                <a:solidFill>
                  <a:srgbClr val="F7941D"/>
                </a:solidFill>
                <a:latin typeface="Segoe UI"/>
              </a:rPr>
              <a:t>1859</a:t>
            </a:r>
          </a:p>
        </p:txBody>
      </p:sp>
      <p:sp>
        <p:nvSpPr>
          <p:cNvPr id="22" name="TextBox 21"/>
          <p:cNvSpPr txBox="1"/>
          <p:nvPr/>
        </p:nvSpPr>
        <p:spPr>
          <a:xfrm>
            <a:off x="1481328" y="3255260"/>
            <a:ext cx="4023360" cy="274320"/>
          </a:xfrm>
          <a:prstGeom prst="rect">
            <a:avLst/>
          </a:prstGeom>
          <a:noFill/>
        </p:spPr>
        <p:txBody>
          <a:bodyPr wrap="square">
            <a:spAutoFit/>
          </a:bodyPr>
          <a:lstStyle/>
          <a:p>
            <a:pPr algn="l"/>
            <a:r>
              <a:rPr sz="1000" b="0" i="0">
                <a:solidFill>
                  <a:srgbClr val="FFFFFF"/>
                </a:solidFill>
                <a:latin typeface="Segoe UI"/>
              </a:rPr>
              <a:t>Henry Dunant, Solférino, Croix-Rouge</a:t>
            </a:r>
          </a:p>
        </p:txBody>
      </p:sp>
      <p:sp>
        <p:nvSpPr>
          <p:cNvPr id="23" name="Rectangle 22"/>
          <p:cNvSpPr/>
          <p:nvPr/>
        </p:nvSpPr>
        <p:spPr>
          <a:xfrm>
            <a:off x="6217920" y="1097280"/>
            <a:ext cx="118872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1152144"/>
            <a:ext cx="1188720" cy="274320"/>
          </a:xfrm>
          <a:prstGeom prst="rect">
            <a:avLst/>
          </a:prstGeom>
          <a:noFill/>
        </p:spPr>
        <p:txBody>
          <a:bodyPr wrap="square">
            <a:spAutoFit/>
          </a:bodyPr>
          <a:lstStyle/>
          <a:p>
            <a:pPr algn="ctr"/>
            <a:r>
              <a:rPr sz="900" b="1" i="0">
                <a:solidFill>
                  <a:srgbClr val="F7941D"/>
                </a:solidFill>
                <a:latin typeface="Segoe UI"/>
              </a:rPr>
              <a:t>4 principes</a:t>
            </a:r>
          </a:p>
        </p:txBody>
      </p:sp>
      <p:sp>
        <p:nvSpPr>
          <p:cNvPr id="25" name="TextBox 24"/>
          <p:cNvSpPr txBox="1"/>
          <p:nvPr/>
        </p:nvSpPr>
        <p:spPr>
          <a:xfrm>
            <a:off x="7516368" y="1170432"/>
            <a:ext cx="4389120" cy="274320"/>
          </a:xfrm>
          <a:prstGeom prst="rect">
            <a:avLst/>
          </a:prstGeom>
          <a:noFill/>
        </p:spPr>
        <p:txBody>
          <a:bodyPr wrap="square">
            <a:spAutoFit/>
          </a:bodyPr>
          <a:lstStyle/>
          <a:p>
            <a:pPr algn="l"/>
            <a:r>
              <a:rPr sz="1000" b="0" i="0">
                <a:solidFill>
                  <a:srgbClr val="FFFFFF"/>
                </a:solidFill>
                <a:latin typeface="Segoe UI"/>
              </a:rPr>
              <a:t>Humanité / Impartialité / Neutralité / Indépendance</a:t>
            </a:r>
          </a:p>
        </p:txBody>
      </p:sp>
      <p:sp>
        <p:nvSpPr>
          <p:cNvPr id="26" name="Rectangle 25"/>
          <p:cNvSpPr/>
          <p:nvPr/>
        </p:nvSpPr>
        <p:spPr>
          <a:xfrm>
            <a:off x="6217920" y="1618487"/>
            <a:ext cx="118872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1673351"/>
            <a:ext cx="1188720" cy="274320"/>
          </a:xfrm>
          <a:prstGeom prst="rect">
            <a:avLst/>
          </a:prstGeom>
          <a:noFill/>
        </p:spPr>
        <p:txBody>
          <a:bodyPr wrap="square">
            <a:spAutoFit/>
          </a:bodyPr>
          <a:lstStyle/>
          <a:p>
            <a:pPr algn="ctr"/>
            <a:r>
              <a:rPr sz="900" b="1" i="0">
                <a:solidFill>
                  <a:srgbClr val="F7941D"/>
                </a:solidFill>
                <a:latin typeface="Segoe UI"/>
              </a:rPr>
              <a:t>1996</a:t>
            </a:r>
          </a:p>
        </p:txBody>
      </p:sp>
      <p:sp>
        <p:nvSpPr>
          <p:cNvPr id="28" name="TextBox 27"/>
          <p:cNvSpPr txBox="1"/>
          <p:nvPr/>
        </p:nvSpPr>
        <p:spPr>
          <a:xfrm>
            <a:off x="7516368" y="1691639"/>
            <a:ext cx="4389120" cy="274320"/>
          </a:xfrm>
          <a:prstGeom prst="rect">
            <a:avLst/>
          </a:prstGeom>
          <a:noFill/>
        </p:spPr>
        <p:txBody>
          <a:bodyPr wrap="square">
            <a:spAutoFit/>
          </a:bodyPr>
          <a:lstStyle/>
          <a:p>
            <a:pPr algn="l"/>
            <a:r>
              <a:rPr sz="1000" b="0" i="0">
                <a:solidFill>
                  <a:srgbClr val="FFFFFF"/>
                </a:solidFill>
                <a:latin typeface="Segoe UI"/>
              </a:rPr>
              <a:t>Affaire ARC — transparence obligatoire</a:t>
            </a:r>
          </a:p>
        </p:txBody>
      </p:sp>
      <p:sp>
        <p:nvSpPr>
          <p:cNvPr id="29" name="Rectangle 28"/>
          <p:cNvSpPr/>
          <p:nvPr/>
        </p:nvSpPr>
        <p:spPr>
          <a:xfrm>
            <a:off x="6217920" y="2139694"/>
            <a:ext cx="118872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2194558"/>
            <a:ext cx="1188720" cy="274320"/>
          </a:xfrm>
          <a:prstGeom prst="rect">
            <a:avLst/>
          </a:prstGeom>
          <a:noFill/>
        </p:spPr>
        <p:txBody>
          <a:bodyPr wrap="square">
            <a:spAutoFit/>
          </a:bodyPr>
          <a:lstStyle/>
          <a:p>
            <a:pPr algn="ctr"/>
            <a:r>
              <a:rPr sz="900" b="1" i="0">
                <a:solidFill>
                  <a:srgbClr val="F7941D"/>
                </a:solidFill>
                <a:latin typeface="Segoe UI"/>
              </a:rPr>
              <a:t>5,5 Mds €</a:t>
            </a:r>
          </a:p>
        </p:txBody>
      </p:sp>
      <p:sp>
        <p:nvSpPr>
          <p:cNvPr id="31" name="TextBox 30"/>
          <p:cNvSpPr txBox="1"/>
          <p:nvPr/>
        </p:nvSpPr>
        <p:spPr>
          <a:xfrm>
            <a:off x="7516368" y="2212846"/>
            <a:ext cx="4389120" cy="274320"/>
          </a:xfrm>
          <a:prstGeom prst="rect">
            <a:avLst/>
          </a:prstGeom>
          <a:noFill/>
        </p:spPr>
        <p:txBody>
          <a:bodyPr wrap="square">
            <a:spAutoFit/>
          </a:bodyPr>
          <a:lstStyle/>
          <a:p>
            <a:pPr algn="l"/>
            <a:r>
              <a:rPr sz="1000" b="0" i="0">
                <a:solidFill>
                  <a:srgbClr val="FFFFFF"/>
                </a:solidFill>
                <a:latin typeface="Segoe UI"/>
              </a:rPr>
              <a:t>collectés/an — 55 % par phoning</a:t>
            </a:r>
          </a:p>
        </p:txBody>
      </p:sp>
      <p:sp>
        <p:nvSpPr>
          <p:cNvPr id="32" name="Rectangle 31"/>
          <p:cNvSpPr/>
          <p:nvPr/>
        </p:nvSpPr>
        <p:spPr>
          <a:xfrm>
            <a:off x="6217920" y="2660901"/>
            <a:ext cx="118872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2715765"/>
            <a:ext cx="1188720" cy="274320"/>
          </a:xfrm>
          <a:prstGeom prst="rect">
            <a:avLst/>
          </a:prstGeom>
          <a:noFill/>
        </p:spPr>
        <p:txBody>
          <a:bodyPr wrap="square">
            <a:spAutoFit/>
          </a:bodyPr>
          <a:lstStyle/>
          <a:p>
            <a:pPr algn="ctr"/>
            <a:r>
              <a:rPr sz="900" b="1" i="0">
                <a:solidFill>
                  <a:srgbClr val="F7941D"/>
                </a:solidFill>
                <a:latin typeface="Segoe UI"/>
              </a:rPr>
              <a:t>190 pays</a:t>
            </a:r>
          </a:p>
        </p:txBody>
      </p:sp>
      <p:sp>
        <p:nvSpPr>
          <p:cNvPr id="34" name="TextBox 33"/>
          <p:cNvSpPr txBox="1"/>
          <p:nvPr/>
        </p:nvSpPr>
        <p:spPr>
          <a:xfrm>
            <a:off x="7516368" y="2734053"/>
            <a:ext cx="4389120" cy="274320"/>
          </a:xfrm>
          <a:prstGeom prst="rect">
            <a:avLst/>
          </a:prstGeom>
          <a:noFill/>
        </p:spPr>
        <p:txBody>
          <a:bodyPr wrap="square">
            <a:spAutoFit/>
          </a:bodyPr>
          <a:lstStyle/>
          <a:p>
            <a:pPr algn="l"/>
            <a:r>
              <a:rPr sz="1000" b="0" i="0">
                <a:solidFill>
                  <a:srgbClr val="FFFFFF"/>
                </a:solidFill>
                <a:latin typeface="Segoe UI"/>
              </a:rPr>
              <a:t>UNICEF présent — 1er acteur mondial de l'enfance</a:t>
            </a:r>
          </a:p>
        </p:txBody>
      </p:sp>
      <p:sp>
        <p:nvSpPr>
          <p:cNvPr id="35" name="Rectangle 34"/>
          <p:cNvSpPr/>
          <p:nvPr/>
        </p:nvSpPr>
        <p:spPr>
          <a:xfrm>
            <a:off x="6217920" y="3182108"/>
            <a:ext cx="1188720" cy="384048"/>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3236972"/>
            <a:ext cx="1188720" cy="274320"/>
          </a:xfrm>
          <a:prstGeom prst="rect">
            <a:avLst/>
          </a:prstGeom>
          <a:noFill/>
        </p:spPr>
        <p:txBody>
          <a:bodyPr wrap="square">
            <a:spAutoFit/>
          </a:bodyPr>
          <a:lstStyle/>
          <a:p>
            <a:pPr algn="ctr"/>
            <a:r>
              <a:rPr sz="900" b="1" i="0">
                <a:solidFill>
                  <a:srgbClr val="F7941D"/>
                </a:solidFill>
                <a:latin typeface="Segoe UI"/>
              </a:rPr>
              <a:t>560 M</a:t>
            </a:r>
          </a:p>
        </p:txBody>
      </p:sp>
      <p:sp>
        <p:nvSpPr>
          <p:cNvPr id="37" name="TextBox 36"/>
          <p:cNvSpPr txBox="1"/>
          <p:nvPr/>
        </p:nvSpPr>
        <p:spPr>
          <a:xfrm>
            <a:off x="7516368" y="3255260"/>
            <a:ext cx="4389120" cy="274320"/>
          </a:xfrm>
          <a:prstGeom prst="rect">
            <a:avLst/>
          </a:prstGeom>
          <a:noFill/>
        </p:spPr>
        <p:txBody>
          <a:bodyPr wrap="square">
            <a:spAutoFit/>
          </a:bodyPr>
          <a:lstStyle/>
          <a:p>
            <a:pPr algn="l"/>
            <a:r>
              <a:rPr sz="1000" b="0" i="0">
                <a:solidFill>
                  <a:srgbClr val="FFFFFF"/>
                </a:solidFill>
                <a:latin typeface="Segoe UI"/>
              </a:rPr>
              <a:t>enfants vaccinés / an grâce aux dons réguliers</a:t>
            </a:r>
          </a:p>
        </p:txBody>
      </p:sp>
      <p:sp>
        <p:nvSpPr>
          <p:cNvPr id="38" name="Rectangle 37"/>
          <p:cNvSpPr/>
          <p:nvPr/>
        </p:nvSpPr>
        <p:spPr>
          <a:xfrm>
            <a:off x="365760" y="3886200"/>
            <a:ext cx="11430000" cy="36576"/>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4005072"/>
            <a:ext cx="11430000" cy="11430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114800"/>
            <a:ext cx="10972800" cy="292608"/>
          </a:xfrm>
          <a:prstGeom prst="rect">
            <a:avLst/>
          </a:prstGeom>
          <a:noFill/>
        </p:spPr>
        <p:txBody>
          <a:bodyPr wrap="square">
            <a:spAutoFit/>
          </a:bodyPr>
          <a:lstStyle/>
          <a:p>
            <a:pPr algn="l"/>
            <a:r>
              <a:rPr sz="1000" b="1" i="0">
                <a:solidFill>
                  <a:srgbClr val="00AEEF"/>
                </a:solidFill>
                <a:latin typeface="Segoe UI"/>
              </a:rPr>
              <a:t>MANTRA J2 MATINÉE</a:t>
            </a:r>
          </a:p>
        </p:txBody>
      </p:sp>
      <p:sp>
        <p:nvSpPr>
          <p:cNvPr id="41" name="TextBox 40"/>
          <p:cNvSpPr txBox="1"/>
          <p:nvPr/>
        </p:nvSpPr>
        <p:spPr>
          <a:xfrm>
            <a:off x="640080" y="4462272"/>
            <a:ext cx="10972800" cy="566928"/>
          </a:xfrm>
          <a:prstGeom prst="rect">
            <a:avLst/>
          </a:prstGeom>
          <a:noFill/>
        </p:spPr>
        <p:txBody>
          <a:bodyPr wrap="square">
            <a:spAutoFit/>
          </a:bodyPr>
          <a:lstStyle/>
          <a:p>
            <a:pPr algn="ctr"/>
            <a:r>
              <a:rPr sz="1600" b="1" i="1">
                <a:solidFill>
                  <a:srgbClr val="FFFFFF"/>
                </a:solidFill>
                <a:latin typeface="Segoe UI"/>
              </a:rPr>
              <a:t>« COMPRENDRE POUR CONVAINCRE — CHAQUE CITOYEN EST DIRECTEMENT OU INDIRECTEMENT CONCERNÉ »</a:t>
            </a:r>
          </a:p>
        </p:txBody>
      </p:sp>
      <p:sp>
        <p:nvSpPr>
          <p:cNvPr id="42" name="Rectangle 41"/>
          <p:cNvSpPr/>
          <p:nvPr/>
        </p:nvSpPr>
        <p:spPr>
          <a:xfrm>
            <a:off x="365760" y="5321808"/>
            <a:ext cx="11430000" cy="1097280"/>
          </a:xfrm>
          <a:prstGeom prst="rect">
            <a:avLst/>
          </a:prstGeom>
          <a:solidFill>
            <a:srgbClr val="0A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5440680"/>
            <a:ext cx="10972800" cy="256032"/>
          </a:xfrm>
          <a:prstGeom prst="rect">
            <a:avLst/>
          </a:prstGeom>
          <a:noFill/>
        </p:spPr>
        <p:txBody>
          <a:bodyPr wrap="square">
            <a:spAutoFit/>
          </a:bodyPr>
          <a:lstStyle/>
          <a:p>
            <a:pPr algn="l"/>
            <a:r>
              <a:rPr sz="1100" b="1" i="0">
                <a:solidFill>
                  <a:srgbClr val="F7941D"/>
                </a:solidFill>
                <a:latin typeface="Segoe UI"/>
              </a:rPr>
              <a:t>PROCHAINE ÉTAPE — APRÈS-MIDI J2</a:t>
            </a:r>
          </a:p>
        </p:txBody>
      </p:sp>
      <p:sp>
        <p:nvSpPr>
          <p:cNvPr id="44" name="TextBox 43"/>
          <p:cNvSpPr txBox="1"/>
          <p:nvPr/>
        </p:nvSpPr>
        <p:spPr>
          <a:xfrm>
            <a:off x="640080" y="5742432"/>
            <a:ext cx="10972800" cy="566928"/>
          </a:xfrm>
          <a:prstGeom prst="rect">
            <a:avLst/>
          </a:prstGeom>
          <a:noFill/>
        </p:spPr>
        <p:txBody>
          <a:bodyPr wrap="square">
            <a:spAutoFit/>
          </a:bodyPr>
          <a:lstStyle/>
          <a:p>
            <a:pPr algn="ctr"/>
            <a:r>
              <a:rPr sz="1100" b="0" i="0">
                <a:solidFill>
                  <a:srgbClr val="FFFFFF"/>
                </a:solidFill>
                <a:latin typeface="Segoe UI"/>
              </a:rPr>
              <a:t>Traitement des objections  •  Discours de conviction  •  Simulations téléphoniques  •  Plan d'action personnel</a:t>
            </a:r>
          </a:p>
        </p:txBody>
      </p:sp>
      <p:sp>
        <p:nvSpPr>
          <p:cNvPr id="45" name="Rectangle 44"/>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344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30352"/>
          </a:xfrm>
          <a:prstGeom prst="rect">
            <a:avLst/>
          </a:prstGeom>
          <a:noFill/>
        </p:spPr>
        <p:txBody>
          <a:bodyPr wrap="square">
            <a:spAutoFit/>
          </a:bodyPr>
          <a:lstStyle/>
          <a:p>
            <a:pPr algn="l"/>
            <a:r>
              <a:rPr sz="2200" b="1" i="0">
                <a:solidFill>
                  <a:srgbClr val="FFFFFF"/>
                </a:solidFill>
                <a:latin typeface="Segoe UI"/>
              </a:rPr>
              <a:t>→  —  QUALIFICATION &amp; NOMENCLATURE — POINTS CLÉS</a:t>
            </a:r>
          </a:p>
        </p:txBody>
      </p:sp>
      <p:sp>
        <p:nvSpPr>
          <p:cNvPr id="5" name="TextBox 4"/>
          <p:cNvSpPr txBox="1"/>
          <p:nvPr/>
        </p:nvSpPr>
        <p:spPr>
          <a:xfrm>
            <a:off x="365760" y="658368"/>
            <a:ext cx="11430000" cy="402336"/>
          </a:xfrm>
          <a:prstGeom prst="rect">
            <a:avLst/>
          </a:prstGeom>
          <a:noFill/>
        </p:spPr>
        <p:txBody>
          <a:bodyPr wrap="square">
            <a:spAutoFit/>
          </a:bodyPr>
          <a:lstStyle/>
          <a:p>
            <a:pPr algn="l"/>
            <a:r>
              <a:rPr sz="1200" b="0" i="1">
                <a:solidFill>
                  <a:srgbClr val="00AEEF"/>
                </a:solidFill>
                <a:latin typeface="Segoe UI"/>
              </a:rPr>
              <a:t>50 % de la qualité Fidelis repose sur une qualification CONFORME</a:t>
            </a:r>
          </a:p>
        </p:txBody>
      </p:sp>
      <p:sp>
        <p:nvSpPr>
          <p:cNvPr id="6" name="Rectangle 5"/>
          <p:cNvSpPr/>
          <p:nvPr/>
        </p:nvSpPr>
        <p:spPr>
          <a:xfrm>
            <a:off x="0" y="6492240"/>
            <a:ext cx="12188952" cy="3657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640312" cy="310896"/>
          </a:xfrm>
          <a:prstGeom prst="rect">
            <a:avLst/>
          </a:prstGeom>
          <a:noFill/>
        </p:spPr>
        <p:txBody>
          <a:bodyPr wrap="square">
            <a:spAutoFit/>
          </a:bodyPr>
          <a:lstStyle/>
          <a:p>
            <a:pPr algn="ctr"/>
            <a:r>
              <a:rPr sz="900" b="0" i="0">
                <a:solidFill>
                  <a:srgbClr val="AABBDD"/>
                </a:solidFill>
                <a:latin typeface="Segoe UI"/>
              </a:rPr>
              <a:t>SYNTHÈSE J2 Matinée  |  Réveil Pédagogique  |  Fidelis × SHY Performance</a:t>
            </a:r>
          </a:p>
        </p:txBody>
      </p:sp>
      <p:sp>
        <p:nvSpPr>
          <p:cNvPr id="8" name="Rectangle 7"/>
          <p:cNvSpPr/>
          <p:nvPr/>
        </p:nvSpPr>
        <p:spPr>
          <a:xfrm>
            <a:off x="320040" y="1371600"/>
            <a:ext cx="11521440" cy="804672"/>
          </a:xfrm>
          <a:prstGeom prst="rect">
            <a:avLst/>
          </a:prstGeom>
          <a:solidFill>
            <a:srgbClr val="0A1628"/>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371600"/>
            <a:ext cx="11521440" cy="45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81328"/>
            <a:ext cx="10972800" cy="219456"/>
          </a:xfrm>
          <a:prstGeom prst="rect">
            <a:avLst/>
          </a:prstGeom>
          <a:noFill/>
        </p:spPr>
        <p:txBody>
          <a:bodyPr wrap="square">
            <a:spAutoFit/>
          </a:bodyPr>
          <a:lstStyle/>
          <a:p>
            <a:pPr algn="l"/>
            <a:r>
              <a:rPr sz="1000" b="1" i="0">
                <a:solidFill>
                  <a:srgbClr val="E74C3C"/>
                </a:solidFill>
                <a:latin typeface="Segoe UI"/>
              </a:rPr>
              <a:t>IMPACT D'UNE FAUSSE QUALIFICATION</a:t>
            </a:r>
          </a:p>
        </p:txBody>
      </p:sp>
      <p:sp>
        <p:nvSpPr>
          <p:cNvPr id="11" name="TextBox 10"/>
          <p:cNvSpPr txBox="1"/>
          <p:nvPr/>
        </p:nvSpPr>
        <p:spPr>
          <a:xfrm>
            <a:off x="502920" y="1737360"/>
            <a:ext cx="10972800" cy="384048"/>
          </a:xfrm>
          <a:prstGeom prst="rect">
            <a:avLst/>
          </a:prstGeom>
          <a:noFill/>
        </p:spPr>
        <p:txBody>
          <a:bodyPr wrap="square">
            <a:spAutoFit/>
          </a:bodyPr>
          <a:lstStyle/>
          <a:p>
            <a:pPr algn="l"/>
            <a:r>
              <a:rPr sz="1000" b="0" i="0">
                <a:solidFill>
                  <a:srgbClr val="FFFFFF"/>
                </a:solidFill>
                <a:latin typeface="Segoe UI"/>
              </a:rPr>
              <a:t>Refus Argumenté / Refus de Répondre = non contacté 4 mois UNICEF.  SHY Performance &amp; Nescall : 300 000 – 400 000 fiches/mois chacun. Chaque fiche mal qualifiée = contact perdu.</a:t>
            </a:r>
          </a:p>
        </p:txBody>
      </p:sp>
      <p:sp>
        <p:nvSpPr>
          <p:cNvPr id="12" name="Rectangle 11"/>
          <p:cNvSpPr/>
          <p:nvPr/>
        </p:nvSpPr>
        <p:spPr>
          <a:xfrm>
            <a:off x="320040" y="2304288"/>
            <a:ext cx="11521440" cy="365760"/>
          </a:xfrm>
          <a:prstGeom prst="rect">
            <a:avLst/>
          </a:prstGeom>
          <a:solidFill>
            <a:srgbClr val="EAFAF1"/>
          </a:solidFill>
          <a:ln w="635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304288"/>
            <a:ext cx="54864"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368296"/>
            <a:ext cx="2011680" cy="237744"/>
          </a:xfrm>
          <a:prstGeom prst="rect">
            <a:avLst/>
          </a:prstGeom>
          <a:noFill/>
        </p:spPr>
        <p:txBody>
          <a:bodyPr wrap="square">
            <a:spAutoFit/>
          </a:bodyPr>
          <a:lstStyle/>
          <a:p>
            <a:pPr algn="l"/>
            <a:r>
              <a:rPr sz="1000" b="1" i="0">
                <a:solidFill>
                  <a:srgbClr val="003087"/>
                </a:solidFill>
                <a:latin typeface="Segoe UI"/>
              </a:rPr>
              <a:t>✅  PEL</a:t>
            </a:r>
          </a:p>
        </p:txBody>
      </p:sp>
      <p:sp>
        <p:nvSpPr>
          <p:cNvPr id="15" name="TextBox 14"/>
          <p:cNvSpPr txBox="1"/>
          <p:nvPr/>
        </p:nvSpPr>
        <p:spPr>
          <a:xfrm>
            <a:off x="2606040" y="2368296"/>
            <a:ext cx="8961120" cy="237744"/>
          </a:xfrm>
          <a:prstGeom prst="rect">
            <a:avLst/>
          </a:prstGeom>
          <a:noFill/>
        </p:spPr>
        <p:txBody>
          <a:bodyPr wrap="square">
            <a:spAutoFit/>
          </a:bodyPr>
          <a:lstStyle/>
          <a:p>
            <a:pPr algn="l"/>
            <a:r>
              <a:rPr sz="1000" b="0" i="0">
                <a:solidFill>
                  <a:srgbClr val="555555"/>
                </a:solidFill>
                <a:latin typeface="Segoe UI"/>
              </a:rPr>
              <a:t>Prélèvement En Ligne — mission accomplie</a:t>
            </a:r>
          </a:p>
        </p:txBody>
      </p:sp>
      <p:sp>
        <p:nvSpPr>
          <p:cNvPr id="16" name="Rectangle 15"/>
          <p:cNvSpPr/>
          <p:nvPr/>
        </p:nvSpPr>
        <p:spPr>
          <a:xfrm>
            <a:off x="320040" y="2679192"/>
            <a:ext cx="11521440" cy="365760"/>
          </a:xfrm>
          <a:prstGeom prst="rect">
            <a:avLst/>
          </a:prstGeom>
          <a:solidFill>
            <a:srgbClr val="EAFAF1"/>
          </a:solidFill>
          <a:ln w="635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679192"/>
            <a:ext cx="54864" cy="365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743200"/>
            <a:ext cx="2011680" cy="237744"/>
          </a:xfrm>
          <a:prstGeom prst="rect">
            <a:avLst/>
          </a:prstGeom>
          <a:noFill/>
        </p:spPr>
        <p:txBody>
          <a:bodyPr wrap="square">
            <a:spAutoFit/>
          </a:bodyPr>
          <a:lstStyle/>
          <a:p>
            <a:pPr algn="l"/>
            <a:r>
              <a:rPr sz="1000" b="1" i="0">
                <a:solidFill>
                  <a:srgbClr val="003087"/>
                </a:solidFill>
                <a:latin typeface="Segoe UI"/>
              </a:rPr>
              <a:t>✅  RIM</a:t>
            </a:r>
          </a:p>
        </p:txBody>
      </p:sp>
      <p:sp>
        <p:nvSpPr>
          <p:cNvPr id="19" name="TextBox 18"/>
          <p:cNvSpPr txBox="1"/>
          <p:nvPr/>
        </p:nvSpPr>
        <p:spPr>
          <a:xfrm>
            <a:off x="2606040" y="2743200"/>
            <a:ext cx="8961120" cy="237744"/>
          </a:xfrm>
          <a:prstGeom prst="rect">
            <a:avLst/>
          </a:prstGeom>
          <a:noFill/>
        </p:spPr>
        <p:txBody>
          <a:bodyPr wrap="square">
            <a:spAutoFit/>
          </a:bodyPr>
          <a:lstStyle/>
          <a:p>
            <a:pPr algn="l"/>
            <a:r>
              <a:rPr sz="1000" b="0" i="0">
                <a:solidFill>
                  <a:srgbClr val="555555"/>
                </a:solidFill>
                <a:latin typeface="Segoe UI"/>
              </a:rPr>
              <a:t>Rappel Imminent — intéressé, à rappeler vite</a:t>
            </a:r>
          </a:p>
        </p:txBody>
      </p:sp>
      <p:sp>
        <p:nvSpPr>
          <p:cNvPr id="20" name="Rectangle 19"/>
          <p:cNvSpPr/>
          <p:nvPr/>
        </p:nvSpPr>
        <p:spPr>
          <a:xfrm>
            <a:off x="320040" y="3054096"/>
            <a:ext cx="11521440" cy="365760"/>
          </a:xfrm>
          <a:prstGeom prst="rect">
            <a:avLst/>
          </a:prstGeom>
          <a:solidFill>
            <a:srgbClr val="F0FDFA"/>
          </a:solidFill>
          <a:ln w="635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3054096"/>
            <a:ext cx="54864"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118104"/>
            <a:ext cx="2011680" cy="237744"/>
          </a:xfrm>
          <a:prstGeom prst="rect">
            <a:avLst/>
          </a:prstGeom>
          <a:noFill/>
        </p:spPr>
        <p:txBody>
          <a:bodyPr wrap="square">
            <a:spAutoFit/>
          </a:bodyPr>
          <a:lstStyle/>
          <a:p>
            <a:pPr algn="l"/>
            <a:r>
              <a:rPr sz="1000" b="1" i="0">
                <a:solidFill>
                  <a:srgbClr val="003087"/>
                </a:solidFill>
                <a:latin typeface="Segoe UI"/>
              </a:rPr>
              <a:t>🕐  ABSENT</a:t>
            </a:r>
          </a:p>
        </p:txBody>
      </p:sp>
      <p:sp>
        <p:nvSpPr>
          <p:cNvPr id="23" name="TextBox 22"/>
          <p:cNvSpPr txBox="1"/>
          <p:nvPr/>
        </p:nvSpPr>
        <p:spPr>
          <a:xfrm>
            <a:off x="2606040" y="3118104"/>
            <a:ext cx="8961120" cy="237744"/>
          </a:xfrm>
          <a:prstGeom prst="rect">
            <a:avLst/>
          </a:prstGeom>
          <a:noFill/>
        </p:spPr>
        <p:txBody>
          <a:bodyPr wrap="square">
            <a:spAutoFit/>
          </a:bodyPr>
          <a:lstStyle/>
          <a:p>
            <a:pPr algn="l"/>
            <a:r>
              <a:rPr sz="1000" b="0" i="0">
                <a:solidFill>
                  <a:srgbClr val="555555"/>
                </a:solidFill>
                <a:latin typeface="Segoe UI"/>
              </a:rPr>
              <a:t>Répondeur / NRP / Raccroché SANS identification — PAS un refus</a:t>
            </a:r>
          </a:p>
        </p:txBody>
      </p:sp>
      <p:sp>
        <p:nvSpPr>
          <p:cNvPr id="24" name="Rectangle 23"/>
          <p:cNvSpPr/>
          <p:nvPr/>
        </p:nvSpPr>
        <p:spPr>
          <a:xfrm>
            <a:off x="320040" y="3429000"/>
            <a:ext cx="11521440" cy="365760"/>
          </a:xfrm>
          <a:prstGeom prst="rect">
            <a:avLst/>
          </a:prstGeom>
          <a:solidFill>
            <a:srgbClr val="F0FDFA"/>
          </a:solidFill>
          <a:ln w="635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3429000"/>
            <a:ext cx="54864"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493008"/>
            <a:ext cx="2011680" cy="237744"/>
          </a:xfrm>
          <a:prstGeom prst="rect">
            <a:avLst/>
          </a:prstGeom>
          <a:noFill/>
        </p:spPr>
        <p:txBody>
          <a:bodyPr wrap="square">
            <a:spAutoFit/>
          </a:bodyPr>
          <a:lstStyle/>
          <a:p>
            <a:pPr algn="l"/>
            <a:r>
              <a:rPr sz="1000" b="1" i="0">
                <a:solidFill>
                  <a:srgbClr val="003087"/>
                </a:solidFill>
                <a:latin typeface="Segoe UI"/>
              </a:rPr>
              <a:t>🕐  DEL</a:t>
            </a:r>
          </a:p>
        </p:txBody>
      </p:sp>
      <p:sp>
        <p:nvSpPr>
          <p:cNvPr id="27" name="TextBox 26"/>
          <p:cNvSpPr txBox="1"/>
          <p:nvPr/>
        </p:nvSpPr>
        <p:spPr>
          <a:xfrm>
            <a:off x="2606040" y="3493008"/>
            <a:ext cx="8961120" cy="237744"/>
          </a:xfrm>
          <a:prstGeom prst="rect">
            <a:avLst/>
          </a:prstGeom>
          <a:noFill/>
        </p:spPr>
        <p:txBody>
          <a:bodyPr wrap="square">
            <a:spAutoFit/>
          </a:bodyPr>
          <a:lstStyle/>
          <a:p>
            <a:pPr algn="l"/>
            <a:r>
              <a:rPr sz="1000" b="0" i="0">
                <a:solidFill>
                  <a:srgbClr val="555555"/>
                </a:solidFill>
                <a:latin typeface="Segoe UI"/>
              </a:rPr>
              <a:t>Don En Ligne — préfère donner via lien web</a:t>
            </a:r>
          </a:p>
        </p:txBody>
      </p:sp>
      <p:sp>
        <p:nvSpPr>
          <p:cNvPr id="28" name="Rectangle 27"/>
          <p:cNvSpPr/>
          <p:nvPr/>
        </p:nvSpPr>
        <p:spPr>
          <a:xfrm>
            <a:off x="320040" y="3803904"/>
            <a:ext cx="11521440" cy="365760"/>
          </a:xfrm>
          <a:prstGeom prst="rect">
            <a:avLst/>
          </a:prstGeom>
          <a:solidFill>
            <a:srgbClr val="FDF0EF"/>
          </a:solidFill>
          <a:ln w="635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3803904"/>
            <a:ext cx="54864" cy="3657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3867912"/>
            <a:ext cx="2011680" cy="237744"/>
          </a:xfrm>
          <a:prstGeom prst="rect">
            <a:avLst/>
          </a:prstGeom>
          <a:noFill/>
        </p:spPr>
        <p:txBody>
          <a:bodyPr wrap="square">
            <a:spAutoFit/>
          </a:bodyPr>
          <a:lstStyle/>
          <a:p>
            <a:pPr algn="l"/>
            <a:r>
              <a:rPr sz="1000" b="1" i="0">
                <a:solidFill>
                  <a:srgbClr val="003087"/>
                </a:solidFill>
                <a:latin typeface="Segoe UI"/>
              </a:rPr>
              <a:t>❌  RA</a:t>
            </a:r>
          </a:p>
        </p:txBody>
      </p:sp>
      <p:sp>
        <p:nvSpPr>
          <p:cNvPr id="31" name="TextBox 30"/>
          <p:cNvSpPr txBox="1"/>
          <p:nvPr/>
        </p:nvSpPr>
        <p:spPr>
          <a:xfrm>
            <a:off x="2606040" y="3867912"/>
            <a:ext cx="8961120" cy="237744"/>
          </a:xfrm>
          <a:prstGeom prst="rect">
            <a:avLst/>
          </a:prstGeom>
          <a:noFill/>
        </p:spPr>
        <p:txBody>
          <a:bodyPr wrap="square">
            <a:spAutoFit/>
          </a:bodyPr>
          <a:lstStyle/>
          <a:p>
            <a:pPr algn="l"/>
            <a:r>
              <a:rPr sz="1000" b="0" i="0">
                <a:solidFill>
                  <a:srgbClr val="555555"/>
                </a:solidFill>
                <a:latin typeface="Segoe UI"/>
              </a:rPr>
              <a:t>Refus Argumenté — raison valide — 4 mois sans contact UNICEF</a:t>
            </a:r>
          </a:p>
        </p:txBody>
      </p:sp>
      <p:sp>
        <p:nvSpPr>
          <p:cNvPr id="32" name="Rectangle 31"/>
          <p:cNvSpPr/>
          <p:nvPr/>
        </p:nvSpPr>
        <p:spPr>
          <a:xfrm>
            <a:off x="320040" y="4178808"/>
            <a:ext cx="11521440" cy="365760"/>
          </a:xfrm>
          <a:prstGeom prst="rect">
            <a:avLst/>
          </a:prstGeom>
          <a:solidFill>
            <a:srgbClr val="FDF0EF"/>
          </a:solidFill>
          <a:ln w="6350">
            <a:solidFill>
              <a:srgbClr val="DC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0040" y="4178808"/>
            <a:ext cx="54864" cy="3657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242816"/>
            <a:ext cx="2011680" cy="237744"/>
          </a:xfrm>
          <a:prstGeom prst="rect">
            <a:avLst/>
          </a:prstGeom>
          <a:noFill/>
        </p:spPr>
        <p:txBody>
          <a:bodyPr wrap="square">
            <a:spAutoFit/>
          </a:bodyPr>
          <a:lstStyle/>
          <a:p>
            <a:pPr algn="l"/>
            <a:r>
              <a:rPr sz="1000" b="1" i="0">
                <a:solidFill>
                  <a:srgbClr val="003087"/>
                </a:solidFill>
                <a:latin typeface="Segoe UI"/>
              </a:rPr>
              <a:t>❌  RR</a:t>
            </a:r>
          </a:p>
        </p:txBody>
      </p:sp>
      <p:sp>
        <p:nvSpPr>
          <p:cNvPr id="35" name="TextBox 34"/>
          <p:cNvSpPr txBox="1"/>
          <p:nvPr/>
        </p:nvSpPr>
        <p:spPr>
          <a:xfrm>
            <a:off x="2606040" y="4242816"/>
            <a:ext cx="8961120" cy="237744"/>
          </a:xfrm>
          <a:prstGeom prst="rect">
            <a:avLst/>
          </a:prstGeom>
          <a:noFill/>
        </p:spPr>
        <p:txBody>
          <a:bodyPr wrap="square">
            <a:spAutoFit/>
          </a:bodyPr>
          <a:lstStyle/>
          <a:p>
            <a:pPr algn="l"/>
            <a:r>
              <a:rPr sz="1000" b="0" i="0">
                <a:solidFill>
                  <a:srgbClr val="555555"/>
                </a:solidFill>
                <a:latin typeface="Segoe UI"/>
              </a:rPr>
              <a:t>Refus de Répondre — raccroché / agressif — idem 4 mois</a:t>
            </a:r>
          </a:p>
        </p:txBody>
      </p:sp>
      <p:sp>
        <p:nvSpPr>
          <p:cNvPr id="36" name="Rectangle 35"/>
          <p:cNvSpPr/>
          <p:nvPr/>
        </p:nvSpPr>
        <p:spPr>
          <a:xfrm>
            <a:off x="320040" y="4626864"/>
            <a:ext cx="115214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681728"/>
            <a:ext cx="10972800" cy="329184"/>
          </a:xfrm>
          <a:prstGeom prst="rect">
            <a:avLst/>
          </a:prstGeom>
          <a:noFill/>
        </p:spPr>
        <p:txBody>
          <a:bodyPr wrap="square">
            <a:spAutoFit/>
          </a:bodyPr>
          <a:lstStyle/>
          <a:p>
            <a:pPr algn="l"/>
            <a:r>
              <a:rPr sz="1000" b="1" i="0">
                <a:solidFill>
                  <a:srgbClr val="FFFFFF"/>
                </a:solidFill>
                <a:latin typeface="Segoe UI"/>
              </a:rPr>
              <a:t>EXEMPLE ERREUR : Répondeur → qualifié RA (FAUX) — le bon code est ABSENT. La personne n'a pas refusé, elle était absente.</a:t>
            </a:r>
          </a:p>
        </p:txBody>
      </p:sp>
      <p:sp>
        <p:nvSpPr>
          <p:cNvPr id="38" name="Rectangle 37"/>
          <p:cNvSpPr/>
          <p:nvPr/>
        </p:nvSpPr>
        <p:spPr>
          <a:xfrm>
            <a:off x="320040" y="5212080"/>
            <a:ext cx="11521440" cy="347472"/>
          </a:xfrm>
          <a:prstGeom prst="rect">
            <a:avLst/>
          </a:prstGeom>
          <a:solidFill>
            <a:srgbClr val="E8F0FB"/>
          </a:solidFill>
          <a:ln w="101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20040" y="5212080"/>
            <a:ext cx="54864"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5266944"/>
            <a:ext cx="2286000" cy="237744"/>
          </a:xfrm>
          <a:prstGeom prst="rect">
            <a:avLst/>
          </a:prstGeom>
          <a:noFill/>
        </p:spPr>
        <p:txBody>
          <a:bodyPr wrap="square">
            <a:spAutoFit/>
          </a:bodyPr>
          <a:lstStyle/>
          <a:p>
            <a:pPr algn="l"/>
            <a:r>
              <a:rPr sz="1000" b="1" i="0">
                <a:solidFill>
                  <a:srgbClr val="0D9488"/>
                </a:solidFill>
                <a:latin typeface="Segoe UI"/>
              </a:rPr>
              <a:t>ABSENT</a:t>
            </a:r>
          </a:p>
        </p:txBody>
      </p:sp>
      <p:sp>
        <p:nvSpPr>
          <p:cNvPr id="41" name="TextBox 40"/>
          <p:cNvSpPr txBox="1"/>
          <p:nvPr/>
        </p:nvSpPr>
        <p:spPr>
          <a:xfrm>
            <a:off x="2834640" y="5266944"/>
            <a:ext cx="8778240" cy="237744"/>
          </a:xfrm>
          <a:prstGeom prst="rect">
            <a:avLst/>
          </a:prstGeom>
          <a:noFill/>
        </p:spPr>
        <p:txBody>
          <a:bodyPr wrap="square">
            <a:spAutoFit/>
          </a:bodyPr>
          <a:lstStyle/>
          <a:p>
            <a:pPr algn="l"/>
            <a:r>
              <a:rPr sz="1000" b="0" i="0">
                <a:solidFill>
                  <a:srgbClr val="555555"/>
                </a:solidFill>
                <a:latin typeface="Segoe UI"/>
              </a:rPr>
              <a:t>Répondeur, NRP, raccroché sans ID — recontacter, pas un refus</a:t>
            </a:r>
          </a:p>
        </p:txBody>
      </p:sp>
      <p:sp>
        <p:nvSpPr>
          <p:cNvPr id="42" name="Rectangle 41"/>
          <p:cNvSpPr/>
          <p:nvPr/>
        </p:nvSpPr>
        <p:spPr>
          <a:xfrm>
            <a:off x="320040" y="5577840"/>
            <a:ext cx="11521440" cy="347472"/>
          </a:xfrm>
          <a:prstGeom prst="rect">
            <a:avLst/>
          </a:prstGeom>
          <a:solidFill>
            <a:srgbClr val="E8F0FB"/>
          </a:solidFill>
          <a:ln w="1016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040" y="5577840"/>
            <a:ext cx="54864" cy="3474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5632704"/>
            <a:ext cx="2286000" cy="237744"/>
          </a:xfrm>
          <a:prstGeom prst="rect">
            <a:avLst/>
          </a:prstGeom>
          <a:noFill/>
        </p:spPr>
        <p:txBody>
          <a:bodyPr wrap="square">
            <a:spAutoFit/>
          </a:bodyPr>
          <a:lstStyle/>
          <a:p>
            <a:pPr algn="l"/>
            <a:r>
              <a:rPr sz="1000" b="1" i="0">
                <a:solidFill>
                  <a:srgbClr val="E74C3C"/>
                </a:solidFill>
                <a:latin typeface="Segoe UI"/>
              </a:rPr>
              <a:t>CICR</a:t>
            </a:r>
          </a:p>
        </p:txBody>
      </p:sp>
      <p:sp>
        <p:nvSpPr>
          <p:cNvPr id="45" name="TextBox 44"/>
          <p:cNvSpPr txBox="1"/>
          <p:nvPr/>
        </p:nvSpPr>
        <p:spPr>
          <a:xfrm>
            <a:off x="2834640" y="5632704"/>
            <a:ext cx="8778240" cy="237744"/>
          </a:xfrm>
          <a:prstGeom prst="rect">
            <a:avLst/>
          </a:prstGeom>
          <a:noFill/>
        </p:spPr>
        <p:txBody>
          <a:bodyPr wrap="square">
            <a:spAutoFit/>
          </a:bodyPr>
          <a:lstStyle/>
          <a:p>
            <a:pPr algn="l"/>
            <a:r>
              <a:rPr sz="1000" b="0" i="0">
                <a:solidFill>
                  <a:srgbClr val="555555"/>
                </a:solidFill>
                <a:latin typeface="Segoe UI"/>
              </a:rPr>
              <a:t>Croix-Rouge internationale — zones de conflit, échanges d'otages, prisonniers de guerre</a:t>
            </a:r>
          </a:p>
        </p:txBody>
      </p:sp>
      <p:sp>
        <p:nvSpPr>
          <p:cNvPr id="46" name="Rectangle 45"/>
          <p:cNvSpPr/>
          <p:nvPr/>
        </p:nvSpPr>
        <p:spPr>
          <a:xfrm>
            <a:off x="320040" y="5943600"/>
            <a:ext cx="11521440" cy="347472"/>
          </a:xfrm>
          <a:prstGeom prst="rect">
            <a:avLst/>
          </a:prstGeom>
          <a:solidFill>
            <a:srgbClr val="E8F0FB"/>
          </a:solidFill>
          <a:ln w="10160">
            <a:solidFill>
              <a:srgbClr val="005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0040" y="5943600"/>
            <a:ext cx="54864" cy="347472"/>
          </a:xfrm>
          <a:prstGeom prst="rect">
            <a:avLst/>
          </a:prstGeom>
          <a:solidFill>
            <a:srgbClr val="005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5998464"/>
            <a:ext cx="2286000" cy="237744"/>
          </a:xfrm>
          <a:prstGeom prst="rect">
            <a:avLst/>
          </a:prstGeom>
          <a:noFill/>
        </p:spPr>
        <p:txBody>
          <a:bodyPr wrap="square">
            <a:spAutoFit/>
          </a:bodyPr>
          <a:lstStyle/>
          <a:p>
            <a:pPr algn="l"/>
            <a:r>
              <a:rPr sz="1000" b="1" i="0">
                <a:solidFill>
                  <a:srgbClr val="0057B8"/>
                </a:solidFill>
                <a:latin typeface="Segoe UI"/>
              </a:rPr>
              <a:t>COMITÉ DE LA CHARTE</a:t>
            </a:r>
          </a:p>
        </p:txBody>
      </p:sp>
      <p:sp>
        <p:nvSpPr>
          <p:cNvPr id="49" name="TextBox 48"/>
          <p:cNvSpPr txBox="1"/>
          <p:nvPr/>
        </p:nvSpPr>
        <p:spPr>
          <a:xfrm>
            <a:off x="2834640" y="5998464"/>
            <a:ext cx="8778240" cy="237744"/>
          </a:xfrm>
          <a:prstGeom prst="rect">
            <a:avLst/>
          </a:prstGeom>
          <a:noFill/>
        </p:spPr>
        <p:txBody>
          <a:bodyPr wrap="square">
            <a:spAutoFit/>
          </a:bodyPr>
          <a:lstStyle/>
          <a:p>
            <a:pPr algn="l"/>
            <a:r>
              <a:rPr sz="1000" b="0" i="0">
                <a:solidFill>
                  <a:srgbClr val="555555"/>
                </a:solidFill>
                <a:latin typeface="Segoe UI"/>
              </a:rPr>
              <a:t>Créé 1989, renforcé 1996 — audits, label Don en Confiance, contrôle État</a:t>
            </a:r>
          </a:p>
        </p:txBody>
      </p:sp>
      <p:sp>
        <p:nvSpPr>
          <p:cNvPr id="50" name="Rectangle 49"/>
          <p:cNvSpPr/>
          <p:nvPr/>
        </p:nvSpPr>
        <p:spPr>
          <a:xfrm>
            <a:off x="320040" y="6309360"/>
            <a:ext cx="11521440" cy="347472"/>
          </a:xfrm>
          <a:prstGeom prst="rect">
            <a:avLst/>
          </a:prstGeom>
          <a:solidFill>
            <a:srgbClr val="E8F0FB"/>
          </a:solidFill>
          <a:ln w="1016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20040" y="6309360"/>
            <a:ext cx="54864" cy="34747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6364224"/>
            <a:ext cx="2286000" cy="237744"/>
          </a:xfrm>
          <a:prstGeom prst="rect">
            <a:avLst/>
          </a:prstGeom>
          <a:noFill/>
        </p:spPr>
        <p:txBody>
          <a:bodyPr wrap="square">
            <a:spAutoFit/>
          </a:bodyPr>
          <a:lstStyle/>
          <a:p>
            <a:pPr algn="l"/>
            <a:r>
              <a:rPr sz="1000" b="1" i="0">
                <a:solidFill>
                  <a:srgbClr val="F7941D"/>
                </a:solidFill>
                <a:latin typeface="Segoe UI"/>
              </a:rPr>
              <a:t>PARTICULIER / PRO</a:t>
            </a:r>
          </a:p>
        </p:txBody>
      </p:sp>
      <p:sp>
        <p:nvSpPr>
          <p:cNvPr id="53" name="TextBox 52"/>
          <p:cNvSpPr txBox="1"/>
          <p:nvPr/>
        </p:nvSpPr>
        <p:spPr>
          <a:xfrm>
            <a:off x="2834640" y="6364224"/>
            <a:ext cx="8778240" cy="237744"/>
          </a:xfrm>
          <a:prstGeom prst="rect">
            <a:avLst/>
          </a:prstGeom>
          <a:noFill/>
        </p:spPr>
        <p:txBody>
          <a:bodyPr wrap="square">
            <a:spAutoFit/>
          </a:bodyPr>
          <a:lstStyle/>
          <a:p>
            <a:pPr algn="l"/>
            <a:r>
              <a:rPr sz="1000" b="0" i="0">
                <a:solidFill>
                  <a:srgbClr val="555555"/>
                </a:solidFill>
                <a:latin typeface="Segoe UI"/>
              </a:rPr>
              <a:t>Dons = particuliers uniquement. Pro atteint → ABSENT ou demander numéro perso</a:t>
            </a:r>
          </a:p>
        </p:txBody>
      </p:sp>
      <p:sp>
        <p:nvSpPr>
          <p:cNvPr id="54" name="Rectangle 53"/>
          <p:cNvSpPr/>
          <p:nvPr/>
        </p:nvSpPr>
        <p:spPr>
          <a:xfrm>
            <a:off x="320040" y="6675120"/>
            <a:ext cx="11521440" cy="347472"/>
          </a:xfrm>
          <a:prstGeom prst="rect">
            <a:avLst/>
          </a:prstGeom>
          <a:solidFill>
            <a:srgbClr val="E8F0FB"/>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20040" y="6675120"/>
            <a:ext cx="54864"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2920" y="6729984"/>
            <a:ext cx="2286000" cy="237744"/>
          </a:xfrm>
          <a:prstGeom prst="rect">
            <a:avLst/>
          </a:prstGeom>
          <a:noFill/>
        </p:spPr>
        <p:txBody>
          <a:bodyPr wrap="square">
            <a:spAutoFit/>
          </a:bodyPr>
          <a:lstStyle/>
          <a:p>
            <a:pPr algn="l"/>
            <a:r>
              <a:rPr sz="1000" b="1" i="0">
                <a:solidFill>
                  <a:srgbClr val="7C3AED"/>
                </a:solidFill>
                <a:latin typeface="Segoe UI"/>
              </a:rPr>
              <a:t>FIDELIS = RUP</a:t>
            </a:r>
          </a:p>
        </p:txBody>
      </p:sp>
      <p:sp>
        <p:nvSpPr>
          <p:cNvPr id="57" name="TextBox 56"/>
          <p:cNvSpPr txBox="1"/>
          <p:nvPr/>
        </p:nvSpPr>
        <p:spPr>
          <a:xfrm>
            <a:off x="2834640" y="6729984"/>
            <a:ext cx="8778240" cy="237744"/>
          </a:xfrm>
          <a:prstGeom prst="rect">
            <a:avLst/>
          </a:prstGeom>
          <a:noFill/>
        </p:spPr>
        <p:txBody>
          <a:bodyPr wrap="square">
            <a:spAutoFit/>
          </a:bodyPr>
          <a:lstStyle/>
          <a:p>
            <a:pPr algn="l"/>
            <a:r>
              <a:rPr sz="1000" b="0" i="0">
                <a:solidFill>
                  <a:srgbClr val="555555"/>
                </a:solidFill>
                <a:latin typeface="Segoe UI"/>
              </a:rPr>
              <a:t>Fidelis travaille EXCLUSIVEMENT avec associations Reconnues d'Utilité Publique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