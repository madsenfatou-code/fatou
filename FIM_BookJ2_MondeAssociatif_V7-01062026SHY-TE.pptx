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33172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313432"/>
            <a:ext cx="12188952" cy="54864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91440"/>
            <a:ext cx="4572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SHY-Performance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566928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BEEEE"/>
                </a:solidFill>
              </a:rPr>
              <a:t>Formation Initiale Module — Fundraising Téléphonique UNICEF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" y="9144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8DDDD"/>
                </a:solidFill>
              </a:rPr>
              <a:t>BOOK J2  ·  Journée 2  ·  France associative &amp; Histoire humanitaire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1234440"/>
            <a:ext cx="10515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Le Monde Associatif &amp; Humanitaire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" y="193852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CEEEE"/>
                </a:solidFill>
              </a:rPr>
              <a:t>Comprendre le secteur pour représenter la cause avec légitimité</a:t>
            </a:r>
          </a:p>
        </p:txBody>
      </p:sp>
      <p:pic>
        <p:nvPicPr>
          <p:cNvPr id="10" name="Picture 9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0"/>
            <a:ext cx="841248" cy="67665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0" y="6519672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SHY-Performance  ·  Formation FIM  ·  UNICEF France  ·  V7-01062026SHY-TE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88952" cy="54864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" y="91440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SHY-Performance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2304288" y="91440"/>
            <a:ext cx="45720" cy="548640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50592" y="73152"/>
            <a:ext cx="9509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Journée 2 — Ce que vous allez vivre aujourd'hui</a:t>
            </a:r>
          </a:p>
        </p:txBody>
      </p:sp>
      <p:pic>
        <p:nvPicPr>
          <p:cNvPr id="8" name="Picture 7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0"/>
            <a:ext cx="841248" cy="67665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0" y="6519672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SHY-Performance  ·  Formation FIM  ·  UNICEF France  ·  V7-01062026SHY-TE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822960"/>
            <a:ext cx="2910078" cy="329184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868680"/>
            <a:ext cx="274548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DÉCOUVERTE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152144"/>
            <a:ext cx="2910078" cy="4242816"/>
          </a:xfrm>
          <a:prstGeom prst="rect">
            <a:avLst/>
          </a:prstGeom>
          <a:solidFill>
            <a:srgbClr val="FFFFFF"/>
          </a:solidFill>
          <a:ln w="1524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" y="1225296"/>
            <a:ext cx="270891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Analyse de 2 campagnes :
1 réussie, 1 en difficulté.
Premières observations.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2686" y="822960"/>
            <a:ext cx="2910078" cy="32918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94126" y="868680"/>
            <a:ext cx="274548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ANALYSE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2686" y="1152144"/>
            <a:ext cx="2910078" cy="4242816"/>
          </a:xfrm>
          <a:prstGeom prst="rect">
            <a:avLst/>
          </a:prstGeom>
          <a:solidFill>
            <a:srgbClr val="FFFFFF"/>
          </a:solidFill>
          <a:ln w="1524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12414" y="1225296"/>
            <a:ext cx="270891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'Qu'est-ce qui a fait
la différence ? Pourquoi
l'une a converti ?'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31052" y="822960"/>
            <a:ext cx="2910078" cy="329184"/>
          </a:xfrm>
          <a:prstGeom prst="rect">
            <a:avLst/>
          </a:prstGeom>
          <a:solidFill>
            <a:srgbClr val="00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22492" y="868680"/>
            <a:ext cx="274548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APPORT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31052" y="1152144"/>
            <a:ext cx="2910078" cy="4242816"/>
          </a:xfrm>
          <a:prstGeom prst="rect">
            <a:avLst/>
          </a:prstGeom>
          <a:solidFill>
            <a:srgbClr val="FFFFFF"/>
          </a:solidFill>
          <a:ln w="15240">
            <a:solidFill>
              <a:srgbClr val="00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40780" y="1225296"/>
            <a:ext cx="270891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Loi 1901 · Histoire humanitaire
Don régulier · Don en Confiance
RGPD · Bloctel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59418" y="822960"/>
            <a:ext cx="2910078" cy="329184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50858" y="868680"/>
            <a:ext cx="274548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MISE EN PRATIQUE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59418" y="1152144"/>
            <a:ext cx="2910078" cy="4242816"/>
          </a:xfrm>
          <a:prstGeom prst="rect">
            <a:avLst/>
          </a:prstGeom>
          <a:solidFill>
            <a:srgbClr val="FFFFFF"/>
          </a:solidFill>
          <a:ln w="15240">
            <a:solidFill>
              <a:srgbClr val="00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69146" y="1225296"/>
            <a:ext cx="270891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'Expliquez le don régulier
à un prospect sceptique
en 90 secondes.'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5577840"/>
            <a:ext cx="11640312" cy="2743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4048" y="5623559"/>
            <a:ext cx="11430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À retenir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5870448"/>
            <a:ext cx="3843528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84048" y="5907024"/>
            <a:ext cx="37155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✔ Restitution orale étude de cas (5 min)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54423" y="5870448"/>
            <a:ext cx="3843528" cy="530352"/>
          </a:xfrm>
          <a:prstGeom prst="rect">
            <a:avLst/>
          </a:prstGeom>
          <a:solidFill>
            <a:srgbClr val="F0F7F7"/>
          </a:solidFill>
          <a:ln w="762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64152" y="5907024"/>
            <a:ext cx="37155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✔ Fiche secteur associatif complétée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034528" y="5870448"/>
            <a:ext cx="3843528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44256" y="5907024"/>
            <a:ext cx="37155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✔ Réflexion LFI : légitimité du PA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88952" cy="54864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" y="91440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SHY-Performance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2304288" y="91440"/>
            <a:ext cx="45720" cy="548640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50592" y="73152"/>
            <a:ext cx="9509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La France Associative &amp; L'Histoire de l'Humanitaire</a:t>
            </a:r>
          </a:p>
        </p:txBody>
      </p:sp>
      <p:pic>
        <p:nvPicPr>
          <p:cNvPr id="8" name="Picture 7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0"/>
            <a:ext cx="841248" cy="67665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0" y="6519672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SHY-Performance  ·  Formation FIM  ·  UNICEF France  ·  V7-01062026SHY-TE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822960"/>
            <a:ext cx="1920240" cy="100584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841248"/>
            <a:ext cx="173736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1,5M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1408176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EEEE"/>
                </a:solidFill>
              </a:rPr>
              <a:t>associations en France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49424" y="822960"/>
            <a:ext cx="1920240" cy="100584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40864" y="841248"/>
            <a:ext cx="173736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22M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40864" y="1408176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EEEE"/>
                </a:solidFill>
              </a:rPr>
              <a:t>bénévoles en France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24528" y="822960"/>
            <a:ext cx="1920240" cy="100584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15968" y="841248"/>
            <a:ext cx="173736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1er juil
1901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15968" y="1408176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EEEE"/>
                </a:solidFill>
              </a:rPr>
              <a:t>Loi droit associatif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99632" y="822960"/>
            <a:ext cx="1920240" cy="100584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91072" y="841248"/>
            <a:ext cx="173736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3 types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91072" y="1408176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EEEE"/>
                </a:solidFill>
              </a:rPr>
              <a:t>De fait / Déclarée /
Utilité publique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74736" y="822960"/>
            <a:ext cx="1920240" cy="100584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66176" y="841248"/>
            <a:ext cx="173736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Don en
Confiance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66176" y="1408176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EEEE"/>
                </a:solidFill>
              </a:rPr>
              <a:t>Label indépendant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149840" y="822960"/>
            <a:ext cx="1920240" cy="100584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241280" y="841248"/>
            <a:ext cx="173736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RGPD
Bloctel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41280" y="1408176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EEEE"/>
                </a:solidFill>
              </a:rPr>
              <a:t>Cadre légal prospects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2011680"/>
            <a:ext cx="1920240" cy="36576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203911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1859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2377440"/>
            <a:ext cx="1920240" cy="1097280"/>
          </a:xfrm>
          <a:prstGeom prst="rect">
            <a:avLst/>
          </a:prstGeom>
          <a:solidFill>
            <a:srgbClr val="F0F7F7"/>
          </a:solidFill>
          <a:ln w="1016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4048" y="2450592"/>
            <a:ext cx="1700784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Bataille de Solférino → Croix-Rouge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249424" y="2011680"/>
            <a:ext cx="1920240" cy="36576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340864" y="203911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1863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249424" y="2377440"/>
            <a:ext cx="1920240" cy="1097280"/>
          </a:xfrm>
          <a:prstGeom prst="rect">
            <a:avLst/>
          </a:prstGeom>
          <a:solidFill>
            <a:srgbClr val="F0F7F7"/>
          </a:solidFill>
          <a:ln w="1016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359152" y="2450592"/>
            <a:ext cx="1700784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Fondation Croix-Rouge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24528" y="2011680"/>
            <a:ext cx="1920240" cy="36576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15968" y="203911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1946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24528" y="2377440"/>
            <a:ext cx="1920240" cy="1097280"/>
          </a:xfrm>
          <a:prstGeom prst="rect">
            <a:avLst/>
          </a:prstGeom>
          <a:solidFill>
            <a:srgbClr val="F0F7F7"/>
          </a:solidFill>
          <a:ln w="1016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34256" y="2450592"/>
            <a:ext cx="1700784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Fondation UNICEF (ONU)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99632" y="2011680"/>
            <a:ext cx="1920240" cy="36576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91072" y="203911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1989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99632" y="2377440"/>
            <a:ext cx="1920240" cy="1097280"/>
          </a:xfrm>
          <a:prstGeom prst="rect">
            <a:avLst/>
          </a:prstGeom>
          <a:solidFill>
            <a:srgbClr val="F0F7F7"/>
          </a:solidFill>
          <a:ln w="1016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09360" y="2450592"/>
            <a:ext cx="1700784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Convention Droits de l'Enfant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174736" y="2011680"/>
            <a:ext cx="1920240" cy="36576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66176" y="203911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1989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174736" y="2377440"/>
            <a:ext cx="1920240" cy="1097280"/>
          </a:xfrm>
          <a:prstGeom prst="rect">
            <a:avLst/>
          </a:prstGeom>
          <a:solidFill>
            <a:srgbClr val="F0F7F7"/>
          </a:solidFill>
          <a:ln w="1016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284464" y="2450592"/>
            <a:ext cx="1700784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Comité Don en Confiance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0149840" y="2011680"/>
            <a:ext cx="1920240" cy="36576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241280" y="203911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2000s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149840" y="2377440"/>
            <a:ext cx="1920240" cy="1097280"/>
          </a:xfrm>
          <a:prstGeom prst="rect">
            <a:avLst/>
          </a:prstGeom>
          <a:solidFill>
            <a:srgbClr val="F0F7F7"/>
          </a:solidFill>
          <a:ln w="1016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259568" y="2450592"/>
            <a:ext cx="1700784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RGPD &amp; Bloctel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74320" y="3611880"/>
            <a:ext cx="11640312" cy="38404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11479" y="3685032"/>
            <a:ext cx="113659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3 principes humanitaires : HUMANITÉ · IMPARTIALITÉ · NEUTRALITÉ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74320" y="4114800"/>
            <a:ext cx="11640312" cy="38404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11479" y="4187952"/>
            <a:ext cx="113659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Don régulier PA : valeur à vie × 8 vs don ponctuel — colonne vertébrale des programmes UNICEF France.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114800" y="1097280"/>
            <a:ext cx="3931920" cy="3931920"/>
          </a:xfrm>
          <a:prstGeom prst="ellipse">
            <a:avLst/>
          </a:prstGeom>
          <a:solidFill>
            <a:srgbClr val="00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0" y="201168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 i="0">
                <a:solidFill>
                  <a:srgbClr val="FFFFFF"/>
                </a:solidFill>
              </a:rPr>
              <a:t>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28016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</a:rPr>
              <a:t>Merci à Tous 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60604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CCEEEE"/>
                </a:solidFill>
              </a:rPr>
              <a:t>Votre engagement fait la différence pour les enfants du monde entier.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246120"/>
            <a:ext cx="9418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8DDDD"/>
                </a:solidFill>
              </a:rPr>
              <a:t>BOOK J2  ·  Journée 2  ·  France associative &amp; Histoire humanitaire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3749039"/>
            <a:ext cx="85313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AADDDD"/>
                </a:solidFill>
              </a:rPr>
              <a:t>« Le refus d'aujourd'hui peut être le don de demain 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4572000"/>
            <a:ext cx="121889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8DDDD"/>
                </a:solidFill>
              </a:rPr>
              <a:t>SHY-Performance  ·  Formation FIM  ·  UNICEF France  ·  V7-01062026SHY-TE</a:t>
            </a:r>
          </a:p>
        </p:txBody>
      </p:sp>
      <p:pic>
        <p:nvPicPr>
          <p:cNvPr id="12" name="Picture 11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5120640"/>
            <a:ext cx="914400" cy="89611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0" y="6035040"/>
            <a:ext cx="121889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SHY-Performance  ×  FIDELIS  ×  UNICEF France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