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2275114" cy="1005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D4D"/>
                </a:solidFill>
                <a:latin typeface="Calibri"/>
              </a:rPr>
              <a:t>BOOK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560320"/>
            <a:ext cx="36576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4A017"/>
                </a:solidFill>
                <a:latin typeface="Calibri"/>
              </a:rPr>
              <a:t>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893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E5"/>
                </a:solidFill>
                <a:latin typeface="Calibri"/>
              </a:rPr>
              <a:t>FIDELIS ×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914400"/>
            <a:ext cx="685800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D4D"/>
                </a:solidFill>
                <a:latin typeface="Calibri"/>
              </a:rPr>
              <a:t>SYNOPSIS &amp;
OBJECTIFS PÉDAGOGIQUES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840480"/>
            <a:ext cx="4572000" cy="457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0233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Formation Initiale Module — Fundraiser UNICEF
SHY-Performance × FIDELIS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Formation Initiale Module</a:t>
            </a:r>
          </a:p>
        </p:txBody>
      </p:sp>
      <p:pic>
        <p:nvPicPr>
          <p:cNvPr id="17" name="Picture 1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115" y="5212080"/>
            <a:ext cx="2895600" cy="12801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Synopsis de la Formation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Formation Initiale Module (FIM) de 5 jours destinée aux fundraisers SHY-Performance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Mandatés par FIDELIS pour le compte de l'UNICEF France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Campagne : collecte de dons téléphoniques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Prélèvement Automatique Régulier (PPA)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Cause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lutte contre la malnutrition infantile aigüe sévère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Couvre l'intégralité de la chaîne de compétences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cause → script → objections → closing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Pédagogie active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apport théorique + exercice pratique toutes les 20 minutes maximum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Documents officiels de campagne intégrés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script UNICEF, nomenclature Fidelis, grilles KPI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Programme — Vue d'Ensemble 5 Jours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88696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8869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7335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67335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J1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Fondations &amp; Mission : KPIs, nomenclature, types d'opérations, script accroche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404872"/>
            <a:ext cx="11987784" cy="886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404872"/>
            <a:ext cx="64008" cy="8869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596896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5968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441448"/>
            <a:ext cx="11000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J2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Monde Associatif &amp; Humanitaire : Loi 1901, histoire, UNICEF, marché de la collecte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328416"/>
            <a:ext cx="11987784" cy="88696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328416"/>
            <a:ext cx="64008" cy="8869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64992"/>
            <a:ext cx="11000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J3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Analyse et Lecture du Script : décryptage des 7 étapes, exercices voix haute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4251960"/>
            <a:ext cx="11987784" cy="886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4251960"/>
            <a:ext cx="64008" cy="8869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44398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4439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288536"/>
            <a:ext cx="11000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J4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Traitement des Objections : 15 objections, 5 catégories, méthode AAR, jeux de rôle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5175504"/>
            <a:ext cx="11987784" cy="88696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5175504"/>
            <a:ext cx="64008" cy="8869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536752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367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212080"/>
            <a:ext cx="11000232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J5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Synthèse Générale &amp; Simulations : révision, simulations terrain, quiz 40Q, certifications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Objectifs Pédagogiques — SAVOIR &amp; SAVOIR-FAIRE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7" y="1572768"/>
            <a:ext cx="5394960" cy="46634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539496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539496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087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SAVOIR — Connaissance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48256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Présenter l'UNICEF, sa mission, 75 ans, 190 pays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43784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43784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80360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Expliquer la malnutrition &amp; les sachets RUTF (92g)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75888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675888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12464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Situer le secteur associatif (Loi 1901, Comité Charte, RGPD, Bloctel)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07992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07992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44568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Citer les arguments de légitimité UNICEF (93% terrain, Nobel 1965)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40096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340096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376672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Définir la nomenclature métier (CU/H, TX Transfo, PDC, PEL, PA)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1572768"/>
            <a:ext cx="5394960" cy="46634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1508760"/>
            <a:ext cx="539496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1508760"/>
            <a:ext cx="5394960" cy="5029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5087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SAVOIR-FAIRE — Technique d'appel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011680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048256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Appliquer les 5 règles officielles de l'accroche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843784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843784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2880360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Conduire le script complet en 7 étapes chronométrées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675888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3675888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3712464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Qualifier chaque appel conformément à la nomenclature Fidelis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507992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507992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544568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Gérer les 4 modes de validation du don (IBAN / PA ligne / promesse / courrier)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5340096"/>
            <a:ext cx="5394960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5340096"/>
            <a:ext cx="54864" cy="8046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376672"/>
            <a:ext cx="52120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Traiter les 15 objections types par la méthode AAR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Objectifs Pédagogiques — SAVOIR-ÊTRE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Maintenir un ton chaleureux, souriant et naturel tout au long de l'appel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25094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25094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8752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Gérer les objections sensibles (accent, source numéro, accusations d'arnaque) avec calme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02056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02056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5714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Transmettre une conviction sincère et personnelle pour la mission UNICEF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79018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79018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676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Rebondir après un refus sans perdre énergie ni conviction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55980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55980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59638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Respecter le prospect en toutes circonstances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jamais d'insistance agressive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532942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53294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660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Intégrer et vivre le mantra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'Le refus d'aujourd'hui peut être le don de demain'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Indicateurs de Performance — KPI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444752"/>
            <a:ext cx="1783080" cy="62179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36192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444752"/>
            <a:ext cx="4983480" cy="62179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53619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Libellé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444752"/>
            <a:ext cx="4069080" cy="62179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536192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Objectif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1783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194560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CU/H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2103120"/>
            <a:ext cx="49834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21945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Contacts Utiles par Heure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03120"/>
            <a:ext cx="4069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2194560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9 minimum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761488"/>
            <a:ext cx="1783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852928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TX Transfo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761488"/>
            <a:ext cx="49834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8529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% de PEL/PA parmi les CU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761488"/>
            <a:ext cx="4069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0" y="2852928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Cible selon association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19856"/>
            <a:ext cx="1783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11296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PDC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3419856"/>
            <a:ext cx="49834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7440" y="35112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Plan de Charge mensuel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3419856"/>
            <a:ext cx="4069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0" y="3511296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Volume défini par Fidelis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78224"/>
            <a:ext cx="1783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169664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Qualification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4078224"/>
            <a:ext cx="49834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16966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Conformité des qualifications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06640" y="4078224"/>
            <a:ext cx="4069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0" y="4169664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50% de la qualité Fidelis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736592"/>
            <a:ext cx="1783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828032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4736592"/>
            <a:ext cx="49834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482803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Prélèvement En Ligne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4736592"/>
            <a:ext cx="4069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0" y="4828032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Mode prioritaire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394960"/>
            <a:ext cx="1783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486400"/>
            <a:ext cx="1645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0" y="5394960"/>
            <a:ext cx="49834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48640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Prélèvement Automatique Régulier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5394960"/>
            <a:ext cx="4069080" cy="62179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0" y="5486400"/>
            <a:ext cx="3931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Produit unique de la campagne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Population Cible &amp; Architecture Pédagogique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Public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fundraisers juniors ou en reconversion, minimum niveau Bac, excellent niveau de langue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25094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25094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8752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Effectif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8 à 14 fundraisers par session (qualité des jeux de rôle garantie)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02056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02056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5714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Prérequis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aucune expérience en collecte de dons requise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79018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79018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676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Dimension Opérationnelle (50%)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script, grille AAR, quiz, mises en situation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55980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55980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59638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Dimension Relationnelle (35%)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jeux de rôle binômes, grille observation, débriefs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532942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53294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660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Dimension Motivationnelle (15%)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chiffres-chocs, storytelling terrain, personas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4A017"/>
                </a:solidFill>
                <a:latin typeface="Calibri"/>
              </a:rPr>
              <a:t>POUR VOTRE PARTICIPATION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743200"/>
            <a:ext cx="5760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E5E5"/>
                </a:solidFill>
                <a:latin typeface="Calibri"/>
              </a:rPr>
              <a:t>Élaboré par Tamou Eljerrari  |  Sur ordre de Mme Salima Negrao, DG</a:t>
            </a:r>
          </a:p>
        </p:txBody>
      </p:sp>
      <p:pic>
        <p:nvPicPr>
          <p:cNvPr id="10" name="Picture 9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847" y="5029200"/>
            <a:ext cx="3309257" cy="14630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