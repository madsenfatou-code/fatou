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377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7782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DDDD"/>
                </a:solidFill>
              </a:rPr>
              <a:t>BOOK QUIZ  ·  Évaluation finale des connaissances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</a:rPr>
              <a:t>Quiz d'Évaluation Finale — 40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20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Formation Initiale Module FIM  ·  SHY-Performance × FIDELIS ×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Nom de l'apprenant : 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Date : 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050"/>
                </a:solidFill>
              </a:rPr>
              <a:t>Score : ______ / 40    Seuil de validation : 28/40 (70%)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1920240" cy="4572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13632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Partie A
UNICEF &amp; Cause
Q1–Q8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4016" y="3886200"/>
            <a:ext cx="192024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7168" y="3913632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Partie B
Secteur associatif
Q9–Q15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3886200"/>
            <a:ext cx="1920240" cy="45720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3913632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Partie C
Script &amp; Accroche
Q16–Q22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3886200"/>
            <a:ext cx="1920240" cy="4572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13632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Partie D
KPI &amp; Nomenclature
Q23–Q28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886200"/>
            <a:ext cx="1920240" cy="45720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3913632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Partie E
Objections &amp; AAR
Q29–Q35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3886200"/>
            <a:ext cx="1920240" cy="45720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14432" y="3913632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Partie F
Éthique &amp; Posture
Q36–Q40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A : Connaissance de l'UNICEF &amp; de la Cause (Q1–Q8)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 quelle année l'UNICEF a-t-il été fondé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1901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1946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1959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1919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Dans combien de pays l'UNICEF est-il présent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120 pays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150 pays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190 pays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210 pays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% des enfants du monde l'UNICEF vaccine-t-il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25%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35%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45%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60%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 signifie RUTF dans le traitement de la malnutrition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Rapid Urban Treatment Fund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Ready-to-Use Therapeutic Food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Regional Unified Task Force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Routine Universal Treatment Formula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A : Connaissance de l'UNICEF &amp; de la Cause (Q1–Q8)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est le poids standard d'un sachet RUTF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45g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75g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92g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120g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est la cause humanitaire centrale de la campagne UNICEF portée par SHY-Performance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Accès à l'éducation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Lutte contre la malnutrition aigüe sévère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Eau potable en Afrique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Protection contre le travail des enfants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organisation a précédé et inspiré la création de l'UNICEF après la Seconde Guerre mondiale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La Croix-Rouge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La Société des Nations (SDN)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L'UNRRA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Le Fond des Nations Unies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Lequel NE fait PAS partie des missions principales de l'UNICEF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Vaccination et santé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Eau potable et assainissement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Financement des partis politiques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Protection de l'enfance et nutrition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B : Secteur Associatif &amp; Humanitaire (Q9–Q15)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 quelle date a été promulguée la loi fondatrice du droit associatif français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14 juillet 1789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1er juillet 1901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5 mai 1946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10 mars 1972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d'associations sont recensées en France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250 000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800 000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1,5 million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3 millions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événement de 1859 est l'acte fondateur de l'humanitaire moderne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La conférence de Berlin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Le Traité de Genève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La Bataille de Solférino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La Révolution industrielle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type d'association bénéficie du statut le plus reconnu par l'État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Association de fait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Association déclarée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Association reconnue d'utilité publique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Association internationale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B : Secteur Associatif &amp; Humanitaire (Q9–Q15)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est le rôle du Comité de la Charte du Don en Confiance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Gérer les finances publiques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Certifier la transparence et l'éthique des organisations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Former les agents de collecte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Contrôler le respect du RGPD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de bénévoles compte le secteur associatif français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5 millions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12 millions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22 millions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35 millions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Lequel NE figure PAS dans les 3 principes humanitaires fondamentaux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Humanité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Impartialité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Solidarité nationale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Neutralité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d'étapes comporte le script officiel UNICEF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4 étapes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5 étapes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7 étapes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10 étapes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C : Script officiel &amp; Règles d'Accroche (Q16–Q22)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de règles officielles régissent la phrase d'accroche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2 règles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3 règles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5 règles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7 règles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est la première étape du script après la présentation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Demande de coordonnées bancaires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Accroche sur la mission UNICEF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Présentation du montant minimum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Vérification de l'identité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de modes de validation du don sont disponibles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2 modes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3 modes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4 modes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6 modes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Lequel NE fait PAS partie des 4 modes de validation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PA à chaud IBAN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PA en ligne en direct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Virement bancaire unique différé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PA courrier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C : Script officiel &amp; Règles d'Accroche (Q16–Q22)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À quelle étape le fundraiser aborde-t-il les sachets RUTF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Étape 7 (validation coordonnées)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Étapes 2-3 (malnutrition/RUTF)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Uniquement en cas d'objection financière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Dès la première phrase d'accroche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produit unique est proposé lors de chaque appel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Don ponctuel par carte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Prélèvement automatique régulier (PA)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Abonnement mensuel par chèque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Parrainage ponctuel d'enfant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est l'objectif minimum de Contacts Utiles par Heure (CU/H)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5 CU/H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7 CU/H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9 CU/H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12 CU/H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 représente 'TX Transfo' dans la nomenclature métier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Nombre total de transferts de dossiers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Taux de transformation (% PEL/PA parmi les CU)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Temps moyen de traitement par appel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Taux de transfert vers un superviseur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D : KPIs, Nomenclature FIDELIS &amp; Production (Q23–Q28)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Quelles sont les 3 qualifications d'un Contact Utile (CU)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Positif / Neutre / Négatif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DON / INDÉCIS / REFUS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Chaud / Tiède / Froid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PA / PEL / PDC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est la durée effective de production lors d'une journée standard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5h00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6h00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6h40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8h00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 désigne 'PDC' dans la nomenclature de la campagne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Protocole de Communication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Plan de Charge mensuel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Programme de Collecte de Dons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Priorité de Campagne Définie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Différence entre 'Conquête' et 'Fidélisation / Réactivation'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La Conquête cible des anciens donateurs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La Conquête cible de nouveaux prospects, la Fidélisation cible les anciens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Les deux ciblent les mêmes fichiers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La Conquête est réservée aux appels entrants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E : Traitement des Objections &amp; Méthode AAR (Q29–Q35)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de catégories d'objections sont enseignées dans la FIM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3 catégories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5 catégories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7 catégories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10 catégories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 signifie l'acronyme AAR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Analyser / Adapter / Répondre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Accepter / Argumenter / Reformuler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Accuser réception / Argumenter / Relancer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Approcher / Assurer / Recadrer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d'objections au total couvre la FIM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8 objections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10 objections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15 objections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20 objections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catégorie regroupe 'Vous n'avez pas le droit de m'appeler'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Catégorie 2 — Financières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Catégorie 3 — Contre le PA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Catégorie 4 — Méfiance IBAN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Catégorie 5 — Conflictuelles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E : Traitement des Objections &amp; Méthode AAR (Q29–Q35)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Combien d'objections initiales (phase d'accroche) sont listées dans la Cat.1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4 objections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6 objections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8 objections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10 objections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Lors du traitement d'une objection financière, quelle preuve invoquer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Le nombre de pays où l'UNICEF est présent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L'impact chiffré du PA (traitement 1 enfant en 6 semaines)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Le nombre de bénévoles en France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La date de fondation de l'UNICEF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Qu'est-ce que Bloctel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Un logiciel de CRM pour les fundraisers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La liste d'opposition au démarchage téléphonique à consulter obligatoirement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Le nom du script officiel UNICEF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Un label de qualité pour les associations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règle éthique s'applique systématiquement lors d'un appel UNICEF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Insister si le prospect hésite après la première réponse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Proposer un don ponctuel si le PA est refusé définitivement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Respecter immédiatement tout refus définitif et clore l'appel avec courtoisie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Enregistrer l'appel sans informer le prospect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FIM — Partie F : Éthique, Posture &amp; Vocabulaire métier (Q36–Q40)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 signifie PEL dans la nomenclature FIDELIS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Plan d'Envoi de Lien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Promesse En Ligne (don validé en ligne après l'appel)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Processus d'Engagement Légal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Protocole d'Écoute Longitudinale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7782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est la posture vocale attendue tout au long de l'appel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3560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48132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Autoritaire et directive pour capter l'attention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874519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2024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Neutre et distante pour rester professionnel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1343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5915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Chaleureuse, souriante et naturelle — le sourire s'entend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52344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79806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Rapide et concise pour ne pas lasser le prospect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 mantra résume la philosophie de gestion du refus dans la FIM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'Un refus est un refus — passez au suivant'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'Le refus d'aujourd'hui peut être le don de demain'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'Insistez toujours — la persévérance paie'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'Le silence vaut mieux qu'un refus argumenté'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483864"/>
            <a:ext cx="4992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Quelle est la durée standard d'un appel de collecte complet (script + closing)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41648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087368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a) 30 secondes à 1 minute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80560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26279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b) 1 à 2 minutes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19472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6519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c) 3 à 5 minutes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58383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0410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d) 8 à 10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Corrigé — Récapitulatif des Bonnes Réponses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0467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</a:rPr>
              <a:t>Les réponses marquées ✓ dans le quiz sont les réponses correctes. Consultez votre formateur pour tout écart de compréhension.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1901952" cy="5029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389888"/>
            <a:ext cx="17556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Q1–Q8
Partie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74519"/>
            <a:ext cx="19019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38528"/>
            <a:ext cx="1719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050"/>
                </a:solidFill>
              </a:rPr>
              <a:t>b/c/c/b/c/b/c/c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1371600"/>
            <a:ext cx="1901952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0864" y="1389888"/>
            <a:ext cx="17556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Q9–Q15
Partie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7712" y="1874519"/>
            <a:ext cx="19019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9152" y="1938528"/>
            <a:ext cx="1719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050"/>
                </a:solidFill>
              </a:rPr>
              <a:t>b/c/c/c/b/c/c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1371600"/>
            <a:ext cx="1901952" cy="50292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1389888"/>
            <a:ext cx="17556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Q16–Q22
Partie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1104" y="1874519"/>
            <a:ext cx="19019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1938528"/>
            <a:ext cx="1719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050"/>
                </a:solidFill>
              </a:rPr>
              <a:t>c/c/b/c/c/b/b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1371600"/>
            <a:ext cx="1901952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389888"/>
            <a:ext cx="17556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Q23–Q28
Partie 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1874519"/>
            <a:ext cx="19019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1938528"/>
            <a:ext cx="1719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050"/>
                </a:solidFill>
              </a:rPr>
              <a:t>c/b/b/c/b/b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371600"/>
            <a:ext cx="1901952" cy="50292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389888"/>
            <a:ext cx="17556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Q29–Q35
Partie 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874519"/>
            <a:ext cx="19019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1938528"/>
            <a:ext cx="1719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050"/>
                </a:solidFill>
              </a:rPr>
              <a:t>b/c/c/d/c/b/b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371600"/>
            <a:ext cx="1901952" cy="50292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14432" y="1389888"/>
            <a:ext cx="17556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Q36–Q40
Partie 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1874519"/>
            <a:ext cx="19019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19" y="1938528"/>
            <a:ext cx="1719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050"/>
                </a:solidFill>
              </a:rPr>
              <a:t>c/b/c/b/c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37560"/>
            <a:ext cx="11640312" cy="40233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341071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Seuil de validation : 28/40 (70%)  ·  En dessous : révision ciblée + rattrapage J+15  ·  Score ≥ 35/40 : mention Excellent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58768"/>
            <a:ext cx="11640312" cy="53035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3931920"/>
            <a:ext cx="11365992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Ce quiz évalue vos connaissances théoriques. Votre grille pratique (24 critères)
est évaluée séparément lors des simulations d'appels en Journée 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Quiz d'Évaluation Finale — Formation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DDDD"/>
                </a:solidFill>
              </a:rPr>
              <a:t>SHY-Performance  ·  Formation FIM  ·  UNICEF France  ·  V6-01062026SHY-TE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