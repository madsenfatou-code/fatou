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0F7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457200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" y="1097280"/>
            <a:ext cx="27432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 i="0">
                <a:solidFill>
                  <a:srgbClr val="D4A017"/>
                </a:solidFill>
                <a:latin typeface="Calibri"/>
              </a:rPr>
              <a:t>KIT FIM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9144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D4A017"/>
                </a:solidFill>
                <a:latin typeface="Calibri"/>
              </a:rPr>
              <a:t>SHY-Performance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1828800"/>
            <a:ext cx="10515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 i="0">
                <a:solidFill>
                  <a:srgbClr val="008080"/>
                </a:solidFill>
                <a:latin typeface="Calibri"/>
              </a:rPr>
              <a:t>FILE CONDUCTEUR</a:t>
            </a:r>
          </a:p>
        </p:txBody>
      </p:sp>
      <p:sp>
        <p:nvSpPr>
          <p:cNvPr id="10" name="Rectangle 9"/>
          <p:cNvSpPr/>
          <p:nvPr/>
        </p:nvSpPr>
        <p:spPr>
          <a:xfrm>
            <a:off x="2286000" y="4251960"/>
            <a:ext cx="7589520" cy="54864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4389120"/>
            <a:ext cx="1088136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1A1A1A"/>
                </a:solidFill>
                <a:latin typeface="Calibri"/>
              </a:rPr>
              <a:t>Guide d'utilisation du kit de formation FIM
Formation Initiale Module — Fundraiser UNICEF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FIDELIS  ×  UNICEF France  |  Formation Initiale Module  |  © SHY-Performance 2025</a:t>
            </a:r>
          </a:p>
        </p:txBody>
      </p:sp>
      <p:pic>
        <p:nvPicPr>
          <p:cNvPr id="13" name="Picture 12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Présentation du Kit de Formation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7 documents composent ce kit de formation complet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0 — File Conducteur (ce document) : guide d'utilisation globale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1 — Synopsis &amp; Objectifs Pédagogiques : cadre et vision de la formation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J1 — Fondations &amp; Mission : KPIs, nomenclature, script accroche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J2 — Monde Associatif &amp; Humanitaire : contexte, loi 1901, 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J3 — Analyse et Lecture du Script : décryptage phrase par phrase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J4 — Traitement des Objections : 15 objections, méthode AAR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Book J5 — Synthèse Générale &amp; Simulations : évaluation finale, quiz 40Q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Qui forme ? Qui est formé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Donneur d'ordre : FIDELIS — mandataire officiel de la campagne UNICEF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Opérateur terrain : SHY-Performance — centre de collecte téléphonique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Public cible : fundraisers SHY-Performance, nouveaux entrants en collecte de dons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Prérequis : aucune expérience préalable en collecte de dons requise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Effectif recommandé : 8 à 14 fundraisers par session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Durée totale : 5 jours consécutifs | 9h30–17h30 | 6h40 de production effective/jour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Comment utiliser ce kit 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Chaque book jour est autonome — il peut être utilisé seul pour un rappel ciblé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 Book 1 Synopsis sert de document de référence permanent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Les slides de quiz (Book J5) sont prêtes à l'emploi pour tout nouvel apprenant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Les jeux de rôle sont signalés par le picto 🎭 — prévoir binômes à l'avance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Les slides 'MANTRA' sont à laisser affichées pendant les exercices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La grille d'observation formateur est à imprimer avant chaque journée J3–J5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Code Couleur &amp; Légende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🟦 Bandeau TEAL #008080 — slide de contenu standard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🟥 Encart ROUGE — point d'attention critique, règle obligatoire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⬜ Fond blanc / teal clair — exercice pratique ou définition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★ Slide MANTRA — citation à mémoriser, laisser affichée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🎭 Jeu de rôle — exercice en binôme ou groupe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📊 Grille d'évaluation — outil formateur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❓ Quiz — évaluation des connaissances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3716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91440"/>
            <a:ext cx="1005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Calibri"/>
              </a:rPr>
              <a:t>05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182880"/>
            <a:ext cx="868680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 i="0">
                <a:solidFill>
                  <a:srgbClr val="FFFFFF"/>
                </a:solidFill>
                <a:latin typeface="Calibri"/>
              </a:rPr>
              <a:t>Planning Recommandé sur 5 Jours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1463040"/>
            <a:ext cx="11091672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JOUR 1 — Fondations &amp; Mission | 9h30–17h30 | 6h40 production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JOUR 2 — Monde Associatif &amp; Humanitaire | 9h30–17h30 | 6h40 production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JOUR 3 — Analyse et Lecture du Script | 9h30–17h30 | Exercices intensifs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JOUR 4 — Traitement des Objections | 9h30–17h30 | Jeux de rôle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JOUR 5 — Synthèse Générale &amp; Simulations | 9h30–17h30 | Quiz + Certifications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Pause déjeuner recommandée : 13h00–14h00</a:t>
            </a:r>
          </a:p>
          <a:p>
            <a:pPr algn="l">
              <a:spcBef>
                <a:spcPts val="500"/>
              </a:spcBef>
            </a:pPr>
            <a:r>
              <a:rPr sz="1700">
                <a:solidFill>
                  <a:srgbClr val="1A1A1A"/>
                </a:solidFill>
                <a:latin typeface="Calibri"/>
              </a:rPr>
              <a:t>▸ Pause matin : 11h00 | Pause après-midi : 15h30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6199632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FFFFFF"/>
                </a:solidFill>
                <a:latin typeface="Calibri"/>
              </a:rPr>
              <a:t>SHY-Performance  ×  FIDELIS  ×  UNICEF France</a:t>
            </a:r>
          </a:p>
        </p:txBody>
      </p:sp>
      <p:pic>
        <p:nvPicPr>
          <p:cNvPr id="8" name="Picture 7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9" name="Rectangle 8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80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365760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172200"/>
            <a:ext cx="12188952" cy="68580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463040"/>
            <a:ext cx="1124712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200" b="1" i="0">
                <a:solidFill>
                  <a:srgbClr val="FFFFFF"/>
                </a:solidFill>
                <a:latin typeface="Calibri"/>
              </a:rPr>
              <a:t>MERCI POUR VOTRE PARTICIPATION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2286000" y="3017520"/>
            <a:ext cx="7589520" cy="64008"/>
          </a:xfrm>
          <a:prstGeom prst="rect">
            <a:avLst/>
          </a:prstGeom>
          <a:solidFill>
            <a:srgbClr val="D4A0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3200400"/>
            <a:ext cx="112471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CCE5E5"/>
                </a:solidFill>
                <a:latin typeface="Calibri"/>
              </a:rPr>
              <a:t>SHY-Performance  ×  FIDELIS  ×  UNICEF France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6217920"/>
            <a:ext cx="11612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CCE5E5"/>
                </a:solidFill>
                <a:latin typeface="Calibri"/>
              </a:rPr>
              <a:t>Élaboré par Tamou Eljerrari | Sur ordre de Mme Salima Negrao, DG SHY-Performance</a:t>
            </a:r>
          </a:p>
        </p:txBody>
      </p:sp>
      <p:pic>
        <p:nvPicPr>
          <p:cNvPr id="9" name="Picture 8" descr="shy_logo_v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332720" y="45720"/>
            <a:ext cx="843241" cy="82296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0" y="6172200"/>
            <a:ext cx="12188952" cy="365760"/>
          </a:xfrm>
          <a:prstGeom prst="rect">
            <a:avLst/>
          </a:prstGeom>
          <a:solidFill>
            <a:srgbClr val="004D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172200"/>
            <a:ext cx="12188952" cy="27432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74320" y="6199632"/>
            <a:ext cx="11640312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00" b="0" i="1">
                <a:solidFill>
                  <a:srgbClr val="FFFFFF"/>
                </a:solidFill>
                <a:latin typeface="Calibri"/>
              </a:rPr>
              <a:t>Toute modification, rectification ou ajout est strictement interdit(e). Élaboré par Tamou Eljerrari — Ingénieure en Formation — sur ordre de la Directrice Générale, Mme Salima Negrao. Seules la DG SHY-Performance ou une personne mandatée sont autorisées.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