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754880" cy="4572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8640"/>
            <a:ext cx="2275114" cy="1005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1920240"/>
            <a:ext cx="3840480" cy="5029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4D4D"/>
                </a:solidFill>
                <a:latin typeface="Calibri"/>
              </a:rPr>
              <a:t>KIT FIM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2560320"/>
            <a:ext cx="36576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566928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D4A017"/>
                </a:solidFill>
                <a:latin typeface="Calibri"/>
              </a:rPr>
              <a:t>SHY-Performance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9893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E5E5"/>
                </a:solidFill>
                <a:latin typeface="Calibri"/>
              </a:rPr>
              <a:t>FIDELIS × UNICEF France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914400"/>
            <a:ext cx="6858000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1097280"/>
            <a:ext cx="6858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04D4D"/>
                </a:solidFill>
                <a:latin typeface="Calibri"/>
              </a:rPr>
              <a:t>FILE CONDUCTEUR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840480"/>
            <a:ext cx="4572000" cy="457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402336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1A1A"/>
                </a:solidFill>
                <a:latin typeface="Calibri"/>
              </a:rPr>
              <a:t>Guide d'utilisation du kit de formation FIM
Formation Initiale Module — Fundraiser UNICEF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5074920"/>
            <a:ext cx="3657600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507492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Formation Initiale Module</a:t>
            </a:r>
          </a:p>
        </p:txBody>
      </p:sp>
      <p:pic>
        <p:nvPicPr>
          <p:cNvPr id="17" name="Picture 16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115" y="5212080"/>
            <a:ext cx="2895600" cy="12801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Présentation du Kit de Formation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540639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54063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17904"/>
            <a:ext cx="467487" cy="46748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17904"/>
            <a:ext cx="467487" cy="467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467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7 documents composent ce kit de formation complet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058543"/>
            <a:ext cx="11987784" cy="5406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058543"/>
            <a:ext cx="64008" cy="54063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095119"/>
            <a:ext cx="467487" cy="46748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095119"/>
            <a:ext cx="467487" cy="467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095119"/>
            <a:ext cx="11000232" cy="467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D4D"/>
                </a:solidFill>
                <a:latin typeface="Calibri"/>
              </a:rPr>
              <a:t>Book 0  </a:t>
            </a:r>
            <a:r>
              <a:rPr sz="1300" b="0">
                <a:solidFill>
                  <a:srgbClr val="1A1A1A"/>
                </a:solidFill>
                <a:latin typeface="Calibri"/>
              </a:rPr>
              <a:t>—  File Conducteur (ce document) : guide d'utilisation globale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2635758"/>
            <a:ext cx="11987784" cy="540639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2635758"/>
            <a:ext cx="64008" cy="54063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672334"/>
            <a:ext cx="467487" cy="46748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672334"/>
            <a:ext cx="467487" cy="467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672334"/>
            <a:ext cx="11000232" cy="467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D4D"/>
                </a:solidFill>
                <a:latin typeface="Calibri"/>
              </a:rPr>
              <a:t>Book 1  </a:t>
            </a:r>
            <a:r>
              <a:rPr sz="1300" b="0">
                <a:solidFill>
                  <a:srgbClr val="1A1A1A"/>
                </a:solidFill>
                <a:latin typeface="Calibri"/>
              </a:rPr>
              <a:t>—  Synopsis &amp; Objectifs Pédagogiques : cadre et vision de la formation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212973"/>
            <a:ext cx="11987784" cy="5406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212973"/>
            <a:ext cx="64008" cy="54063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249549"/>
            <a:ext cx="467487" cy="46748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249549"/>
            <a:ext cx="467487" cy="467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249549"/>
            <a:ext cx="11000232" cy="467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D4D"/>
                </a:solidFill>
                <a:latin typeface="Calibri"/>
              </a:rPr>
              <a:t>Book J1  </a:t>
            </a:r>
            <a:r>
              <a:rPr sz="1300" b="0">
                <a:solidFill>
                  <a:srgbClr val="1A1A1A"/>
                </a:solidFill>
                <a:latin typeface="Calibri"/>
              </a:rPr>
              <a:t>—  Fondations &amp; Mission : KPIs, nomenclature, script accroche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3790188"/>
            <a:ext cx="11987784" cy="540639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3790188"/>
            <a:ext cx="64008" cy="54063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3826764"/>
            <a:ext cx="467487" cy="46748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3826764"/>
            <a:ext cx="467487" cy="467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3826764"/>
            <a:ext cx="11000232" cy="467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D4D"/>
                </a:solidFill>
                <a:latin typeface="Calibri"/>
              </a:rPr>
              <a:t>Book J2  </a:t>
            </a:r>
            <a:r>
              <a:rPr sz="1300" b="0">
                <a:solidFill>
                  <a:srgbClr val="1A1A1A"/>
                </a:solidFill>
                <a:latin typeface="Calibri"/>
              </a:rPr>
              <a:t>—  Monde Associatif &amp; Humanitaire : contexte, loi 1901, UNICEF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4367403"/>
            <a:ext cx="11987784" cy="5406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4367403"/>
            <a:ext cx="64008" cy="54063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403979"/>
            <a:ext cx="467487" cy="46748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403979"/>
            <a:ext cx="467487" cy="467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403979"/>
            <a:ext cx="11000232" cy="467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D4D"/>
                </a:solidFill>
                <a:latin typeface="Calibri"/>
              </a:rPr>
              <a:t>Book J3  </a:t>
            </a:r>
            <a:r>
              <a:rPr sz="1300" b="0">
                <a:solidFill>
                  <a:srgbClr val="1A1A1A"/>
                </a:solidFill>
                <a:latin typeface="Calibri"/>
              </a:rPr>
              <a:t>—  Analyse et Lecture du Script : décryptage phrase par phrase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" y="4944618"/>
            <a:ext cx="11987784" cy="540639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1168" y="4944618"/>
            <a:ext cx="64008" cy="54063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0040" y="4981194"/>
            <a:ext cx="467487" cy="46748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4981194"/>
            <a:ext cx="467487" cy="467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981194"/>
            <a:ext cx="11000232" cy="467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D4D"/>
                </a:solidFill>
                <a:latin typeface="Calibri"/>
              </a:rPr>
              <a:t>Book J4  </a:t>
            </a:r>
            <a:r>
              <a:rPr sz="1300" b="0">
                <a:solidFill>
                  <a:srgbClr val="1A1A1A"/>
                </a:solidFill>
                <a:latin typeface="Calibri"/>
              </a:rPr>
              <a:t>—  Traitement des Objections : 15 objections, méthode AAR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1168" y="5521833"/>
            <a:ext cx="11987784" cy="5406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01168" y="5521833"/>
            <a:ext cx="64008" cy="540639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0040" y="5558409"/>
            <a:ext cx="467487" cy="467487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5558409"/>
            <a:ext cx="467487" cy="467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5558409"/>
            <a:ext cx="11000232" cy="467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4D4D"/>
                </a:solidFill>
                <a:latin typeface="Calibri"/>
              </a:rPr>
              <a:t>Book J5  </a:t>
            </a:r>
            <a:r>
              <a:rPr sz="1300" b="0">
                <a:solidFill>
                  <a:srgbClr val="1A1A1A"/>
                </a:solidFill>
                <a:latin typeface="Calibri"/>
              </a:rPr>
              <a:t>—  Synthèse Générale &amp; Simulations : évaluation finale, quiz 40Q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Qui forme ? Qui est formé ?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1572768"/>
            <a:ext cx="3514344" cy="374904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508760"/>
            <a:ext cx="3514344" cy="3749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508760"/>
            <a:ext cx="3514344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545336"/>
            <a:ext cx="351434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039112"/>
            <a:ext cx="351434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4D4D"/>
                </a:solidFill>
                <a:latin typeface="Calibri"/>
              </a:rPr>
              <a:t>DONNEUR D'ORDRE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651760"/>
            <a:ext cx="2965704" cy="2743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697480"/>
            <a:ext cx="3331464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FIDELIS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Mandataire officiel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Campagne UNICEF France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Pilotage &amp; conformité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9872" y="1572768"/>
            <a:ext cx="3514344" cy="374904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45864" y="1508760"/>
            <a:ext cx="3514344" cy="3749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45864" y="1508760"/>
            <a:ext cx="3514344" cy="5029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45864" y="1545336"/>
            <a:ext cx="351434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45864" y="2039112"/>
            <a:ext cx="351434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8080"/>
                </a:solidFill>
                <a:latin typeface="Calibri"/>
              </a:rPr>
              <a:t>OPÉRATEUR TERRAIN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20184" y="2651760"/>
            <a:ext cx="2965704" cy="2743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37304" y="2697480"/>
            <a:ext cx="3331464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SHY-Performance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Centre de collecte téléphonique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Formation &amp; encadrement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Supervision qualité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7096" y="1572768"/>
            <a:ext cx="3514344" cy="374904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43088" y="1508760"/>
            <a:ext cx="3514344" cy="3749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43088" y="1508760"/>
            <a:ext cx="3514344" cy="502920"/>
          </a:xfrm>
          <a:prstGeom prst="rect">
            <a:avLst/>
          </a:prstGeom>
          <a:solidFill>
            <a:srgbClr val="007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43088" y="1545336"/>
            <a:ext cx="351434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43088" y="2039112"/>
            <a:ext cx="351434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7070"/>
                </a:solidFill>
                <a:latin typeface="Calibri"/>
              </a:rPr>
              <a:t>PUBLIC CIBLE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17408" y="2651760"/>
            <a:ext cx="2965704" cy="2743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34528" y="2697480"/>
            <a:ext cx="3331464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Fundraisers juniors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Nouveaux entrants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Minimum niveau Bac, excellent niveau de langue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Aucun prérequis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303520"/>
            <a:ext cx="11274552" cy="82296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303520"/>
            <a:ext cx="11274552" cy="3657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340096"/>
            <a:ext cx="281863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8080"/>
                </a:solidFill>
                <a:latin typeface="Calibri"/>
              </a:rPr>
              <a:t>📅 5 JOURS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742432"/>
            <a:ext cx="28186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4D4D"/>
                </a:solidFill>
                <a:latin typeface="Calibri"/>
              </a:rPr>
              <a:t>Formation intensive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75838" y="5394960"/>
            <a:ext cx="27432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75838" y="5340096"/>
            <a:ext cx="281863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8080"/>
                </a:solidFill>
                <a:latin typeface="Calibri"/>
              </a:rPr>
              <a:t>👤 8 – 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75838" y="5742432"/>
            <a:ext cx="28186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4D4D"/>
                </a:solidFill>
                <a:latin typeface="Calibri"/>
              </a:rPr>
              <a:t>Fundraisers par session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4476" y="5394960"/>
            <a:ext cx="27432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4476" y="5340096"/>
            <a:ext cx="281863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8080"/>
                </a:solidFill>
                <a:latin typeface="Calibri"/>
              </a:rPr>
              <a:t>⏱ 6h40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4476" y="5742432"/>
            <a:ext cx="28186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4D4D"/>
                </a:solidFill>
                <a:latin typeface="Calibri"/>
              </a:rPr>
              <a:t>Production effective/jour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13114" y="5394960"/>
            <a:ext cx="27432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3114" y="5340096"/>
            <a:ext cx="281863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8080"/>
                </a:solidFill>
                <a:latin typeface="Calibri"/>
              </a:rPr>
              <a:t>🎓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3114" y="5742432"/>
            <a:ext cx="28186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4D4D"/>
                </a:solidFill>
                <a:latin typeface="Calibri"/>
              </a:rPr>
              <a:t>Prérequis requis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Comment utiliser ce kit ?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73304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9639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9639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Chaque book jour est autonome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il peut être utilisé seul pour un rappel ciblé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250948"/>
            <a:ext cx="11987784" cy="7330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25094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36601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36601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28752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Le Book 1 Synopsis sert de document de référence permanent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3020568"/>
            <a:ext cx="11987784" cy="73304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302056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13563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13563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05714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Les slides de quiz (Book J5) sont prêtes à l'emploi pour tout nouvel apprenant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790188"/>
            <a:ext cx="11987784" cy="7330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79018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90525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90525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82676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Les jeux de rôle sont signalés par le picto 🎭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prévoir binômes à l'avance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4559808"/>
            <a:ext cx="11987784" cy="733044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455980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67487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67487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59638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Les slides 'MANTRA' sont à laisser affichées pendant les exercices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5329428"/>
            <a:ext cx="11987784" cy="7330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5329428"/>
            <a:ext cx="64008" cy="73304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544449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544449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66004"/>
            <a:ext cx="11000232" cy="65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La grille d'observation formateur est à imprimer avant chaque journée J3–J5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Code Couleur &amp; Légende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1168" y="1481328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" y="1481328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541417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54141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17904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🟦 Bandeau TEAL #008080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slide de contenu standard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2141002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2141002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201091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20109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177578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🟥 Encart ROUGE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point d'attention critique, règle obligatoire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" y="2800676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168" y="2800676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860765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860765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837252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⬜ Fond blanc / teal clair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exercice pratique ou définition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3460350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3460350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520440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5204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496926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★ Slide MANTRA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citation à mémoriser, laisser affichée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" y="4120025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" y="4120025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180114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18011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56601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🎭 Jeu de rôle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exercice en binôme ou groupe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" y="4779699"/>
            <a:ext cx="11987784" cy="6230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4779699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4839788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8397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816275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📊 Grille d'évaluation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outil formateur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" y="5439373"/>
            <a:ext cx="11987784" cy="623098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1168" y="5439373"/>
            <a:ext cx="64008" cy="62309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0040" y="5499462"/>
            <a:ext cx="502920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549946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475949"/>
            <a:ext cx="11000232" cy="549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4D4D"/>
                </a:solidFill>
                <a:latin typeface="Calibri"/>
              </a:rPr>
              <a:t>❓ Quiz  </a:t>
            </a:r>
            <a:r>
              <a:rPr sz="1500" b="0">
                <a:solidFill>
                  <a:srgbClr val="1A1A1A"/>
                </a:solidFill>
                <a:latin typeface="Calibri"/>
              </a:rPr>
              <a:t>—  évaluation des connaissances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Planning Recommandé — 5 Jours de Formation</a:t>
            </a:r>
          </a:p>
        </p:txBody>
      </p:sp>
      <p:pic>
        <p:nvPicPr>
          <p:cNvPr id="8" name="Picture 7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91440"/>
            <a:ext cx="1447800" cy="640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1572768"/>
            <a:ext cx="2035454" cy="374904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508760"/>
            <a:ext cx="2035454" cy="3749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508760"/>
            <a:ext cx="2035454" cy="50292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545336"/>
            <a:ext cx="203545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J1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039112"/>
            <a:ext cx="203545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4D4D"/>
                </a:solidFill>
                <a:latin typeface="Calibri"/>
              </a:rPr>
              <a:t>FONDATIONS
&amp; MISSION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651760"/>
            <a:ext cx="1486814" cy="2743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697480"/>
            <a:ext cx="1852574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KPIs &amp; Nomenclature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Script accroche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Types d'opérations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9h30 → 17h30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0982" y="1572768"/>
            <a:ext cx="2035454" cy="374904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66974" y="1508760"/>
            <a:ext cx="2035454" cy="3749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66974" y="1508760"/>
            <a:ext cx="2035454" cy="5029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6974" y="1545336"/>
            <a:ext cx="203545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J2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66974" y="2039112"/>
            <a:ext cx="203545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8080"/>
                </a:solidFill>
                <a:latin typeface="Calibri"/>
              </a:rPr>
              <a:t>MONDE
ASSOCIATIF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41294" y="2651760"/>
            <a:ext cx="1486814" cy="2743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58414" y="2697480"/>
            <a:ext cx="1852574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Loi 1901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Histoire humanitaire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UNICEF &amp; Charte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9h30 → 17h30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9316" y="1572768"/>
            <a:ext cx="2035454" cy="374904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85308" y="1508760"/>
            <a:ext cx="2035454" cy="3749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85308" y="1508760"/>
            <a:ext cx="2035454" cy="502920"/>
          </a:xfrm>
          <a:prstGeom prst="rect">
            <a:avLst/>
          </a:prstGeom>
          <a:solidFill>
            <a:srgbClr val="007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85308" y="1545336"/>
            <a:ext cx="203545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5308" y="2039112"/>
            <a:ext cx="203545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7070"/>
                </a:solidFill>
                <a:latin typeface="Calibri"/>
              </a:rPr>
              <a:t>LECTURE
DU SCRIPT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59628" y="2651760"/>
            <a:ext cx="1486814" cy="2743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6748" y="2697480"/>
            <a:ext cx="1852574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7 étapes décryptées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Exercices intensifs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Jeux de rôle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9h30 → 17h30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67650" y="1572768"/>
            <a:ext cx="2035454" cy="374904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03642" y="1508760"/>
            <a:ext cx="2035454" cy="3749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03642" y="1508760"/>
            <a:ext cx="2035454" cy="502920"/>
          </a:xfrm>
          <a:prstGeom prst="rect">
            <a:avLst/>
          </a:prstGeom>
          <a:solidFill>
            <a:srgbClr val="006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03642" y="1545336"/>
            <a:ext cx="203545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03642" y="2039112"/>
            <a:ext cx="203545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6565"/>
                </a:solidFill>
                <a:latin typeface="Calibri"/>
              </a:rPr>
              <a:t>TRAITEMENT
OBJECTIONS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7962" y="2651760"/>
            <a:ext cx="1486814" cy="2743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95082" y="2697480"/>
            <a:ext cx="1852574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15 objections / 5 cat.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Méthode AAR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Simulations terrain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9h30 → 17h30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85984" y="1572768"/>
            <a:ext cx="2035454" cy="374904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421976" y="1508760"/>
            <a:ext cx="2035454" cy="3749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21976" y="1508760"/>
            <a:ext cx="2035454" cy="5029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21976" y="1545336"/>
            <a:ext cx="203545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J5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21976" y="2039112"/>
            <a:ext cx="203545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5555"/>
                </a:solidFill>
                <a:latin typeface="Calibri"/>
              </a:rPr>
              <a:t>SYNTHÈSE &amp;
SIMULATIONS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96296" y="2651760"/>
            <a:ext cx="1486814" cy="27432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13416" y="2697480"/>
            <a:ext cx="1852574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Quiz 40 questions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Certifications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Félicitations</a:t>
            </a:r>
          </a:p>
          <a:p>
            <a:pPr algn="ctr">
              <a:spcBef>
                <a:spcPts val="400"/>
              </a:spcBef>
            </a:pPr>
            <a:r>
              <a:rPr sz="1300">
                <a:solidFill>
                  <a:srgbClr val="1A1A1A"/>
                </a:solidFill>
                <a:latin typeface="Calibri"/>
              </a:rPr>
              <a:t>→ 9h30 → 17h30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303520"/>
            <a:ext cx="11274552" cy="82296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5303520"/>
            <a:ext cx="11274552" cy="3657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340096"/>
            <a:ext cx="281863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8080"/>
                </a:solidFill>
                <a:latin typeface="Calibri"/>
              </a:rPr>
              <a:t>🌅 9h30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742432"/>
            <a:ext cx="28186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4D4D"/>
                </a:solidFill>
                <a:latin typeface="Calibri"/>
              </a:rPr>
              <a:t>Prise de poste + briefing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75838" y="5394960"/>
            <a:ext cx="27432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75838" y="5340096"/>
            <a:ext cx="281863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8080"/>
                </a:solidFill>
                <a:latin typeface="Calibri"/>
              </a:rPr>
              <a:t>☕ 11h00 / 15h30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75838" y="5742432"/>
            <a:ext cx="28186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4D4D"/>
                </a:solidFill>
                <a:latin typeface="Calibri"/>
              </a:rPr>
              <a:t>Pauses matin &amp; après-midi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4476" y="5394960"/>
            <a:ext cx="27432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94476" y="5340096"/>
            <a:ext cx="281863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8080"/>
                </a:solidFill>
                <a:latin typeface="Calibri"/>
              </a:rPr>
              <a:t>🍽 13h00–14h00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94476" y="5742432"/>
            <a:ext cx="28186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4D4D"/>
                </a:solidFill>
                <a:latin typeface="Calibri"/>
              </a:rPr>
              <a:t>Pause déjeuner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13114" y="5394960"/>
            <a:ext cx="27432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13114" y="5340096"/>
            <a:ext cx="281863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8080"/>
                </a:solidFill>
                <a:latin typeface="Calibri"/>
              </a:rPr>
              <a:t>🏁 17h30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13114" y="5742432"/>
            <a:ext cx="28186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4D4D"/>
                </a:solidFill>
                <a:latin typeface="Calibri"/>
              </a:rPr>
              <a:t>Fin de journée officielle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" y="6199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MERCI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D4A017"/>
                </a:solidFill>
                <a:latin typeface="Calibri"/>
              </a:rPr>
              <a:t>POUR VOTRE PARTICIPATION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2743200"/>
            <a:ext cx="576072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E5E5"/>
                </a:solidFill>
                <a:latin typeface="Calibri"/>
              </a:rPr>
              <a:t>SHY-Performance  ×  FIDELIS  ×  UNICEF France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CE5E5"/>
                </a:solidFill>
                <a:latin typeface="Calibri"/>
              </a:rPr>
              <a:t>Élaboré par Tamou Eljerrari  |  Sur ordre de Mme Salima Negrao, DG</a:t>
            </a:r>
          </a:p>
        </p:txBody>
      </p:sp>
      <p:pic>
        <p:nvPicPr>
          <p:cNvPr id="10" name="Picture 9" descr="sh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847" y="5029200"/>
            <a:ext cx="3309257" cy="14630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172200"/>
            <a:ext cx="12188952" cy="347472"/>
          </a:xfrm>
          <a:prstGeom prst="rect">
            <a:avLst/>
          </a:prstGeom>
          <a:solidFill>
            <a:srgbClr val="00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172200"/>
            <a:ext cx="12188952" cy="274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199632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FFFFFF"/>
                </a:solidFill>
                <a:latin typeface="Calibri"/>
              </a:rPr>
              <a:t>Toute modification, rectification ou ajout est strictement interdit(e). Élaboré par Tamou Eljerrari — Ingénieure en Formation — sur ordre de la Directrice Générale, Mme Salima Negrao. Seules la DG SHY-Performance ou une personne mandatée sont autorisées.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