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3102429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92024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Calibri"/>
              </a:rPr>
              <a:t>FILE CONDUCTEUR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D4A017"/>
                </a:solidFill>
                <a:latin typeface="Calibri"/>
              </a:rPr>
              <a:t>KIT DE FORMATION INITIALE MODULE — FIM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4754880"/>
            <a:ext cx="8531352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892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40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CE5E5"/>
                </a:solidFill>
                <a:latin typeface="Calibri"/>
              </a:rPr>
              <a:t>Fundraising · Formation · Performance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309360"/>
            <a:ext cx="12188952" cy="365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327648"/>
            <a:ext cx="1182319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E5E5"/>
                </a:solidFill>
                <a:latin typeface="Calibri"/>
              </a:rPr>
              <a:t>⚠  DOCUMENT PROTÉGÉ — Toute modification, rectification ou ajout est STRICTEMENT INTERDIT. Seules la Direction Générale de SHY-Performance ou une personne expressément mandatée sont autorisées à modifier ce document.  Élaboré par Tamou Eljerrari — Ingénieur en Formation — Sur ordre de la Directrice Générale Mme Salima Negrao.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0"/>
            <a:ext cx="2275114" cy="1005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651760" y="18288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34640" y="73152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PRÉSENTATION DU KIT DE 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9144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E5E5"/>
                </a:solidFill>
                <a:latin typeface="Calibri"/>
              </a:rPr>
              <a:t>7 documents — Une formation complète de A à 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11430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200">
                <a:solidFill>
                  <a:srgbClr val="1A1A1A"/>
                </a:solidFill>
                <a:latin typeface="Calibri"/>
              </a:rPr>
              <a:t>▸  Book 0 — File Conducteur (ce document) : guide d'utilisation globale du kit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1A1A1A"/>
                </a:solidFill>
                <a:latin typeface="Calibri"/>
              </a:rPr>
              <a:t>▸  Book 1 — Synopsis &amp; Objectifs Pédagogiques : cadre, vision et objectifs de la formation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1A1A1A"/>
                </a:solidFill>
                <a:latin typeface="Calibri"/>
              </a:rPr>
              <a:t>▸  Book J1 — Fondations &amp; Mission : KPIs, nomenclature, script d'accroche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1A1A1A"/>
                </a:solidFill>
                <a:latin typeface="Calibri"/>
              </a:rPr>
              <a:t>▸  Book J2 — Monde Associatif &amp; Humanitaire : contexte, Loi 1901, histoire UNICEF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1A1A1A"/>
                </a:solidFill>
                <a:latin typeface="Calibri"/>
              </a:rPr>
              <a:t>▸  Book J3 — Analyse et Lecture du Script : décryptage phrase par phrase, exercices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1A1A1A"/>
                </a:solidFill>
                <a:latin typeface="Calibri"/>
              </a:rPr>
              <a:t>▸  Book J4 — Traitement des Objections : 15 objections, méthode AAR, jeux de rôle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1A1A1A"/>
                </a:solidFill>
                <a:latin typeface="Calibri"/>
              </a:rPr>
              <a:t>▸  Book J5 — Synthèse Générale &amp; Simulations : révision, quiz 40Q, certifications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88952" cy="365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6327648"/>
            <a:ext cx="1182319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E5E5"/>
                </a:solidFill>
                <a:latin typeface="Calibri"/>
              </a:rPr>
              <a:t>⚠  DOCUMENT PROTÉGÉ — Toute modification, rectification ou ajout est STRICTEMENT INTERDIT. Seules la Direction Générale de SHY-Performance ou une personne expressément mandatée sont autorisées à modifier ce document.  Élaboré par Tamou Eljerrari — Ingénieur en Formation — Sur ordre de la Directrice Générale Mme Salima Negrao.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0"/>
            <a:ext cx="2275114" cy="1005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651760" y="18288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34640" y="73152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QUI FORME ? QUI EST FORMÉ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9144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E5E5"/>
                </a:solidFill>
                <a:latin typeface="Calibri"/>
              </a:rPr>
              <a:t>Acteurs et public cible de la formation FIM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11430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200">
                <a:solidFill>
                  <a:srgbClr val="1A1A1A"/>
                </a:solidFill>
                <a:latin typeface="Calibri"/>
              </a:rPr>
              <a:t>▸  Donneur d'ordre : FIDELIS — mandataire officiel de la campagne UNICEF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1A1A1A"/>
                </a:solidFill>
                <a:latin typeface="Calibri"/>
              </a:rPr>
              <a:t>▸  Opérateur terrain : SHY-Performance — centre de collecte téléphonique de référence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1A1A1A"/>
                </a:solidFill>
                <a:latin typeface="Calibri"/>
              </a:rPr>
              <a:t>▸  Public cible : fundraisers SHY-Performance — nouveaux entrants en collecte de dons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1A1A1A"/>
                </a:solidFill>
                <a:latin typeface="Calibri"/>
              </a:rPr>
              <a:t>▸  Prérequis : aucune expérience préalable en collecte de dons requise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1A1A1A"/>
                </a:solidFill>
                <a:latin typeface="Calibri"/>
              </a:rPr>
              <a:t>▸  Effectif recommandé par session : 8 à 14 fundraisers pour garantir la qualité des JDR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1A1A1A"/>
                </a:solidFill>
                <a:latin typeface="Calibri"/>
              </a:rPr>
              <a:t>▸  Durée totale : 5 jours consécutifs | 9h30–17h30 | 6h40 de production effective/jour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88952" cy="365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6327648"/>
            <a:ext cx="1182319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E5E5"/>
                </a:solidFill>
                <a:latin typeface="Calibri"/>
              </a:rPr>
              <a:t>⚠  DOCUMENT PROTÉGÉ — Toute modification, rectification ou ajout est STRICTEMENT INTERDIT. Seules la Direction Générale de SHY-Performance ou une personne expressément mandatée sont autorisées à modifier ce document.  Élaboré par Tamou Eljerrari — Ingénieur en Formation — Sur ordre de la Directrice Générale Mme Salima Negrao.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0"/>
            <a:ext cx="2275114" cy="1005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651760" y="18288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34640" y="73152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COMMENT UTILISER CE KIT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9144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E5E5"/>
                </a:solidFill>
                <a:latin typeface="Calibri"/>
              </a:rPr>
              <a:t>Guide pratique à l'intention des formateurs SHY-Performance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11430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200">
                <a:solidFill>
                  <a:srgbClr val="1A1A1A"/>
                </a:solidFill>
                <a:latin typeface="Calibri"/>
              </a:rPr>
              <a:t>▸  Chaque book jour est autonome — utilisable seul pour un rappel ou une remise à niveau ciblée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1A1A1A"/>
                </a:solidFill>
                <a:latin typeface="Calibri"/>
              </a:rPr>
              <a:t>▸  Le Book 1 Synopsis sert de document de référence permanent tout au long de la formation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1A1A1A"/>
                </a:solidFill>
                <a:latin typeface="Calibri"/>
              </a:rPr>
              <a:t>▸  Les slides de quiz (Book J5) sont prêtes à l'emploi pour tout nouvel apprenant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1A1A1A"/>
                </a:solidFill>
                <a:latin typeface="Calibri"/>
              </a:rPr>
              <a:t>▸  Les jeux de rôle sont signalés par le picto 🎭 — prévoir les binômes à l'avance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1A1A1A"/>
                </a:solidFill>
                <a:latin typeface="Calibri"/>
              </a:rPr>
              <a:t>▸  Les slides MANTRA sont à laisser affichées pendant les exercices pratiques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1A1A1A"/>
                </a:solidFill>
                <a:latin typeface="Calibri"/>
              </a:rPr>
              <a:t>▸  La grille d'observation formateur est à imprimer avant chaque journée J3, J4 et J5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88952" cy="365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6327648"/>
            <a:ext cx="1182319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E5E5"/>
                </a:solidFill>
                <a:latin typeface="Calibri"/>
              </a:rPr>
              <a:t>⚠  DOCUMENT PROTÉGÉ — Toute modification, rectification ou ajout est STRICTEMENT INTERDIT. Seules la Direction Générale de SHY-Performance ou une personne expressément mandatée sont autorisées à modifier ce document.  Élaboré par Tamou Eljerrari — Ingénieur en Formation — Sur ordre de la Directrice Générale Mme Salima Negrao.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0"/>
            <a:ext cx="2275114" cy="1005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651760" y="18288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34640" y="73152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CODE COULEUR &amp; LÉGENDE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9144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E5E5"/>
                </a:solidFill>
                <a:latin typeface="Calibri"/>
              </a:rPr>
              <a:t>Repères visuels pour une utilisation optimale du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11430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200">
                <a:solidFill>
                  <a:srgbClr val="1A1A1A"/>
                </a:solidFill>
                <a:latin typeface="Calibri"/>
              </a:rPr>
              <a:t>▸  🟦  Bandeau TEAL #008080 — slide de contenu standard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1A1A1A"/>
                </a:solidFill>
                <a:latin typeface="Calibri"/>
              </a:rPr>
              <a:t>▸  🟡  Texte JAUNE #D4A017 — nom et identité SHY-Performance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1A1A1A"/>
                </a:solidFill>
                <a:latin typeface="Calibri"/>
              </a:rPr>
              <a:t>▸  🟥  Encart ROUGE — point d'attention critique ou règle obligatoire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1A1A1A"/>
                </a:solidFill>
                <a:latin typeface="Calibri"/>
              </a:rPr>
              <a:t>▸  ★   Slide MANTRA — citation à mémoriser, laisser affichée pendant l'exercice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1A1A1A"/>
                </a:solidFill>
                <a:latin typeface="Calibri"/>
              </a:rPr>
              <a:t>▸  🎭  Jeu de rôle — exercice en binôme ou groupe, chronométré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1A1A1A"/>
                </a:solidFill>
                <a:latin typeface="Calibri"/>
              </a:rPr>
              <a:t>▸  📊  Grille d'évaluation — outil formateur, à imprimer avant la session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1A1A1A"/>
                </a:solidFill>
                <a:latin typeface="Calibri"/>
              </a:rPr>
              <a:t>▸  ❓  Quiz — évaluation des connaissances, prêt à l'emploi pour nouveaux apprenants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88952" cy="365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6327648"/>
            <a:ext cx="1182319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E5E5"/>
                </a:solidFill>
                <a:latin typeface="Calibri"/>
              </a:rPr>
              <a:t>⚠  DOCUMENT PROTÉGÉ — Toute modification, rectification ou ajout est STRICTEMENT INTERDIT. Seules la Direction Générale de SHY-Performance ou une personne expressément mandatée sont autorisées à modifier ce document.  Élaboré par Tamou Eljerrari — Ingénieur en Formation — Sur ordre de la Directrice Générale Mme Salima Negrao.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0"/>
            <a:ext cx="2275114" cy="1005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651760" y="18288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34640" y="73152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PLANNING RECOMMANDÉ — 5 JOURS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9144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E5E5"/>
                </a:solidFill>
                <a:latin typeface="Calibri"/>
              </a:rPr>
              <a:t>Organisation type d'une session FIM complète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21945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600200"/>
            <a:ext cx="2194560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60020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017"/>
                </a:solidFill>
                <a:latin typeface="Calibri"/>
              </a:rPr>
              <a:t>J1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402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080"/>
                </a:solidFill>
                <a:latin typeface="Calibri"/>
              </a:rPr>
              <a:t>Fondations &amp; 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0632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9h30 – 17h30
6h40 production
effective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251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Pause 11h00
Déjeuner 13h
Pause 15h30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1600200"/>
            <a:ext cx="21945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97480" y="1600200"/>
            <a:ext cx="2194560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160020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017"/>
                </a:solidFill>
                <a:latin typeface="Calibri"/>
              </a:rPr>
              <a:t>J2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2402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080"/>
                </a:solidFill>
                <a:latin typeface="Calibri"/>
              </a:rPr>
              <a:t>Monde Associatif &amp; Humanitaire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0632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9h30 – 17h30
6h40 production
effective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4251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Pause 11h00
Déjeuner 13h
Pause 15h30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1600200"/>
            <a:ext cx="21945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74920" y="1600200"/>
            <a:ext cx="2194560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160020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017"/>
                </a:solidFill>
                <a:latin typeface="Calibri"/>
              </a:rPr>
              <a:t>J3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22402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080"/>
                </a:solidFill>
                <a:latin typeface="Calibri"/>
              </a:rPr>
              <a:t>Analyse et Lecture du Script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0632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9h30 – 17h30
6h40 production
effective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4251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Pause 11h00
Déjeuner 13h
Pause 15h30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2360" y="1600200"/>
            <a:ext cx="21945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1600200"/>
            <a:ext cx="2194560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160020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017"/>
                </a:solidFill>
                <a:latin typeface="Calibri"/>
              </a:rPr>
              <a:t>J4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22402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080"/>
                </a:solidFill>
                <a:latin typeface="Calibri"/>
              </a:rPr>
              <a:t>Traitement des Objections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30632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9h30 – 17h30
6h40 production
effective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4251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Pause 11h00
Déjeuner 13h
Pause 15h30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29800" y="1600200"/>
            <a:ext cx="21945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29800" y="1600200"/>
            <a:ext cx="2194560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29800" y="160020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017"/>
                </a:solidFill>
                <a:latin typeface="Calibri"/>
              </a:rPr>
              <a:t>J5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22402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080"/>
                </a:solidFill>
                <a:latin typeface="Calibri"/>
              </a:rPr>
              <a:t>Synthèse &amp; Simulations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30632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9h30 – 17h30
6h40 production
effective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1240" y="4251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Pause 11h00
Déjeuner 13h
Pause 15h30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309360"/>
            <a:ext cx="12188952" cy="365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2880" y="6327648"/>
            <a:ext cx="1182319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E5E5"/>
                </a:solidFill>
                <a:latin typeface="Calibri"/>
              </a:rPr>
              <a:t>⚠  DOCUMENT PROTÉGÉ — Toute modification, rectification ou ajout est STRICTEMENT INTERDIT. Seules la Direction Générale de SHY-Performance ou une personne expressément mandatée sont autorisées à modifier ce document.  Élaboré par Tamou Eljerrari — Ingénieur en Formation — Sur ordre de la Directrice Générale Mme Salima Negrao.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2481943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10312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MERCI POUR VOTRE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840480"/>
            <a:ext cx="8531352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4A017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CE5E5"/>
                </a:solidFill>
                <a:latin typeface="Calibri"/>
              </a:rPr>
              <a:t>Fundraising · Formation · Performance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309360"/>
            <a:ext cx="12188952" cy="365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6327648"/>
            <a:ext cx="1182319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E5E5"/>
                </a:solidFill>
                <a:latin typeface="Calibri"/>
              </a:rPr>
              <a:t>⚠  DOCUMENT PROTÉGÉ — Toute modification, rectification ou ajout est STRICTEMENT INTERDIT. Seules la Direction Générale de SHY-Performance ou une personne expressément mandatée sont autorisées à modifier ce document.  Élaboré par Tamou Eljerrari — Ingénieur en Formation — Sur ordre de la Directrice Générale Mme Salima Negrao.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