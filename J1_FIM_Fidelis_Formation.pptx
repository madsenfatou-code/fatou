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7150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7150" y="0"/>
            <a:ext cx="4631801" cy="68580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74315" y="0"/>
            <a:ext cx="502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7557150" cy="43891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75488"/>
            <a:ext cx="2606040" cy="38404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7548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FORMATION INITIALE MODULE  ·  J1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MODULE J1 FIM</a:t>
            </a:r>
          </a:p>
          <a:p>
            <a:pPr algn="l"/>
            <a:r>
              <a:rPr sz="2800" b="0" i="0">
                <a:solidFill>
                  <a:srgbClr val="00AEEF"/>
                </a:solidFill>
                <a:latin typeface="Segoe UI"/>
              </a:rPr>
              <a:t>Collecte de Dons Humanitaires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CCEE"/>
                </a:solidFill>
                <a:latin typeface="Segoe UI"/>
              </a:rPr>
              <a:t>Formation des agents SHY Performance mandatés par Fidelis
pour la collecte de dons en faveur de l'UNICEF.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1874" y="914400"/>
            <a:ext cx="4206240" cy="74980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4708" y="96926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🎯  Objectif CU/H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4708" y="1243584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9 minimum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1874" y="1719072"/>
            <a:ext cx="4206240" cy="74980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4708" y="17739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⏱  Seuil 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4708" y="2048256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&gt; 60 secondes de communication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1874" y="2523744"/>
            <a:ext cx="4206240" cy="74980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4708" y="25786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💳  Produit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4708" y="2852928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Prélèvement automatique régulier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1874" y="3328416"/>
            <a:ext cx="4206240" cy="74980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4708" y="3383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🌍  Mandat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4708" y="3657600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Fidelis mandaté par l'UNICEF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1874" y="4133088"/>
            <a:ext cx="4206240" cy="74980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4708" y="4187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📊  KPI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4708" y="4462272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CU/H  |  Taux de Transformation  |  PDC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5806440"/>
            <a:ext cx="7557150" cy="65836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824729"/>
            <a:ext cx="70695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"LE REFUS D'AUJOURD'HUI PEUT ÊTRE LE DON DE DEMAIN."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Sommaire du Module J1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Contenu issu strictement des informations de campagne transmises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572768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62763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Mission &amp; Finalité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751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Comprendre l'enjeu humanitaire de la campagne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68880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68880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52374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Nomenclature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87121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Définitions officielles — CU, PDC, TX, DEL, PA…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64992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364992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64992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41985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KPI — CU/H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767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Formule, objectif 9 CU/H, exemple agent Philippe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61104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61104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261104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3159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KPI — Taux de Transformation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663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Formule, objectif association, exemple agent Michel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572768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1572768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572768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162763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KPI — Plan de Charge (PDC)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0568" y="19751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Volume mensuel, formule de vérification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468880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468880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2468880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252374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Les 3 Qualifications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287121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DON / REFUS ARGUMENTÉ / INDÉCIS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364992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364992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364992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341985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Le Produit — Prélèvement Auto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3767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PA régulier uniquement, 2 modes, lien de don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4261104"/>
            <a:ext cx="5669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4261104"/>
            <a:ext cx="50292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4261104"/>
            <a:ext cx="502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431596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La Phrase d'Accroche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0568" y="4663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Script d'ouverture d'appel — règles officielles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897880"/>
            <a:ext cx="11430000" cy="438912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59253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Segoe UI"/>
              </a:rPr>
              <a:t>NOTE : Le traitement des objections, le script complet et les techniques avancées feront l'objet d'un book dédié séparé.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Mission &amp; Finalité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Pourquoi nous appelons — ce que chaque don finance concrètement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FINALITÉ OFFICIELLE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Obtenir des dons (prélèvements automatiques réguliers) pour permettre à l'association de CONTINUER son action humanitaire et d'AUGMENTER durablement le taux de dons.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514600"/>
            <a:ext cx="3767328" cy="3310128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514600"/>
            <a:ext cx="3767328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9689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🌍  L'UNICEF &amp; SA 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Organisation de l'ONU créée en 1946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Présente dans 190 pays et territoires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4904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Défend les droits et la survie des enfants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Programmes : nutrition, santé, eau, éducation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Protection des enfants en zones de conflit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78808" y="2514600"/>
            <a:ext cx="3767328" cy="3310128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78808" y="2514600"/>
            <a:ext cx="3767328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5968" y="259689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💳  FIDELIS — NOTRE MANDAT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301752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Fidelis est mandaté par l'UNICEF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8" y="338328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Mission : collecter des dons par téléphone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374904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Produit unique : prélèvement automatique régulier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411480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Nous représentons l'UNICEF lors de chaque appel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448056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Qualité du contact = image de l'UNICEF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37576" y="2514600"/>
            <a:ext cx="3767328" cy="3310128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37576" y="2514600"/>
            <a:ext cx="3767328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2596896"/>
            <a:ext cx="34930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🎯  NOTRE OBJECTIF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301752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Obtenir des dons réguliers et pérennes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338328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Augmenter le taux de dons de l'association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374904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Le refus d'aujourd'hui = le don de demain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411480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Chaque argument planté est une graine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448056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✓  Chaque donateur = des vies impactées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925312"/>
            <a:ext cx="11521440" cy="457200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952744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"LE REFUS D'AUJOURD'HUI PEUT ÊTRE LE DON DE DEMAIN."  —  Chaque appel compte.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Nomenclature — Définitions Officielles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Termes fondamentaux à maîtriser avant le premier appel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36192"/>
            <a:ext cx="91440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536192"/>
            <a:ext cx="804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SIGLE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1536192"/>
            <a:ext cx="292608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536192"/>
            <a:ext cx="2816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NOM COMPLET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536192"/>
            <a:ext cx="594360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1536192"/>
            <a:ext cx="5833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DÉFINITION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0" y="1536192"/>
            <a:ext cx="173736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96144" y="1536192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VALEUR / OBJ.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901952"/>
            <a:ext cx="11521440" cy="585216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993392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FIM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1993392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Formation Initiale Module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0248" y="1956816"/>
            <a:ext cx="5852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Programme de formation dispensé le premier jour d'intégration d'un agent sur la campagne.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59568" y="1993392"/>
            <a:ext cx="1508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J1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523744"/>
            <a:ext cx="115214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2615184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Contact Utile / Contact Argumenté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2578608"/>
            <a:ext cx="5852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Appel dont la durée de communication dépasse strictement 60 secondes. En-dessous de ce seuil, l'appel n'est pas comptabilisé.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59568" y="2615184"/>
            <a:ext cx="1508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&gt; 60 sec.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45536"/>
            <a:ext cx="11521440" cy="585216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236976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CU/H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3236976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Contacts Utiles par Heure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200400"/>
            <a:ext cx="5852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Nombre de CU réalisés divisé par le nombre d'heures de production. Indicateur de productivité horaire.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3236976"/>
            <a:ext cx="1508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Objectif : 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767328"/>
            <a:ext cx="115214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858768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PDC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38587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Plan de Charge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822192"/>
            <a:ext cx="5852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Volume de CU à produire sur le mois, fixé au niveau de la campagne ou de l'équipe par la direction.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59568" y="3858768"/>
            <a:ext cx="1508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XXXX CU/mois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89120"/>
            <a:ext cx="11521440" cy="585216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0560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4480560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Taux de Transformation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0248" y="4443984"/>
            <a:ext cx="5852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Pourcentage de CU débouchant sur un don (DEL ou PA). Mesure l'efficacité commerciale de l'agent.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4480560"/>
            <a:ext cx="1508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Selon assoc.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Nomenclature — Définitions Officielles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Modes de prélèvement et qualifications d'appel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36192"/>
            <a:ext cx="100584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536192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SIGLE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536192"/>
            <a:ext cx="274320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6464" y="1536192"/>
            <a:ext cx="2633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NOM COMPLET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536192"/>
            <a:ext cx="594360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15384" y="1536192"/>
            <a:ext cx="5833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DÉFINITION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9840" y="1536192"/>
            <a:ext cx="173736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1536192"/>
            <a:ext cx="1627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VALEUR / OBJ.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865376"/>
            <a:ext cx="11521440" cy="47548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9202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19202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Don en Ligne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1901952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 validé par prélèvement automatique, finalisé en ligne (par l'agent ou par le donateur lui-même via le lien).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8128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Compte dans TX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363724"/>
            <a:ext cx="11521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185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41858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Prélèvement Automatique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2400300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Mode de don régulier prélevé automatiquement. Sur cette campagne, SEUL le PA régulier est proposé — aucun don ponctuel.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8128" y="24185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Mode unique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862072"/>
            <a:ext cx="11521440" cy="47548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91693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IBAN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291693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Coordonnées bancaires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2898648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Collectées à chaud pendant l'appel pour valider le PA immédiatement. L'agent valide lui-même le prélèvement en ligne.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8128" y="291693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Mode A — À chaud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360420"/>
            <a:ext cx="11521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4152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DON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3415284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Qualification : Don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3396996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CU dont l'issue est un PA confirmé, à chaud (IBAN) ou par promesse (lien envoyé). Entre dans le calcul du TX.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8128" y="341528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Compte dans TX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858768"/>
            <a:ext cx="11521440" cy="47548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91363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REF ARG.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9888" y="3913632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Qualification : Refus Argumenté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3895344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CU conclu par refus mais après présentation d'au moins un contre-argument. Qualifier uniquement si l'agent a vraiment argumenté.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8128" y="39136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357116"/>
            <a:ext cx="11521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4119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INDÉCIS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9888" y="44119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Qualification : Indécis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8808" y="4393692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CU conclu par hésitation du contact. Un lien ou rappel peut être prévu. Potentiel de transformation ultérieure.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8128" y="44119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Suivi à prévoir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855464"/>
            <a:ext cx="11521440" cy="47548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491032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ERR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9888" y="491032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Écouter → Reformuler → Rebondir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8808" y="4892040"/>
            <a:ext cx="5852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Méthode officielle de traitement des objections (objet d'un book dédié). Ne jamais interrompre, toujours reformuler avant de répondre.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8128" y="49103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Book dédié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KPI 1 — Contacts Utiles par Heure (CU/H)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Mesure de la productivité horaire — objectif : 9 CU/H minimum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200400" cy="2286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CU /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40280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00AEEF"/>
                </a:solidFill>
                <a:latin typeface="Segoe U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18211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OBJECTIF MINIMUM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572768"/>
            <a:ext cx="8138160" cy="93268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58768" y="162763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Contact Utile (CU) — définition officielle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1920240"/>
            <a:ext cx="7772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Appel dont la durée de communication dépasse strictement 60 secondes. En-dessous, l'appel n'est PAS comptabilisé comme CU.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2633472"/>
            <a:ext cx="8138160" cy="123444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724912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FORMULE MATHÉMATIQUE — CU/H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99923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  <a:latin typeface="Courier New"/>
              </a:rPr>
              <a:t>CU/H  =  Nombre de CU réalisés  ÷  Heures de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005072"/>
            <a:ext cx="11521440" cy="1600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96512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EXEMPLE NUMÉRIQUE — Agent Philippe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3708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CU réalisés      =  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00016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Heures produites =   7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2920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ourier New"/>
              </a:rPr>
              <a:t>CU/H  =  68  ÷  7  =  9,71  ✅  Objectif dépassé (≥ 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⚠  Heure de production = temps effectivement passé en ligne (hors pauses et formation)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KPI 2 — Taux de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% de dons (DEL / PA) parmi les CU — mesure de l'efficacité commerciale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200400" cy="2286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AEEF"/>
                </a:solidFill>
                <a:latin typeface="Segoe UI"/>
              </a:rPr>
              <a:t>TX TRANSFO.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12848"/>
            <a:ext cx="3017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00AEEF"/>
                </a:solidFill>
                <a:latin typeface="Segoe UI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18211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CIBLE SELON ASSOCIATION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572768"/>
            <a:ext cx="8138160" cy="2331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664208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FORMULE MATHÉMATIQUE — TAUX DE TRANSFORMATION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93852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  <a:latin typeface="Courier New"/>
              </a:rPr>
              <a:t>TX (%)  =  ( Nombre de DEL ou PA  ×  100 )  ÷  Nombre de 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6771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FFFFFF"/>
                </a:solidFill>
                <a:latin typeface="Courier New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59689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ourier New"/>
              </a:rPr>
              <a:t>   DEL = Don en Ligne  (validé à chaud ou via le lien)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92608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ourier New"/>
              </a:rPr>
              <a:t>   Seuls les DEL / PA confirmés entrent dans le numérateur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11521440" cy="1600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1480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EXEMPLE NUMÉRIQUE — Agent Michel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38912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CU réalisés      =  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1830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DEL (PA) obtenus =  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4748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ourier New"/>
              </a:rPr>
              <a:t>TX  =  ( 3  ×  100 )  ÷  72  =  300  ÷  72  =  4,16 %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035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ℹ  Une promesse non finalisée (lien non cliqué) ne compte pas encore dans le numérateur.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KPI 3 — Plan de Charge (PDC)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Volume mensuel de CU à produire — pilotage collectif de l'équipe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200400" cy="2286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PDC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67712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D8B4FE"/>
                </a:solidFill>
                <a:latin typeface="Segoe UI"/>
              </a:rPr>
              <a:t>XXXX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16382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CU /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572768"/>
            <a:ext cx="8138160" cy="2331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664208"/>
            <a:ext cx="7772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FORMULE DE VÉRIFICATION — PDC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93852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  <a:latin typeface="Courier New"/>
              </a:rPr>
              <a:t>PDC atteint  =  CU/H moyen équipe  ×  Heures produites totales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6771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FFFFFF"/>
                </a:solidFill>
                <a:latin typeface="Courier New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596896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4B5FD"/>
                </a:solidFill>
                <a:latin typeface="Courier New"/>
              </a:rPr>
              <a:t>CU/H requis  =  PDC mensuel cible  ÷  Heures totales équipe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023360"/>
            <a:ext cx="1152144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EXEMPLE — PDC cible 1 800 CU / équipe 200 h de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8912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ourier New"/>
              </a:rPr>
              <a:t>CU/H requis  =  1 800  ÷  200  =  9 CU/H  =  objectif fixé 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749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Le PDC exact de la campagne sera communiqué par votre superviseur en début de mission.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559552"/>
            <a:ext cx="11521440" cy="457200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59612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RAPPEL : Chaque CU/H à 9 sur 200h d'équipe = 1 800 CU/mois. C'est pourquoi l'objectif individuel de 9 CU/H est non négociable.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Les 3 Qualifications de Contact Utile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Tout appel &gt; 60 secondes doit être qualifié immédiatement dans l'outil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749039" cy="466344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3749039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64208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7AE60"/>
                </a:solidFill>
                <a:latin typeface="Segoe UI"/>
              </a:rPr>
              <a:t>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26771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  <a:latin typeface="Segoe UI"/>
              </a:rPr>
              <a:t>DON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670048"/>
            <a:ext cx="3419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Segoe UI"/>
              </a:rPr>
              <a:t>Le contact accepte le prélèvement automatique régulier.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218688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PA confirmé à chaud (IBAN collecté pendant l'appel)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566160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OU lien envoyé avec engagement verbal du donateur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3913632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Entre dans le calcul du Taux de Transformation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261104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Qualifier DON uniquement si PA effectivement initié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1" y="1572768"/>
            <a:ext cx="3749039" cy="4663440"/>
          </a:xfrm>
          <a:prstGeom prst="rect">
            <a:avLst/>
          </a:prstGeom>
          <a:solidFill>
            <a:srgbClr val="FDF0E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7951" y="1572768"/>
            <a:ext cx="3749039" cy="502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87951" y="1664208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E74C3C"/>
                </a:solidFill>
                <a:latin typeface="Segoe UI"/>
              </a:rPr>
              <a:t>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7951" y="226771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4C3C"/>
                </a:solidFill>
                <a:latin typeface="Segoe UI"/>
              </a:rPr>
              <a:t>REFUS ARGUMENTÉ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3" y="2670048"/>
            <a:ext cx="3419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Segoe UI"/>
              </a:rPr>
              <a:t>Le contact refuse après avoir entendu l'argumentaire.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2543" y="3218688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L'agent a présenté au moins 1 contre-argument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2543" y="3566160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Le contact maintient son refus après échange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3" y="3913632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Ne PAS qualifier sans avoir vraiment argumenté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2543" y="4261104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Ne compte pas dans le Taux de Transformation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2" y="1572768"/>
            <a:ext cx="3749039" cy="466344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55862" y="1572768"/>
            <a:ext cx="3749039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5862" y="1664208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7941D"/>
                </a:solidFill>
                <a:latin typeface="Segoe UI"/>
              </a:rPr>
              <a:t>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5862" y="226771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7941D"/>
                </a:solidFill>
                <a:latin typeface="Segoe UI"/>
              </a:rPr>
              <a:t>INDÉCIS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0454" y="2670048"/>
            <a:ext cx="3419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5555"/>
                </a:solidFill>
                <a:latin typeface="Segoe UI"/>
              </a:rPr>
              <a:t>Le contact hésite ou souhaite réfléchir.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4" y="3218688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Le contact est réceptif mais ne décide pas encore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4" y="3566160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Un lien de don peut lui être envoyé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4" y="3913632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Un rappel ultérieur peut être planifié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4" y="4261104"/>
            <a:ext cx="34198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Potentiel de transformation — le don de demain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345936"/>
            <a:ext cx="11521440" cy="420624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373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Segoe UI"/>
              </a:rPr>
              <a:t>RÈGLE ABSOLUE : Qualifier DON uniquement si un PA est effectivement initié (IBAN ou lien avec engagement). Tout doute = INDÉCIS.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Le Produit — Prélèvement Automatique Régulier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Position officielle SHY Performance sur cette campagne Fidelis × UNICEF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768096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RÈGLE D'OR DE LA CAMPAGNE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Fidelis propose plusieurs types de prélèvement. Sur NOTRE campagne : SEUL le prélèvement automatique régulier est proposé. Aucun don ponctuel.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487168"/>
            <a:ext cx="5486400" cy="251460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486400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5786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MODE A — Prélèvement À CHAUD  (prioritaire)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62656"/>
            <a:ext cx="5212080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L'agent recueille l'IBAN du donateur pendant l'appel.
L'agent valide lui-même le prélèvement en ligne.
✓  Don sécurisé immédiatement
✓  Taux de concrétisation maximal
✓  Qualification : DON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487168"/>
            <a:ext cx="5715000" cy="251460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2487168"/>
            <a:ext cx="5715000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257860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MODE B — Promesse par LIEN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2962656"/>
            <a:ext cx="5394960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L'agent envoie un lien sécurisé au donateur.
Le donateur finalise lui-même en ligne après l'appel.
✓  Le lien n'a PAS de date de validité — il est permanent
✓  Redirige vers le site de l'association (UNICEF)
✓  Un e-mail de confirmation est envoyé au donateur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20640"/>
            <a:ext cx="11521440" cy="91440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193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CARACTÉRISTIQUES DU LIEN DE DON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48640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Aucune date d'expiration  ·  Redirige vers le site officiel de l'association  ·  E-mail de confirmation automatique au donateur  ·  Ne jamais mentionner de date limite.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La Phrase d'Accroche — Règles Officielles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Script d'ouverture d'appel — chaque règle est obligatoire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457200" cy="9144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72768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45920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Dire "Allô ?" et attendre la réponse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Ne pas parler en premier. Prononcer uniquement « Allô ? » puis attendre. Le premier mot du contact permet d'identifier le genre (voix masculine → M. / voix féminine → Mme).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523744"/>
            <a:ext cx="115214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523744"/>
            <a:ext cx="457200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523744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596896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Segoe UI"/>
              </a:rPr>
              <a:t>Identifier le donateur : Prénom + Nom (jamais l'inverse)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2944368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En français, on dit toujours le prénom en premier, suivi du nom. Exemples corrects : « Manuel Macron », « Christiano Ronaldo », « Donald Trump ».
❌ JAMAIS : « Macron Manuel » — ce n'est pas français.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474720"/>
            <a:ext cx="115214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474720"/>
            <a:ext cx="45720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474720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547872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Formule de politesse : "Bonjour M. [Prénom Nom]"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3895344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Après identification, saluer chaleureusement. Utiliser le genre identifié à l'étape 1. La politesse dès les premières secondes empêche le raccrochage immédiat.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425696"/>
            <a:ext cx="115214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425696"/>
            <a:ext cx="457200" cy="9144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425696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498848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Se présenter et présenter Fidelis mandaté par l'UNICEF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4846320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Donner son prénom, préciser que vous appelez de la part de Fidelis, mandaté par l'UNICEF. Légitimer immédiatement l'appel par la notoriété de l'UNICEF.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376672"/>
            <a:ext cx="115214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5376672"/>
            <a:ext cx="457200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5376672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5449824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Segoe UI"/>
              </a:rPr>
              <a:t>Créer le lien — question sur la connaissance de l'UNICEF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5797296"/>
            <a:ext cx="10789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Demander au donateur s'il connaît les actions humanitaires de l'UNICEF. Quelle que soit la réponse, expliquer la mission. Cela crée l'engagement et dépasse les 60 secondes.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898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3774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64592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La Phrase d'Accroche — Script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Exemple complet d'ouverture d'appel respectant les 5 règles officielles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5486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934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SCRIPT TYPE — à adapter selon le genre identifié (M. / Mme) et le prénom/nom du fichier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49424"/>
            <a:ext cx="1152144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249424"/>
            <a:ext cx="54864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95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7B8"/>
                </a:solidFill>
                <a:latin typeface="Segoe UI"/>
              </a:rPr>
              <a:t>ÉTAPE 1 — Décrochage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03087"/>
                </a:solidFill>
                <a:latin typeface="Segoe UI"/>
              </a:rPr>
              <a:t>"Allô 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322576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2322576"/>
            <a:ext cx="5897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→ Attendre la réponse. Identifier la voix : masculine = M.  /  féminine = Mme.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090672"/>
            <a:ext cx="1152144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090672"/>
            <a:ext cx="54864" cy="8046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9488"/>
                </a:solidFill>
                <a:latin typeface="Segoe UI"/>
              </a:rPr>
              <a:t>ÉTAPE 2 — Identification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83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03087"/>
                </a:solidFill>
                <a:latin typeface="Segoe UI"/>
              </a:rPr>
              <a:t>"Bonjour, M. [Prénom] [Nom] ?"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3163824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3163824"/>
            <a:ext cx="5897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→ Toujours Prénom puis Nom. Exemple : "Bonjour, M. Manuel Macron ?"  |  Jamais "M. Macron Manuel".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931920"/>
            <a:ext cx="1152144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4864" cy="8046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9776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7AE60"/>
                </a:solidFill>
                <a:latin typeface="Segoe UI"/>
              </a:rPr>
              <a:t>ÉTAPE 3 — Présentation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24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03087"/>
                </a:solidFill>
                <a:latin typeface="Segoe UI"/>
              </a:rPr>
              <a:t>"Je suis [Prénom], j'appelle de la part de Fidelis, mandaté par l'UNICEF."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4005072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4005072"/>
            <a:ext cx="5897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→ Ton chaleureux et posé. La mention UNICEF légitime l'appel immédiatement.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773168"/>
            <a:ext cx="1152144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4773168"/>
            <a:ext cx="54864" cy="8046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1888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7941D"/>
                </a:solidFill>
                <a:latin typeface="Segoe UI"/>
              </a:rPr>
              <a:t>ÉTAPE 4 — Création du lien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657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03087"/>
                </a:solidFill>
                <a:latin typeface="Segoe UI"/>
              </a:rPr>
              <a:t>"Est-ce que vous avez des connaissances sur les actions humanitaires de l'UNICEF ?"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4846320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4846320"/>
            <a:ext cx="5897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→ Question ouverte. Quelle que soit la réponse, continuer avec la présentation de la mission.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614416"/>
            <a:ext cx="1152144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5614416"/>
            <a:ext cx="54864" cy="8046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6601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Segoe UI"/>
              </a:rPr>
              <a:t>ÉTAPE 5 — Présentation de la mission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0702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03087"/>
                </a:solidFill>
                <a:latin typeface="Segoe UI"/>
              </a:rPr>
              <a:t>"L'UNICEF est présent dans 190 pays pour protéger les enfants : nutrition, santé, eau potable, éducation…"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0" y="5687568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06440" y="5687568"/>
            <a:ext cx="5897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→ Créer l'émotion. Personnaliser si le donateur connaît déjà. Préparer la proposition de don.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35040" y="0"/>
            <a:ext cx="502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POUR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"LE REFUS D'AUJOURD'HUI
PEUT ÊTRE
LE DON DE DEMAIN."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CCEE"/>
                </a:solidFill>
                <a:latin typeface="Segoe UI"/>
              </a:rPr>
              <a:t>Chaque appel est une opportunité de changer une vie.
Votre voix, votre conviction, votre argument —
c'est ce qui transforme une hésitation
en don concret pour l'UNICEF.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LES CHIFFRES CLÉS DU J1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901952"/>
            <a:ext cx="1051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8" y="197510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CU/H — objectif minimum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68880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542032"/>
            <a:ext cx="1051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&gt; 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26151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Durée seuil d'un CU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08960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182112"/>
            <a:ext cx="1051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32552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Qualifications : DON / REFUS ARG. / INDÉCIS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49040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3822192"/>
            <a:ext cx="1051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8953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Modes de PA : à chaud (IBAN) et promesse (lien)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389120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462272"/>
            <a:ext cx="1051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453542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Étapes de la phrase d'accroche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5102352"/>
            <a:ext cx="1051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517550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Validité du lien de don — aucune expiration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742432"/>
            <a:ext cx="11521440" cy="56692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760720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Le traitement des objections, le script complet et les techniques avancées feront l'objet d'un book dédié séparé.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483096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Fidelis × SHY Performance  |  Module J1 FIM  |  Formation Initiale Module  |  Confidentiel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