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7150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7150" y="0"/>
            <a:ext cx="4631801" cy="68580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69592" y="0"/>
            <a:ext cx="54864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937760"/>
            <a:ext cx="7557150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02920"/>
            <a:ext cx="2377440" cy="38404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0292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FORMATION INITIALE MODULE  ·  J1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6858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MODULE J1 FIM</a:t>
            </a:r>
          </a:p>
          <a:p>
            <a:pPr algn="l"/>
            <a:r>
              <a:rPr sz="3000" b="0" i="0">
                <a:solidFill>
                  <a:srgbClr val="00AEEF"/>
                </a:solidFill>
                <a:latin typeface="Segoe UI"/>
              </a:rPr>
              <a:t>Collecte de Dons</a:t>
            </a:r>
          </a:p>
          <a:p>
            <a:pPr algn="l"/>
            <a:r>
              <a:rPr sz="3000" b="0" i="0">
                <a:solidFill>
                  <a:srgbClr val="00AEEF"/>
                </a:solidFill>
                <a:latin typeface="Segoe UI"/>
              </a:rPr>
              <a:t>Humanitaires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CCEE"/>
                </a:solidFill>
                <a:latin typeface="Segoe UI"/>
              </a:rPr>
              <a:t>Formation complète à destination des agents SHY Performance.
Maîtriser les KPI, les formules, la structure d'appel et l'argumentation.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00929" y="548640"/>
            <a:ext cx="4023360" cy="5303520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4708" y="9144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EF"/>
                </a:solidFill>
                <a:latin typeface="Segoe UI"/>
              </a:rPr>
              <a:t>🎯  Objectif CU/H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4708" y="117043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   9 minimum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4708" y="1737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EF"/>
                </a:solidFill>
                <a:latin typeface="Segoe UI"/>
              </a:rPr>
              <a:t>⏱  Durée seuil 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4708" y="199339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   &gt; 60 secondes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4708" y="2560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EF"/>
                </a:solidFill>
                <a:latin typeface="Segoe UI"/>
              </a:rPr>
              <a:t>💳  Produit unique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4708" y="281635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   Prélèvement auto régulier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4708" y="3383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EF"/>
                </a:solidFill>
                <a:latin typeface="Segoe UI"/>
              </a:rPr>
              <a:t>📊  KPI principaux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4708" y="363931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   CU/H &amp; TX Transformation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4708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EF"/>
                </a:solidFill>
                <a:latin typeface="Segoe UI"/>
              </a:rPr>
              <a:t>🌍  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4708" y="44622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     Action humanitaire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760720"/>
            <a:ext cx="7557150" cy="685800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779008"/>
            <a:ext cx="706959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"LE REFUS D'AUJOURD'HUI PEUT ÊTRE LE DON DE DEMAIN."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Sommaire du Module J1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10 sections progressives — de la mission à la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502920" cy="8046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600200"/>
            <a:ext cx="502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655064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Mission &amp; Finalité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98424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Comprendre l'enjeu humanitaire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496312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496312"/>
            <a:ext cx="502920" cy="8046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96312"/>
            <a:ext cx="502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2551176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Nomenclature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2880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Définitions officielles des termes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392424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392424"/>
            <a:ext cx="502920" cy="8046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392424"/>
            <a:ext cx="502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344728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KPI &amp; Formules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776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CU/H, Taux de Transformation, PDC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88536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288536"/>
            <a:ext cx="502920" cy="8046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288536"/>
            <a:ext cx="502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434340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Les 3 Qualifications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6725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DON / REFUS ARGUMENTÉ / INDÉCIS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184648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184648"/>
            <a:ext cx="502920" cy="8046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5184648"/>
            <a:ext cx="502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23951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Le Produit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556869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Prélèvement automatique régulier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600200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1600200"/>
            <a:ext cx="502920" cy="8046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1600200"/>
            <a:ext cx="502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655064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Structure d'un Appel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0568" y="198424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7 étapes séquentielles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496312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2496312"/>
            <a:ext cx="502920" cy="8046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2496312"/>
            <a:ext cx="502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30568" y="2551176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Traitement des Objections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0568" y="2880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Méthode ERR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392424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3392424"/>
            <a:ext cx="502920" cy="8046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40" y="3392424"/>
            <a:ext cx="502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0568" y="344728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Posture &amp; Communication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0568" y="3776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Triangle Émotion / Raison / Facilité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4288536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02920" cy="8046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63640" y="4288536"/>
            <a:ext cx="502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30568" y="434340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Auto-Suivi de Performance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6725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Tableau de bord horaire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5184648"/>
            <a:ext cx="56692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63640" y="5184648"/>
            <a:ext cx="502920" cy="8046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5184648"/>
            <a:ext cx="502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30568" y="523951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3087"/>
                </a:solidFill>
                <a:latin typeface="Segoe UI"/>
              </a:rPr>
              <a:t>Checklist J1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30568" y="556869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Suis-je prêt à décrocher ?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INTRO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Synopsis &amp; Objectifs Pédagogiques J1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Ce que vous maîtriserez à l'issue de cette journée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00200"/>
            <a:ext cx="5577840" cy="47548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EF"/>
                </a:solidFill>
                <a:latin typeface="Segoe UI"/>
              </a:rPr>
              <a:t>SYNOPSIS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84831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Ce module de formation initiale prépare chaque agent à représenter dignement l'association partenaire lors de campagnes de collecte téléphonique.
À l'issue du J1, l'agent sera capable de :
  • Comprendre les enjeux humanitaires
  • Maîtriser les KPI et les calculer en temps réel
  • Conduire un appel structuré et argumenté
  • Traiter les objections avec méthode
  • Suivre sa propre performance heure par heure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00200"/>
            <a:ext cx="566928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941D"/>
                </a:solidFill>
                <a:latin typeface="Segoe UI"/>
              </a:rPr>
              <a:t>OBJECTIFS PÉDAGOGIQUES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031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✓  Connaître la finalité humanitaire de la mission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45059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✓  Maîtriser la nomenclature (CU, PDC, TX, DEL, PA…)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798064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✓  Calculer CU/H et Taux de Transformation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145536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✓  Distinguer les 3 qualifications de 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493008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✓  Présenter le produit PA régulier correctement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84048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✓  Conduire un appel en 7 étapes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18795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✓  Traiter 7 objections clés avec la méthode ERR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535424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3087"/>
                </a:solidFill>
                <a:latin typeface="Segoe UI"/>
              </a:rPr>
              <a:t>✓  Suivre sa performance autonomement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Mission &amp; Finalité de la Campagne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Comprendre l'enjeu humanitaire pour argumenter avec conviction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00200"/>
            <a:ext cx="11521440" cy="9601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642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EEF"/>
                </a:solidFill>
                <a:latin typeface="Segoe UI"/>
              </a:rPr>
              <a:t>FINALITÉ OFFICIELLE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385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Obtenir des dons (prélèvements automatiques réguliers) pour permettre à l'association de CONTINUER son action humanitaire et d'AUGMENTER durablement le taux de dons.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724912"/>
            <a:ext cx="5486400" cy="1920240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" y="2862072"/>
            <a:ext cx="51572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Segoe UI"/>
              </a:rPr>
              <a:t>Ce que votre appel finance concrètement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555555"/>
                </a:solidFill>
                <a:latin typeface="Segoe UI"/>
              </a:rPr>
              <a:t>  ✓  Programmes d'aide humanitaire d'urgence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555555"/>
                </a:solidFill>
                <a:latin typeface="Segoe UI"/>
              </a:rPr>
              <a:t>  ✓  Nutrition et santé pour les enfants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555555"/>
                </a:solidFill>
                <a:latin typeface="Segoe UI"/>
              </a:rPr>
              <a:t>  ✓  Accès à l'eau potable et à l'éducation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555555"/>
                </a:solidFill>
                <a:latin typeface="Segoe UI"/>
              </a:rPr>
              <a:t>  ✓  Protection des populations vulnérables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2724912"/>
            <a:ext cx="5806440" cy="1920240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2862072"/>
            <a:ext cx="54772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941D"/>
                </a:solidFill>
                <a:latin typeface="Segoe UI"/>
              </a:rPr>
              <a:t>Pourquoi l'argumentation compte à long terme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555555"/>
                </a:solidFill>
                <a:latin typeface="Segoe UI"/>
              </a:rPr>
              <a:t>  ✓  Un donateur convaincu s'engage sur plusieurs années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555555"/>
                </a:solidFill>
                <a:latin typeface="Segoe UI"/>
              </a:rPr>
              <a:t>  ✓  Un refus bien géré peut revenir donateur demain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555555"/>
                </a:solidFill>
                <a:latin typeface="Segoe UI"/>
              </a:rPr>
              <a:t>  ✓  L'image de l'association dépend de chaque échange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555555"/>
                </a:solidFill>
                <a:latin typeface="Segoe UI"/>
              </a:rPr>
              <a:t>  ✓  Votre posture = ambassadeur de la cause humanitaire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800600"/>
            <a:ext cx="11521440" cy="594360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828032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"LE REFUS D'AUJOURD'HUI PEUT ÊTRE LE DON DE DEMAIN."  —  Chaque argument planté est une graine pour l'avenir.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Nomenclature — Définitions Officielles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Termes fondamentaux à maîtriser avant le premier appel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36192"/>
            <a:ext cx="914400" cy="34747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536192"/>
            <a:ext cx="7680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SIGLE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0160" y="1536192"/>
            <a:ext cx="2926080" cy="34747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53312" y="1536192"/>
            <a:ext cx="27797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NOM COMPLET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536192"/>
            <a:ext cx="5943600" cy="34747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1536192"/>
            <a:ext cx="57972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DÉFINITION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0" y="1536192"/>
            <a:ext cx="1737360" cy="347472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14432" y="1536192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VALEUR / OBJ.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901952"/>
            <a:ext cx="11521440" cy="566928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1975104"/>
            <a:ext cx="822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FIM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1975104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Formation Initiale Module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0248" y="1956816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Programme de formation dispensé le premier jour d'intégration d'un agent sur la campagne.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59568" y="1975104"/>
            <a:ext cx="1508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J1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505456"/>
            <a:ext cx="115214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578608"/>
            <a:ext cx="822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CU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2578608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Contact Utile / Contact Argumenté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0248" y="256032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Appel dont la durée dépasse strictement 60 secondes. En-dessous, l'appel n'est pas comptabilisé.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59568" y="2578608"/>
            <a:ext cx="1508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&gt; 60 secondes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108960"/>
            <a:ext cx="11521440" cy="566928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182112"/>
            <a:ext cx="822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CU/H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3182112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Contacts Utiles par Heure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0248" y="3163824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Nombre de CU réalisés ÷ nombre d'heures de production. Mesure la productivité horaire.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59568" y="3182112"/>
            <a:ext cx="1508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Objectif : 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712464"/>
            <a:ext cx="115214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785616"/>
            <a:ext cx="822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PDC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378561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Plan de Charge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0248" y="3767328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Volume de CU à produire sur le mois, fixé au niveau de la campagne ou de l'équipe.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59568" y="3785616"/>
            <a:ext cx="1508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XXXX CU/mois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315968"/>
            <a:ext cx="11521440" cy="566928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389120"/>
            <a:ext cx="822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4389120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Taux de Transformation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0248" y="4370832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Pourcentage de CU débouchant sur un don (DEL ou PA). Mesure l'efficacité commerciale.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59568" y="4389120"/>
            <a:ext cx="1508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Selon association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Nomenclature — Définitions Officielles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Qualifications, méthodes et modes de prélèvement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36192"/>
            <a:ext cx="1005840" cy="31089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536192"/>
            <a:ext cx="8961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SIGLE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536192"/>
            <a:ext cx="2743200" cy="31089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6464" y="1536192"/>
            <a:ext cx="2633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NOM COMPLET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536192"/>
            <a:ext cx="5943600" cy="31089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15384" y="1536192"/>
            <a:ext cx="58338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DÉFINITION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49840" y="1536192"/>
            <a:ext cx="1737360" cy="31089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4704" y="1536192"/>
            <a:ext cx="1627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VALEUR / OBJ.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865376"/>
            <a:ext cx="11521440" cy="512064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1920240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7B8"/>
                </a:solidFill>
                <a:latin typeface="Segoe UI"/>
              </a:rPr>
              <a:t>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1920240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Dossier En Ligne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1901952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Don validé par prélèvement automatique, finalisé en ligne. Synonyme opérationnel de PA.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8128" y="1920240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Compte dans TX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404872"/>
            <a:ext cx="115214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459736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7B8"/>
                </a:solidFill>
                <a:latin typeface="Segoe UI"/>
              </a:rPr>
              <a:t>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2459736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Prélèvement Automatique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808" y="2441448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Mode de don régulier. Sur cette campagne, SEUL le PA régulier est proposé — jamais de don ponctuel.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68128" y="2459736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Mode unique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11521440" cy="512064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999232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7B8"/>
                </a:solidFill>
                <a:latin typeface="Segoe UI"/>
              </a:rPr>
              <a:t>IBAN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2999232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Coordonnées bancaires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8808" y="2980944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Collectées lors d'un prélèvement à chaud pour valider le PA immédiatement pendant l'appel.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8128" y="2999232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Mode A — À chaud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483864"/>
            <a:ext cx="115214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538728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7B8"/>
                </a:solidFill>
                <a:latin typeface="Segoe UI"/>
              </a:rPr>
              <a:t>ERR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3538728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Écouter → Reformuler → Rebondir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8808" y="3520440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Méthode en 3 temps pour traiter les objections. Ne jamais interrompre, toujours reformuler avant de répondre.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68128" y="3538728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Méthode officielle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23360"/>
            <a:ext cx="11521440" cy="512064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078224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7B8"/>
                </a:solidFill>
                <a:latin typeface="Segoe UI"/>
              </a:rPr>
              <a:t>DON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89888" y="4078224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Qualification : Don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8808" y="4059936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CU dont l'issue est un PA confirmé (à chaud ou promesse validée). Entre dans le calcul du TX.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68128" y="407822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Compte dans TX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562856"/>
            <a:ext cx="115214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17720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7B8"/>
                </a:solidFill>
                <a:latin typeface="Segoe UI"/>
              </a:rPr>
              <a:t>REF ARG.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89888" y="4617720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Qualification : Refus Argumenté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8808" y="4599432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CU conclu par refus mais après présentation d'au moins un contre-argument par l'agent.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68128" y="4617720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102352"/>
            <a:ext cx="11521440" cy="512064"/>
          </a:xfrm>
          <a:prstGeom prst="rect">
            <a:avLst/>
          </a:prstGeom>
          <a:solidFill>
            <a:srgbClr val="E8F0FB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5157216"/>
            <a:ext cx="914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7B8"/>
                </a:solidFill>
                <a:latin typeface="Segoe UI"/>
              </a:rPr>
              <a:t>INDÉCIS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9888" y="5157216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Qualification : Indécis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78808" y="5138928"/>
            <a:ext cx="5852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CU conclu par hésitation. Un lien ou rappel peut être planifié. Potentiel de transformation futur.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68128" y="5157216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941D"/>
                </a:solidFill>
                <a:latin typeface="Segoe UI"/>
              </a:rPr>
              <a:t>Suivi à prévoir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KPI 1 — Contacts Utiles par Heure (CU/H)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Mesure de la productivité horaire de l'agent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3200400" cy="2286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288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AEEF"/>
                </a:solidFill>
                <a:latin typeface="Segoe UI"/>
              </a:rPr>
              <a:t>CU /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3317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00AEEF"/>
                </a:solidFill>
                <a:latin typeface="Segoe UI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OBJECTIF MINIMUM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572768"/>
            <a:ext cx="8138160" cy="100584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162763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Définition du Contact Utile (CU)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193852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Appel dont la durée de communication dépasse strictement 60 secondes. En-dessous de ce seuil, l'appel n'est pas comptabilisé comme CU.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2697480"/>
            <a:ext cx="813816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280720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FORMULE MATHÉMATIQUE — CU/H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8152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4FF"/>
                </a:solidFill>
                <a:latin typeface="Courier New"/>
              </a:rPr>
              <a:t>CU/H  =  Nombre de CU réalisés  ÷  Heures de production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977639"/>
            <a:ext cx="11521440" cy="1536192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87367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EXEMPLE NUMÉRIQUE — Agent Philippe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361687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DD3FC"/>
                </a:solidFill>
                <a:latin typeface="Courier New"/>
              </a:rPr>
              <a:t>CU réalisés     =  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709159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DD3FC"/>
                </a:solidFill>
                <a:latin typeface="Courier New"/>
              </a:rPr>
              <a:t>Heures produites=   7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056631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ourier New"/>
              </a:rPr>
              <a:t>CU/H            =  68  ÷  7  =  9,71  ✅  Objectif dépassé (≥ 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166359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Segoe UI"/>
              </a:rPr>
              <a:t>⚠  Heure de production = temps effectivement passé en ligne (hors pauses et formation)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KPI 2 — Taux de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Mesure de l'efficacité commerciale de l'agent (% de dons parmi les CU)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3200400" cy="22860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288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AEEF"/>
                </a:solidFill>
                <a:latin typeface="Segoe UI"/>
              </a:rPr>
              <a:t>TX TRANSFORMATION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3317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00AEEF"/>
                </a:solidFill>
                <a:latin typeface="Segoe UI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CIBLE SELON ASSOCIATION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572768"/>
            <a:ext cx="8138160" cy="2331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1682496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FORMULE MATHÉMATIQUE — TAUX DE TRANSFORMATION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1956816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4FF"/>
                </a:solidFill>
                <a:latin typeface="Courier New"/>
              </a:rPr>
              <a:t>TX (%)  =  ( Nombre de DEL ou PA  ×  100 )  ÷  Nombre de 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30428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ourier New"/>
              </a:rP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6517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ourier New"/>
              </a:rPr>
              <a:t>   Numérateur   :  DEL / PA confirmés uniquement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999232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ourier New"/>
              </a:rPr>
              <a:t>   Dénominateur :  Tous les CU (&gt; 60 sec.)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023360"/>
            <a:ext cx="11521440" cy="160020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133088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EXEMPLE NUMÉRIQUE — Agent Michel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40740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DD3FC"/>
                </a:solidFill>
                <a:latin typeface="Courier New"/>
              </a:rPr>
              <a:t>CU réalisés      =  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754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DD3FC"/>
                </a:solidFill>
                <a:latin typeface="Courier New"/>
              </a:rPr>
              <a:t>DEL (PA) obtenus =  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10235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ourier New"/>
              </a:rPr>
              <a:t>TX  =  ( 3  ×  100 )  ÷  72  =  300  ÷  72  =  4,16 %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276088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Segoe UI"/>
              </a:rPr>
              <a:t>ℹ  Une promesse non finalisée (lien non cliqué) ne compte pas encore dans le numérateur.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KPI 3 — Plan de Charge (PDC)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Volume mensuel de CU à produire — pilotage collectif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3200400" cy="2286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288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PDC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286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8B4FE"/>
                </a:solidFill>
                <a:latin typeface="Segoe UI"/>
              </a:rPr>
              <a:t>XXXX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CU / MOIS  (valeur campagne)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572768"/>
            <a:ext cx="8138160" cy="23317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1682496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FORMULE DE VÉRIFICATION — PDC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1956816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F4FF"/>
                </a:solidFill>
                <a:latin typeface="Courier New"/>
              </a:rPr>
              <a:t>PDC atteint  =  CU/H moyen équipe  ×  Heures produites totales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30428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ourier New"/>
              </a:rP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6517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4B5FD"/>
                </a:solidFill>
                <a:latin typeface="Courier New"/>
              </a:rPr>
              <a:t>CU/H requis  =  PDC mensuel cible  ÷  Heures totales équipe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023360"/>
            <a:ext cx="1152144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133088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EXEMPLE — PDC cible 1 800 CU / équipe 200 h de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40740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4D399"/>
                </a:solidFill>
                <a:latin typeface="Courier New"/>
              </a:rPr>
              <a:t>CU/H requis  =  1 800  ÷  200  =  9 CU/H  =  objectif fixé 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047488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Segoe UI"/>
              </a:rPr>
              <a:t>Le PDC exact de la campagne sera communiqué par votre superviseur en début de mission.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Interpréter ses KPI — Grille de Lecture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Comment réagir selon son niveau de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1521440" cy="822960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73152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642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Segoe UI"/>
              </a:rPr>
              <a:t>✅  CU/H ≥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642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Segoe UI"/>
              </a:rPr>
              <a:t>Performance conforme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664208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→  Maintenir le rythme. Travailler le TX transformation pour maximiser les dons.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468880"/>
            <a:ext cx="11521440" cy="822960"/>
          </a:xfrm>
          <a:prstGeom prst="rect">
            <a:avLst/>
          </a:prstGeom>
          <a:solidFill>
            <a:srgbClr val="FEFDE8"/>
          </a:solidFill>
          <a:ln w="190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468880"/>
            <a:ext cx="73152" cy="8229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603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1C40F"/>
                </a:solidFill>
                <a:latin typeface="Segoe UI"/>
              </a:rPr>
              <a:t>⚠  CU/H 7 –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560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Segoe UI"/>
              </a:rPr>
              <a:t>Zone d'alerte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560320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→  Identifier les freins : durée d'appel trop longue, trop de silences, objections non traitées.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364992"/>
            <a:ext cx="11521440" cy="822960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3364992"/>
            <a:ext cx="73152" cy="8229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564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Segoe UI"/>
              </a:rPr>
              <a:t>✗  CU/H &lt;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4564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Segoe UI"/>
              </a:rPr>
              <a:t>En-dessous du seuil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456432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→  Plan d'action individuel obligatoire. Écoute d'appels avec superviseur. Retour formation.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261104"/>
            <a:ext cx="11521440" cy="822960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4261104"/>
            <a:ext cx="73152" cy="82296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3525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7B8"/>
                </a:solidFill>
                <a:latin typeface="Segoe UI"/>
              </a:rPr>
              <a:t>📈  TX élevé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43525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Segoe UI"/>
              </a:rPr>
              <a:t>Excellente efficacité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4352544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→  Partager les techniques d'argumentation avec l'équipe. Bonus de performance possible.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157216"/>
            <a:ext cx="11521440" cy="822960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5157216"/>
            <a:ext cx="73152" cy="82296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4865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941D"/>
                </a:solidFill>
                <a:latin typeface="Segoe UI"/>
              </a:rPr>
              <a:t>⏳  TX faible + INDÉCIS élevé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52486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Segoe UI"/>
              </a:rPr>
              <a:t>Argumentation insuffisante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5248656"/>
            <a:ext cx="6858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→  Retravailler les étapes 4 et 5 de l'appel : ancrage montant et traitement des objections.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Les 3 Qualifications de Contact Utile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Tout CU doit être qualifié immédiatement après chaque appel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3657600" cy="4389120"/>
          </a:xfrm>
          <a:prstGeom prst="rect">
            <a:avLst/>
          </a:prstGeom>
          <a:solidFill>
            <a:srgbClr val="EAFAF1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365760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664208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27AE60"/>
                </a:solidFill>
                <a:latin typeface="Segoe UI"/>
              </a:rPr>
              <a:t>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2860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7AE60"/>
                </a:solidFill>
                <a:latin typeface="Segoe UI"/>
              </a:rPr>
              <a:t>DON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24912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Segoe UI"/>
              </a:rPr>
              <a:t>Le contact accepte le prélèvement automatique régulier.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1012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PA confirmé à chaud (IBAN collecté)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5760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OU promesse par lien envoyé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0507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Entre dans le calcul du TX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33088" y="1572768"/>
            <a:ext cx="3657600" cy="4389120"/>
          </a:xfrm>
          <a:prstGeom prst="rect">
            <a:avLst/>
          </a:prstGeom>
          <a:solidFill>
            <a:srgbClr val="FDF0E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33088" y="1572768"/>
            <a:ext cx="3657600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33088" y="1664208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E74C3C"/>
                </a:solidFill>
                <a:latin typeface="Segoe UI"/>
              </a:rPr>
              <a:t>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3088" y="22860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  <a:latin typeface="Segoe UI"/>
              </a:rPr>
              <a:t>REFUS ARGUMENTÉ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2724912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Segoe UI"/>
              </a:rPr>
              <a:t>Le contact refuse après avoir entendu l'argumentaire.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331012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L'agent a présenté ≥ 1 contre-argument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365760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Ne pas qualifier sans avoir vraiment argumenté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5968" y="400507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Ne compte pas dans le TX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46136" y="1572768"/>
            <a:ext cx="3657600" cy="4389120"/>
          </a:xfrm>
          <a:prstGeom prst="rect">
            <a:avLst/>
          </a:prstGeom>
          <a:solidFill>
            <a:srgbClr val="FFF4E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46136" y="1572768"/>
            <a:ext cx="3657600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46136" y="1664208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7941D"/>
                </a:solidFill>
                <a:latin typeface="Segoe UI"/>
              </a:rPr>
              <a:t>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46136" y="22860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7941D"/>
                </a:solidFill>
                <a:latin typeface="Segoe UI"/>
              </a:rPr>
              <a:t>INDÉCIS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9016" y="2724912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  <a:latin typeface="Segoe UI"/>
              </a:rPr>
              <a:t>Le contact hésite ou souhaite réfléchir.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9016" y="331012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Un lien peut être envoyé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9016" y="365760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Un rappel peut être planifié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400507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✓  Potentiel de transformation futur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6080760"/>
            <a:ext cx="11521440" cy="457200"/>
          </a:xfrm>
          <a:prstGeom prst="rect">
            <a:avLst/>
          </a:prstGeom>
          <a:solidFill>
            <a:srgbClr val="FEFDE8"/>
          </a:solidFill>
          <a:ln w="190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108192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83500"/>
                </a:solidFill>
                <a:latin typeface="Segoe UI"/>
              </a:rPr>
              <a:t>RÈGLE : Qualifier DON uniquement si un PA est effectivement initié. Tout doute = INDÉCIS.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Le Produit — Prélèvement Automatique Régulier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Position officielle SHY Performance sur cette campagne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1521440" cy="82296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1115568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RÈGLE D'OR :  Sur cette campagne, SEUL le prélèvement automatique régulier est proposé.  Aucun don ponctuel.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542032"/>
            <a:ext cx="5486400" cy="2240280"/>
          </a:xfrm>
          <a:prstGeom prst="rect">
            <a:avLst/>
          </a:prstGeom>
          <a:solidFill>
            <a:srgbClr val="EAFAF1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542032"/>
            <a:ext cx="548640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6334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Segoe UI"/>
              </a:rPr>
              <a:t>MODE A — Prélèvement À CHAUD (IBAN)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999232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L'agent recueille l'IBAN du donateur pendant l'appel
et valide lui-même le prélèvement en ligne.
✓  Don sécurisé immédiatement
✓  Taux de concrétisation maximal
✓  Mode PRIORITAIRE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42032"/>
            <a:ext cx="5715000" cy="2240280"/>
          </a:xfrm>
          <a:prstGeom prst="rect">
            <a:avLst/>
          </a:prstGeom>
          <a:solidFill>
            <a:srgbClr val="FFF4E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42032"/>
            <a:ext cx="5715000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334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941D"/>
                </a:solidFill>
                <a:latin typeface="Segoe UI"/>
              </a:rPr>
              <a:t>MODE B — Promesse par LIEN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99232"/>
            <a:ext cx="5486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L'agent envoie un lien sécurisé au donateur.
Ce dernier finalise seul après l'appel.
✓  Lien PERMANENT — aucune date d'expiration
✓  Redirige vers le site officiel de l'association
✓  E-mail de confirmation envoyé automatiquement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9472"/>
            <a:ext cx="11521440" cy="1024128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" y="5056632"/>
            <a:ext cx="1119225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Segoe UI"/>
              </a:rPr>
              <a:t>À NE JAMAIS DIRE OU FAIRE sur cette campagne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555555"/>
                </a:solidFill>
                <a:latin typeface="Segoe UI"/>
              </a:rPr>
              <a:t>  ✗  Proposer un don ponctuel — ce n'est pas l'offre de la campagne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555555"/>
                </a:solidFill>
                <a:latin typeface="Segoe UI"/>
              </a:rPr>
              <a:t>  ✗  Indiquer une date d'expiration sur le lien — il est permanent</a:t>
            </a:r>
          </a:p>
          <a:p>
            <a:pPr algn="l">
              <a:spcBef>
                <a:spcPts val="200"/>
              </a:spcBef>
            </a:pPr>
            <a:r>
              <a:rPr sz="1100" b="0" i="0">
                <a:solidFill>
                  <a:srgbClr val="555555"/>
                </a:solidFill>
                <a:latin typeface="Segoe UI"/>
              </a:rPr>
              <a:t>  ✗  Créer une pression artificielle ou culpabiliser le donateur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Structure d'un Appel Réussi — Étapes 1 à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Progression logique et irréversible — ne jamais brûler une 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15214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502920" cy="1115568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572768"/>
            <a:ext cx="5029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645920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ACCROCHE &amp; IDENTIFICATION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975104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Se présenter clairement, nommer l'association, vérifier l'identité du contact.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64208"/>
            <a:ext cx="5440680" cy="93268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682496"/>
            <a:ext cx="52120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"Bonjour, je suis [Prénom], j'appelle de la part de [l'Association]. Ai-je bien M./Mme [Nom] ?"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743200"/>
            <a:ext cx="115214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743200"/>
            <a:ext cx="502920" cy="1115568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743200"/>
            <a:ext cx="5029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816352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CONTEXTE &amp; LÉGITIMITÉ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145536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Expliquer pourquoi ce contact est appelé. Créer un lien émotionnel avec la cause.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834640"/>
            <a:ext cx="5440680" cy="93268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44768" y="2852928"/>
            <a:ext cx="52120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"Nous appelons des personnes qui, comme vous, ont témoigné leur sensibilité à [la cause]…"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913632"/>
            <a:ext cx="115214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913632"/>
            <a:ext cx="502920" cy="1115568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3913632"/>
            <a:ext cx="5029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986784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PRÉSENTATION DE L'IMPACT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315968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Chiffrer l'impact d'un don mensuel. Rendre tangible chaque euro.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4005072"/>
            <a:ext cx="5440680" cy="93268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4768" y="4023360"/>
            <a:ext cx="52120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"Un prélèvement de [X]€/mois, c'est [impact précis] — moins de [Y]€/jour pour changer une vie."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084064"/>
            <a:ext cx="1152144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5084064"/>
            <a:ext cx="502920" cy="1115568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5084064"/>
            <a:ext cx="50292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157216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PROPOSITION &amp; ANCRAGE MONTANT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486400"/>
            <a:ext cx="5029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Proposer un montant de référence (ancrage haut). Laisser le contact négocier à la baisse.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175504"/>
            <a:ext cx="5440680" cy="93268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4768" y="5193792"/>
            <a:ext cx="52120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"Beaucoup de nos donateurs commencent à [X]€/mois. Est-ce une somme accessible pour vous ?"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Structure d'un Appel Réussi — Étapes 5 à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Closing, sécurisation du don et qualification dans l'outil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15214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502920" cy="132588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572768"/>
            <a:ext cx="502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TRAITEMENT DES OBJECTIONS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48256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Méthode ERR : Écouter → Reformuler → Rebondir. Ne jamais abandonner à la 1re résistance.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64208"/>
            <a:ext cx="5440680" cy="11430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709928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Voir Section 07 — Tableau complet des 7 objections clés et réponses recommandées.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008376"/>
            <a:ext cx="115214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008376"/>
            <a:ext cx="502920" cy="132588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08376"/>
            <a:ext cx="502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099816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CLOSING &amp; SÉCURISATION DU DON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83864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Confirmer l'accord, collecter l'IBAN (mode à chaud) ou envoyer le lien. Récapituler montant et fréquence.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3099816"/>
            <a:ext cx="5440680" cy="11430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44768" y="3145536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"Parfait ! Je note votre IBAN pour finaliser le prélèvement de [X]€/mois. Vous recevrez un e-mail. Merci !"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443984"/>
            <a:ext cx="115214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0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443984"/>
            <a:ext cx="502920" cy="132588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443984"/>
            <a:ext cx="502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3542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QUALIFICATION &amp; SAISIE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19472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Immédiatement après l'appel : qualifier en DON / REFUS ARGUMENTÉ / INDÉCIS dans l'outil.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4535424"/>
            <a:ext cx="5440680" cy="11430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4768" y="4581144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Une saisie rapide et précise garantit des statistiques fiables et un suivi de qualité pour l'équipe.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943600"/>
            <a:ext cx="11521440" cy="43891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943600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OBJECTIF DE CHAQUE APPEL : dépasser les 60 secondes — c'est le seuil qui transforme l'appel en CU.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Traitement des Objections — Méthode ERR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Écouter → Reformuler → Rebondir  |  Une objection = une opportunité de dialogue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1521440" cy="548640"/>
          </a:xfrm>
          <a:prstGeom prst="rect">
            <a:avLst/>
          </a:prstGeom>
          <a:solidFill>
            <a:srgbClr val="F3F0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0934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PRINCIPE : Une objection n'est pas un refus. C'est une demande d'information déguisée. Maximum 2 à 3 tentatives avant de qualifier REFUS ARGUMENTÉ.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267712"/>
            <a:ext cx="115214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267712"/>
            <a:ext cx="54864" cy="8046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34086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"Je n'ai pas les moyens."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68833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→ Peur d'un engagement trop lourd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2340864"/>
            <a:ext cx="18288" cy="658368"/>
          </a:xfrm>
          <a:prstGeom prst="rect">
            <a:avLst/>
          </a:prstGeom>
          <a:solidFill>
            <a:srgbClr val="DC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2340864"/>
            <a:ext cx="8503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"Je comprends. C'est pourquoi nous permettons de commencer avec un montant symbolique comme [X]€/mois — moins de [Y]€/jour. Même un geste modeste change des vies concrètement."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118104"/>
            <a:ext cx="115214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118104"/>
            <a:ext cx="54864" cy="8046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19125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"Je vais y réfléchir."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53872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→ Manque de conviction ou peur de décider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3191256"/>
            <a:ext cx="18288" cy="658368"/>
          </a:xfrm>
          <a:prstGeom prst="rect">
            <a:avLst/>
          </a:prstGeom>
          <a:solidFill>
            <a:srgbClr val="DC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3191256"/>
            <a:ext cx="8503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"Absolument. Puis-je vous envoyer un lien sécurisé maintenant ? Vous finalisez à votre rythme — le lien n'expire jamais. Je vous l'envoie par email ?"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968496"/>
            <a:ext cx="115214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968496"/>
            <a:ext cx="54864" cy="8046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404164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"Je donne déjà à d'autres associations."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4389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→ Sentiment de saturation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4041648"/>
            <a:ext cx="18288" cy="658368"/>
          </a:xfrm>
          <a:prstGeom prst="rect">
            <a:avLst/>
          </a:prstGeom>
          <a:solidFill>
            <a:srgbClr val="DC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18688" y="4041648"/>
            <a:ext cx="8503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"C'est formidable. Les besoins humanitaires sont immenses. Un soutien complémentaire, même modeste, peut faire une vraie différence dans des zones que d'autres n'atteignent pas."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4818888"/>
            <a:ext cx="115214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4818888"/>
            <a:ext cx="54864" cy="8046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489204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"Je ne fais pas confiance aux associations."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2395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→ Scepticisme sur l'usage des fonds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08960" y="4892040"/>
            <a:ext cx="18288" cy="658368"/>
          </a:xfrm>
          <a:prstGeom prst="rect">
            <a:avLst/>
          </a:prstGeom>
          <a:solidFill>
            <a:srgbClr val="DC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18688" y="4892040"/>
            <a:ext cx="8503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"C'est légitime. [L'Association] publie chaque année un rapport financier certifié. Une grande part des dons va directement aux programmes terrain. Je vous donne des exemples ?"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Traitement des Objections — Méthode ERR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Suite des objections clés + clôture d'un refus définitif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1521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54864" cy="8686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66420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"Je ne veux pas donner mon IBAN."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2996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→ Peur de la fraude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664208"/>
            <a:ext cx="18288" cy="685800"/>
          </a:xfrm>
          <a:prstGeom prst="rect">
            <a:avLst/>
          </a:prstGeom>
          <a:solidFill>
            <a:srgbClr val="DC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1664208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"Pas de problème. Je vous envoie un lien sécurisé sur le site officiel — c'est vous qui saisissez directement, sans intermédiaire. Votre sécurité est notre priorité absolue."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514600"/>
            <a:ext cx="11521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2514600"/>
            <a:ext cx="54864" cy="8686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60604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"Ce n'est pas le bon moment."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29718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→ Envie de raccrocher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2606040"/>
            <a:ext cx="18288" cy="685800"/>
          </a:xfrm>
          <a:prstGeom prst="rect">
            <a:avLst/>
          </a:prstGeom>
          <a:solidFill>
            <a:srgbClr val="DC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18688" y="260604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"Je comprends. Pour les enfants dans les zones de crise, malheureusement le temps est précieux. Le lien n'a pas de date limite — vous agissez quand vous vous sentez prêt(e). Votre email ?"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456432"/>
            <a:ext cx="115214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456432"/>
            <a:ext cx="54864" cy="8686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54787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"Envoyez-moi des informations par courrier."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391363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→ Stratégie pour terminer l'appel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3547872"/>
            <a:ext cx="18288" cy="685800"/>
          </a:xfrm>
          <a:prstGeom prst="rect">
            <a:avLst/>
          </a:prstGeom>
          <a:solidFill>
            <a:srgbClr val="DCE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18688" y="3547872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3087"/>
                </a:solidFill>
                <a:latin typeface="Segoe UI"/>
              </a:rPr>
              <a:t>"Bien sûr. Cela dit, le plus simple reste le lien email que je peux vous envoyer maintenant. En 2 minutes, toutes les informations sont sur votre écran. Votre adresse email ?"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489704"/>
            <a:ext cx="11521440" cy="1417320"/>
          </a:xfrm>
          <a:prstGeom prst="rect">
            <a:avLst/>
          </a:prstGeom>
          <a:solidFill>
            <a:srgbClr val="FDF0E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58114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Segoe UI"/>
              </a:rPr>
              <a:t>CLORE AVEC DIGNITÉ — Le refus définitif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946904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Si après 2 à 3 argumentations le contact maintient son refus : ne pas insister. Remercier chaleureusement et conclure positivement.
"Merci pour votre temps. N'hésitez pas à nous contacter si votre situation évolue. Bonne journée !"  →  Qualifier : REFUS ARGUMENTÉ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Posture &amp; Fondamentaux de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Le triangle Émotion / Raison / Facilité — la base de l'argumentation efficace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3566160" cy="4434840"/>
          </a:xfrm>
          <a:prstGeom prst="rect">
            <a:avLst/>
          </a:prstGeom>
          <a:solidFill>
            <a:srgbClr val="F0FDFA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6420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Segoe UI"/>
              </a:rPr>
              <a:t>LE TRIANGLE DE L'ARGUMENTATION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84831"/>
            <a:ext cx="3291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139695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Segoe UI"/>
              </a:rPr>
              <a:t>❤️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130551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Segoe UI"/>
              </a:rPr>
              <a:t>ÉMOTION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377439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Toucher le cœur
(enfants, vies sauvées,
urgence humanitaire)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3291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27355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Segoe UI"/>
              </a:rPr>
              <a:t>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264408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Segoe UI"/>
              </a:rPr>
              <a:t>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511296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Rassurer l'intellect
(transparence des fonds,
impact chiffré, label)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52544"/>
            <a:ext cx="3291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40740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Segoe UI"/>
              </a:rPr>
              <a:t>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39826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Segoe UI"/>
              </a:rPr>
              <a:t>FACILITÉ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645152"/>
            <a:ext cx="2560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Lever les freins
(lien simple, IBAN
sécurisé, pas de limite)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1572768"/>
            <a:ext cx="3794760" cy="4434840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87952" y="1709928"/>
            <a:ext cx="3465576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Segoe UI"/>
              </a:rPr>
              <a:t>À FAIRE SYSTÉMATIQUEMENT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✓  Adopter un sourire vocal — il s'entend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✓  Parler à un rythme posé et articulé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✓  Écoute active — ne jamais interrompre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✓  Reformuler les objections avant de répondre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✓  Personnaliser en utilisant le nom du donateur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✓  Rester positif face à l'agressivité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✓  Dépasser les 60 secondes sur chaque appel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✓  Qualifier immédiatement après chaque appel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55279" y="1572768"/>
            <a:ext cx="3886200" cy="4434840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9871" y="1709928"/>
            <a:ext cx="3557016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Segoe UI"/>
              </a:rPr>
              <a:t>À ÉVITER ABSOLUMENT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✗  Raccrocher sans avoir argumenté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✗  Proposer un don ponctuel (hors offre)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✗  Donner une date limite au lien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✗  Promettre des résultats non garantis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✗  Interrompre le donateur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✗  Qualifier DON sans PA réel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✗  Oublier la saisie dans l'outil</a:t>
            </a:r>
          </a:p>
          <a:p>
            <a:pPr algn="l">
              <a:spcBef>
                <a:spcPts val="200"/>
              </a:spcBef>
            </a:pPr>
            <a:r>
              <a:rPr sz="1000" b="0" i="0">
                <a:solidFill>
                  <a:srgbClr val="555555"/>
                </a:solidFill>
                <a:latin typeface="Segoe UI"/>
              </a:rPr>
              <a:t>  ✗  Créer une pression ou culpabilité excessive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Auto-Suivi de Performance — Tableau de Bord 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Un agent performant calcule ses KPI à chaque fin de tranche horaire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1521440" cy="960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82496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RAPPEL FORMULES — À utiliser à chaque fin d'heure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5681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F4FF"/>
                </a:solidFill>
                <a:latin typeface="Courier New"/>
              </a:rPr>
              <a:t>CU/H (%)  =  CU cumulés  ÷  Heures produites cumulées          TX (%)  =  ( DON cumulés × 100 )  ÷  CU cumulés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651760"/>
            <a:ext cx="1417320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" y="2651760"/>
            <a:ext cx="1344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Tranche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2651760"/>
            <a:ext cx="1188720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73936" y="26517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CU réalisés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651760"/>
            <a:ext cx="1188720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2656" y="26517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H produites
(cumulé)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2651760"/>
            <a:ext cx="1188720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51376" y="26517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CU/H
cumulé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0" y="2651760"/>
            <a:ext cx="1005840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40096" y="2651760"/>
            <a:ext cx="932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651760"/>
            <a:ext cx="1188720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26517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Refus Arg.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2651760"/>
            <a:ext cx="1097280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34656" y="2651760"/>
            <a:ext cx="10241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Indécis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95360" y="2651760"/>
            <a:ext cx="1463040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31936" y="2651760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TX Transfo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017520"/>
            <a:ext cx="14173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" y="3017520"/>
            <a:ext cx="1344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087"/>
                </a:solidFill>
                <a:latin typeface="Segoe UI"/>
              </a:rPr>
              <a:t>9h – 10h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7360" y="3017520"/>
            <a:ext cx="11887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73936" y="301752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3017520"/>
            <a:ext cx="11887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62656" y="301752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1 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0" y="3017520"/>
            <a:ext cx="11887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1376" y="301752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3520" y="3017520"/>
            <a:ext cx="100584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40096" y="3017520"/>
            <a:ext cx="932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017520"/>
            <a:ext cx="11887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5936" y="301752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0" y="3017520"/>
            <a:ext cx="109728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34656" y="3017520"/>
            <a:ext cx="10241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95360" y="3017520"/>
            <a:ext cx="146304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31936" y="3017520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3383280"/>
            <a:ext cx="14173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6616" y="3383280"/>
            <a:ext cx="1344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087"/>
                </a:solidFill>
                <a:latin typeface="Segoe UI"/>
              </a:rPr>
              <a:t>10h – 11h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7360" y="3383280"/>
            <a:ext cx="11887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773936" y="338328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26080" y="3383280"/>
            <a:ext cx="11887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962656" y="338328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2 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0" y="3383280"/>
            <a:ext cx="11887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51376" y="338328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03520" y="3383280"/>
            <a:ext cx="1005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40096" y="3383280"/>
            <a:ext cx="932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3383280"/>
            <a:ext cx="11887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45936" y="338328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98080" y="3383280"/>
            <a:ext cx="10972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34656" y="3383280"/>
            <a:ext cx="10241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595360" y="3383280"/>
            <a:ext cx="14630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31936" y="3383280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749040"/>
            <a:ext cx="14173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6616" y="3749040"/>
            <a:ext cx="1344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087"/>
                </a:solidFill>
                <a:latin typeface="Segoe UI"/>
              </a:rPr>
              <a:t>11h – 12h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37360" y="3749040"/>
            <a:ext cx="11887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73936" y="374904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26080" y="3749040"/>
            <a:ext cx="11887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62656" y="374904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3 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0" y="3749040"/>
            <a:ext cx="11887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51376" y="374904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03520" y="3749040"/>
            <a:ext cx="100584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40096" y="3749040"/>
            <a:ext cx="932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60" y="3749040"/>
            <a:ext cx="11887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45936" y="374904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498080" y="3749040"/>
            <a:ext cx="109728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534656" y="3749040"/>
            <a:ext cx="10241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595360" y="3749040"/>
            <a:ext cx="146304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631936" y="3749040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4114800"/>
            <a:ext cx="14173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56616" y="4114800"/>
            <a:ext cx="1344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087"/>
                </a:solidFill>
                <a:latin typeface="Segoe UI"/>
              </a:rPr>
              <a:t>14h – 15h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737360" y="4114800"/>
            <a:ext cx="11887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773936" y="411480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926080" y="4114800"/>
            <a:ext cx="11887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962656" y="411480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4 h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14800" y="4114800"/>
            <a:ext cx="11887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51376" y="411480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303520" y="4114800"/>
            <a:ext cx="1005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40096" y="4114800"/>
            <a:ext cx="932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09360" y="4114800"/>
            <a:ext cx="11887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45936" y="411480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498080" y="4114800"/>
            <a:ext cx="10972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534656" y="4114800"/>
            <a:ext cx="10241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95360" y="4114800"/>
            <a:ext cx="14630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31936" y="4114800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20040" y="4480560"/>
            <a:ext cx="14173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56616" y="4480560"/>
            <a:ext cx="1344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087"/>
                </a:solidFill>
                <a:latin typeface="Segoe UI"/>
              </a:rPr>
              <a:t>15h – 16h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737360" y="4480560"/>
            <a:ext cx="11887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773936" y="44805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926080" y="4480560"/>
            <a:ext cx="11887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962656" y="44805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5 h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114800" y="4480560"/>
            <a:ext cx="11887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51376" y="44805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303520" y="4480560"/>
            <a:ext cx="100584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340096" y="4480560"/>
            <a:ext cx="932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309360" y="4480560"/>
            <a:ext cx="118872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45936" y="44805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498080" y="4480560"/>
            <a:ext cx="109728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534656" y="4480560"/>
            <a:ext cx="10241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595360" y="4480560"/>
            <a:ext cx="1463040" cy="365760"/>
          </a:xfrm>
          <a:prstGeom prst="rect">
            <a:avLst/>
          </a:prstGeom>
          <a:solidFill>
            <a:srgbClr val="E8F0FB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631936" y="4480560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0040" y="4846320"/>
            <a:ext cx="14173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56616" y="4846320"/>
            <a:ext cx="1344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3087"/>
                </a:solidFill>
                <a:latin typeface="Segoe UI"/>
              </a:rPr>
              <a:t>16h – 17h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737360" y="4846320"/>
            <a:ext cx="11887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773936" y="484632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926080" y="4846320"/>
            <a:ext cx="11887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962656" y="484632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6 h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14800" y="4846320"/>
            <a:ext cx="11887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151376" y="484632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303520" y="4846320"/>
            <a:ext cx="1005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340096" y="4846320"/>
            <a:ext cx="932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309360" y="4846320"/>
            <a:ext cx="118872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45936" y="484632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498080" y="4846320"/>
            <a:ext cx="109728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534656" y="4846320"/>
            <a:ext cx="10241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595360" y="4846320"/>
            <a:ext cx="14630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631936" y="4846320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5555"/>
                </a:solidFill>
                <a:latin typeface="Segoe UI"/>
              </a:rPr>
              <a:t>_____%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20040" y="5212080"/>
            <a:ext cx="1417320" cy="365760"/>
          </a:xfrm>
          <a:prstGeom prst="rect">
            <a:avLst/>
          </a:prstGeom>
          <a:solidFill>
            <a:srgbClr val="0057B8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56616" y="5212080"/>
            <a:ext cx="13441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AEEF"/>
                </a:solidFill>
                <a:latin typeface="Segoe UI"/>
              </a:rPr>
              <a:t>TOTAL J.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37360" y="5212080"/>
            <a:ext cx="1188720" cy="365760"/>
          </a:xfrm>
          <a:prstGeom prst="rect">
            <a:avLst/>
          </a:prstGeom>
          <a:solidFill>
            <a:srgbClr val="0057B8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773936" y="521208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_____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926080" y="5212080"/>
            <a:ext cx="1188720" cy="365760"/>
          </a:xfrm>
          <a:prstGeom prst="rect">
            <a:avLst/>
          </a:prstGeom>
          <a:solidFill>
            <a:srgbClr val="0057B8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962656" y="521208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__ h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114800" y="5212080"/>
            <a:ext cx="1188720" cy="365760"/>
          </a:xfrm>
          <a:prstGeom prst="rect">
            <a:avLst/>
          </a:prstGeom>
          <a:solidFill>
            <a:srgbClr val="0057B8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51376" y="521208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_____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03520" y="5212080"/>
            <a:ext cx="1005840" cy="365760"/>
          </a:xfrm>
          <a:prstGeom prst="rect">
            <a:avLst/>
          </a:prstGeom>
          <a:solidFill>
            <a:srgbClr val="0057B8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340096" y="5212080"/>
            <a:ext cx="9326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_____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309360" y="5212080"/>
            <a:ext cx="1188720" cy="365760"/>
          </a:xfrm>
          <a:prstGeom prst="rect">
            <a:avLst/>
          </a:prstGeom>
          <a:solidFill>
            <a:srgbClr val="0057B8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45936" y="521208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_____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498080" y="5212080"/>
            <a:ext cx="1097280" cy="365760"/>
          </a:xfrm>
          <a:prstGeom prst="rect">
            <a:avLst/>
          </a:prstGeom>
          <a:solidFill>
            <a:srgbClr val="0057B8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534656" y="5212080"/>
            <a:ext cx="10241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_____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595360" y="5212080"/>
            <a:ext cx="1463040" cy="365760"/>
          </a:xfrm>
          <a:prstGeom prst="rect">
            <a:avLst/>
          </a:prstGeom>
          <a:solidFill>
            <a:srgbClr val="0057B8"/>
          </a:solidFill>
          <a:ln w="381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631936" y="5212080"/>
            <a:ext cx="13898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_____%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320040" y="5687568"/>
            <a:ext cx="11521440" cy="475488"/>
          </a:xfrm>
          <a:prstGeom prst="rect">
            <a:avLst/>
          </a:prstGeom>
          <a:solidFill>
            <a:srgbClr val="EAFA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02920" y="5715000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Exemple : après 3h de production, 28 CU dont 2 DON  →  CU/H = 28 ÷ 3 = 9,33 ✅  |  TX = (2 × 100) ÷ 28 = 7,14 %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5603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3087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Segoe UI"/>
              </a:rPr>
              <a:t>Checklist J1 — Suis-je Prêt à Décrocher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71323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00AEEF"/>
                </a:solidFill>
                <a:latin typeface="Segoe UI"/>
              </a:rPr>
              <a:t>Valider chaque point avant de prendre son premier appel en autonomie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2834640" cy="4434840"/>
          </a:xfrm>
          <a:prstGeom prst="rect">
            <a:avLst/>
          </a:prstGeom>
          <a:solidFill>
            <a:srgbClr val="E8F0FB"/>
          </a:solidFill>
          <a:ln w="254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572768"/>
            <a:ext cx="2834640" cy="5486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664208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Mission &amp; Nomenclature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84831"/>
            <a:ext cx="256032" cy="25603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8483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483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Je connais la finalité humanitaire de la campagne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96311"/>
            <a:ext cx="256032" cy="25603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49631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49631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Je sais définir : CU, CU/H, PDC, TX, DEL, 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907791"/>
            <a:ext cx="256032" cy="25603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90779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90779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Je connais les 3 qualifications : DON / REFUS ARG. / INDÉCIS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19271"/>
            <a:ext cx="256032" cy="25603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31927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31927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Je maîtrise la méthode ERR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64408" y="1572768"/>
            <a:ext cx="2834640" cy="4434840"/>
          </a:xfrm>
          <a:prstGeom prst="rect">
            <a:avLst/>
          </a:prstGeom>
          <a:solidFill>
            <a:srgbClr val="FFF4E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64408" y="1572768"/>
            <a:ext cx="2834640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74136" y="1664208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KPI &amp; Formules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01568" y="2084831"/>
            <a:ext cx="256032" cy="2560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01568" y="208483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21608" y="208483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Je sais calculer mon CU/H en temps réel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01568" y="2496311"/>
            <a:ext cx="256032" cy="2560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01568" y="249631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21608" y="249631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Mon objectif CU/H est 9 minimum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01568" y="2907791"/>
            <a:ext cx="256032" cy="2560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01568" y="290779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21608" y="290779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Je sais calculer le Taux de Transformation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01568" y="3319271"/>
            <a:ext cx="256032" cy="2560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01568" y="331927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21608" y="331927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Je connais la formule du PDC équipe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08776" y="1572768"/>
            <a:ext cx="2834640" cy="4434840"/>
          </a:xfrm>
          <a:prstGeom prst="rect">
            <a:avLst/>
          </a:prstGeom>
          <a:solidFill>
            <a:srgbClr val="F3F0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08776" y="1572768"/>
            <a:ext cx="283464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18504" y="1664208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Produit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45936" y="2084831"/>
            <a:ext cx="256032" cy="2560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45936" y="208483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5976" y="208483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Seuls les PA réguliers sont proposés (jamais ponctuel)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45936" y="2496311"/>
            <a:ext cx="256032" cy="2560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45936" y="249631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5976" y="249631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Je connais les 2 modes : à chaud et promesse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45936" y="2907791"/>
            <a:ext cx="256032" cy="2560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45936" y="290779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65976" y="290779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Le lien est permanent — pas de date d'expiration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45936" y="3319271"/>
            <a:ext cx="256032" cy="2560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45936" y="331927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5976" y="331927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Un email de confirmation est envoyé automatiquement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53144" y="1572768"/>
            <a:ext cx="2834640" cy="4434840"/>
          </a:xfrm>
          <a:prstGeom prst="rect">
            <a:avLst/>
          </a:prstGeom>
          <a:solidFill>
            <a:srgbClr val="EAFAF1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53144" y="1572768"/>
            <a:ext cx="283464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62872" y="1664208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Appel &amp; Argumentation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90304" y="2084831"/>
            <a:ext cx="256032" cy="25603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90304" y="208483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10344" y="208483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Je connais les 7 étapes de l'appel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290304" y="2496311"/>
            <a:ext cx="256032" cy="25603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90304" y="249631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10344" y="249631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Je sais traiter au moins 4 objections principales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90304" y="2907791"/>
            <a:ext cx="256032" cy="25603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90304" y="290779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10344" y="290779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Je sais conclure dignement un refus définitif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290304" y="3319271"/>
            <a:ext cx="256032" cy="25603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290304" y="331927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10344" y="3319271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Segoe UI"/>
              </a:rPr>
              <a:t>Je sais suivre ma performance heure par heure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J1 FIM — Fidelis × SHY Performance  |  Formation Initiale Module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89320" y="0"/>
            <a:ext cx="54864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POUR RETENIR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"LE REFUS D'AUJOURD'HUI
PEUT ÊTRE
LE DON DE DEMAIN."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CCEE"/>
                </a:solidFill>
                <a:latin typeface="Segoe UI"/>
              </a:rPr>
              <a:t>Chaque appel est une opportunité de changer une vie.
Votre voix, votre conviction, votre argument —
c'est ce qui transforme une hésitation
en espoir concret.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LES CHIFFRES À RETENIR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874519"/>
            <a:ext cx="5394960" cy="56692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947671"/>
            <a:ext cx="1097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AEEF"/>
                </a:solidFill>
                <a:latin typeface="Segoe U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2" y="2020823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CU/H — objectif minimum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514599"/>
            <a:ext cx="5394960" cy="56692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587751"/>
            <a:ext cx="1097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AEEF"/>
                </a:solidFill>
                <a:latin typeface="Segoe UI"/>
              </a:rPr>
              <a:t>&gt; 60s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62672" y="2660903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Durée seuil d'un CU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154679"/>
            <a:ext cx="5394960" cy="56692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227831"/>
            <a:ext cx="1097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AEEF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2" y="3300983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Qualifications possibles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794759"/>
            <a:ext cx="5394960" cy="56692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3867911"/>
            <a:ext cx="1097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AEEF"/>
                </a:solidFill>
                <a:latin typeface="Segoe UI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62672" y="3941063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Étapes d'un appel réussi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434839"/>
            <a:ext cx="5394960" cy="56692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4507991"/>
            <a:ext cx="1097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AEEF"/>
                </a:solidFill>
                <a:latin typeface="Segoe UI"/>
              </a:rPr>
              <a:t>ERR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4581143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Méthode anti-objection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5074919"/>
            <a:ext cx="5394960" cy="566928"/>
          </a:xfrm>
          <a:prstGeom prst="rect">
            <a:avLst/>
          </a:prstGeom>
          <a:solidFill>
            <a:srgbClr val="004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5148071"/>
            <a:ext cx="1097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AEEF"/>
                </a:solidFill>
                <a:latin typeface="Segoe UI"/>
              </a:rPr>
              <a:t>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62672" y="5221223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Validité du lien de don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6473952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Fidelis × SHY Performance  |  Module J1 FIM  |  Formation Initiale Module  |  Confidentiel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