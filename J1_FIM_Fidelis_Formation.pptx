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7150" cy="68580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7150" y="0"/>
            <a:ext cx="4631801" cy="685800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74315" y="0"/>
            <a:ext cx="50292" cy="68580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937760"/>
            <a:ext cx="7557150" cy="43891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75488"/>
            <a:ext cx="2606040" cy="38404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7548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FORMATION INITIALE MODULE  ·  J1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6858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Segoe UI"/>
              </a:rPr>
              <a:t>MODULE J1 FIM</a:t>
            </a:r>
          </a:p>
          <a:p>
            <a:pPr algn="l"/>
            <a:r>
              <a:rPr sz="2800" b="0" i="0">
                <a:solidFill>
                  <a:srgbClr val="00AEEF"/>
                </a:solidFill>
                <a:latin typeface="Segoe UI"/>
              </a:rPr>
              <a:t>Collecte de Dons Humanitaires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29000"/>
            <a:ext cx="6766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EE"/>
                </a:solidFill>
                <a:latin typeface="Segoe UI"/>
              </a:rPr>
              <a:t>Formation des agents SHY Performance mandatés par Fidelis
pour la collecte de dons en faveur de l'UNICEF.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1874" y="914400"/>
            <a:ext cx="4206240" cy="749808"/>
          </a:xfrm>
          <a:prstGeom prst="rect">
            <a:avLst/>
          </a:prstGeom>
          <a:solidFill>
            <a:srgbClr val="0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4708" y="96926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EEF"/>
                </a:solidFill>
                <a:latin typeface="Segoe UI"/>
              </a:rPr>
              <a:t>🎯  Objectif CU/H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4708" y="1243584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     9 minimum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1874" y="1719072"/>
            <a:ext cx="4206240" cy="749808"/>
          </a:xfrm>
          <a:prstGeom prst="rect">
            <a:avLst/>
          </a:prstGeom>
          <a:solidFill>
            <a:srgbClr val="0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4708" y="177393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EEF"/>
                </a:solidFill>
                <a:latin typeface="Segoe UI"/>
              </a:rPr>
              <a:t>⏱  Seuil CU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4708" y="204825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     &gt; 60 secondes de communication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1874" y="2523744"/>
            <a:ext cx="4206240" cy="749808"/>
          </a:xfrm>
          <a:prstGeom prst="rect">
            <a:avLst/>
          </a:prstGeom>
          <a:solidFill>
            <a:srgbClr val="0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4708" y="257860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EEF"/>
                </a:solidFill>
                <a:latin typeface="Segoe UI"/>
              </a:rPr>
              <a:t>💳  Produit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4708" y="285292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     Prélèvement automatique régulier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1874" y="3328416"/>
            <a:ext cx="4206240" cy="749808"/>
          </a:xfrm>
          <a:prstGeom prst="rect">
            <a:avLst/>
          </a:prstGeom>
          <a:solidFill>
            <a:srgbClr val="0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4708" y="33832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EEF"/>
                </a:solidFill>
                <a:latin typeface="Segoe UI"/>
              </a:rPr>
              <a:t>🌍  Mandat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4708" y="365760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     Fidelis mandaté par l'UNICEF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1874" y="4133088"/>
            <a:ext cx="4206240" cy="749808"/>
          </a:xfrm>
          <a:prstGeom prst="rect">
            <a:avLst/>
          </a:prstGeom>
          <a:solidFill>
            <a:srgbClr val="0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4708" y="418795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EEF"/>
                </a:solidFill>
                <a:latin typeface="Segoe UI"/>
              </a:rPr>
              <a:t>🕐  Horaires J1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4708" y="446227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     9h30 – 17h30  |  Durée production : 6h40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5806440"/>
            <a:ext cx="7557150" cy="658368"/>
          </a:xfrm>
          <a:prstGeom prst="rect">
            <a:avLst/>
          </a:prstGeom>
          <a:solidFill>
            <a:srgbClr val="F76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824729"/>
            <a:ext cx="70695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"LE REFUS D'AUJOURD'HUI PEUT ÊTRE LE DON DE DEMAIN."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55664"/>
            <a:ext cx="12188952" cy="40233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483096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  <a:latin typeface="Segoe UI"/>
              </a:rPr>
              <a:t>J1 FIM — Fidelis × SHY Performance  |  Formation Initiale Module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8988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37744"/>
            <a:ext cx="822960" cy="402336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37744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087"/>
                </a:solidFill>
                <a:latin typeface="Segoe UI"/>
              </a:rPr>
              <a:t>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6459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Sommaire du Module J1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731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AEEF"/>
                </a:solidFill>
                <a:latin typeface="Segoe UI"/>
              </a:rPr>
              <a:t>Contenu issu strictement des informations de campagne transmises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72768"/>
            <a:ext cx="56692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572768"/>
            <a:ext cx="502920" cy="82296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72768"/>
            <a:ext cx="502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627632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  <a:latin typeface="Segoe UI"/>
              </a:rPr>
              <a:t>Mission &amp; Finalité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9751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Segoe UI"/>
              </a:rPr>
              <a:t>Comprendre l'enjeu humanitaire de la campagne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468880"/>
            <a:ext cx="56692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468880"/>
            <a:ext cx="502920" cy="82296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468880"/>
            <a:ext cx="502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523744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  <a:latin typeface="Segoe UI"/>
              </a:rPr>
              <a:t>Nomenclature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87121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Segoe UI"/>
              </a:rPr>
              <a:t>CU, PDC, TX, PEL, PA, DON, REFUS ARG., INDÉCIS…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64992"/>
            <a:ext cx="56692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364992"/>
            <a:ext cx="502920" cy="82296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364992"/>
            <a:ext cx="502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3419856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  <a:latin typeface="Segoe UI"/>
              </a:rPr>
              <a:t>KPI — CU/H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7673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Segoe UI"/>
              </a:rPr>
              <a:t>Formule, objectif 9 CU/H, exemple agent Philippe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261104"/>
            <a:ext cx="56692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261104"/>
            <a:ext cx="502920" cy="82296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261104"/>
            <a:ext cx="502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4315968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  <a:latin typeface="Segoe UI"/>
              </a:rPr>
              <a:t>KPI — Taux de Transformation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4663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Segoe UI"/>
              </a:rPr>
              <a:t>Formule PEL/PA, exemple Michel — 1 PEL / 72 CU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157216"/>
            <a:ext cx="56692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5157216"/>
            <a:ext cx="502920" cy="82296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5157216"/>
            <a:ext cx="502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21208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  <a:latin typeface="Segoe UI"/>
              </a:rPr>
              <a:t>KPI — Plan de Charge (PDC)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55595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Segoe UI"/>
              </a:rPr>
              <a:t>Volume mensuel, formule de vérification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1572768"/>
            <a:ext cx="56692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1572768"/>
            <a:ext cx="502920" cy="82296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1572768"/>
            <a:ext cx="502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0568" y="1627632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  <a:latin typeface="Segoe UI"/>
              </a:rPr>
              <a:t>Les 3 Qualifications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30568" y="19751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Segoe UI"/>
              </a:rPr>
              <a:t>DON / REFUS ARGUMENTÉ / INDÉCIS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2468880"/>
            <a:ext cx="56692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63640" y="2468880"/>
            <a:ext cx="502920" cy="82296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2468880"/>
            <a:ext cx="502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30568" y="2523744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  <a:latin typeface="Segoe UI"/>
              </a:rPr>
              <a:t>Carte Bancaire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0568" y="287121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Segoe UI"/>
              </a:rPr>
              <a:t>Définition et composants — IBAN, puce, cryptogramme…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3364992"/>
            <a:ext cx="56692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63640" y="3364992"/>
            <a:ext cx="502920" cy="82296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63640" y="3364992"/>
            <a:ext cx="502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30568" y="3419856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  <a:latin typeface="Segoe UI"/>
              </a:rPr>
              <a:t>Types d'Opérations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30568" y="37673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Segoe UI"/>
              </a:rPr>
              <a:t>La Conquête et La Fidélisation / Réactivation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4261104"/>
            <a:ext cx="56692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63640" y="4261104"/>
            <a:ext cx="502920" cy="82296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63640" y="4261104"/>
            <a:ext cx="502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30568" y="4315968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  <a:latin typeface="Segoe UI"/>
              </a:rPr>
              <a:t>Le Produit — PA Régulier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30568" y="4663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Segoe UI"/>
              </a:rPr>
              <a:t>2 modes : à chaud (IBAN) et promesse (lien)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63640" y="5157216"/>
            <a:ext cx="56692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263640" y="5157216"/>
            <a:ext cx="502920" cy="82296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63640" y="5157216"/>
            <a:ext cx="502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30568" y="521208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  <a:latin typeface="Segoe UI"/>
              </a:rPr>
              <a:t>La Phrase d'Accroche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30568" y="55595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Segoe UI"/>
              </a:rPr>
              <a:t>Script d'ouverture d'appel — règles officielles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5897880"/>
            <a:ext cx="11430000" cy="438912"/>
          </a:xfrm>
          <a:prstGeom prst="rect">
            <a:avLst/>
          </a:prstGeom>
          <a:solidFill>
            <a:srgbClr val="FEFDE8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5925312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83500"/>
                </a:solidFill>
                <a:latin typeface="Segoe UI"/>
              </a:rPr>
              <a:t>NOTE : Le traitement des objections, le script complet et les techniques avancées feront l'objet d'un book dédié séparé.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455664"/>
            <a:ext cx="12188952" cy="40233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4320" y="6483096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  <a:latin typeface="Segoe UI"/>
              </a:rPr>
              <a:t>J1 FIM — Fidelis × SHY Performance  |  Formation Initiale Module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8988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37744"/>
            <a:ext cx="822960" cy="402336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37744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087"/>
                </a:solidFill>
                <a:latin typeface="Segoe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6459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Mission &amp; Finalité de la Campagne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731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AEEF"/>
                </a:solidFill>
                <a:latin typeface="Segoe UI"/>
              </a:rPr>
              <a:t>Pourquoi nous appelons — ce que chaque don finance concrètement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72768"/>
            <a:ext cx="11521440" cy="804672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2763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EEF"/>
                </a:solidFill>
                <a:latin typeface="Segoe UI"/>
              </a:rPr>
              <a:t>FINALITÉ OFFICIELLE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Obtenir des dons (prélèvements automatiques réguliers) pour permettre à l'association de CONTINUER son action humanitaire et d'AUGMENTER durablement le taux de dons.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514600"/>
            <a:ext cx="3767328" cy="3310128"/>
          </a:xfrm>
          <a:prstGeom prst="rect">
            <a:avLst/>
          </a:prstGeom>
          <a:solidFill>
            <a:srgbClr val="EAFAF1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514600"/>
            <a:ext cx="3767328" cy="45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596896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Segoe UI"/>
              </a:rPr>
              <a:t>🌍  L'UNICEF &amp; SA MISSION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17520"/>
            <a:ext cx="3493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✓  Organisation de l'ONU créée en 1946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83280"/>
            <a:ext cx="3493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✓  Présente dans 190 pays et territoires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749040"/>
            <a:ext cx="3493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✓  Défend les droits et la survie des enfants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14800"/>
            <a:ext cx="3493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✓  Programmes : nutrition, santé, eau, éducation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480560"/>
            <a:ext cx="3493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✓  Protection des enfants en zones de conflit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78808" y="2514600"/>
            <a:ext cx="3767328" cy="3310128"/>
          </a:xfrm>
          <a:prstGeom prst="rect">
            <a:avLst/>
          </a:prstGeom>
          <a:solidFill>
            <a:srgbClr val="E8F0FB"/>
          </a:solidFill>
          <a:ln w="2540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78808" y="2514600"/>
            <a:ext cx="3767328" cy="4572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15968" y="2596896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57B8"/>
                </a:solidFill>
                <a:latin typeface="Segoe UI"/>
              </a:rPr>
              <a:t>💳  FIDELIS — NOTRE MANDAT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5968" y="3017520"/>
            <a:ext cx="3493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✓  Fidelis est mandaté par l'UNICEF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5968" y="3383280"/>
            <a:ext cx="3493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✓  Mission : collecter des dons par téléphone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15968" y="3749040"/>
            <a:ext cx="3493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✓  Produit unique : prélèvement automatique régulier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4114800"/>
            <a:ext cx="3493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✓  Nous représentons l'UNICEF lors de chaque appel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5968" y="4480560"/>
            <a:ext cx="3493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✓  Qualité du contact = image de l'UNICEF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37576" y="2514600"/>
            <a:ext cx="3767328" cy="3310128"/>
          </a:xfrm>
          <a:prstGeom prst="rect">
            <a:avLst/>
          </a:prstGeom>
          <a:solidFill>
            <a:srgbClr val="FFF4E6"/>
          </a:solidFill>
          <a:ln w="2540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37576" y="2514600"/>
            <a:ext cx="3767328" cy="4572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74736" y="2596896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941D"/>
                </a:solidFill>
                <a:latin typeface="Segoe UI"/>
              </a:rPr>
              <a:t>🎯  NOTRE OBJECTIF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74736" y="3017520"/>
            <a:ext cx="3493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✓  Obtenir des dons réguliers et pérennes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4736" y="3383280"/>
            <a:ext cx="3493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✓  Augmenter le taux de dons de l'association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4736" y="3749040"/>
            <a:ext cx="3493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✓  Le refus d'aujourd'hui = le don de demain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74736" y="4114800"/>
            <a:ext cx="3493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✓  Chaque argument planté est une graine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74736" y="4480560"/>
            <a:ext cx="3493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✓  Chaque donateur = des vies impactées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925312"/>
            <a:ext cx="11521440" cy="457200"/>
          </a:xfrm>
          <a:prstGeom prst="rect">
            <a:avLst/>
          </a:prstGeom>
          <a:solidFill>
            <a:srgbClr val="F76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5952744"/>
            <a:ext cx="11155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"LE REFUS D'AUJOURD'HUI PEUT ÊTRE LE DON DE DEMAIN."  —  Chaque appel compte.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55664"/>
            <a:ext cx="12188952" cy="40233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483096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  <a:latin typeface="Segoe UI"/>
              </a:rPr>
              <a:t>J1 FIM — Fidelis × SHY Performance  |  Formation Initiale Module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8988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37744"/>
            <a:ext cx="822960" cy="402336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37744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087"/>
                </a:solidFill>
                <a:latin typeface="Segoe U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6459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Nomenclature — Définitions Officielles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731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AEEF"/>
                </a:solidFill>
                <a:latin typeface="Segoe UI"/>
              </a:rPr>
              <a:t>Termes fondamentaux à maîtriser avant le premier appel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36192"/>
            <a:ext cx="91440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536192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SIGLE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1536192"/>
            <a:ext cx="292608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35024" y="1536192"/>
            <a:ext cx="2816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NOM COMPLET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536192"/>
            <a:ext cx="594360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6824" y="1536192"/>
            <a:ext cx="5833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DÉFINITION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41280" y="1536192"/>
            <a:ext cx="17373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96144" y="1536192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VALEUR / OBJ.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901952"/>
            <a:ext cx="11521440" cy="585216"/>
          </a:xfrm>
          <a:prstGeom prst="rect">
            <a:avLst/>
          </a:prstGeom>
          <a:solidFill>
            <a:srgbClr val="E8F0FB"/>
          </a:solidFill>
          <a:ln w="635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1993392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7B8"/>
                </a:solidFill>
                <a:latin typeface="Segoe UI"/>
              </a:rPr>
              <a:t>FIM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1993392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087"/>
                </a:solidFill>
                <a:latin typeface="Segoe UI"/>
              </a:rPr>
              <a:t>Formation Initiale Module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0248" y="1956816"/>
            <a:ext cx="5852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Programme de formation dispensé le premier jour d'intégration d'un agent sur la campagne.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59568" y="1993392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7941D"/>
                </a:solidFill>
                <a:latin typeface="Segoe UI"/>
              </a:rPr>
              <a:t>J1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523744"/>
            <a:ext cx="1152144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615184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7B8"/>
                </a:solidFill>
                <a:latin typeface="Segoe UI"/>
              </a:rPr>
              <a:t>CU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2615184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087"/>
                </a:solidFill>
                <a:latin typeface="Segoe UI"/>
              </a:rPr>
              <a:t>Contact Utile / Contact Argumenté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0248" y="2578608"/>
            <a:ext cx="5852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Appel dont la durée de communication dépasse strictement 60 secondes. En-dessous de ce seuil, l'appel n'est pas comptabilisé.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59568" y="2615184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7941D"/>
                </a:solidFill>
                <a:latin typeface="Segoe UI"/>
              </a:rPr>
              <a:t>&gt; 60 sec.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145536"/>
            <a:ext cx="11521440" cy="585216"/>
          </a:xfrm>
          <a:prstGeom prst="rect">
            <a:avLst/>
          </a:prstGeom>
          <a:solidFill>
            <a:srgbClr val="E8F0FB"/>
          </a:solidFill>
          <a:ln w="635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236976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7B8"/>
                </a:solidFill>
                <a:latin typeface="Segoe UI"/>
              </a:rPr>
              <a:t>CU/H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3236976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087"/>
                </a:solidFill>
                <a:latin typeface="Segoe UI"/>
              </a:rPr>
              <a:t>Contacts Utiles par Heure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0248" y="3200400"/>
            <a:ext cx="5852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Nombre de CU réalisés divisé par le nombre d'heures de production. Indicateur de productivité horaire.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59568" y="3236976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7941D"/>
                </a:solidFill>
                <a:latin typeface="Segoe UI"/>
              </a:rPr>
              <a:t>Objectif : 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767328"/>
            <a:ext cx="1152144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3858768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7B8"/>
                </a:solidFill>
                <a:latin typeface="Segoe UI"/>
              </a:rPr>
              <a:t>PDC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385876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087"/>
                </a:solidFill>
                <a:latin typeface="Segoe UI"/>
              </a:rPr>
              <a:t>Plan de Charge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70248" y="3822192"/>
            <a:ext cx="5852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Volume de CU à produire sur le mois, fixé au niveau de la campagne ou de l'équipe par la direction.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59568" y="3858768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7941D"/>
                </a:solidFill>
                <a:latin typeface="Segoe UI"/>
              </a:rPr>
              <a:t>XXXX CU/mois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389120"/>
            <a:ext cx="11521440" cy="585216"/>
          </a:xfrm>
          <a:prstGeom prst="rect">
            <a:avLst/>
          </a:prstGeom>
          <a:solidFill>
            <a:srgbClr val="E8F0FB"/>
          </a:solidFill>
          <a:ln w="635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480560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7B8"/>
                </a:solidFill>
                <a:latin typeface="Segoe UI"/>
              </a:rPr>
              <a:t>TX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98448" y="4480560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087"/>
                </a:solidFill>
                <a:latin typeface="Segoe UI"/>
              </a:rPr>
              <a:t>Taux de Transformation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70248" y="4443984"/>
            <a:ext cx="5852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Pourcentage de CU débouchant sur un don (DEL ou PA). Mesure l'efficacité commerciale de l'agent.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59568" y="4480560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7941D"/>
                </a:solidFill>
                <a:latin typeface="Segoe UI"/>
              </a:rPr>
              <a:t>Selon assoc.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55664"/>
            <a:ext cx="12188952" cy="40233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6483096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  <a:latin typeface="Segoe UI"/>
              </a:rPr>
              <a:t>J1 FIM — Fidelis × SHY Performance  |  Formation Initiale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8988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37744"/>
            <a:ext cx="822960" cy="402336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37744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087"/>
                </a:solidFill>
                <a:latin typeface="Segoe U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6459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Nomenclature — Définitions Officielles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731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AEEF"/>
                </a:solidFill>
                <a:latin typeface="Segoe UI"/>
              </a:rPr>
              <a:t>Modes de prélèvement et qualifications d'appel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36192"/>
            <a:ext cx="1005840" cy="31089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536192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SIGLE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1536192"/>
            <a:ext cx="2743200" cy="31089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6464" y="1536192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NOM COMPLET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536192"/>
            <a:ext cx="5943600" cy="31089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15384" y="1536192"/>
            <a:ext cx="5833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DÉFINITION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49840" y="1536192"/>
            <a:ext cx="1737360" cy="31089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04704" y="1536192"/>
            <a:ext cx="1627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VALEUR / OBJ.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865376"/>
            <a:ext cx="11521440" cy="475488"/>
          </a:xfrm>
          <a:prstGeom prst="rect">
            <a:avLst/>
          </a:prstGeom>
          <a:solidFill>
            <a:srgbClr val="E8F0FB"/>
          </a:solidFill>
          <a:ln w="635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1920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57B8"/>
                </a:solidFill>
                <a:latin typeface="Segoe UI"/>
              </a:rPr>
              <a:t>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1920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087"/>
                </a:solidFill>
                <a:latin typeface="Segoe UI"/>
              </a:rPr>
              <a:t>Don en Ligne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8808" y="1901952"/>
            <a:ext cx="5852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Don validé par prélèvement automatique, finalisé en ligne (par l'agent ou par le donateur lui-même via le lien).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68128" y="19202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7941D"/>
                </a:solidFill>
                <a:latin typeface="Segoe UI"/>
              </a:rPr>
              <a:t>Compte dans TX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363724"/>
            <a:ext cx="11521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4185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57B8"/>
                </a:solidFill>
                <a:latin typeface="Segoe UI"/>
              </a:rPr>
              <a:t>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241858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087"/>
                </a:solidFill>
                <a:latin typeface="Segoe UI"/>
              </a:rPr>
              <a:t>Prélèvement Automatique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78808" y="2400300"/>
            <a:ext cx="5852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Mode de don régulier prélevé automatiquement. Sur cette campagne, SEUL le PA régulier est proposé — aucun don ponctuel.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68128" y="241858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7941D"/>
                </a:solidFill>
                <a:latin typeface="Segoe UI"/>
              </a:rPr>
              <a:t>Mode unique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862072"/>
            <a:ext cx="11521440" cy="475488"/>
          </a:xfrm>
          <a:prstGeom prst="rect">
            <a:avLst/>
          </a:prstGeom>
          <a:solidFill>
            <a:srgbClr val="E8F0FB"/>
          </a:solidFill>
          <a:ln w="635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91693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57B8"/>
                </a:solidFill>
                <a:latin typeface="Segoe UI"/>
              </a:rPr>
              <a:t>IBAN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2916936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087"/>
                </a:solidFill>
                <a:latin typeface="Segoe UI"/>
              </a:rPr>
              <a:t>Coordonnées bancaires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78808" y="2898648"/>
            <a:ext cx="5852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Collectées à chaud pendant l'appel pour valider le PA immédiatement. L'agent valide lui-même le prélèvement en ligne.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68128" y="2916936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7941D"/>
                </a:solidFill>
                <a:latin typeface="Segoe UI"/>
              </a:rPr>
              <a:t>Mode A — À chaud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360420"/>
            <a:ext cx="11521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341528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57B8"/>
                </a:solidFill>
                <a:latin typeface="Segoe UI"/>
              </a:rPr>
              <a:t>DON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9888" y="3415284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087"/>
                </a:solidFill>
                <a:latin typeface="Segoe UI"/>
              </a:rPr>
              <a:t>Qualification : Don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78808" y="3396996"/>
            <a:ext cx="5852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CU dont l'issue est un PA confirmé, à chaud (IBAN) ou par promesse (lien envoyé). Entre dans le calcul du TX.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68128" y="3415284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7941D"/>
                </a:solidFill>
                <a:latin typeface="Segoe UI"/>
              </a:rPr>
              <a:t>Compte dans TX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858768"/>
            <a:ext cx="11521440" cy="475488"/>
          </a:xfrm>
          <a:prstGeom prst="rect">
            <a:avLst/>
          </a:prstGeom>
          <a:solidFill>
            <a:srgbClr val="E8F0FB"/>
          </a:solidFill>
          <a:ln w="635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391363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57B8"/>
                </a:solidFill>
                <a:latin typeface="Segoe UI"/>
              </a:rPr>
              <a:t>REF ARG.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89888" y="391363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087"/>
                </a:solidFill>
                <a:latin typeface="Segoe UI"/>
              </a:rPr>
              <a:t>Qualification : Refus Argumenté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78808" y="3895344"/>
            <a:ext cx="5852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CU conclu par refus mais après présentation d'au moins un contre-argument. Qualifier uniquement si l'agent a vraiment argumenté.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68128" y="391363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7941D"/>
                </a:solidFill>
                <a:latin typeface="Segoe UI"/>
              </a:rP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4357116"/>
            <a:ext cx="11521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44119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57B8"/>
                </a:solidFill>
                <a:latin typeface="Segoe UI"/>
              </a:rPr>
              <a:t>INDÉCIS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89888" y="44119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087"/>
                </a:solidFill>
                <a:latin typeface="Segoe UI"/>
              </a:rPr>
              <a:t>Qualification : Indécis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78808" y="4393692"/>
            <a:ext cx="5852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CU conclu par hésitation du contact. Un lien ou rappel peut être prévu. Potentiel de transformation ultérieure.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68128" y="44119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7941D"/>
                </a:solidFill>
                <a:latin typeface="Segoe UI"/>
              </a:rPr>
              <a:t>Suivi à prévoir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4855464"/>
            <a:ext cx="11521440" cy="475488"/>
          </a:xfrm>
          <a:prstGeom prst="rect">
            <a:avLst/>
          </a:prstGeom>
          <a:solidFill>
            <a:srgbClr val="E8F0FB"/>
          </a:solidFill>
          <a:ln w="635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491032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57B8"/>
                </a:solidFill>
                <a:latin typeface="Segoe UI"/>
              </a:rPr>
              <a:t>ERR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89888" y="491032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087"/>
                </a:solidFill>
                <a:latin typeface="Segoe UI"/>
              </a:rPr>
              <a:t>Écouter → Reformuler → Rebondir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78808" y="4892040"/>
            <a:ext cx="5852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Méthode officielle de traitement des objections (objet d'un book dédié). Ne jamais interrompre, toujours reformuler avant de répondre.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68128" y="491032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7941D"/>
                </a:solidFill>
                <a:latin typeface="Segoe UI"/>
              </a:rPr>
              <a:t>Book dédié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455664"/>
            <a:ext cx="12188952" cy="40233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6483096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  <a:latin typeface="Segoe UI"/>
              </a:rPr>
              <a:t>J1 FIM — Fidelis × SHY Performance  |  Formation Initiale Module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8988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37744"/>
            <a:ext cx="822960" cy="402336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37744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087"/>
                </a:solidFill>
                <a:latin typeface="Segoe U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6459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KPI 1 — Contacts Utiles par Heure (CU/H)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731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AEEF"/>
                </a:solidFill>
                <a:latin typeface="Segoe UI"/>
              </a:rPr>
              <a:t>Mesure de la productivité horaire — objectif : 9 CU/H minimum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72768"/>
            <a:ext cx="3200400" cy="22860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783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AEEF"/>
                </a:solidFill>
                <a:latin typeface="Segoe UI"/>
              </a:rPr>
              <a:t>CU / 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240280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1" i="0">
                <a:solidFill>
                  <a:srgbClr val="00AEEF"/>
                </a:solidFill>
                <a:latin typeface="Segoe U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18211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OBJECTIF MINIMUM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572768"/>
            <a:ext cx="8138160" cy="93268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58768" y="162763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087"/>
                </a:solidFill>
                <a:latin typeface="Segoe UI"/>
              </a:rPr>
              <a:t>Contact Utile (CU) — définition officielle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58768" y="1920240"/>
            <a:ext cx="7772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Segoe UI"/>
              </a:rPr>
              <a:t>Appel dont la durée de communication dépasse strictement 60 secondes. En-dessous, l'appel n'est PAS comptabilisé comme CU.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03320" y="2633472"/>
            <a:ext cx="8138160" cy="12344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6200" y="2724912"/>
            <a:ext cx="7772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AEEF"/>
                </a:solidFill>
                <a:latin typeface="Segoe UI"/>
              </a:rPr>
              <a:t>FORMULE MATHÉMATIQUE — CU/H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2999232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4FF"/>
                </a:solidFill>
                <a:latin typeface="Courier New"/>
              </a:rPr>
              <a:t>CU/H  =  Nombre de CU réalisés  ÷  Heures de production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005072"/>
            <a:ext cx="11521440" cy="1600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096512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AEEF"/>
                </a:solidFill>
                <a:latin typeface="Segoe UI"/>
              </a:rPr>
              <a:t>EXEMPLE NUMÉRIQUE — Agent Philippe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37083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DD3FC"/>
                </a:solidFill>
                <a:latin typeface="Courier New"/>
              </a:rPr>
              <a:t>CU réalisés      =  68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700016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DD3FC"/>
                </a:solidFill>
                <a:latin typeface="Courier New"/>
              </a:rPr>
              <a:t>Heures produites =   7 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02920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Courier New"/>
              </a:rPr>
              <a:t>CU/H  =  68  ÷  7  =  9,71  ✅  Objectif dépassé (≥ 9)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28523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  <a:latin typeface="Segoe UI"/>
              </a:rPr>
              <a:t>⚠  Heure de production = temps effectivement passé en ligne (hors pauses et formation)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55664"/>
            <a:ext cx="12188952" cy="40233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483096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  <a:latin typeface="Segoe UI"/>
              </a:rPr>
              <a:t>J1 FIM — Fidelis × SHY Performance  |  Formation Initiale Module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8988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37744"/>
            <a:ext cx="822960" cy="402336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37744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087"/>
                </a:solidFill>
                <a:latin typeface="Segoe U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6459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KPI 2 — Taux de Transformation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731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AEEF"/>
                </a:solidFill>
                <a:latin typeface="Segoe UI"/>
              </a:rPr>
              <a:t>% de PEL ou PA parmi les CU — mesure de l'efficacité commerciale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72768"/>
            <a:ext cx="3200400" cy="2286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7830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AEEF"/>
                </a:solidFill>
                <a:latin typeface="Segoe UI"/>
              </a:rPr>
              <a:t>TX TRANSFO.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212848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1" i="0">
                <a:solidFill>
                  <a:srgbClr val="00AEEF"/>
                </a:solidFill>
                <a:latin typeface="Segoe UI"/>
              </a:rPr>
              <a:t>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18211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CIBLE SELON ASSOCIATION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572768"/>
            <a:ext cx="8138160" cy="23317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1664208"/>
            <a:ext cx="7772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AEEF"/>
                </a:solidFill>
                <a:latin typeface="Segoe UI"/>
              </a:rPr>
              <a:t>FORMULE MATHÉMATIQUE — TAUX DE TRANSFORMATION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1938528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4FF"/>
                </a:solidFill>
                <a:latin typeface="Courier New"/>
              </a:rPr>
              <a:t>TX (%)  =  ( Nombre de PA  ou  PEL  ×  100 )  ÷  Nombre de CU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267712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FFFFFF"/>
                </a:solidFill>
                <a:latin typeface="Courier New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2596896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ourier New"/>
              </a:rPr>
              <a:t>   PA = Prélèvement Automatique  |  PEL = Prélèvement En Ligne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292608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ourier New"/>
              </a:rPr>
              <a:t>   Seuls les PA / PEL confirmés entrent dans le numérateur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023360"/>
            <a:ext cx="11521440" cy="1600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114800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AEEF"/>
                </a:solidFill>
                <a:latin typeface="Segoe UI"/>
              </a:rPr>
              <a:t>EXEMPLE NUMÉRIQUE — Agent Michel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38912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DD3FC"/>
                </a:solidFill>
                <a:latin typeface="Courier New"/>
              </a:rPr>
              <a:t>CU réalisés     =  72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718304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DD3FC"/>
                </a:solidFill>
                <a:latin typeface="Courier New"/>
              </a:rPr>
              <a:t>PEL obtenus     =  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04748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Courier New"/>
              </a:rPr>
              <a:t>TX  =  ( 1  ×  100 )  ÷  72  =  100  ÷  72  =  1,39 %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30352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  <a:latin typeface="Segoe UI"/>
              </a:rPr>
              <a:t>ℹ  Un PEL non finalisé (lien non complété par le donateur) ne compte pas encore dans le numérateur.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55664"/>
            <a:ext cx="12188952" cy="40233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483096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  <a:latin typeface="Segoe UI"/>
              </a:rPr>
              <a:t>J1 FIM — Fidelis × SHY Performance  |  Formation Initiale Module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8988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37744"/>
            <a:ext cx="822960" cy="402336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37744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087"/>
                </a:solidFill>
                <a:latin typeface="Segoe U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6459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KPI 3 — Plan de Charge (PDC)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731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AEEF"/>
                </a:solidFill>
                <a:latin typeface="Segoe UI"/>
              </a:rPr>
              <a:t>Volume mensuel de CU à produire — pilotage collectif de l'équipe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72768"/>
            <a:ext cx="3200400" cy="2286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783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PDC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267712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D8B4FE"/>
                </a:solidFill>
                <a:latin typeface="Segoe UI"/>
              </a:rPr>
              <a:t>XXXX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163824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CU / MOIS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572768"/>
            <a:ext cx="8138160" cy="23317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1664208"/>
            <a:ext cx="7772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AEEF"/>
                </a:solidFill>
                <a:latin typeface="Segoe UI"/>
              </a:rPr>
              <a:t>FORMULE DE VÉRIFICATION — PDC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1938528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4FF"/>
                </a:solidFill>
                <a:latin typeface="Courier New"/>
              </a:rPr>
              <a:t>PDC atteint  =  CU/H moyen équipe  ×  Heures produites totales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267712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FFFFFF"/>
                </a:solidFill>
                <a:latin typeface="Courier New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2596896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B5FD"/>
                </a:solidFill>
                <a:latin typeface="Courier New"/>
              </a:rPr>
              <a:t>CU/H requis  =  PDC mensuel cible  ÷  Heures totales équipe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023360"/>
            <a:ext cx="11521440" cy="1371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114800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AEEF"/>
                </a:solidFill>
                <a:latin typeface="Segoe UI"/>
              </a:rPr>
              <a:t>EXEMPLE — PDC cible 1 800 CU / équipe 200 h de production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38912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Courier New"/>
              </a:rPr>
              <a:t>CU/H requis  =  1 800  ÷  200  =  9 CU/H  =  objectif fixé 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07492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  <a:latin typeface="Segoe UI"/>
              </a:rPr>
              <a:t>Le PDC exact de la campagne sera communiqué par votre superviseur en début de mission.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559552"/>
            <a:ext cx="11521440" cy="457200"/>
          </a:xfrm>
          <a:prstGeom prst="rect">
            <a:avLst/>
          </a:prstGeom>
          <a:solidFill>
            <a:srgbClr val="E8F0FB"/>
          </a:solidFill>
          <a:ln w="1270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59612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087"/>
                </a:solidFill>
                <a:latin typeface="Segoe UI"/>
              </a:rPr>
              <a:t>RAPPEL : Chaque CU/H à 9 sur 200h d'équipe = 1 800 CU/mois. C'est pourquoi l'objectif individuel de 9 CU/H est non négociable.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55664"/>
            <a:ext cx="12188952" cy="40233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483096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  <a:latin typeface="Segoe UI"/>
              </a:rPr>
              <a:t>J1 FIM — Fidelis × SHY Performance  |  Formation Initiale Module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8988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37744"/>
            <a:ext cx="822960" cy="402336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37744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087"/>
                </a:solidFill>
                <a:latin typeface="Segoe UI"/>
              </a:rPr>
              <a:t>INFO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6459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Horaires de la Journée J1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731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AEEF"/>
                </a:solidFill>
                <a:latin typeface="Segoe UI"/>
              </a:rPr>
              <a:t>Organisation du temps — 9h30 à 17h30 | Durée de production effective : 6h40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72768"/>
            <a:ext cx="11521440" cy="54864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25880"/>
            <a:ext cx="54864" cy="5303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" y="10515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3087"/>
                </a:solidFill>
                <a:latin typeface="Segoe UI"/>
              </a:rPr>
              <a:t>9h30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719072"/>
            <a:ext cx="1691640" cy="1417320"/>
          </a:xfrm>
          <a:prstGeom prst="rect">
            <a:avLst/>
          </a:prstGeom>
          <a:solidFill>
            <a:srgbClr val="EAFAF1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7830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Segoe UI"/>
              </a:rPr>
              <a:t>DÉBUT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084831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Segoe UI"/>
              </a:rPr>
              <a:t>Prise de poste
Briefing équipe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1325880"/>
            <a:ext cx="54864" cy="530352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11680" y="10515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3087"/>
                </a:solidFill>
                <a:latin typeface="Segoe UI"/>
              </a:rPr>
              <a:t>10h00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1719072"/>
            <a:ext cx="1691640" cy="1417320"/>
          </a:xfrm>
          <a:prstGeom prst="rect">
            <a:avLst/>
          </a:prstGeom>
          <a:solidFill>
            <a:srgbClr val="E8F0FB"/>
          </a:solidFill>
          <a:ln w="1905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7440" y="17830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57B8"/>
                </a:solidFill>
                <a:latin typeface="Segoe UI"/>
              </a:rPr>
              <a:t>PRODUCTION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084831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Segoe UI"/>
              </a:rPr>
              <a:t>Appels en autonomie
CU/H cible : 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1325880"/>
            <a:ext cx="54864" cy="530352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10515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3087"/>
                </a:solidFill>
                <a:latin typeface="Segoe UI"/>
              </a:rPr>
              <a:t>12h30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1719072"/>
            <a:ext cx="1691640" cy="1417320"/>
          </a:xfrm>
          <a:prstGeom prst="rect">
            <a:avLst/>
          </a:prstGeom>
          <a:solidFill>
            <a:srgbClr val="FFF4E6"/>
          </a:solidFill>
          <a:ln w="1905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17830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7941D"/>
                </a:solidFill>
                <a:latin typeface="Segoe UI"/>
              </a:rPr>
              <a:t>DÉJEUNER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2084831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Segoe UI"/>
              </a:rPr>
              <a:t>Pause déjeuner
1 heure (non produite)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78040" y="1325880"/>
            <a:ext cx="54864" cy="530352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03720" y="10515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3087"/>
                </a:solidFill>
                <a:latin typeface="Segoe UI"/>
              </a:rPr>
              <a:t>13h30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1719072"/>
            <a:ext cx="1691640" cy="1417320"/>
          </a:xfrm>
          <a:prstGeom prst="rect">
            <a:avLst/>
          </a:prstGeom>
          <a:solidFill>
            <a:srgbClr val="E8F0FB"/>
          </a:solidFill>
          <a:ln w="1905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9480" y="17830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57B8"/>
                </a:solidFill>
                <a:latin typeface="Segoe UI"/>
              </a:rPr>
              <a:t>REPRISE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2084831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Segoe UI"/>
              </a:rPr>
              <a:t>Appels en autonomie
Suivi CU/H mi-journée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35440" y="1325880"/>
            <a:ext cx="54864" cy="5303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0" y="10515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3087"/>
                </a:solidFill>
                <a:latin typeface="Segoe UI"/>
              </a:rPr>
              <a:t>15h30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35440" y="1719072"/>
            <a:ext cx="1691640" cy="1417320"/>
          </a:xfrm>
          <a:prstGeom prst="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0" y="17830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Segoe UI"/>
              </a:rPr>
              <a:t>PAUSETTES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2084831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Segoe UI"/>
              </a:rPr>
              <a:t>20 min de pauses
(non produites)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515600" y="1325880"/>
            <a:ext cx="54864" cy="5303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41280" y="10515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3087"/>
                </a:solidFill>
                <a:latin typeface="Segoe UI"/>
              </a:rPr>
              <a:t>17h30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15600" y="1719072"/>
            <a:ext cx="1691640" cy="1417320"/>
          </a:xfrm>
          <a:prstGeom prst="rect">
            <a:avLst/>
          </a:prstGeom>
          <a:solidFill>
            <a:srgbClr val="FDF0EF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07040" y="17830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74C3C"/>
                </a:solidFill>
                <a:latin typeface="Segoe UI"/>
              </a:rPr>
              <a:t>FIN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2084831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Segoe UI"/>
              </a:rPr>
              <a:t>Débriefing
Saisie résultats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3337560"/>
            <a:ext cx="11521440" cy="54864"/>
          </a:xfrm>
          <a:prstGeom prst="rect">
            <a:avLst/>
          </a:prstGeom>
          <a:solidFill>
            <a:srgbClr val="DC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0040" y="3520440"/>
            <a:ext cx="2743200" cy="1508760"/>
          </a:xfrm>
          <a:prstGeom prst="rect">
            <a:avLst/>
          </a:prstGeom>
          <a:solidFill>
            <a:srgbClr val="E8F0FB"/>
          </a:solidFill>
          <a:ln w="25400">
            <a:solidFill>
              <a:srgbClr val="003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363931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087"/>
                </a:solidFill>
                <a:latin typeface="Segoe UI"/>
              </a:rPr>
              <a:t>⏰  Amplitude totale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005072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3087"/>
                </a:solidFill>
                <a:latin typeface="Segoe UI"/>
              </a:rPr>
              <a:t>8h00
(9h30 → 17h30)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18688" y="3520440"/>
            <a:ext cx="2743200" cy="1508760"/>
          </a:xfrm>
          <a:prstGeom prst="rect">
            <a:avLst/>
          </a:prstGeom>
          <a:solidFill>
            <a:srgbClr val="FDF0E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55848" y="363931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Segoe UI"/>
              </a:rPr>
              <a:t>🍽  Pause déjeuner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55848" y="4005072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74C3C"/>
                </a:solidFill>
                <a:latin typeface="Segoe UI"/>
              </a:rPr>
              <a:t>– 1h00
(non comptée)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17336" y="3520440"/>
            <a:ext cx="2743200" cy="1508760"/>
          </a:xfrm>
          <a:prstGeom prst="rect">
            <a:avLst/>
          </a:prstGeom>
          <a:solidFill>
            <a:srgbClr val="FFF4E6"/>
          </a:solidFill>
          <a:ln w="2540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54496" y="363931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941D"/>
                </a:solidFill>
                <a:latin typeface="Segoe UI"/>
              </a:rPr>
              <a:t>☕  Pausettes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54496" y="4005072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7941D"/>
                </a:solidFill>
                <a:latin typeface="Segoe UI"/>
              </a:rPr>
              <a:t>– 0h20
(non comptées)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15984" y="3520440"/>
            <a:ext cx="2743200" cy="1508760"/>
          </a:xfrm>
          <a:prstGeom prst="rect">
            <a:avLst/>
          </a:prstGeom>
          <a:solidFill>
            <a:srgbClr val="EAFAF1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53144" y="363931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Segoe UI"/>
              </a:rPr>
              <a:t>✅  Production effective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53144" y="4005072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7AE60"/>
                </a:solidFill>
                <a:latin typeface="Segoe UI"/>
              </a:rPr>
              <a:t>= 6h40
(base CU/H)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5166360"/>
            <a:ext cx="11521440" cy="12344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5257800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AEEF"/>
                </a:solidFill>
                <a:latin typeface="Segoe UI"/>
              </a:rPr>
              <a:t>CALCUL DE L'OBJECTIF CU JOURNALIER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553212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F4FF"/>
                </a:solidFill>
                <a:latin typeface="Courier New"/>
              </a:rPr>
              <a:t>Objectif CU journée  =  CU/H objectif  ×  Heures production effective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5861304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Courier New"/>
              </a:rPr>
              <a:t>Objectif CU journée  =  9  ×  6,67 h  =  60 CU / journée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608076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  <a:latin typeface="Segoe UI"/>
              </a:rPr>
              <a:t>⚠  6h40 = 6,67 heures décimales. Adapter si les horaires changent.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455664"/>
            <a:ext cx="12188952" cy="40233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6483096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  <a:latin typeface="Segoe UI"/>
              </a:rPr>
              <a:t>J1 FIM — Fidelis × SHY Performance  |  Formation Initiale Module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8988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37744"/>
            <a:ext cx="822960" cy="402336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37744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087"/>
                </a:solidFill>
                <a:latin typeface="Segoe U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6459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Définition — Carte Bancaire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731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AEEF"/>
                </a:solidFill>
                <a:latin typeface="Segoe UI"/>
              </a:rPr>
              <a:t>Comprendre la carte bancaire pour recueillir l'IBAN avec confiance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72768"/>
            <a:ext cx="4114800" cy="4736592"/>
          </a:xfrm>
          <a:prstGeom prst="rect">
            <a:avLst/>
          </a:prstGeom>
          <a:solidFill>
            <a:srgbClr val="E8F0FB"/>
          </a:solidFill>
          <a:ln w="1905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6420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087"/>
                </a:solidFill>
                <a:latin typeface="Segoe UI"/>
              </a:rPr>
              <a:t>DÉFINITION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29968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Segoe UI"/>
              </a:rPr>
              <a:t>Une carte de paiement est un moyen de paiement se présentant sous la forme d'une carte plastique mesurant 85,60 × 53,98 mm, équipée d'une bande magnétique et/ou puce électronique.
Elle permet le paiement, après de commerces physiques possédant un terminal de paiement électronique, ou auprès de commerce en ligne.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572768"/>
            <a:ext cx="7178040" cy="4736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46320" y="1737360"/>
            <a:ext cx="6812280" cy="4206240"/>
          </a:xfrm>
          <a:prstGeom prst="rect">
            <a:avLst/>
          </a:prstGeom>
          <a:solidFill>
            <a:srgbClr val="005000"/>
          </a:solidFill>
          <a:ln w="12700">
            <a:solidFill>
              <a:srgbClr val="00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1810512"/>
            <a:ext cx="6537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1C40F"/>
                </a:solidFill>
                <a:latin typeface="Segoe UI"/>
              </a:rPr>
              <a:t>Banque  ·  Finance pour tous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2212848"/>
            <a:ext cx="640080" cy="475488"/>
          </a:xfrm>
          <a:prstGeom prst="rect">
            <a:avLst/>
          </a:prstGeom>
          <a:solidFill>
            <a:srgbClr val="F1C40F"/>
          </a:solidFill>
          <a:ln w="12700">
            <a:solidFill>
              <a:srgbClr val="CC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22677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32200"/>
                </a:solidFill>
                <a:latin typeface="Segoe UI"/>
              </a:rPr>
              <a:t>PUCE
1992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2860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)))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2880360"/>
            <a:ext cx="6446520" cy="411480"/>
          </a:xfrm>
          <a:prstGeom prst="rect">
            <a:avLst/>
          </a:prstGeom>
          <a:solidFill>
            <a:srgbClr val="003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2926080"/>
            <a:ext cx="6263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urier New"/>
              </a:rPr>
              <a:t>0000  1234  5678  9123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4290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urier New"/>
              </a:rPr>
              <a:t>00/00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76732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urier New"/>
              </a:rPr>
              <a:t>MME KARINE PLUME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69880" y="3429000"/>
            <a:ext cx="10058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88168" y="3456432"/>
            <a:ext cx="9692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3087"/>
                </a:solidFill>
                <a:latin typeface="Segoe UI"/>
              </a:rPr>
              <a:t>VISA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6320" y="4370832"/>
            <a:ext cx="6812280" cy="3657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0" y="440740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Segoe UI"/>
              </a:rPr>
              <a:t>Piste magnétique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489204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495604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555555"/>
                </a:solidFill>
                <a:latin typeface="Segoe UI"/>
              </a:rPr>
              <a:t>Signature du titulaire obligatoire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53728" y="4892040"/>
            <a:ext cx="868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9448" y="4937760"/>
            <a:ext cx="777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74C3C"/>
                </a:solidFill>
                <a:latin typeface="Courier New"/>
              </a:rPr>
              <a:t>123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881360" y="4892040"/>
            <a:ext cx="594360" cy="502920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99648" y="4956048"/>
            <a:ext cx="5577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3087"/>
                </a:solidFill>
                <a:latin typeface="Segoe UI"/>
              </a:rPr>
              <a:t>HOLO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190195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003087"/>
                </a:solidFill>
                <a:latin typeface="Segoe UI"/>
              </a:rPr>
              <a:t>Identification établissement
émetteur &amp; propriétaire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248716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003087"/>
                </a:solidFill>
                <a:latin typeface="Segoe UI"/>
              </a:rPr>
              <a:t>Puce (depuis 1992)
sécurité système CB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290779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003087"/>
                </a:solidFill>
                <a:latin typeface="Segoe UI"/>
              </a:rPr>
              <a:t>Nom du titulaire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190195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003087"/>
                </a:solidFill>
                <a:latin typeface="Segoe UI"/>
              </a:rPr>
              <a:t>Paiement sans contact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230428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003087"/>
                </a:solidFill>
                <a:latin typeface="Segoe UI"/>
              </a:rPr>
              <a:t>Numéro de la carte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269748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003087"/>
                </a:solidFill>
                <a:latin typeface="Segoe UI"/>
              </a:rPr>
              <a:t>Logo Visa / MasterCard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309067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003087"/>
                </a:solidFill>
                <a:latin typeface="Segoe UI"/>
              </a:rPr>
              <a:t>Date d'expiration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3822191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003087"/>
                </a:solidFill>
                <a:latin typeface="Segoe UI"/>
              </a:rPr>
              <a:t>Cryptogramme : 3 derniers chiffres
pour sécuriser le paiement à distance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17720" y="425196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003087"/>
                </a:solidFill>
                <a:latin typeface="Segoe UI"/>
              </a:rPr>
              <a:t>Hologramme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0" y="3822191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003087"/>
                </a:solidFill>
                <a:latin typeface="Segoe UI"/>
              </a:rPr>
              <a:t>Adresse établissement émetteur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55664"/>
            <a:ext cx="12188952" cy="40233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6483096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  <a:latin typeface="Segoe UI"/>
              </a:rPr>
              <a:t>J1 FIM — Fidelis × SHY Performance  |  Formation Initiale Module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8988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37744"/>
            <a:ext cx="822960" cy="402336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37744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087"/>
                </a:solidFill>
                <a:latin typeface="Segoe U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6459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Les Types d'Opérations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731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AEEF"/>
                </a:solidFill>
                <a:latin typeface="Segoe UI"/>
              </a:rPr>
              <a:t>La Conquête et La Fidélisation / Réactivation — deux missions distinctes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72768"/>
            <a:ext cx="5486400" cy="4736592"/>
          </a:xfrm>
          <a:prstGeom prst="rect">
            <a:avLst/>
          </a:prstGeom>
          <a:solidFill>
            <a:srgbClr val="E8F0FB"/>
          </a:solidFill>
          <a:ln w="2540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572768"/>
            <a:ext cx="5486400" cy="54864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3087"/>
                </a:solidFill>
                <a:latin typeface="Segoe UI"/>
              </a:rPr>
              <a:t>LA CONQUÊTE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12848"/>
            <a:ext cx="5212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Segoe UI"/>
              </a:rPr>
              <a:t>Appeler pour la 1ère fois des prospects en leur présentant les missions de l'association que nous représentons.
Notre mission consiste à les convaincre d'adhérer à la cause que nous représentons et à les inciter à soutenir l'association en effectuant :
  ▶  un PA en ligne
       (Dossier conquête PA)
  ▶  ou un don en ligne
       (Dossier conquête DON)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572768"/>
            <a:ext cx="5715000" cy="4736592"/>
          </a:xfrm>
          <a:prstGeom prst="rect">
            <a:avLst/>
          </a:prstGeom>
          <a:solidFill>
            <a:srgbClr val="FFF4E6"/>
          </a:solidFill>
          <a:ln w="2540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572768"/>
            <a:ext cx="5715000" cy="54864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169164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7941D"/>
                </a:solidFill>
                <a:latin typeface="Segoe UI"/>
              </a:rPr>
              <a:t>LA FIDÉLISATION  (Réactivation)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2212848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Segoe UI"/>
              </a:rPr>
              <a:t>Rappeler les donateurs qui ont déjà fait un ou plusieurs dons à l'association mais il y a longtemps, pour leur indiquer l'importance de leur soutien à la cause.
Les tenir informés de l'actualité de l'association et les inciter à soutenir de nouveau nos actions.
S'ils acceptent, nous « réactivons » leur soutien.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5138928"/>
            <a:ext cx="5715000" cy="914400"/>
          </a:xfrm>
          <a:prstGeom prst="rect">
            <a:avLst/>
          </a:prstGeom>
          <a:solidFill>
            <a:srgbClr val="FDF0EF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5230368"/>
            <a:ext cx="5486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Segoe UI"/>
              </a:rPr>
              <a:t>⚠  ATTENTION : Veiller à ce que cet appel ne soit pas vécu par le donateur comme un rappel de paiement de cotisation.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55664"/>
            <a:ext cx="12188952" cy="40233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83096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  <a:latin typeface="Segoe UI"/>
              </a:rPr>
              <a:t>J1 FIM — Fidelis × SHY Performance  |  Formation Initiale Module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8988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37744"/>
            <a:ext cx="822960" cy="402336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37744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087"/>
                </a:solidFill>
                <a:latin typeface="Segoe U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6459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Les 3 Qualifications de Contact Utile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731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AEEF"/>
                </a:solidFill>
                <a:latin typeface="Segoe UI"/>
              </a:rPr>
              <a:t>Tout appel &gt; 60 secondes doit être qualifié immédiatement dans l'outil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72768"/>
            <a:ext cx="3749039" cy="4663440"/>
          </a:xfrm>
          <a:prstGeom prst="rect">
            <a:avLst/>
          </a:prstGeom>
          <a:solidFill>
            <a:srgbClr val="EAFAF1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572768"/>
            <a:ext cx="3749039" cy="502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664208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7AE60"/>
                </a:solidFill>
                <a:latin typeface="Segoe UI"/>
              </a:rPr>
              <a:t>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267712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7AE60"/>
                </a:solidFill>
                <a:latin typeface="Segoe UI"/>
              </a:rPr>
              <a:t>DON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670048"/>
            <a:ext cx="3419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Segoe UI"/>
              </a:rPr>
              <a:t>Le contact accepte le prélèvement automatique régulier.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3218688"/>
            <a:ext cx="341985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✓  PA confirmé à chaud (IBAN collecté pendant l'appel)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3566160"/>
            <a:ext cx="341985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✓  OU lien envoyé avec engagement verbal du donateur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3913632"/>
            <a:ext cx="341985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✓  Entre dans le calcul du Taux de Transformation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4261104"/>
            <a:ext cx="341985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✓  Qualifier DON uniquement si PA effectivement initié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87951" y="1572768"/>
            <a:ext cx="3749039" cy="4663440"/>
          </a:xfrm>
          <a:prstGeom prst="rect">
            <a:avLst/>
          </a:prstGeom>
          <a:solidFill>
            <a:srgbClr val="FDF0E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87951" y="1572768"/>
            <a:ext cx="3749039" cy="5029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87951" y="1664208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E74C3C"/>
                </a:solidFill>
                <a:latin typeface="Segoe UI"/>
              </a:rPr>
              <a:t>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87951" y="2267712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74C3C"/>
                </a:solidFill>
                <a:latin typeface="Segoe UI"/>
              </a:rPr>
              <a:t>REFUS ARGUMENTÉ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52543" y="2670048"/>
            <a:ext cx="3419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Segoe UI"/>
              </a:rPr>
              <a:t>Le contact refuse après avoir entendu l'argumentaire.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2543" y="3218688"/>
            <a:ext cx="341985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✓  L'agent a présenté au moins 1 contre-argument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2543" y="3566160"/>
            <a:ext cx="341985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✓  Le contact maintient son refus après échange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52543" y="3913632"/>
            <a:ext cx="341985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✓  Ne PAS qualifier sans avoir vraiment argumenté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52543" y="4261104"/>
            <a:ext cx="341985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✓  Ne compte pas dans le Taux de Transformation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55862" y="1572768"/>
            <a:ext cx="3749039" cy="4663440"/>
          </a:xfrm>
          <a:prstGeom prst="rect">
            <a:avLst/>
          </a:prstGeom>
          <a:solidFill>
            <a:srgbClr val="FFF4E6"/>
          </a:solidFill>
          <a:ln w="2540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55862" y="1572768"/>
            <a:ext cx="3749039" cy="50292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55862" y="1664208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7941D"/>
                </a:solidFill>
                <a:latin typeface="Segoe UI"/>
              </a:rPr>
              <a:t>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55862" y="2267712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7941D"/>
                </a:solidFill>
                <a:latin typeface="Segoe UI"/>
              </a:rPr>
              <a:t>INDÉCIS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0454" y="2670048"/>
            <a:ext cx="3419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Segoe UI"/>
              </a:rPr>
              <a:t>Le contact hésite ou souhaite réfléchir.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0454" y="3218688"/>
            <a:ext cx="341985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✓  Le contact est réceptif mais ne décide pas encore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0454" y="3566160"/>
            <a:ext cx="341985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✓  Un lien de don peut lui être envoyé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0454" y="3913632"/>
            <a:ext cx="341985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✓  Un rappel ultérieur peut être planifié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0454" y="4261104"/>
            <a:ext cx="341985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✓  Potentiel de transformation — le don de demain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6345936"/>
            <a:ext cx="11521440" cy="420624"/>
          </a:xfrm>
          <a:prstGeom prst="rect">
            <a:avLst/>
          </a:prstGeom>
          <a:solidFill>
            <a:srgbClr val="FEFDE8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37336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83500"/>
                </a:solidFill>
                <a:latin typeface="Segoe UI"/>
              </a:rPr>
              <a:t>RÈGLE ABSOLUE : Qualifier DON uniquement si un PA est effectivement initié (IBAN ou lien avec engagement). Tout doute = INDÉCIS.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55664"/>
            <a:ext cx="12188952" cy="40233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483096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  <a:latin typeface="Segoe UI"/>
              </a:rPr>
              <a:t>J1 FIM — Fidelis × SHY Performance  |  Formation Initiale Module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8988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37744"/>
            <a:ext cx="822960" cy="402336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37744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087"/>
                </a:solidFill>
                <a:latin typeface="Segoe U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6459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Le Produit — Prélèvement Automatique Régulier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731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AEEF"/>
                </a:solidFill>
                <a:latin typeface="Segoe UI"/>
              </a:rPr>
              <a:t>Position officielle SHY Performance sur cette campagne Fidelis × UNICEF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72768"/>
            <a:ext cx="11521440" cy="768096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276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EEF"/>
                </a:solidFill>
                <a:latin typeface="Segoe UI"/>
              </a:rPr>
              <a:t>RÈGLE D'OR DE LA CAMPAGNE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0195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Fidelis propose plusieurs types de prélèvement. Sur NOTRE campagne : SEUL le prélèvement automatique régulier est proposé. Aucun don ponctuel.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487168"/>
            <a:ext cx="5486400" cy="2514600"/>
          </a:xfrm>
          <a:prstGeom prst="rect">
            <a:avLst/>
          </a:prstGeom>
          <a:solidFill>
            <a:srgbClr val="EAFAF1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487168"/>
            <a:ext cx="5486400" cy="502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5786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  <a:latin typeface="Segoe UI"/>
              </a:rPr>
              <a:t>MODE A — Prélèvement À CHAUD  (prioritaire)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62656"/>
            <a:ext cx="5212080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Segoe UI"/>
              </a:rPr>
              <a:t>L'agent recueille l'IBAN du donateur pendant l'appel.
L'agent valide lui-même le prélèvement en ligne.
✓  Don sécurisé immédiatement
✓  Taux de concrétisation maximal
✓  Qualification : DON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487168"/>
            <a:ext cx="5715000" cy="2514600"/>
          </a:xfrm>
          <a:prstGeom prst="rect">
            <a:avLst/>
          </a:prstGeom>
          <a:solidFill>
            <a:srgbClr val="FFF4E6"/>
          </a:solidFill>
          <a:ln w="2540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2487168"/>
            <a:ext cx="5715000" cy="50292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257860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941D"/>
                </a:solidFill>
                <a:latin typeface="Segoe UI"/>
              </a:rPr>
              <a:t>MODE B — Promesse par LIEN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962656"/>
            <a:ext cx="5394960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Segoe UI"/>
              </a:rPr>
              <a:t>L'agent envoie un lien sécurisé au donateur.
Le donateur finalise lui-même en ligne après l'appel.
✓  Le lien n'a PAS de date de validité — il est permanent
✓  Redirige vers le site de l'association (UNICEF)
✓  Un e-mail de confirmation est envoyé au donateur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120640"/>
            <a:ext cx="11521440" cy="914400"/>
          </a:xfrm>
          <a:prstGeom prst="rect">
            <a:avLst/>
          </a:prstGeom>
          <a:solidFill>
            <a:srgbClr val="E8F0FB"/>
          </a:solidFill>
          <a:ln w="1905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1937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087"/>
                </a:solidFill>
                <a:latin typeface="Segoe UI"/>
              </a:rPr>
              <a:t>CARACTÉRISTIQUES DU LIEN DE DON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486400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Segoe UI"/>
              </a:rPr>
              <a:t>Aucune date d'expiration  ·  Redirige vers le site officiel de l'association  ·  E-mail de confirmation automatique au donateur  ·  Ne jamais mentionner de date limite.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55664"/>
            <a:ext cx="12188952" cy="40233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483096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  <a:latin typeface="Segoe UI"/>
              </a:rPr>
              <a:t>J1 FIM — Fidelis × SHY Performance  |  Formation Initiale Module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8988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37744"/>
            <a:ext cx="822960" cy="402336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37744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087"/>
                </a:solidFill>
                <a:latin typeface="Segoe U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6459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La Phrase d'Accroche — Règles Officielles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731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AEEF"/>
                </a:solidFill>
                <a:latin typeface="Segoe UI"/>
              </a:rPr>
              <a:t>Script d'ouverture d'appel — chaque règle est obligatoire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72768"/>
            <a:ext cx="115214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572768"/>
            <a:ext cx="457200" cy="91440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572768"/>
            <a:ext cx="45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1645920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7B8"/>
                </a:solidFill>
                <a:latin typeface="Segoe UI"/>
              </a:rPr>
              <a:t>Dire "Allô ?" et attendre la réponse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199339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Ne pas parler en premier. Prononcer uniquement « Allô ? » puis attendre. Le premier mot du contact permet d'identifier le genre (voix masculine → M. / voix féminine → Mme).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523744"/>
            <a:ext cx="115214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523744"/>
            <a:ext cx="457200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523744"/>
            <a:ext cx="45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2596896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latin typeface="Segoe UI"/>
              </a:rPr>
              <a:t>Identifier le donateur : Prénom + Nom (jamais l'inverse)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2944368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En français, on dit toujours le prénom en premier, suivi du nom. Exemples corrects : « Manuel Macron », « Christiano Ronaldo », « Donald Trump ».
❌ JAMAIS : « Macron Manuel » — ce n'est pas français.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474720"/>
            <a:ext cx="115214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474720"/>
            <a:ext cx="457200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474720"/>
            <a:ext cx="45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547872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  <a:latin typeface="Segoe UI"/>
              </a:rPr>
              <a:t>Formule de politesse : "Bonjour M. [Prénom Nom]"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3895344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Après identification, saluer chaleureusement. Utiliser le genre identifié à l'étape 1. La politesse dès les premières secondes empêche le raccrochage immédiat.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425696"/>
            <a:ext cx="115214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425696"/>
            <a:ext cx="457200" cy="91440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4425696"/>
            <a:ext cx="45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4498848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941D"/>
                </a:solidFill>
                <a:latin typeface="Segoe UI"/>
              </a:rPr>
              <a:t>Se présenter et présenter Fidelis mandaté par l'UNICEF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4846320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Donner son prénom, préciser que vous appelez de la part de Fidelis, mandaté par l'UNICEF. Légitimer immédiatement l'appel par la notoriété de l'UNICEF.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376672"/>
            <a:ext cx="115214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5376672"/>
            <a:ext cx="457200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5376672"/>
            <a:ext cx="45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449824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Segoe UI"/>
              </a:rPr>
              <a:t>Créer le lien — question sur la connaissance de l'UNICEF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" y="5797296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Demander au donateur s'il connaît les actions humanitaires de l'UNICEF. Quelle que soit la réponse, expliquer la mission. Cela crée l'engagement et dépasse les 60 secondes.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55664"/>
            <a:ext cx="12188952" cy="40233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483096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  <a:latin typeface="Segoe UI"/>
              </a:rPr>
              <a:t>J1 FIM — Fidelis × SHY Performance  |  Formation Initiale Module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8988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37744"/>
            <a:ext cx="822960" cy="402336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37744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087"/>
                </a:solidFill>
                <a:latin typeface="Segoe U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6459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La Phrase d'Accroche — Script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731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AEEF"/>
                </a:solidFill>
                <a:latin typeface="Segoe UI"/>
              </a:rPr>
              <a:t>Exemple complet d'ouverture d'appel respectant les 5 règles officielles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72768"/>
            <a:ext cx="11521440" cy="54864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09344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087"/>
                </a:solidFill>
                <a:latin typeface="Segoe UI"/>
              </a:rPr>
              <a:t>SCRIPT TYPE — à adapter selon le genre identifié (M. / Mme) et le prénom/nom du fichier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249424"/>
            <a:ext cx="1152144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249424"/>
            <a:ext cx="54864" cy="804672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9514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57B8"/>
                </a:solidFill>
                <a:latin typeface="Segoe UI"/>
              </a:rPr>
              <a:t>ÉTAPE 1 — Décrochage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420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003087"/>
                </a:solidFill>
                <a:latin typeface="Segoe UI"/>
              </a:rPr>
              <a:t>"Allô ?"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2322576"/>
            <a:ext cx="18288" cy="658368"/>
          </a:xfrm>
          <a:prstGeom prst="rect">
            <a:avLst/>
          </a:prstGeom>
          <a:solidFill>
            <a:srgbClr val="DC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6440" y="2322576"/>
            <a:ext cx="5897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Segoe UI"/>
              </a:rPr>
              <a:t>→ Attendre la réponse. Identifier la voix : masculine = M.  /  féminine = Mme.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090672"/>
            <a:ext cx="1152144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090672"/>
            <a:ext cx="54864" cy="8046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13639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9488"/>
                </a:solidFill>
                <a:latin typeface="Segoe UI"/>
              </a:rPr>
              <a:t>ÉTAPE 2 — Identification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3832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003087"/>
                </a:solidFill>
                <a:latin typeface="Segoe UI"/>
              </a:rPr>
              <a:t>"Bonjour, M. [Prénom] [Nom] ?"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3163824"/>
            <a:ext cx="18288" cy="658368"/>
          </a:xfrm>
          <a:prstGeom prst="rect">
            <a:avLst/>
          </a:prstGeom>
          <a:solidFill>
            <a:srgbClr val="DC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06440" y="3163824"/>
            <a:ext cx="5897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Segoe UI"/>
              </a:rPr>
              <a:t>→ Toujours Prénom puis Nom. Exemple : "Bonjour, M. Manuel Macron ?"  |  Jamais "M. Macron Manuel".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931920"/>
            <a:ext cx="1152144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931920"/>
            <a:ext cx="54864" cy="8046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9776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7AE60"/>
                </a:solidFill>
                <a:latin typeface="Segoe UI"/>
              </a:rPr>
              <a:t>ÉTAPE 3 — Présentation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2245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003087"/>
                </a:solidFill>
                <a:latin typeface="Segoe UI"/>
              </a:rPr>
              <a:t>"Je suis [Prénom], j'appelle de la part de Fidelis, mandaté par l'UNICEF."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4005072"/>
            <a:ext cx="18288" cy="658368"/>
          </a:xfrm>
          <a:prstGeom prst="rect">
            <a:avLst/>
          </a:prstGeom>
          <a:solidFill>
            <a:srgbClr val="DC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06440" y="4005072"/>
            <a:ext cx="5897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Segoe UI"/>
              </a:rPr>
              <a:t>→ Ton chaleureux et posé. La mention UNICEF légitime l'appel immédiatement.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73168"/>
            <a:ext cx="1152144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73168"/>
            <a:ext cx="54864" cy="804672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81888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7941D"/>
                </a:solidFill>
                <a:latin typeface="Segoe UI"/>
              </a:rPr>
              <a:t>ÉTAPE 4 — Création du lien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06577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003087"/>
                </a:solidFill>
                <a:latin typeface="Segoe UI"/>
              </a:rPr>
              <a:t>"Est-ce que vous avez des connaissances sur les actions humanitaires de l'UNICEF ?"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0" y="4846320"/>
            <a:ext cx="18288" cy="658368"/>
          </a:xfrm>
          <a:prstGeom prst="rect">
            <a:avLst/>
          </a:prstGeom>
          <a:solidFill>
            <a:srgbClr val="DC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06440" y="4846320"/>
            <a:ext cx="5897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Segoe UI"/>
              </a:rPr>
              <a:t>→ Question ouverte. Quelle que soit la réponse, continuer avec la présentation de la mission.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5614416"/>
            <a:ext cx="1152144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5614416"/>
            <a:ext cx="54864" cy="8046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6601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  <a:latin typeface="Segoe UI"/>
              </a:rPr>
              <a:t>ÉTAPE 5 — Présentation de la mission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90702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003087"/>
                </a:solidFill>
                <a:latin typeface="Segoe UI"/>
              </a:rPr>
              <a:t>"L'UNICEF est présent dans 190 pays pour protéger les enfants : nutrition, santé, eau potable, éducation…"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0" y="5687568"/>
            <a:ext cx="18288" cy="658368"/>
          </a:xfrm>
          <a:prstGeom prst="rect">
            <a:avLst/>
          </a:prstGeom>
          <a:solidFill>
            <a:srgbClr val="DC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06440" y="5687568"/>
            <a:ext cx="5897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Segoe UI"/>
              </a:rPr>
              <a:t>→ Créer l'émotion. Personnaliser si le donateur connaît déjà. Préparer la proposition de don.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55664"/>
            <a:ext cx="12188952" cy="40233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6483096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  <a:latin typeface="Segoe UI"/>
              </a:rPr>
              <a:t>J1 FIM — Fidelis × SHY Performance  |  Formation Initiale Module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35040" y="0"/>
            <a:ext cx="50292" cy="68580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941D"/>
                </a:solidFill>
                <a:latin typeface="Segoe UI"/>
              </a:rPr>
              <a:t>POUR RETENIR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"LE REFUS D'AUJOURD'HUI
PEUT ÊTRE
LE DON DE DEMAIN."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CCEE"/>
                </a:solidFill>
                <a:latin typeface="Segoe UI"/>
              </a:rPr>
              <a:t>Chaque appel est une opportunité de changer une vie.
Votre voix, votre conviction, votre argument —
c'est ce qui transforme une hésitation
en don concret pour l'UNICEF.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2588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EEF"/>
                </a:solidFill>
                <a:latin typeface="Segoe UI"/>
              </a:rPr>
              <a:t>LES CHIFFRES CLÉS DU J1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828800"/>
            <a:ext cx="5394960" cy="566928"/>
          </a:xfrm>
          <a:prstGeom prst="rect">
            <a:avLst/>
          </a:prstGeom>
          <a:solidFill>
            <a:srgbClr val="0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901952"/>
            <a:ext cx="1051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AEEF"/>
                </a:solidFill>
                <a:latin typeface="Segoe UI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7808" y="197510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CU/H — objectif minimum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468880"/>
            <a:ext cx="5394960" cy="566928"/>
          </a:xfrm>
          <a:prstGeom prst="rect">
            <a:avLst/>
          </a:prstGeom>
          <a:solidFill>
            <a:srgbClr val="0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542032"/>
            <a:ext cx="1051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AEEF"/>
                </a:solidFill>
                <a:latin typeface="Segoe UI"/>
              </a:rPr>
              <a:t>&gt; 60s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7808" y="261518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Durée seuil d'un CU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108960"/>
            <a:ext cx="5394960" cy="566928"/>
          </a:xfrm>
          <a:prstGeom prst="rect">
            <a:avLst/>
          </a:prstGeom>
          <a:solidFill>
            <a:srgbClr val="0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3182112"/>
            <a:ext cx="1051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AEEF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8" y="325526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Qualifications : DON / REFUS ARG. / INDÉCIS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749040"/>
            <a:ext cx="5394960" cy="566928"/>
          </a:xfrm>
          <a:prstGeom prst="rect">
            <a:avLst/>
          </a:prstGeom>
          <a:solidFill>
            <a:srgbClr val="0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3822192"/>
            <a:ext cx="1051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AEEF"/>
                </a:solidFill>
                <a:latin typeface="Segoe U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8" y="389534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Modes de PA : à chaud (IBAN) et promesse (lien)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389120"/>
            <a:ext cx="5394960" cy="566928"/>
          </a:xfrm>
          <a:prstGeom prst="rect">
            <a:avLst/>
          </a:prstGeom>
          <a:solidFill>
            <a:srgbClr val="0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4462272"/>
            <a:ext cx="1051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AEEF"/>
                </a:solidFill>
                <a:latin typeface="Segoe U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7808" y="453542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Étapes de la phrase d'accroche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5029200"/>
            <a:ext cx="5394960" cy="566928"/>
          </a:xfrm>
          <a:prstGeom prst="rect">
            <a:avLst/>
          </a:prstGeom>
          <a:solidFill>
            <a:srgbClr val="0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5102352"/>
            <a:ext cx="1051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AEEF"/>
                </a:solidFill>
                <a:latin typeface="Segoe UI"/>
              </a:rPr>
              <a:t>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07808" y="517550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Validité du lien de don — aucune expiration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742432"/>
            <a:ext cx="11521440" cy="566928"/>
          </a:xfrm>
          <a:prstGeom prst="rect">
            <a:avLst/>
          </a:prstGeom>
          <a:solidFill>
            <a:srgbClr val="F76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760720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Le traitement des objections, le script complet et les techniques avancées feront l'objet d'un book dédié séparé.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55664"/>
            <a:ext cx="12188952" cy="40233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483096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  <a:latin typeface="Segoe UI"/>
              </a:rPr>
              <a:t>Fidelis × SHY Performance  |  Module J1 FIM  |  Formation Initiale Module  |  Confidentiel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