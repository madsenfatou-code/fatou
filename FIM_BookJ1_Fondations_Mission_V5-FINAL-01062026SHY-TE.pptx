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754880" cy="4572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48640"/>
            <a:ext cx="1124321" cy="10972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1920240"/>
            <a:ext cx="3840480" cy="5029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4D4D"/>
                </a:solidFill>
                <a:latin typeface="Calibri"/>
              </a:rPr>
              <a:t>JOUR 1</a:t>
            </a:r>
          </a:p>
        </p:txBody>
      </p:sp>
      <p:sp>
        <p:nvSpPr>
          <p:cNvPr id="8" name="Rectangle 7"/>
          <p:cNvSpPr/>
          <p:nvPr/>
        </p:nvSpPr>
        <p:spPr>
          <a:xfrm>
            <a:off x="2194560" y="2560320"/>
            <a:ext cx="36576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566928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D4A017"/>
                </a:solidFill>
                <a:latin typeface="Calibri"/>
              </a:rPr>
              <a:t>SHY-Performance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98932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E5E5"/>
                </a:solidFill>
                <a:latin typeface="Calibri"/>
              </a:rPr>
              <a:t>FIDELIS × UNICEF France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914400"/>
            <a:ext cx="6858000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1097280"/>
            <a:ext cx="6858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04D4D"/>
                </a:solidFill>
                <a:latin typeface="Calibri"/>
              </a:rPr>
              <a:t>JOUR 1
FONDATIONS &amp; MISSION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3840480"/>
            <a:ext cx="4572000" cy="457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402336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1A1A"/>
                </a:solidFill>
                <a:latin typeface="Calibri"/>
              </a:rPr>
              <a:t>Mission, KPIs, Nomenclature &amp; Script d'Accroche
SHY-Performance × FIDELIS × UNICEF France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5074920"/>
            <a:ext cx="3657600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507492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Formation Initiale Module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Mission &amp; Finalité de la Campagne</a:t>
            </a:r>
          </a:p>
        </p:txBody>
      </p:sp>
      <p:pic>
        <p:nvPicPr>
          <p:cNvPr id="8" name="Picture 7" descr="sh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1447800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01168" y="1481328"/>
            <a:ext cx="11987784" cy="733044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1481328"/>
            <a:ext cx="64008" cy="73304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9639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59639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517904"/>
            <a:ext cx="11000232" cy="659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Finalité officielle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obtenir des prélèvements automatiques réguliers (PA)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250948"/>
            <a:ext cx="11987784" cy="7330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" y="2250948"/>
            <a:ext cx="64008" cy="73304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36601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36601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287524"/>
            <a:ext cx="11000232" cy="659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Permettre à l'UNICEF de CONTINUER son action humanitaire sur le terrain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3020568"/>
            <a:ext cx="11987784" cy="733044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168" y="3020568"/>
            <a:ext cx="64008" cy="73304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13563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313563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3057144"/>
            <a:ext cx="11000232" cy="659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AUGMENTER durablement le taux de dons pour la lutte contre la malnutrition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" y="3790188"/>
            <a:ext cx="11987784" cy="7330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1168" y="3790188"/>
            <a:ext cx="64008" cy="73304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90525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90525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826764"/>
            <a:ext cx="11000232" cy="659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L'UNICEF intervient dans 190 pays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75 ans d'action humanitaire depuis 1946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" y="4559808"/>
            <a:ext cx="11987784" cy="733044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1168" y="4559808"/>
            <a:ext cx="64008" cy="73304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467487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467487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4596384"/>
            <a:ext cx="11000232" cy="659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Chaque don finance directement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sachets RUTF, vaccins, eau potable, protection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" y="5329428"/>
            <a:ext cx="11987784" cy="7330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01168" y="5329428"/>
            <a:ext cx="64008" cy="73304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544449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544449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5366004"/>
            <a:ext cx="11000232" cy="659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Campagne opérée par SHY-Performance, mandatée par FIDELIS pour l'UNICEF France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Nomenclature Métier — Définitions (1/2)</a:t>
            </a:r>
          </a:p>
        </p:txBody>
      </p:sp>
      <p:pic>
        <p:nvPicPr>
          <p:cNvPr id="8" name="Picture 7" descr="sh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1447800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01168" y="1481328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1481328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17904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517904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517904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CU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Contact Utile : appel de plus de 60 secondes correctement qualifié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056093"/>
            <a:ext cx="11987784" cy="5381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" y="2056093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092669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092669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092669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CU/H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Contacts Utiles par Heure : mesure de la productivité horaire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2630859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168" y="2630859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667435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667435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2667435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TX Transfo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Taux de Transformation : % de PEL ou PA parmi les CU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" y="3205625"/>
            <a:ext cx="11987784" cy="5381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1168" y="3205625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242201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242201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242201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PDC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Plan de Charge : volume mensuel de CU à produire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" y="3780390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1168" y="3780390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3816966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3816966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3816966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PA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Prélèvement Automatique : don mensuel régulier du donateur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" y="4355156"/>
            <a:ext cx="11987784" cy="5381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01168" y="4355156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391732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4391732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4391732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PEL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Prélèvement En Ligne : validation PA via formulaire en ligne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1168" y="4929922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01168" y="4929922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0040" y="4966498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4966498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4966498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DON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qualification : le contact accepte le prélèvement automatique régulier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01168" y="5614416"/>
            <a:ext cx="11987784" cy="539496"/>
          </a:xfrm>
          <a:prstGeom prst="rect">
            <a:avLst/>
          </a:prstGeom>
          <a:solidFill>
            <a:srgbClr val="FFF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01168" y="5614416"/>
            <a:ext cx="164592" cy="53949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5669280"/>
            <a:ext cx="11457432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4D4D"/>
                </a:solidFill>
                <a:latin typeface="Calibri"/>
              </a:rPr>
              <a:t>💡  Maîtriser ces termes avant le premier appel — évalués au Quiz J5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Nomenclature Métier — Définitions (2/2)</a:t>
            </a:r>
          </a:p>
        </p:txBody>
      </p:sp>
      <p:pic>
        <p:nvPicPr>
          <p:cNvPr id="8" name="Picture 7" descr="sh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1447800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01168" y="1481328"/>
            <a:ext cx="11987784" cy="633984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1481328"/>
            <a:ext cx="64008" cy="63398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4686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5468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517904"/>
            <a:ext cx="11000232" cy="56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INDÉCIS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qualification : contact intéressé mais n'a pas validé son don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151888"/>
            <a:ext cx="11987784" cy="6339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" y="2151888"/>
            <a:ext cx="64008" cy="63398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21742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2174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188464"/>
            <a:ext cx="11000232" cy="56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REFUS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qualification : contact ne souhaite pas soutenir l'UNICEF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2822448"/>
            <a:ext cx="11987784" cy="633984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168" y="2822448"/>
            <a:ext cx="64008" cy="63398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88798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8879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2859024"/>
            <a:ext cx="11000232" cy="56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NON CONTACTÉ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qualification : appel &lt; 60 secondes ou pas d'identification réelle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" y="3493008"/>
            <a:ext cx="11987784" cy="6339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1168" y="3493008"/>
            <a:ext cx="64008" cy="63398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55854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5585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529584"/>
            <a:ext cx="11000232" cy="56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ABSENT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qualification : répondeur, NRP, raccroché sans identification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" y="4163568"/>
            <a:ext cx="11987784" cy="633984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1168" y="4163568"/>
            <a:ext cx="64008" cy="63398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422910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42291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4200144"/>
            <a:ext cx="11000232" cy="56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CONQUÊTE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appeler pour la 1ère fois des prospects non encore donateurs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" y="4834128"/>
            <a:ext cx="11987784" cy="6339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01168" y="4834128"/>
            <a:ext cx="64008" cy="63398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89966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48996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4870704"/>
            <a:ext cx="11000232" cy="56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FIDÉLISATION / RÉACTIVATION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relancer d'anciens donateurs ou contacts indécis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1168" y="5614416"/>
            <a:ext cx="11987784" cy="539496"/>
          </a:xfrm>
          <a:prstGeom prst="rect">
            <a:avLst/>
          </a:prstGeom>
          <a:solidFill>
            <a:srgbClr val="FFF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01168" y="5614416"/>
            <a:ext cx="164592" cy="53949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5669280"/>
            <a:ext cx="11457432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4D4D"/>
                </a:solidFill>
                <a:latin typeface="Calibri"/>
              </a:rPr>
              <a:t>💡  50% de la qualité Fidelis repose sur une qualification CONFORME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KPI 1 — Contacts Utiles par Heure (CU/H)</a:t>
            </a:r>
          </a:p>
        </p:txBody>
      </p:sp>
      <p:pic>
        <p:nvPicPr>
          <p:cNvPr id="8" name="Picture 7" descr="sh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1447800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01168" y="1481328"/>
            <a:ext cx="11987784" cy="633984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1481328"/>
            <a:ext cx="64008" cy="63398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4686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5468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517904"/>
            <a:ext cx="11000232" cy="56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Définition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nombre de contacts utiles réalisés en une heure de production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151888"/>
            <a:ext cx="11987784" cy="6339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" y="2151888"/>
            <a:ext cx="64008" cy="63398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21742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2174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188464"/>
            <a:ext cx="11000232" cy="56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Objectif minimum : 9 CU/H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seuil de performance attendu par Fidelis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2822448"/>
            <a:ext cx="11987784" cy="633984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168" y="2822448"/>
            <a:ext cx="64008" cy="63398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88798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8879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2859024"/>
            <a:ext cx="11000232" cy="56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Mesure la productivité horaire du fundraiser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" y="3493008"/>
            <a:ext cx="11987784" cy="6339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1168" y="3493008"/>
            <a:ext cx="64008" cy="63398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55854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5585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529584"/>
            <a:ext cx="11000232" cy="56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Un appel est Utile (CU) s'il dure plus de 60 secondes et est correctement qualifié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" y="4163568"/>
            <a:ext cx="11987784" cy="633984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1168" y="4163568"/>
            <a:ext cx="64008" cy="63398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422910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42291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4200144"/>
            <a:ext cx="11000232" cy="56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En dessous de 9 CU/H → identifier les blocages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tempo, transitions, décrochage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" y="4834128"/>
            <a:ext cx="11987784" cy="6339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01168" y="4834128"/>
            <a:ext cx="64008" cy="63398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89966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48996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4870704"/>
            <a:ext cx="11000232" cy="56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Suivi en temps réel sur l'outil CRM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visible par le superviseur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1168" y="5614416"/>
            <a:ext cx="11987784" cy="539496"/>
          </a:xfrm>
          <a:prstGeom prst="rect">
            <a:avLst/>
          </a:prstGeom>
          <a:solidFill>
            <a:srgbClr val="FFF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01168" y="5614416"/>
            <a:ext cx="164592" cy="53949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5669280"/>
            <a:ext cx="11457432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4D4D"/>
                </a:solidFill>
                <a:latin typeface="Calibri"/>
              </a:rPr>
              <a:t>💡  9 CU/H minimum — sous ce seuil, un accompagnement superviseur est déclenché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KPI 2 &amp; 3 — Taux de Transformation &amp; Plan de Charge</a:t>
            </a:r>
          </a:p>
        </p:txBody>
      </p:sp>
      <p:pic>
        <p:nvPicPr>
          <p:cNvPr id="8" name="Picture 7" descr="sh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1447800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01168" y="1481328"/>
            <a:ext cx="11987784" cy="733044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1481328"/>
            <a:ext cx="64008" cy="73304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9639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59639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517904"/>
            <a:ext cx="11000232" cy="659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TX Transfo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% de PEL ou PA obtenus parmi les Contacts Utiles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250948"/>
            <a:ext cx="11987784" cy="7330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" y="2250948"/>
            <a:ext cx="64008" cy="73304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36601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36601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287524"/>
            <a:ext cx="11000232" cy="659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TX Transfo cible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défini par l'association selon la campagne en cours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3020568"/>
            <a:ext cx="11987784" cy="733044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168" y="3020568"/>
            <a:ext cx="64008" cy="73304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13563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313563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3057144"/>
            <a:ext cx="11000232" cy="659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Un TX Transfo élevé = argumentation efficace + bon traitement des objections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" y="3790188"/>
            <a:ext cx="11987784" cy="7330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1168" y="3790188"/>
            <a:ext cx="64008" cy="73304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90525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90525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826764"/>
            <a:ext cx="11000232" cy="659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PDC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Plan de Charge : volume mensuel global de CU à produire par l'équipe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" y="4559808"/>
            <a:ext cx="11987784" cy="733044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1168" y="4559808"/>
            <a:ext cx="64008" cy="73304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467487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467487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4596384"/>
            <a:ext cx="11000232" cy="659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Le PDC est calculé par Fidelis en fonction des objectifs campagne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" y="5329428"/>
            <a:ext cx="11987784" cy="7330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01168" y="5329428"/>
            <a:ext cx="64008" cy="73304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544449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544449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5366004"/>
            <a:ext cx="11000232" cy="659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Pilotage collectif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chaque fundraiser contribue au PDC de l'équipe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Les 2 Types d'Opérations</a:t>
            </a:r>
          </a:p>
        </p:txBody>
      </p:sp>
      <p:pic>
        <p:nvPicPr>
          <p:cNvPr id="8" name="Picture 7" descr="sh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1447800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12648" y="1572768"/>
            <a:ext cx="5362956" cy="374904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508760"/>
            <a:ext cx="5362956" cy="3749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508760"/>
            <a:ext cx="5362956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545336"/>
            <a:ext cx="536295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039112"/>
            <a:ext cx="536295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4D4D"/>
                </a:solidFill>
                <a:latin typeface="Calibri"/>
              </a:rPr>
              <a:t>LA CONQUÊTE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651760"/>
            <a:ext cx="4814316" cy="2743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697480"/>
            <a:ext cx="5180076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Appeler pour la 1ère fois des prospects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Présenter les missions de l'UNICEF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Convaincre d'adhérer à la cause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Inciter au soutien : PA en ligne ou DON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Dossier : conquête PA ou conquête DON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58484" y="1572768"/>
            <a:ext cx="5362956" cy="374904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94476" y="1508760"/>
            <a:ext cx="5362956" cy="3749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94476" y="1508760"/>
            <a:ext cx="5362956" cy="502920"/>
          </a:xfrm>
          <a:prstGeom prst="rect">
            <a:avLst/>
          </a:prstGeom>
          <a:solidFill>
            <a:srgbClr val="006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4476" y="1545336"/>
            <a:ext cx="536295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4476" y="2039112"/>
            <a:ext cx="536295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6565"/>
                </a:solidFill>
                <a:latin typeface="Calibri"/>
              </a:rPr>
              <a:t>FIDÉLISATION / RÉACTIVATION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68796" y="2651760"/>
            <a:ext cx="4814316" cy="2743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85916" y="2697480"/>
            <a:ext cx="5180076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Relancer d'anciens donateurs ou contacts indécis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Maintenir et renforcer l'engagement existant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Réactiver les donateurs inactifs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Proposer une augmentation du montant du don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Dossier : fidélisation ou réactivation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303520"/>
            <a:ext cx="11274552" cy="82296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5303520"/>
            <a:ext cx="11274552" cy="36576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340096"/>
            <a:ext cx="37581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8080"/>
                </a:solidFill>
                <a:latin typeface="Calibri"/>
              </a:rPr>
              <a:t>🎯 CONQUÊTE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742432"/>
            <a:ext cx="37581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4D4D"/>
                </a:solidFill>
                <a:latin typeface="Calibri"/>
              </a:rPr>
              <a:t>Nouveaux donateurs à convertir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15384" y="5394960"/>
            <a:ext cx="27432" cy="64008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15384" y="5340096"/>
            <a:ext cx="37581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8080"/>
                </a:solidFill>
                <a:latin typeface="Calibri"/>
              </a:rPr>
              <a:t>♻️ RÉACTIVATION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15384" y="5742432"/>
            <a:ext cx="37581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4D4D"/>
                </a:solidFill>
                <a:latin typeface="Calibri"/>
              </a:rPr>
              <a:t>Anciens donateurs à relancer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73568" y="5394960"/>
            <a:ext cx="27432" cy="64008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73568" y="5340096"/>
            <a:ext cx="37581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8080"/>
                </a:solidFill>
                <a:latin typeface="Calibri"/>
              </a:rPr>
              <a:t>💡 OBJECTIF COMMUN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73568" y="5742432"/>
            <a:ext cx="37581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4D4D"/>
                </a:solidFill>
                <a:latin typeface="Calibri"/>
              </a:rPr>
              <a:t>Prélèvement Automatique Régulier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5720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★  RÈGLE D'OR  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Le Produit — RÈGLE D'OR DE LA CAMPAGNE</a:t>
            </a:r>
          </a:p>
        </p:txBody>
      </p:sp>
      <p:pic>
        <p:nvPicPr>
          <p:cNvPr id="7" name="Picture 6" descr="sh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1447800" cy="640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46304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SEUL le prélèvement automatique régulier (PA) est proposé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Aucun don ponctuel — uniquement le PA mensuel régulier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MODE A — Prélèvement À CHAUD : IBAN recueilli en direct lors de l'appel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MODE B — PA en ligne en direct : guider le donateur sur unicef.fr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MODE C — Promesse PA en ligne : engagement + rappel prévu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MODE D — PA Courrier (exceptionnel) : autorisation par courrier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Paliers proposés : 10€ / 15€ / 20€ par mois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623560"/>
            <a:ext cx="73152" cy="5029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5623560"/>
            <a:ext cx="11183112" cy="502920"/>
          </a:xfrm>
          <a:prstGeom prst="rect">
            <a:avLst/>
          </a:prstGeom>
          <a:solidFill>
            <a:srgbClr val="FFF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660136"/>
            <a:ext cx="11091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4D4D"/>
                </a:solidFill>
                <a:latin typeface="Calibri"/>
              </a:rPr>
              <a:t>⭐  Rappel déduction fiscale : 15€/mois = 3,75€ réels après déduction à 75%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5720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★  RÈGLE D'OR  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Les 5 Règles Officielles de l'Accroche — RÈGLE D'OR</a:t>
            </a:r>
          </a:p>
        </p:txBody>
      </p:sp>
      <p:pic>
        <p:nvPicPr>
          <p:cNvPr id="7" name="Picture 6" descr="sh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1447800" cy="640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46304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RÈGLE 1 — Dire 'Allô ?' et attendre la réponse : ne jamais parler en premier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RÈGLE 2 — Identifier le genre : voix masculine → M. / voix féminine → Mme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RÈGLE 3 — Annoncer l'enregistrement de l'appel à des fins de qualité et formation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RÈGLE 4 — Se présenter : prénom + pour l'UNICEF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RÈGLE 5 — Accroche cause : 'Je suppose que vous connaissez bien l'UNICEF ?'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623560"/>
            <a:ext cx="73152" cy="5029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5623560"/>
            <a:ext cx="11183112" cy="502920"/>
          </a:xfrm>
          <a:prstGeom prst="rect">
            <a:avLst/>
          </a:prstGeom>
          <a:solidFill>
            <a:srgbClr val="FFF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660136"/>
            <a:ext cx="11091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4D4D"/>
                </a:solidFill>
                <a:latin typeface="Calibri"/>
              </a:rPr>
              <a:t>⭐  Ces 5 règles sont OBLIGATOIRES — leur non-respect constitue une faute qualité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Organisation de la Journée de Production</a:t>
            </a:r>
          </a:p>
        </p:txBody>
      </p:sp>
      <p:pic>
        <p:nvPicPr>
          <p:cNvPr id="8" name="Picture 7" descr="sh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1447800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01168" y="1481328"/>
            <a:ext cx="11987784" cy="54063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1481328"/>
            <a:ext cx="64008" cy="54063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17904"/>
            <a:ext cx="467487" cy="46748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517904"/>
            <a:ext cx="467487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517904"/>
            <a:ext cx="11000232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4D4D"/>
                </a:solidFill>
                <a:latin typeface="Calibri"/>
              </a:rPr>
              <a:t>9h30  </a:t>
            </a:r>
            <a:r>
              <a:rPr sz="1300" b="0">
                <a:solidFill>
                  <a:srgbClr val="1A1A1A"/>
                </a:solidFill>
                <a:latin typeface="Calibri"/>
              </a:rPr>
              <a:t>—  Prise de poste + briefing équipe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058543"/>
            <a:ext cx="11987784" cy="5406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" y="2058543"/>
            <a:ext cx="64008" cy="54063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095119"/>
            <a:ext cx="467487" cy="46748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095119"/>
            <a:ext cx="467487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095119"/>
            <a:ext cx="11000232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4D4D"/>
                </a:solidFill>
                <a:latin typeface="Calibri"/>
              </a:rPr>
              <a:t>9h45  </a:t>
            </a:r>
            <a:r>
              <a:rPr sz="1300" b="0">
                <a:solidFill>
                  <a:srgbClr val="1A1A1A"/>
                </a:solidFill>
                <a:latin typeface="Calibri"/>
              </a:rPr>
              <a:t>—  Début de la production téléphonique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2635758"/>
            <a:ext cx="11987784" cy="54063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168" y="2635758"/>
            <a:ext cx="64008" cy="54063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672334"/>
            <a:ext cx="467487" cy="46748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672334"/>
            <a:ext cx="467487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2672334"/>
            <a:ext cx="11000232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4D4D"/>
                </a:solidFill>
                <a:latin typeface="Calibri"/>
              </a:rPr>
              <a:t>11h00  </a:t>
            </a:r>
            <a:r>
              <a:rPr sz="1300" b="0">
                <a:solidFill>
                  <a:srgbClr val="1A1A1A"/>
                </a:solidFill>
                <a:latin typeface="Calibri"/>
              </a:rPr>
              <a:t>—  Pause matin (15 min)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" y="3212973"/>
            <a:ext cx="11987784" cy="5406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1168" y="3212973"/>
            <a:ext cx="64008" cy="54063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249549"/>
            <a:ext cx="467487" cy="46748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249549"/>
            <a:ext cx="467487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249549"/>
            <a:ext cx="11000232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4D4D"/>
                </a:solidFill>
                <a:latin typeface="Calibri"/>
              </a:rPr>
              <a:t>13h00  </a:t>
            </a:r>
            <a:r>
              <a:rPr sz="1300" b="0">
                <a:solidFill>
                  <a:srgbClr val="1A1A1A"/>
                </a:solidFill>
                <a:latin typeface="Calibri"/>
              </a:rPr>
              <a:t>—  Pause déjeuner (1 heure)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" y="3790188"/>
            <a:ext cx="11987784" cy="54063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1168" y="3790188"/>
            <a:ext cx="64008" cy="54063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3826764"/>
            <a:ext cx="467487" cy="46748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3826764"/>
            <a:ext cx="467487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3826764"/>
            <a:ext cx="11000232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4D4D"/>
                </a:solidFill>
                <a:latin typeface="Calibri"/>
              </a:rPr>
              <a:t>14h00  </a:t>
            </a:r>
            <a:r>
              <a:rPr sz="1300" b="0">
                <a:solidFill>
                  <a:srgbClr val="1A1A1A"/>
                </a:solidFill>
                <a:latin typeface="Calibri"/>
              </a:rPr>
              <a:t>—  Reprise de la production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" y="4367403"/>
            <a:ext cx="11987784" cy="5406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01168" y="4367403"/>
            <a:ext cx="64008" cy="54063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403979"/>
            <a:ext cx="467487" cy="46748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4403979"/>
            <a:ext cx="467487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4403979"/>
            <a:ext cx="11000232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4D4D"/>
                </a:solidFill>
                <a:latin typeface="Calibri"/>
              </a:rPr>
              <a:t>15h30  </a:t>
            </a:r>
            <a:r>
              <a:rPr sz="1300" b="0">
                <a:solidFill>
                  <a:srgbClr val="1A1A1A"/>
                </a:solidFill>
                <a:latin typeface="Calibri"/>
              </a:rPr>
              <a:t>—  Pause après-midi (15 min)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1168" y="4944618"/>
            <a:ext cx="11987784" cy="54063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01168" y="4944618"/>
            <a:ext cx="64008" cy="54063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0040" y="4981194"/>
            <a:ext cx="467487" cy="46748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4981194"/>
            <a:ext cx="467487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4981194"/>
            <a:ext cx="11000232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4D4D"/>
                </a:solidFill>
                <a:latin typeface="Calibri"/>
              </a:rPr>
              <a:t>17h15  </a:t>
            </a:r>
            <a:r>
              <a:rPr sz="1300" b="0">
                <a:solidFill>
                  <a:srgbClr val="1A1A1A"/>
                </a:solidFill>
                <a:latin typeface="Calibri"/>
              </a:rPr>
              <a:t>—  Fin de production + débriefing superviseur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01168" y="5521833"/>
            <a:ext cx="11987784" cy="5406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01168" y="5521833"/>
            <a:ext cx="64008" cy="54063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20040" y="5558409"/>
            <a:ext cx="467487" cy="46748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0040" y="5558409"/>
            <a:ext cx="467487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0120" y="5558409"/>
            <a:ext cx="11000232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4D4D"/>
                </a:solidFill>
                <a:latin typeface="Calibri"/>
              </a:rPr>
              <a:t>17h30  </a:t>
            </a:r>
            <a:r>
              <a:rPr sz="1300" b="0">
                <a:solidFill>
                  <a:srgbClr val="1A1A1A"/>
                </a:solidFill>
                <a:latin typeface="Calibri"/>
              </a:rPr>
              <a:t>—  Fin de journée officielle | Durée production effective : 6h40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-4572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0" b="0" i="0">
                <a:solidFill>
                  <a:srgbClr val="006060"/>
                </a:solidFill>
                <a:latin typeface="Calibri"/>
              </a:rPr>
              <a:t>❝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31520"/>
            <a:ext cx="109728" cy="539496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0" y="4754880"/>
            <a:ext cx="4846320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37160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1">
                <a:solidFill>
                  <a:srgbClr val="FFFFFF"/>
                </a:solidFill>
                <a:latin typeface="Calibri"/>
              </a:rPr>
              <a:t>Le refus d'aujourd'hui
peut être le don de demain.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937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D4A017"/>
                </a:solidFill>
                <a:latin typeface="Calibri"/>
              </a:rPr>
              <a:t>— Mantra Fundraiser SHY-Performance</a:t>
            </a:r>
          </a:p>
        </p:txBody>
      </p:sp>
      <p:pic>
        <p:nvPicPr>
          <p:cNvPr id="8" name="Picture 7" descr="sh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1447800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E5E5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Calibri"/>
              </a:rPr>
              <a:t>MERCI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D4A017"/>
                </a:solidFill>
                <a:latin typeface="Calibri"/>
              </a:rPr>
              <a:t>POUR VOTRE PARTICIPATION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2743200"/>
            <a:ext cx="576072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CE5E5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75488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CCE5E5"/>
                </a:solidFill>
                <a:latin typeface="Calibri"/>
              </a:rPr>
              <a:t>Élaboré par Tamou Eljerrari  |  Sur ordre de Mme Salima Negrao, DG</a:t>
            </a:r>
          </a:p>
        </p:txBody>
      </p:sp>
      <p:pic>
        <p:nvPicPr>
          <p:cNvPr id="10" name="Picture 9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5394960"/>
            <a:ext cx="1030628" cy="100584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