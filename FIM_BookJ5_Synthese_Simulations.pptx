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754880" cy="6858000"/>
          </a:xfrm>
          <a:prstGeom prst="rect">
            <a:avLst/>
          </a:prstGeom>
          <a:solidFill>
            <a:srgbClr val="004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4754880" cy="457200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h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548640"/>
            <a:ext cx="2275114" cy="100584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57200" y="1920240"/>
            <a:ext cx="3840480" cy="502920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920240"/>
            <a:ext cx="3840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004D4D"/>
                </a:solidFill>
                <a:latin typeface="Calibri"/>
              </a:rPr>
              <a:t>JOUR 5</a:t>
            </a:r>
          </a:p>
        </p:txBody>
      </p:sp>
      <p:sp>
        <p:nvSpPr>
          <p:cNvPr id="8" name="Rectangle 7"/>
          <p:cNvSpPr/>
          <p:nvPr/>
        </p:nvSpPr>
        <p:spPr>
          <a:xfrm>
            <a:off x="2194560" y="2560320"/>
            <a:ext cx="36576" cy="2743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74320" y="5669280"/>
            <a:ext cx="4206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>
                <a:solidFill>
                  <a:srgbClr val="D4A017"/>
                </a:solidFill>
                <a:latin typeface="Calibri"/>
              </a:rPr>
              <a:t>SHY-Performance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" y="5989320"/>
            <a:ext cx="4206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CCE5E5"/>
                </a:solidFill>
                <a:latin typeface="Calibri"/>
              </a:rPr>
              <a:t>FIDELIS × UNICEF France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0" y="914400"/>
            <a:ext cx="6858000" cy="73152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0" y="1097280"/>
            <a:ext cx="68580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004D4D"/>
                </a:solidFill>
                <a:latin typeface="Calibri"/>
              </a:rPr>
              <a:t>JOUR 5
SYNTHÈSE GÉNÉRALE
&amp; SIMULATIONS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0" y="3840480"/>
            <a:ext cx="4572000" cy="45720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0" y="4023360"/>
            <a:ext cx="6858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1A1A1A"/>
                </a:solidFill>
                <a:latin typeface="Calibri"/>
              </a:rPr>
              <a:t>Révision, Simulations Terrain, Quiz 40Q &amp; Certifications
SHY-Performance × FIDELIS × UNICEF France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0" y="5074920"/>
            <a:ext cx="3657600" cy="384048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29200" y="5074920"/>
            <a:ext cx="3657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Formation Initiale Module</a:t>
            </a:r>
          </a:p>
        </p:txBody>
      </p:sp>
      <p:pic>
        <p:nvPicPr>
          <p:cNvPr id="17" name="Picture 16" descr="sh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24115" y="5212080"/>
            <a:ext cx="2895600" cy="1280160"/>
          </a:xfrm>
          <a:prstGeom prst="rect">
            <a:avLst/>
          </a:prstGeom>
        </p:spPr>
      </p:pic>
      <p:sp>
        <p:nvSpPr>
          <p:cNvPr id="18" name="Rectangle 17"/>
          <p:cNvSpPr/>
          <p:nvPr/>
        </p:nvSpPr>
        <p:spPr>
          <a:xfrm>
            <a:off x="0" y="6172200"/>
            <a:ext cx="12188952" cy="347472"/>
          </a:xfrm>
          <a:prstGeom prst="rect">
            <a:avLst/>
          </a:prstGeom>
          <a:solidFill>
            <a:srgbClr val="004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0" y="6172200"/>
            <a:ext cx="12188952" cy="27432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74320" y="6199632"/>
            <a:ext cx="1164031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1">
                <a:solidFill>
                  <a:srgbClr val="FFFFFF"/>
                </a:solidFill>
                <a:latin typeface="Calibri"/>
              </a:rPr>
              <a:t>Toute modification, rectification ou ajout est strictement interdit(e). Élaboré par Tamou Eljerrari — Ingénieure en Formation — sur ordre de la Directrice Générale, Mme Salima Negrao. Seules la DG SHY-Performance ou une personne mandatée sont autorisées.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4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417320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74320" y="137160"/>
            <a:ext cx="1097280" cy="1097280"/>
          </a:xfrm>
          <a:prstGeom prst="rect">
            <a:avLst/>
          </a:prstGeom>
          <a:solidFill>
            <a:srgbClr val="004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137160"/>
            <a:ext cx="10972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Calibri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54480" y="22860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Programme de la Journée J5</a:t>
            </a:r>
          </a:p>
        </p:txBody>
      </p:sp>
      <p:pic>
        <p:nvPicPr>
          <p:cNvPr id="8" name="Picture 7" descr="sh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0" y="91440"/>
            <a:ext cx="1447800" cy="64008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201168" y="1481328"/>
            <a:ext cx="11987784" cy="476504"/>
          </a:xfrm>
          <a:prstGeom prst="rect">
            <a:avLst/>
          </a:prstGeom>
          <a:solidFill>
            <a:srgbClr val="F0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01168" y="1481328"/>
            <a:ext cx="64008" cy="476504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20040" y="1517904"/>
            <a:ext cx="403352" cy="403352"/>
          </a:xfrm>
          <a:prstGeom prst="rect">
            <a:avLst/>
          </a:prstGeom>
          <a:solidFill>
            <a:srgbClr val="004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0040" y="1517904"/>
            <a:ext cx="403352" cy="403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1517904"/>
            <a:ext cx="11000232" cy="403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1300" b="1">
                <a:solidFill>
                  <a:srgbClr val="004D4D"/>
                </a:solidFill>
                <a:latin typeface="Calibri"/>
              </a:rPr>
              <a:t>9h30  </a:t>
            </a:r>
            <a:r>
              <a:rPr sz="1300" b="0">
                <a:solidFill>
                  <a:srgbClr val="1A1A1A"/>
                </a:solidFill>
                <a:latin typeface="Calibri"/>
              </a:rPr>
              <a:t>—  Révision express des 5 modules (J1 → J4) : questions flash en groupe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01168" y="1994408"/>
            <a:ext cx="11987784" cy="47650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01168" y="1994408"/>
            <a:ext cx="64008" cy="476504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20040" y="2030984"/>
            <a:ext cx="403352" cy="403352"/>
          </a:xfrm>
          <a:prstGeom prst="rect">
            <a:avLst/>
          </a:prstGeom>
          <a:solidFill>
            <a:srgbClr val="004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20040" y="2030984"/>
            <a:ext cx="403352" cy="403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2030984"/>
            <a:ext cx="11000232" cy="403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1300" b="1">
                <a:solidFill>
                  <a:srgbClr val="004D4D"/>
                </a:solidFill>
                <a:latin typeface="Calibri"/>
              </a:rPr>
              <a:t>10h00  </a:t>
            </a:r>
            <a:r>
              <a:rPr sz="1300" b="0">
                <a:solidFill>
                  <a:srgbClr val="1A1A1A"/>
                </a:solidFill>
                <a:latin typeface="Calibri"/>
              </a:rPr>
              <a:t>—  Simulations d'appels complets chronométrés en conditions réelles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01168" y="2507488"/>
            <a:ext cx="11987784" cy="476504"/>
          </a:xfrm>
          <a:prstGeom prst="rect">
            <a:avLst/>
          </a:prstGeom>
          <a:solidFill>
            <a:srgbClr val="F0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01168" y="2507488"/>
            <a:ext cx="64008" cy="476504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20040" y="2544064"/>
            <a:ext cx="403352" cy="403352"/>
          </a:xfrm>
          <a:prstGeom prst="rect">
            <a:avLst/>
          </a:prstGeom>
          <a:solidFill>
            <a:srgbClr val="004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20040" y="2544064"/>
            <a:ext cx="403352" cy="403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0120" y="2544064"/>
            <a:ext cx="11000232" cy="403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1300" b="1">
                <a:solidFill>
                  <a:srgbClr val="004D4D"/>
                </a:solidFill>
                <a:latin typeface="Calibri"/>
              </a:rPr>
              <a:t>11h00  </a:t>
            </a:r>
            <a:r>
              <a:rPr sz="1300" b="0">
                <a:solidFill>
                  <a:srgbClr val="1A1A1A"/>
                </a:solidFill>
                <a:latin typeface="Calibri"/>
              </a:rPr>
              <a:t>—  Pause + débriefing des simulations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01168" y="3020568"/>
            <a:ext cx="11987784" cy="47650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01168" y="3020568"/>
            <a:ext cx="64008" cy="476504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320040" y="3057144"/>
            <a:ext cx="403352" cy="403352"/>
          </a:xfrm>
          <a:prstGeom prst="rect">
            <a:avLst/>
          </a:prstGeom>
          <a:solidFill>
            <a:srgbClr val="004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20040" y="3057144"/>
            <a:ext cx="403352" cy="403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0120" y="3057144"/>
            <a:ext cx="11000232" cy="403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1300" b="1">
                <a:solidFill>
                  <a:srgbClr val="004D4D"/>
                </a:solidFill>
                <a:latin typeface="Calibri"/>
              </a:rPr>
              <a:t>11h15  </a:t>
            </a:r>
            <a:r>
              <a:rPr sz="1300" b="0">
                <a:solidFill>
                  <a:srgbClr val="1A1A1A"/>
                </a:solidFill>
                <a:latin typeface="Calibri"/>
              </a:rPr>
              <a:t>—  Jeux de rôle finaux : script + objection tirée au sort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01168" y="3533648"/>
            <a:ext cx="11987784" cy="476504"/>
          </a:xfrm>
          <a:prstGeom prst="rect">
            <a:avLst/>
          </a:prstGeom>
          <a:solidFill>
            <a:srgbClr val="F0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201168" y="3533648"/>
            <a:ext cx="64008" cy="476504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20040" y="3570224"/>
            <a:ext cx="403352" cy="403352"/>
          </a:xfrm>
          <a:prstGeom prst="rect">
            <a:avLst/>
          </a:prstGeom>
          <a:solidFill>
            <a:srgbClr val="004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20040" y="3570224"/>
            <a:ext cx="403352" cy="403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0120" y="3570224"/>
            <a:ext cx="11000232" cy="403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1300" b="1">
                <a:solidFill>
                  <a:srgbClr val="004D4D"/>
                </a:solidFill>
                <a:latin typeface="Calibri"/>
              </a:rPr>
              <a:t>13h00  </a:t>
            </a:r>
            <a:r>
              <a:rPr sz="1300" b="0">
                <a:solidFill>
                  <a:srgbClr val="1A1A1A"/>
                </a:solidFill>
                <a:latin typeface="Calibri"/>
              </a:rPr>
              <a:t>—  Pause déjeuner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01168" y="4046728"/>
            <a:ext cx="11987784" cy="47650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201168" y="4046728"/>
            <a:ext cx="64008" cy="476504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320040" y="4083304"/>
            <a:ext cx="403352" cy="403352"/>
          </a:xfrm>
          <a:prstGeom prst="rect">
            <a:avLst/>
          </a:prstGeom>
          <a:solidFill>
            <a:srgbClr val="004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20040" y="4083304"/>
            <a:ext cx="403352" cy="403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0120" y="4083304"/>
            <a:ext cx="11000232" cy="403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1300" b="1">
                <a:solidFill>
                  <a:srgbClr val="004D4D"/>
                </a:solidFill>
                <a:latin typeface="Calibri"/>
              </a:rPr>
              <a:t>14h00  </a:t>
            </a:r>
            <a:r>
              <a:rPr sz="1300" b="0">
                <a:solidFill>
                  <a:srgbClr val="1A1A1A"/>
                </a:solidFill>
                <a:latin typeface="Calibri"/>
              </a:rPr>
              <a:t>—  Quiz d'évaluation finale des connaissances (40 questions)</a:t>
            </a:r>
          </a:p>
        </p:txBody>
      </p:sp>
      <p:sp>
        <p:nvSpPr>
          <p:cNvPr id="39" name="Rectangle 38"/>
          <p:cNvSpPr/>
          <p:nvPr/>
        </p:nvSpPr>
        <p:spPr>
          <a:xfrm>
            <a:off x="201168" y="4559808"/>
            <a:ext cx="11987784" cy="476504"/>
          </a:xfrm>
          <a:prstGeom prst="rect">
            <a:avLst/>
          </a:prstGeom>
          <a:solidFill>
            <a:srgbClr val="F0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201168" y="4559808"/>
            <a:ext cx="64008" cy="476504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320040" y="4596384"/>
            <a:ext cx="403352" cy="403352"/>
          </a:xfrm>
          <a:prstGeom prst="rect">
            <a:avLst/>
          </a:prstGeom>
          <a:solidFill>
            <a:srgbClr val="004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20040" y="4596384"/>
            <a:ext cx="403352" cy="403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60120" y="4596384"/>
            <a:ext cx="11000232" cy="403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1300" b="1">
                <a:solidFill>
                  <a:srgbClr val="004D4D"/>
                </a:solidFill>
                <a:latin typeface="Calibri"/>
              </a:rPr>
              <a:t>15h30  </a:t>
            </a:r>
            <a:r>
              <a:rPr sz="1300" b="0">
                <a:solidFill>
                  <a:srgbClr val="1A1A1A"/>
                </a:solidFill>
                <a:latin typeface="Calibri"/>
              </a:rPr>
              <a:t>—  Correction collective + débriefing pédagogique</a:t>
            </a:r>
          </a:p>
        </p:txBody>
      </p:sp>
      <p:sp>
        <p:nvSpPr>
          <p:cNvPr id="44" name="Rectangle 43"/>
          <p:cNvSpPr/>
          <p:nvPr/>
        </p:nvSpPr>
        <p:spPr>
          <a:xfrm>
            <a:off x="201168" y="5072888"/>
            <a:ext cx="11987784" cy="47650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201168" y="5072888"/>
            <a:ext cx="64008" cy="476504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320040" y="5109464"/>
            <a:ext cx="403352" cy="403352"/>
          </a:xfrm>
          <a:prstGeom prst="rect">
            <a:avLst/>
          </a:prstGeom>
          <a:solidFill>
            <a:srgbClr val="004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320040" y="5109464"/>
            <a:ext cx="403352" cy="403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8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60120" y="5109464"/>
            <a:ext cx="11000232" cy="403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1300" b="1">
                <a:solidFill>
                  <a:srgbClr val="004D4D"/>
                </a:solidFill>
                <a:latin typeface="Calibri"/>
              </a:rPr>
              <a:t>16h30  </a:t>
            </a:r>
            <a:r>
              <a:rPr sz="1300" b="0">
                <a:solidFill>
                  <a:srgbClr val="1A1A1A"/>
                </a:solidFill>
                <a:latin typeface="Calibri"/>
              </a:rPr>
              <a:t>—  Remise des certifications de formation</a:t>
            </a:r>
          </a:p>
        </p:txBody>
      </p:sp>
      <p:sp>
        <p:nvSpPr>
          <p:cNvPr id="49" name="Rectangle 48"/>
          <p:cNvSpPr/>
          <p:nvPr/>
        </p:nvSpPr>
        <p:spPr>
          <a:xfrm>
            <a:off x="201168" y="5585968"/>
            <a:ext cx="11987784" cy="476504"/>
          </a:xfrm>
          <a:prstGeom prst="rect">
            <a:avLst/>
          </a:prstGeom>
          <a:solidFill>
            <a:srgbClr val="F0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201168" y="5585968"/>
            <a:ext cx="64008" cy="476504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320040" y="5622544"/>
            <a:ext cx="403352" cy="403352"/>
          </a:xfrm>
          <a:prstGeom prst="rect">
            <a:avLst/>
          </a:prstGeom>
          <a:solidFill>
            <a:srgbClr val="004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320040" y="5622544"/>
            <a:ext cx="403352" cy="403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60120" y="5622544"/>
            <a:ext cx="11000232" cy="403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1300" b="1">
                <a:solidFill>
                  <a:srgbClr val="004D4D"/>
                </a:solidFill>
                <a:latin typeface="Calibri"/>
              </a:rPr>
              <a:t>17h00  </a:t>
            </a:r>
            <a:r>
              <a:rPr sz="1300" b="0">
                <a:solidFill>
                  <a:srgbClr val="1A1A1A"/>
                </a:solidFill>
                <a:latin typeface="Calibri"/>
              </a:rPr>
              <a:t>—  Mot de clôture + félicitations + vœux de bonne continuation</a:t>
            </a:r>
          </a:p>
        </p:txBody>
      </p:sp>
      <p:sp>
        <p:nvSpPr>
          <p:cNvPr id="54" name="Rectangle 53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004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274320" y="6199632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Calibri"/>
              </a:rPr>
              <a:t>SHY-Performance  ×  FIDELIS  ×  UNICEF France</a:t>
            </a:r>
          </a:p>
        </p:txBody>
      </p:sp>
      <p:sp>
        <p:nvSpPr>
          <p:cNvPr id="56" name="Rectangle 55"/>
          <p:cNvSpPr/>
          <p:nvPr/>
        </p:nvSpPr>
        <p:spPr>
          <a:xfrm>
            <a:off x="0" y="6172200"/>
            <a:ext cx="12188952" cy="347472"/>
          </a:xfrm>
          <a:prstGeom prst="rect">
            <a:avLst/>
          </a:prstGeom>
          <a:solidFill>
            <a:srgbClr val="004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0" y="6172200"/>
            <a:ext cx="12188952" cy="27432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274320" y="6199632"/>
            <a:ext cx="1164031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1">
                <a:solidFill>
                  <a:srgbClr val="FFFFFF"/>
                </a:solidFill>
                <a:latin typeface="Calibri"/>
              </a:rPr>
              <a:t>Toute modification, rectification ou ajout est strictement interdit(e). Élaboré par Tamou Eljerrari — Ingénieure en Formation — sur ordre de la Directrice Générale, Mme Salima Negrao. Seules la DG SHY-Performance ou une personne mandatée sont autorisées.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4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417320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74320" y="137160"/>
            <a:ext cx="1097280" cy="1097280"/>
          </a:xfrm>
          <a:prstGeom prst="rect">
            <a:avLst/>
          </a:prstGeom>
          <a:solidFill>
            <a:srgbClr val="004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137160"/>
            <a:ext cx="10972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Calibri"/>
              </a:rP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54480" y="22860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Révision Flash — J1 à J4</a:t>
            </a:r>
          </a:p>
        </p:txBody>
      </p:sp>
      <p:pic>
        <p:nvPicPr>
          <p:cNvPr id="8" name="Picture 7" descr="sh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0" y="91440"/>
            <a:ext cx="1447800" cy="64008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201168" y="1481328"/>
            <a:ext cx="11987784" cy="538189"/>
          </a:xfrm>
          <a:prstGeom prst="rect">
            <a:avLst/>
          </a:prstGeom>
          <a:solidFill>
            <a:srgbClr val="F0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01168" y="1481328"/>
            <a:ext cx="64008" cy="538189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20040" y="1517904"/>
            <a:ext cx="465037" cy="465037"/>
          </a:xfrm>
          <a:prstGeom prst="rect">
            <a:avLst/>
          </a:prstGeom>
          <a:solidFill>
            <a:srgbClr val="004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0040" y="1517904"/>
            <a:ext cx="465037" cy="4650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1517904"/>
            <a:ext cx="11000232" cy="4650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1500" b="1">
                <a:solidFill>
                  <a:srgbClr val="004D4D"/>
                </a:solidFill>
                <a:latin typeface="Calibri"/>
              </a:rPr>
              <a:t>J1  </a:t>
            </a:r>
            <a:r>
              <a:rPr sz="1500" b="0">
                <a:solidFill>
                  <a:srgbClr val="1A1A1A"/>
                </a:solidFill>
                <a:latin typeface="Calibri"/>
              </a:rPr>
              <a:t>—  Fondations : KPI objectif CU/H ? → 9 minimum | Produit unique ? → PA Régulier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01168" y="2056093"/>
            <a:ext cx="11987784" cy="53818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01168" y="2056093"/>
            <a:ext cx="64008" cy="538189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20040" y="2092669"/>
            <a:ext cx="465037" cy="465037"/>
          </a:xfrm>
          <a:prstGeom prst="rect">
            <a:avLst/>
          </a:prstGeom>
          <a:solidFill>
            <a:srgbClr val="004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20040" y="2092669"/>
            <a:ext cx="465037" cy="4650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2092669"/>
            <a:ext cx="11000232" cy="4650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1500" b="1">
                <a:solidFill>
                  <a:srgbClr val="004D4D"/>
                </a:solidFill>
                <a:latin typeface="Calibri"/>
              </a:rPr>
              <a:t>J1  </a:t>
            </a:r>
            <a:r>
              <a:rPr sz="1500" b="0">
                <a:solidFill>
                  <a:srgbClr val="1A1A1A"/>
                </a:solidFill>
                <a:latin typeface="Calibri"/>
              </a:rPr>
              <a:t>—  Nomenclature : CU / TX Transfo / PDC / PEL / PA — définitions express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01168" y="2630859"/>
            <a:ext cx="11987784" cy="538189"/>
          </a:xfrm>
          <a:prstGeom prst="rect">
            <a:avLst/>
          </a:prstGeom>
          <a:solidFill>
            <a:srgbClr val="F0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01168" y="2630859"/>
            <a:ext cx="64008" cy="538189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20040" y="2667435"/>
            <a:ext cx="465037" cy="465037"/>
          </a:xfrm>
          <a:prstGeom prst="rect">
            <a:avLst/>
          </a:prstGeom>
          <a:solidFill>
            <a:srgbClr val="004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20040" y="2667435"/>
            <a:ext cx="465037" cy="4650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0120" y="2667435"/>
            <a:ext cx="11000232" cy="4650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1500" b="1">
                <a:solidFill>
                  <a:srgbClr val="004D4D"/>
                </a:solidFill>
                <a:latin typeface="Calibri"/>
              </a:rPr>
              <a:t>J2  </a:t>
            </a:r>
            <a:r>
              <a:rPr sz="1500" b="0">
                <a:solidFill>
                  <a:srgbClr val="1A1A1A"/>
                </a:solidFill>
                <a:latin typeface="Calibri"/>
              </a:rPr>
              <a:t>—  Monde associatif : Loi 1901 ? | UNICEF fondé quand ? → 1946 | Nobel ? → 1965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01168" y="3205625"/>
            <a:ext cx="11987784" cy="53818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01168" y="3205625"/>
            <a:ext cx="64008" cy="538189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320040" y="3242201"/>
            <a:ext cx="465037" cy="465037"/>
          </a:xfrm>
          <a:prstGeom prst="rect">
            <a:avLst/>
          </a:prstGeom>
          <a:solidFill>
            <a:srgbClr val="004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20040" y="3242201"/>
            <a:ext cx="465037" cy="4650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0120" y="3242201"/>
            <a:ext cx="11000232" cy="4650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1500" b="1">
                <a:solidFill>
                  <a:srgbClr val="004D4D"/>
                </a:solidFill>
                <a:latin typeface="Calibri"/>
              </a:rPr>
              <a:t>J2  </a:t>
            </a:r>
            <a:r>
              <a:rPr sz="1500" b="0">
                <a:solidFill>
                  <a:srgbClr val="1A1A1A"/>
                </a:solidFill>
                <a:latin typeface="Calibri"/>
              </a:rPr>
              <a:t>—  Histoire : Bataille de Solférino → quelle année ? → 1859 | Qui ? → Henry Dunant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01168" y="3780390"/>
            <a:ext cx="11987784" cy="538189"/>
          </a:xfrm>
          <a:prstGeom prst="rect">
            <a:avLst/>
          </a:prstGeom>
          <a:solidFill>
            <a:srgbClr val="F0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201168" y="3780390"/>
            <a:ext cx="64008" cy="538189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20040" y="3816966"/>
            <a:ext cx="465037" cy="465037"/>
          </a:xfrm>
          <a:prstGeom prst="rect">
            <a:avLst/>
          </a:prstGeom>
          <a:solidFill>
            <a:srgbClr val="004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20040" y="3816966"/>
            <a:ext cx="465037" cy="4650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0120" y="3816966"/>
            <a:ext cx="11000232" cy="4650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1500" b="1">
                <a:solidFill>
                  <a:srgbClr val="004D4D"/>
                </a:solidFill>
                <a:latin typeface="Calibri"/>
              </a:rPr>
              <a:t>J3  </a:t>
            </a:r>
            <a:r>
              <a:rPr sz="1500" b="0">
                <a:solidFill>
                  <a:srgbClr val="1A1A1A"/>
                </a:solidFill>
                <a:latin typeface="Calibri"/>
              </a:rPr>
              <a:t>—  Script : combien d'étapes ? → 7 | Les 5 règles de l'accroche ?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01168" y="4355156"/>
            <a:ext cx="11987784" cy="53818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201168" y="4355156"/>
            <a:ext cx="64008" cy="538189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320040" y="4391732"/>
            <a:ext cx="465037" cy="465037"/>
          </a:xfrm>
          <a:prstGeom prst="rect">
            <a:avLst/>
          </a:prstGeom>
          <a:solidFill>
            <a:srgbClr val="004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20040" y="4391732"/>
            <a:ext cx="465037" cy="4650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0120" y="4391732"/>
            <a:ext cx="11000232" cy="4650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1500" b="1">
                <a:solidFill>
                  <a:srgbClr val="004D4D"/>
                </a:solidFill>
                <a:latin typeface="Calibri"/>
              </a:rPr>
              <a:t>J4  </a:t>
            </a:r>
            <a:r>
              <a:rPr sz="1500" b="0">
                <a:solidFill>
                  <a:srgbClr val="1A1A1A"/>
                </a:solidFill>
                <a:latin typeface="Calibri"/>
              </a:rPr>
              <a:t>—  AAR : que signifient les 3 lettres ? | Combien d'objections couvertes ? → 15</a:t>
            </a:r>
          </a:p>
        </p:txBody>
      </p:sp>
      <p:sp>
        <p:nvSpPr>
          <p:cNvPr id="39" name="Rectangle 38"/>
          <p:cNvSpPr/>
          <p:nvPr/>
        </p:nvSpPr>
        <p:spPr>
          <a:xfrm>
            <a:off x="201168" y="4929922"/>
            <a:ext cx="11987784" cy="538189"/>
          </a:xfrm>
          <a:prstGeom prst="rect">
            <a:avLst/>
          </a:prstGeom>
          <a:solidFill>
            <a:srgbClr val="F0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201168" y="4929922"/>
            <a:ext cx="64008" cy="538189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320040" y="4966498"/>
            <a:ext cx="465037" cy="465037"/>
          </a:xfrm>
          <a:prstGeom prst="rect">
            <a:avLst/>
          </a:prstGeom>
          <a:solidFill>
            <a:srgbClr val="004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20040" y="4966498"/>
            <a:ext cx="465037" cy="4650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60120" y="4966498"/>
            <a:ext cx="11000232" cy="4650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1500" b="1">
                <a:solidFill>
                  <a:srgbClr val="004D4D"/>
                </a:solidFill>
                <a:latin typeface="Calibri"/>
              </a:rPr>
              <a:t>J4  </a:t>
            </a:r>
            <a:r>
              <a:rPr sz="1500" b="0">
                <a:solidFill>
                  <a:srgbClr val="1A1A1A"/>
                </a:solidFill>
                <a:latin typeface="Calibri"/>
              </a:rPr>
              <a:t>—  Objections : 5 catégories — lesquelles ?</a:t>
            </a:r>
          </a:p>
        </p:txBody>
      </p:sp>
      <p:sp>
        <p:nvSpPr>
          <p:cNvPr id="44" name="Rectangle 43"/>
          <p:cNvSpPr/>
          <p:nvPr/>
        </p:nvSpPr>
        <p:spPr>
          <a:xfrm>
            <a:off x="201168" y="5614416"/>
            <a:ext cx="11987784" cy="539496"/>
          </a:xfrm>
          <a:prstGeom prst="rect">
            <a:avLst/>
          </a:prstGeom>
          <a:solidFill>
            <a:srgbClr val="FFF8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201168" y="5614416"/>
            <a:ext cx="164592" cy="539496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57200" y="5669280"/>
            <a:ext cx="11457432" cy="4663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004D4D"/>
                </a:solidFill>
                <a:latin typeface="Calibri"/>
              </a:rPr>
              <a:t>💡  Questions flash : 30 secondes par question — lever la main pour répondre</a:t>
            </a:r>
          </a:p>
        </p:txBody>
      </p:sp>
      <p:sp>
        <p:nvSpPr>
          <p:cNvPr id="47" name="Rectangle 46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004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274320" y="6199632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Calibri"/>
              </a:rPr>
              <a:t>SHY-Performance  ×  FIDELIS  ×  UNICEF France</a:t>
            </a:r>
          </a:p>
        </p:txBody>
      </p:sp>
      <p:sp>
        <p:nvSpPr>
          <p:cNvPr id="49" name="Rectangle 48"/>
          <p:cNvSpPr/>
          <p:nvPr/>
        </p:nvSpPr>
        <p:spPr>
          <a:xfrm>
            <a:off x="0" y="6172200"/>
            <a:ext cx="12188952" cy="347472"/>
          </a:xfrm>
          <a:prstGeom prst="rect">
            <a:avLst/>
          </a:prstGeom>
          <a:solidFill>
            <a:srgbClr val="004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0" y="6172200"/>
            <a:ext cx="12188952" cy="27432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274320" y="6199632"/>
            <a:ext cx="1164031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1">
                <a:solidFill>
                  <a:srgbClr val="FFFFFF"/>
                </a:solidFill>
                <a:latin typeface="Calibri"/>
              </a:rPr>
              <a:t>Toute modification, rectification ou ajout est strictement interdit(e). Élaboré par Tamou Eljerrari — Ingénieure en Formation — sur ordre de la Directrice Générale, Mme Salima Negrao. Seules la DG SHY-Performance ou une personne mandatée sont autorisées.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4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417320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74320" y="137160"/>
            <a:ext cx="1097280" cy="1097280"/>
          </a:xfrm>
          <a:prstGeom prst="rect">
            <a:avLst/>
          </a:prstGeom>
          <a:solidFill>
            <a:srgbClr val="004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137160"/>
            <a:ext cx="10972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Calibri"/>
              </a:rPr>
              <a:t>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54480" y="22860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Simulations d'Appels — Règles du Jeu</a:t>
            </a:r>
          </a:p>
        </p:txBody>
      </p:sp>
      <p:pic>
        <p:nvPicPr>
          <p:cNvPr id="8" name="Picture 7" descr="sh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0" y="91440"/>
            <a:ext cx="1447800" cy="64008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201168" y="1481328"/>
            <a:ext cx="11987784" cy="623098"/>
          </a:xfrm>
          <a:prstGeom prst="rect">
            <a:avLst/>
          </a:prstGeom>
          <a:solidFill>
            <a:srgbClr val="F0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01168" y="1481328"/>
            <a:ext cx="64008" cy="623098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20040" y="1541417"/>
            <a:ext cx="502920" cy="502920"/>
          </a:xfrm>
          <a:prstGeom prst="rect">
            <a:avLst/>
          </a:prstGeom>
          <a:solidFill>
            <a:srgbClr val="004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0040" y="1541417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1517904"/>
            <a:ext cx="11000232" cy="54994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1500" b="1">
                <a:solidFill>
                  <a:srgbClr val="004D4D"/>
                </a:solidFill>
                <a:latin typeface="Calibri"/>
              </a:rPr>
              <a:t>Simulation NIVEAU 1  </a:t>
            </a:r>
            <a:r>
              <a:rPr sz="1500" b="0">
                <a:solidFill>
                  <a:srgbClr val="1A1A1A"/>
                </a:solidFill>
                <a:latin typeface="Calibri"/>
              </a:rPr>
              <a:t>:  appel standard, prospect coopératif → valider le script complet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01168" y="2141002"/>
            <a:ext cx="11987784" cy="6230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01168" y="2141002"/>
            <a:ext cx="64008" cy="623098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20040" y="2201091"/>
            <a:ext cx="502920" cy="502920"/>
          </a:xfrm>
          <a:prstGeom prst="rect">
            <a:avLst/>
          </a:prstGeom>
          <a:solidFill>
            <a:srgbClr val="004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20040" y="2201091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2177578"/>
            <a:ext cx="11000232" cy="54994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1500" b="1">
                <a:solidFill>
                  <a:srgbClr val="004D4D"/>
                </a:solidFill>
                <a:latin typeface="Calibri"/>
              </a:rPr>
              <a:t>Simulation NIVEAU 2  </a:t>
            </a:r>
            <a:r>
              <a:rPr sz="1500" b="0">
                <a:solidFill>
                  <a:srgbClr val="1A1A1A"/>
                </a:solidFill>
                <a:latin typeface="Calibri"/>
              </a:rPr>
              <a:t>:  appel avec 2 objections tirées au sort parmi les 15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01168" y="2800676"/>
            <a:ext cx="11987784" cy="623098"/>
          </a:xfrm>
          <a:prstGeom prst="rect">
            <a:avLst/>
          </a:prstGeom>
          <a:solidFill>
            <a:srgbClr val="F0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01168" y="2800676"/>
            <a:ext cx="64008" cy="623098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20040" y="2860765"/>
            <a:ext cx="502920" cy="502920"/>
          </a:xfrm>
          <a:prstGeom prst="rect">
            <a:avLst/>
          </a:prstGeom>
          <a:solidFill>
            <a:srgbClr val="004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20040" y="2860765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0120" y="2837252"/>
            <a:ext cx="11000232" cy="54994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1500" b="1">
                <a:solidFill>
                  <a:srgbClr val="004D4D"/>
                </a:solidFill>
                <a:latin typeface="Calibri"/>
              </a:rPr>
              <a:t>Simulation NIVEAU 3 : appel difficile  </a:t>
            </a:r>
            <a:r>
              <a:rPr sz="1500" b="0">
                <a:solidFill>
                  <a:srgbClr val="1A1A1A"/>
                </a:solidFill>
                <a:latin typeface="Calibri"/>
              </a:rPr>
              <a:t>—  prospect conflictuel, méfiance IBAN, dernier positionnement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01168" y="3460350"/>
            <a:ext cx="11987784" cy="6230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01168" y="3460350"/>
            <a:ext cx="64008" cy="623098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320040" y="3520440"/>
            <a:ext cx="502920" cy="502920"/>
          </a:xfrm>
          <a:prstGeom prst="rect">
            <a:avLst/>
          </a:prstGeom>
          <a:solidFill>
            <a:srgbClr val="004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20040" y="352044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0120" y="3496926"/>
            <a:ext cx="11000232" cy="54994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1500" b="1">
                <a:solidFill>
                  <a:srgbClr val="004D4D"/>
                </a:solidFill>
                <a:latin typeface="Calibri"/>
              </a:rPr>
              <a:t>Durée maximale par simulation  </a:t>
            </a:r>
            <a:r>
              <a:rPr sz="1500" b="0">
                <a:solidFill>
                  <a:srgbClr val="1A1A1A"/>
                </a:solidFill>
                <a:latin typeface="Calibri"/>
              </a:rPr>
              <a:t>:  5 minutes chrono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01168" y="4120025"/>
            <a:ext cx="11987784" cy="623098"/>
          </a:xfrm>
          <a:prstGeom prst="rect">
            <a:avLst/>
          </a:prstGeom>
          <a:solidFill>
            <a:srgbClr val="F0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201168" y="4120025"/>
            <a:ext cx="64008" cy="623098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20040" y="4180114"/>
            <a:ext cx="502920" cy="502920"/>
          </a:xfrm>
          <a:prstGeom prst="rect">
            <a:avLst/>
          </a:prstGeom>
          <a:solidFill>
            <a:srgbClr val="004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20040" y="4180114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0120" y="4156601"/>
            <a:ext cx="11000232" cy="54994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A1A1A"/>
                </a:solidFill>
                <a:latin typeface="Calibri"/>
              </a:rPr>
              <a:t>Grille d'évaluation 24 critères appliquée par le formateur sur chaque simulation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01168" y="4779699"/>
            <a:ext cx="11987784" cy="6230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201168" y="4779699"/>
            <a:ext cx="64008" cy="623098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320040" y="4839788"/>
            <a:ext cx="502920" cy="502920"/>
          </a:xfrm>
          <a:prstGeom prst="rect">
            <a:avLst/>
          </a:prstGeom>
          <a:solidFill>
            <a:srgbClr val="004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20040" y="4839788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0120" y="4816275"/>
            <a:ext cx="11000232" cy="54994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1500" b="1">
                <a:solidFill>
                  <a:srgbClr val="004D4D"/>
                </a:solidFill>
                <a:latin typeface="Calibri"/>
              </a:rPr>
              <a:t>Feedback immédiat après chaque simulation  </a:t>
            </a:r>
            <a:r>
              <a:rPr sz="1500" b="0">
                <a:solidFill>
                  <a:srgbClr val="1A1A1A"/>
                </a:solidFill>
                <a:latin typeface="Calibri"/>
              </a:rPr>
              <a:t>:  2 points forts + 1 axe prioritaire</a:t>
            </a:r>
          </a:p>
        </p:txBody>
      </p:sp>
      <p:sp>
        <p:nvSpPr>
          <p:cNvPr id="39" name="Rectangle 38"/>
          <p:cNvSpPr/>
          <p:nvPr/>
        </p:nvSpPr>
        <p:spPr>
          <a:xfrm>
            <a:off x="201168" y="5439373"/>
            <a:ext cx="11987784" cy="623098"/>
          </a:xfrm>
          <a:prstGeom prst="rect">
            <a:avLst/>
          </a:prstGeom>
          <a:solidFill>
            <a:srgbClr val="F0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201168" y="5439373"/>
            <a:ext cx="64008" cy="623098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320040" y="5499462"/>
            <a:ext cx="502920" cy="502920"/>
          </a:xfrm>
          <a:prstGeom prst="rect">
            <a:avLst/>
          </a:prstGeom>
          <a:solidFill>
            <a:srgbClr val="004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20040" y="5499462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60120" y="5475949"/>
            <a:ext cx="11000232" cy="54994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A1A1A"/>
                </a:solidFill>
                <a:latin typeface="Calibri"/>
              </a:rPr>
              <a:t>Chaque fundraiser passe au minimum 2 simulations complètes</a:t>
            </a:r>
          </a:p>
        </p:txBody>
      </p:sp>
      <p:sp>
        <p:nvSpPr>
          <p:cNvPr id="44" name="Rectangle 43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004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74320" y="6199632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Calibri"/>
              </a:rPr>
              <a:t>SHY-Performance  ×  FIDELIS  ×  UNICEF France</a:t>
            </a:r>
          </a:p>
        </p:txBody>
      </p:sp>
      <p:sp>
        <p:nvSpPr>
          <p:cNvPr id="46" name="Rectangle 45"/>
          <p:cNvSpPr/>
          <p:nvPr/>
        </p:nvSpPr>
        <p:spPr>
          <a:xfrm>
            <a:off x="0" y="6172200"/>
            <a:ext cx="12188952" cy="347472"/>
          </a:xfrm>
          <a:prstGeom prst="rect">
            <a:avLst/>
          </a:prstGeom>
          <a:solidFill>
            <a:srgbClr val="004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0" y="6172200"/>
            <a:ext cx="12188952" cy="27432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274320" y="6199632"/>
            <a:ext cx="1164031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1">
                <a:solidFill>
                  <a:srgbClr val="FFFFFF"/>
                </a:solidFill>
                <a:latin typeface="Calibri"/>
              </a:rPr>
              <a:t>Toute modification, rectification ou ajout est strictement interdit(e). Élaboré par Tamou Eljerrari — Ingénieure en Formation — sur ordre de la Directrice Générale, Mme Salima Negrao. Seules la DG SHY-Performance ou une personne mandatée sont autorisées.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4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417320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74320" y="137160"/>
            <a:ext cx="1097280" cy="1097280"/>
          </a:xfrm>
          <a:prstGeom prst="rect">
            <a:avLst/>
          </a:prstGeom>
          <a:solidFill>
            <a:srgbClr val="004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137160"/>
            <a:ext cx="10972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Calibri"/>
              </a:rPr>
              <a:t>04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54480" y="22860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Grille d'Évaluation Finale — 24 Critères</a:t>
            </a:r>
          </a:p>
        </p:txBody>
      </p:sp>
      <p:pic>
        <p:nvPicPr>
          <p:cNvPr id="8" name="Picture 7" descr="sh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0" y="91440"/>
            <a:ext cx="1447800" cy="64008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201168" y="1481328"/>
            <a:ext cx="11987784" cy="623098"/>
          </a:xfrm>
          <a:prstGeom prst="rect">
            <a:avLst/>
          </a:prstGeom>
          <a:solidFill>
            <a:srgbClr val="F0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01168" y="1481328"/>
            <a:ext cx="64008" cy="623098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20040" y="1541417"/>
            <a:ext cx="502920" cy="502920"/>
          </a:xfrm>
          <a:prstGeom prst="rect">
            <a:avLst/>
          </a:prstGeom>
          <a:solidFill>
            <a:srgbClr val="004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0040" y="1541417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1517904"/>
            <a:ext cx="11000232" cy="54994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1500" b="1">
                <a:solidFill>
                  <a:srgbClr val="004D4D"/>
                </a:solidFill>
                <a:latin typeface="Calibri"/>
              </a:rPr>
              <a:t>ACCROCHE (4 pts)  </a:t>
            </a:r>
            <a:r>
              <a:rPr sz="1500" b="0">
                <a:solidFill>
                  <a:srgbClr val="1A1A1A"/>
                </a:solidFill>
                <a:latin typeface="Calibri"/>
              </a:rPr>
              <a:t>:  naturel / règles 1-5 appliquées / identification genre / ton souriant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01168" y="2141002"/>
            <a:ext cx="11987784" cy="6230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01168" y="2141002"/>
            <a:ext cx="64008" cy="623098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20040" y="2201091"/>
            <a:ext cx="502920" cy="502920"/>
          </a:xfrm>
          <a:prstGeom prst="rect">
            <a:avLst/>
          </a:prstGeom>
          <a:solidFill>
            <a:srgbClr val="004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20040" y="2201091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2177578"/>
            <a:ext cx="11000232" cy="54994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1500" b="1">
                <a:solidFill>
                  <a:srgbClr val="004D4D"/>
                </a:solidFill>
                <a:latin typeface="Calibri"/>
              </a:rPr>
              <a:t>SCRIPT (6 pts)  </a:t>
            </a:r>
            <a:r>
              <a:rPr sz="1500" b="0">
                <a:solidFill>
                  <a:srgbClr val="1A1A1A"/>
                </a:solidFill>
                <a:latin typeface="Calibri"/>
              </a:rPr>
              <a:t>:  malnutrition / RUTF / proposition paliers / chiffres-clés / transition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01168" y="2800676"/>
            <a:ext cx="11987784" cy="623098"/>
          </a:xfrm>
          <a:prstGeom prst="rect">
            <a:avLst/>
          </a:prstGeom>
          <a:solidFill>
            <a:srgbClr val="F0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01168" y="2800676"/>
            <a:ext cx="64008" cy="623098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20040" y="2860765"/>
            <a:ext cx="502920" cy="502920"/>
          </a:xfrm>
          <a:prstGeom prst="rect">
            <a:avLst/>
          </a:prstGeom>
          <a:solidFill>
            <a:srgbClr val="004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20040" y="2860765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0120" y="2837252"/>
            <a:ext cx="11000232" cy="54994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1500" b="1">
                <a:solidFill>
                  <a:srgbClr val="004D4D"/>
                </a:solidFill>
                <a:latin typeface="Calibri"/>
              </a:rPr>
              <a:t>ÉCOUTE (3 pts)  </a:t>
            </a:r>
            <a:r>
              <a:rPr sz="1500" b="0">
                <a:solidFill>
                  <a:srgbClr val="1A1A1A"/>
                </a:solidFill>
                <a:latin typeface="Calibri"/>
              </a:rPr>
              <a:t>:  silence respecté / reformulation / adaptation au profil prospect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01168" y="3460350"/>
            <a:ext cx="11987784" cy="6230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01168" y="3460350"/>
            <a:ext cx="64008" cy="623098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320040" y="3520440"/>
            <a:ext cx="502920" cy="502920"/>
          </a:xfrm>
          <a:prstGeom prst="rect">
            <a:avLst/>
          </a:prstGeom>
          <a:solidFill>
            <a:srgbClr val="004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20040" y="352044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0120" y="3496926"/>
            <a:ext cx="11000232" cy="54994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1500" b="1">
                <a:solidFill>
                  <a:srgbClr val="004D4D"/>
                </a:solidFill>
                <a:latin typeface="Calibri"/>
              </a:rPr>
              <a:t>OBJECTIONS (5 pts)  </a:t>
            </a:r>
            <a:r>
              <a:rPr sz="1500" b="0">
                <a:solidFill>
                  <a:srgbClr val="1A1A1A"/>
                </a:solidFill>
                <a:latin typeface="Calibri"/>
              </a:rPr>
              <a:t>:  méthode AAR / argumentation / relance / calme / conviction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01168" y="4120025"/>
            <a:ext cx="11987784" cy="623098"/>
          </a:xfrm>
          <a:prstGeom prst="rect">
            <a:avLst/>
          </a:prstGeom>
          <a:solidFill>
            <a:srgbClr val="F0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201168" y="4120025"/>
            <a:ext cx="64008" cy="623098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20040" y="4180114"/>
            <a:ext cx="502920" cy="502920"/>
          </a:xfrm>
          <a:prstGeom prst="rect">
            <a:avLst/>
          </a:prstGeom>
          <a:solidFill>
            <a:srgbClr val="004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20040" y="4180114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0120" y="4156601"/>
            <a:ext cx="11000232" cy="54994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1500" b="1">
                <a:solidFill>
                  <a:srgbClr val="004D4D"/>
                </a:solidFill>
                <a:latin typeface="Calibri"/>
              </a:rPr>
              <a:t>CLOSING (4 pts)  </a:t>
            </a:r>
            <a:r>
              <a:rPr sz="1500" b="0">
                <a:solidFill>
                  <a:srgbClr val="1A1A1A"/>
                </a:solidFill>
                <a:latin typeface="Calibri"/>
              </a:rPr>
              <a:t>:  verrouillage / blindage / demande IBAN / prise de congé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01168" y="4779699"/>
            <a:ext cx="11987784" cy="6230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201168" y="4779699"/>
            <a:ext cx="64008" cy="623098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320040" y="4839788"/>
            <a:ext cx="502920" cy="502920"/>
          </a:xfrm>
          <a:prstGeom prst="rect">
            <a:avLst/>
          </a:prstGeom>
          <a:solidFill>
            <a:srgbClr val="004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20040" y="4839788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0120" y="4816275"/>
            <a:ext cx="11000232" cy="54994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1500" b="1">
                <a:solidFill>
                  <a:srgbClr val="004D4D"/>
                </a:solidFill>
                <a:latin typeface="Calibri"/>
              </a:rPr>
              <a:t>TON GÉNÉRAL (2 pts)  </a:t>
            </a:r>
            <a:r>
              <a:rPr sz="1500" b="0">
                <a:solidFill>
                  <a:srgbClr val="1A1A1A"/>
                </a:solidFill>
                <a:latin typeface="Calibri"/>
              </a:rPr>
              <a:t>:  chaleur / conviction / naturel tout au long de l'appel</a:t>
            </a:r>
          </a:p>
        </p:txBody>
      </p:sp>
      <p:sp>
        <p:nvSpPr>
          <p:cNvPr id="39" name="Rectangle 38"/>
          <p:cNvSpPr/>
          <p:nvPr/>
        </p:nvSpPr>
        <p:spPr>
          <a:xfrm>
            <a:off x="201168" y="5439373"/>
            <a:ext cx="11987784" cy="623098"/>
          </a:xfrm>
          <a:prstGeom prst="rect">
            <a:avLst/>
          </a:prstGeom>
          <a:solidFill>
            <a:srgbClr val="F0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201168" y="5439373"/>
            <a:ext cx="64008" cy="623098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320040" y="5499462"/>
            <a:ext cx="502920" cy="502920"/>
          </a:xfrm>
          <a:prstGeom prst="rect">
            <a:avLst/>
          </a:prstGeom>
          <a:solidFill>
            <a:srgbClr val="004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20040" y="5499462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60120" y="5475949"/>
            <a:ext cx="11000232" cy="54994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1500" b="1">
                <a:solidFill>
                  <a:srgbClr val="004D4D"/>
                </a:solidFill>
                <a:latin typeface="Calibri"/>
              </a:rPr>
              <a:t>Expert  </a:t>
            </a:r>
            <a:r>
              <a:rPr sz="1500" b="0">
                <a:solidFill>
                  <a:srgbClr val="1A1A1A"/>
                </a:solidFill>
                <a:latin typeface="Calibri"/>
              </a:rPr>
              <a:t>:  21-24 pts | Intermédiaire : 15-20 pts | Débutant : 8-14 pts</a:t>
            </a:r>
          </a:p>
        </p:txBody>
      </p:sp>
      <p:sp>
        <p:nvSpPr>
          <p:cNvPr id="44" name="Rectangle 43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004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74320" y="6199632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Calibri"/>
              </a:rPr>
              <a:t>SHY-Performance  ×  FIDELIS  ×  UNICEF France</a:t>
            </a:r>
          </a:p>
        </p:txBody>
      </p:sp>
      <p:sp>
        <p:nvSpPr>
          <p:cNvPr id="46" name="Rectangle 45"/>
          <p:cNvSpPr/>
          <p:nvPr/>
        </p:nvSpPr>
        <p:spPr>
          <a:xfrm>
            <a:off x="0" y="6172200"/>
            <a:ext cx="12188952" cy="347472"/>
          </a:xfrm>
          <a:prstGeom prst="rect">
            <a:avLst/>
          </a:prstGeom>
          <a:solidFill>
            <a:srgbClr val="004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0" y="6172200"/>
            <a:ext cx="12188952" cy="27432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274320" y="6199632"/>
            <a:ext cx="1164031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1">
                <a:solidFill>
                  <a:srgbClr val="FFFFFF"/>
                </a:solidFill>
                <a:latin typeface="Calibri"/>
              </a:rPr>
              <a:t>Toute modification, rectification ou ajout est strictement interdit(e). Élaboré par Tamou Eljerrari — Ingénieure en Formation — sur ordre de la Directrice Générale, Mme Salima Negrao. Seules la DG SHY-Performance ou une personne mandatée sont autorisées.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B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417320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45720"/>
            <a:ext cx="1164031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FFFFFF"/>
                </a:solidFill>
                <a:latin typeface="Calibri"/>
              </a:rPr>
              <a:t>★  RÈGLE D'OR  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594360"/>
            <a:ext cx="1127455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RÈGLE D'OR — Instructions Quiz 40 Questions</a:t>
            </a:r>
          </a:p>
        </p:txBody>
      </p:sp>
      <p:pic>
        <p:nvPicPr>
          <p:cNvPr id="7" name="Picture 6" descr="sh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0" y="91440"/>
            <a:ext cx="1447800" cy="6400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57200" y="1463040"/>
            <a:ext cx="112745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800"/>
              </a:spcBef>
            </a:pPr>
            <a:r>
              <a:rPr sz="1900" b="1">
                <a:solidFill>
                  <a:srgbClr val="004D4D"/>
                </a:solidFill>
                <a:latin typeface="Calibri"/>
              </a:rPr>
              <a:t>⭐ Le quiz comporte 40 questions réparties en 6 parties thématiques</a:t>
            </a:r>
          </a:p>
          <a:p>
            <a:pPr algn="ctr">
              <a:spcBef>
                <a:spcPts val="800"/>
              </a:spcBef>
            </a:pPr>
            <a:r>
              <a:rPr sz="1900" b="1">
                <a:solidFill>
                  <a:srgbClr val="004D4D"/>
                </a:solidFill>
                <a:latin typeface="Calibri"/>
              </a:rPr>
              <a:t>⭐ PARTIE A — UNICEF &amp; Cause (Q1–Q8)</a:t>
            </a:r>
          </a:p>
          <a:p>
            <a:pPr algn="ctr">
              <a:spcBef>
                <a:spcPts val="800"/>
              </a:spcBef>
            </a:pPr>
            <a:r>
              <a:rPr sz="1900" b="1">
                <a:solidFill>
                  <a:srgbClr val="004D4D"/>
                </a:solidFill>
                <a:latin typeface="Calibri"/>
              </a:rPr>
              <a:t>⭐ PARTIE B — Monde Associatif (Q9–Q15)</a:t>
            </a:r>
          </a:p>
          <a:p>
            <a:pPr algn="ctr">
              <a:spcBef>
                <a:spcPts val="800"/>
              </a:spcBef>
            </a:pPr>
            <a:r>
              <a:rPr sz="1900" b="1">
                <a:solidFill>
                  <a:srgbClr val="004D4D"/>
                </a:solidFill>
                <a:latin typeface="Calibri"/>
              </a:rPr>
              <a:t>⭐ PARTIE C — Script &amp; Accroche (Q16–Q22)</a:t>
            </a:r>
          </a:p>
          <a:p>
            <a:pPr algn="ctr">
              <a:spcBef>
                <a:spcPts val="800"/>
              </a:spcBef>
            </a:pPr>
            <a:r>
              <a:rPr sz="1900" b="1">
                <a:solidFill>
                  <a:srgbClr val="004D4D"/>
                </a:solidFill>
                <a:latin typeface="Calibri"/>
              </a:rPr>
              <a:t>⭐ PARTIE D — KPIs &amp; Nomenclature (Q23–Q28)</a:t>
            </a:r>
          </a:p>
          <a:p>
            <a:pPr algn="ctr">
              <a:spcBef>
                <a:spcPts val="800"/>
              </a:spcBef>
            </a:pPr>
            <a:r>
              <a:rPr sz="1900" b="1">
                <a:solidFill>
                  <a:srgbClr val="004D4D"/>
                </a:solidFill>
                <a:latin typeface="Calibri"/>
              </a:rPr>
              <a:t>⭐ PARTIE E — Objections &amp; AAR (Q29–Q35)</a:t>
            </a:r>
          </a:p>
          <a:p>
            <a:pPr algn="ctr">
              <a:spcBef>
                <a:spcPts val="800"/>
              </a:spcBef>
            </a:pPr>
            <a:r>
              <a:rPr sz="1900" b="1">
                <a:solidFill>
                  <a:srgbClr val="004D4D"/>
                </a:solidFill>
                <a:latin typeface="Calibri"/>
              </a:rPr>
              <a:t>⭐ PARTIE F — Closing &amp; Validation (Q36–Q40)</a:t>
            </a:r>
          </a:p>
          <a:p>
            <a:pPr algn="ctr">
              <a:spcBef>
                <a:spcPts val="800"/>
              </a:spcBef>
            </a:pPr>
            <a:r>
              <a:rPr sz="1900" b="1">
                <a:solidFill>
                  <a:srgbClr val="004D4D"/>
                </a:solidFill>
                <a:latin typeface="Calibri"/>
              </a:rPr>
              <a:t>⭐ Durée : 45 minutes maximum | Réponse unique par question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4320" y="6199632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Calibri"/>
              </a:rPr>
              <a:t>SHY-Performance  ×  FIDELIS  ×  UNICEF France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172200"/>
            <a:ext cx="12188952" cy="347472"/>
          </a:xfrm>
          <a:prstGeom prst="rect">
            <a:avLst/>
          </a:prstGeom>
          <a:solidFill>
            <a:srgbClr val="004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0" y="6172200"/>
            <a:ext cx="12188952" cy="27432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74320" y="6199632"/>
            <a:ext cx="1164031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1">
                <a:solidFill>
                  <a:srgbClr val="FFFFFF"/>
                </a:solidFill>
                <a:latin typeface="Calibri"/>
              </a:rPr>
              <a:t>Toute modification, rectification ou ajout est strictement interdit(e). Élaboré par Tamou Eljerrari — Ingénieure en Formation — sur ordre de la Directrice Générale, Mme Salima Negrao. Seules la DG SHY-Performance ou une personne mandatée sont autorisées.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4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9144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QUIZ FIM — Partie A — UNICEF &amp; Cause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91440"/>
            <a:ext cx="2560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Calibri"/>
              </a:rPr>
              <a:t>Q1–Q4  |  Nom : ________________________</a:t>
            </a:r>
          </a:p>
        </p:txBody>
      </p:sp>
      <p:pic>
        <p:nvPicPr>
          <p:cNvPr id="7" name="Picture 6" descr="sh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0" y="91440"/>
            <a:ext cx="1447800" cy="64008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274320" y="960120"/>
            <a:ext cx="5852160" cy="475488"/>
          </a:xfrm>
          <a:prstGeom prst="rect">
            <a:avLst/>
          </a:prstGeom>
          <a:solidFill>
            <a:srgbClr val="00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996696"/>
            <a:ext cx="566928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Q1 — En quelle année l'UNICEF a-t-il été créé ?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508760"/>
            <a:ext cx="5669280" cy="493776"/>
          </a:xfrm>
          <a:prstGeom prst="rect">
            <a:avLst/>
          </a:prstGeom>
          <a:solidFill>
            <a:srgbClr val="F0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84048" y="1536192"/>
            <a:ext cx="384048" cy="384048"/>
          </a:xfrm>
          <a:prstGeom prst="rect">
            <a:avLst/>
          </a:prstGeom>
          <a:solidFill>
            <a:srgbClr val="004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84048" y="1536192"/>
            <a:ext cx="38404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" y="1545336"/>
            <a:ext cx="52120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1A"/>
                </a:solidFill>
                <a:latin typeface="Calibri"/>
              </a:rPr>
              <a:t>1939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2066544"/>
            <a:ext cx="5669280" cy="49377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84048" y="2093976"/>
            <a:ext cx="384048" cy="384048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84048" y="2093976"/>
            <a:ext cx="38404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" y="2103120"/>
            <a:ext cx="52120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1A"/>
                </a:solidFill>
                <a:latin typeface="Calibri"/>
              </a:rPr>
              <a:t>1946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624328"/>
            <a:ext cx="5669280" cy="493776"/>
          </a:xfrm>
          <a:prstGeom prst="rect">
            <a:avLst/>
          </a:prstGeom>
          <a:solidFill>
            <a:srgbClr val="F0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84048" y="2651760"/>
            <a:ext cx="384048" cy="384048"/>
          </a:xfrm>
          <a:prstGeom prst="rect">
            <a:avLst/>
          </a:prstGeom>
          <a:solidFill>
            <a:srgbClr val="00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84048" y="2651760"/>
            <a:ext cx="38404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1248" y="2660904"/>
            <a:ext cx="52120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1A"/>
                </a:solidFill>
                <a:latin typeface="Calibri"/>
              </a:rPr>
              <a:t>1956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5760" y="3182112"/>
            <a:ext cx="5669280" cy="49377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84048" y="3209544"/>
            <a:ext cx="384048" cy="384048"/>
          </a:xfrm>
          <a:prstGeom prst="rect">
            <a:avLst/>
          </a:prstGeom>
          <a:solidFill>
            <a:srgbClr val="00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84048" y="3209544"/>
            <a:ext cx="38404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1248" y="3218688"/>
            <a:ext cx="52120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1A"/>
                </a:solidFill>
                <a:latin typeface="Calibri"/>
              </a:rPr>
              <a:t>1963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63640" y="960120"/>
            <a:ext cx="5852160" cy="475488"/>
          </a:xfrm>
          <a:prstGeom prst="rect">
            <a:avLst/>
          </a:prstGeom>
          <a:solidFill>
            <a:srgbClr val="00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355080" y="996696"/>
            <a:ext cx="566928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Q2 — Dans combien de pays l'UNICEF intervient-il ?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355080" y="1508760"/>
            <a:ext cx="5669280" cy="493776"/>
          </a:xfrm>
          <a:prstGeom prst="rect">
            <a:avLst/>
          </a:prstGeom>
          <a:solidFill>
            <a:srgbClr val="F0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373368" y="1536192"/>
            <a:ext cx="384048" cy="384048"/>
          </a:xfrm>
          <a:prstGeom prst="rect">
            <a:avLst/>
          </a:prstGeom>
          <a:solidFill>
            <a:srgbClr val="004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73368" y="1536192"/>
            <a:ext cx="38404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30568" y="1545336"/>
            <a:ext cx="52120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1A"/>
                </a:solidFill>
                <a:latin typeface="Calibri"/>
              </a:rPr>
              <a:t>150 pays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355080" y="2066544"/>
            <a:ext cx="5669280" cy="49377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373368" y="2093976"/>
            <a:ext cx="384048" cy="384048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73368" y="2093976"/>
            <a:ext cx="38404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30568" y="2103120"/>
            <a:ext cx="52120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1A"/>
                </a:solidFill>
                <a:latin typeface="Calibri"/>
              </a:rPr>
              <a:t>175 pays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355080" y="2624328"/>
            <a:ext cx="5669280" cy="493776"/>
          </a:xfrm>
          <a:prstGeom prst="rect">
            <a:avLst/>
          </a:prstGeom>
          <a:solidFill>
            <a:srgbClr val="F0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373368" y="2651760"/>
            <a:ext cx="384048" cy="384048"/>
          </a:xfrm>
          <a:prstGeom prst="rect">
            <a:avLst/>
          </a:prstGeom>
          <a:solidFill>
            <a:srgbClr val="00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373368" y="2651760"/>
            <a:ext cx="38404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830568" y="2660904"/>
            <a:ext cx="52120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1A"/>
                </a:solidFill>
                <a:latin typeface="Calibri"/>
              </a:rPr>
              <a:t>190 pays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355080" y="3182112"/>
            <a:ext cx="5669280" cy="49377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6373368" y="3209544"/>
            <a:ext cx="384048" cy="384048"/>
          </a:xfrm>
          <a:prstGeom prst="rect">
            <a:avLst/>
          </a:prstGeom>
          <a:solidFill>
            <a:srgbClr val="00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373368" y="3209544"/>
            <a:ext cx="38404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30568" y="3218688"/>
            <a:ext cx="52120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1A"/>
                </a:solidFill>
                <a:latin typeface="Calibri"/>
              </a:rPr>
              <a:t>210 pays</a:t>
            </a:r>
          </a:p>
        </p:txBody>
      </p:sp>
      <p:sp>
        <p:nvSpPr>
          <p:cNvPr id="44" name="Rectangle 43"/>
          <p:cNvSpPr/>
          <p:nvPr/>
        </p:nvSpPr>
        <p:spPr>
          <a:xfrm>
            <a:off x="274320" y="3794760"/>
            <a:ext cx="5852160" cy="475488"/>
          </a:xfrm>
          <a:prstGeom prst="rect">
            <a:avLst/>
          </a:prstGeom>
          <a:solidFill>
            <a:srgbClr val="00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65760" y="3831336"/>
            <a:ext cx="566928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Q3 — Quel est le poids d'un sachet RUTF ?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65760" y="4343400"/>
            <a:ext cx="5669280" cy="493776"/>
          </a:xfrm>
          <a:prstGeom prst="rect">
            <a:avLst/>
          </a:prstGeom>
          <a:solidFill>
            <a:srgbClr val="F0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384048" y="4370832"/>
            <a:ext cx="384048" cy="384048"/>
          </a:xfrm>
          <a:prstGeom prst="rect">
            <a:avLst/>
          </a:prstGeom>
          <a:solidFill>
            <a:srgbClr val="004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84048" y="4370832"/>
            <a:ext cx="38404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41248" y="4379976"/>
            <a:ext cx="52120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1A"/>
                </a:solidFill>
                <a:latin typeface="Calibri"/>
              </a:rPr>
              <a:t>50 grammes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65760" y="4901184"/>
            <a:ext cx="5669280" cy="49377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384048" y="4928616"/>
            <a:ext cx="384048" cy="384048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384048" y="4928616"/>
            <a:ext cx="38404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41248" y="4937760"/>
            <a:ext cx="52120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1A"/>
                </a:solidFill>
                <a:latin typeface="Calibri"/>
              </a:rPr>
              <a:t>72 grammes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5458968"/>
            <a:ext cx="5669280" cy="493776"/>
          </a:xfrm>
          <a:prstGeom prst="rect">
            <a:avLst/>
          </a:prstGeom>
          <a:solidFill>
            <a:srgbClr val="F0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384048" y="5486400"/>
            <a:ext cx="384048" cy="384048"/>
          </a:xfrm>
          <a:prstGeom prst="rect">
            <a:avLst/>
          </a:prstGeom>
          <a:solidFill>
            <a:srgbClr val="00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384048" y="5486400"/>
            <a:ext cx="38404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41248" y="5495544"/>
            <a:ext cx="52120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1A"/>
                </a:solidFill>
                <a:latin typeface="Calibri"/>
              </a:rPr>
              <a:t>92 grammes</a:t>
            </a:r>
          </a:p>
        </p:txBody>
      </p:sp>
      <p:sp>
        <p:nvSpPr>
          <p:cNvPr id="58" name="Rectangle 57"/>
          <p:cNvSpPr/>
          <p:nvPr/>
        </p:nvSpPr>
        <p:spPr>
          <a:xfrm>
            <a:off x="365760" y="6016752"/>
            <a:ext cx="5669280" cy="49377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384048" y="6044184"/>
            <a:ext cx="384048" cy="384048"/>
          </a:xfrm>
          <a:prstGeom prst="rect">
            <a:avLst/>
          </a:prstGeom>
          <a:solidFill>
            <a:srgbClr val="00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384048" y="6044184"/>
            <a:ext cx="38404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41248" y="6053328"/>
            <a:ext cx="52120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1A"/>
                </a:solidFill>
                <a:latin typeface="Calibri"/>
              </a:rPr>
              <a:t>110 grammes</a:t>
            </a:r>
          </a:p>
        </p:txBody>
      </p:sp>
      <p:sp>
        <p:nvSpPr>
          <p:cNvPr id="62" name="Rectangle 61"/>
          <p:cNvSpPr/>
          <p:nvPr/>
        </p:nvSpPr>
        <p:spPr>
          <a:xfrm>
            <a:off x="6263640" y="3794760"/>
            <a:ext cx="5852160" cy="475488"/>
          </a:xfrm>
          <a:prstGeom prst="rect">
            <a:avLst/>
          </a:prstGeom>
          <a:solidFill>
            <a:srgbClr val="00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355080" y="3831336"/>
            <a:ext cx="566928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Q4 — Quel % des fonds collectés va directement aux programmes terrain ?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355080" y="4343400"/>
            <a:ext cx="5669280" cy="493776"/>
          </a:xfrm>
          <a:prstGeom prst="rect">
            <a:avLst/>
          </a:prstGeom>
          <a:solidFill>
            <a:srgbClr val="F0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6373368" y="4370832"/>
            <a:ext cx="384048" cy="384048"/>
          </a:xfrm>
          <a:prstGeom prst="rect">
            <a:avLst/>
          </a:prstGeom>
          <a:solidFill>
            <a:srgbClr val="004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373368" y="4370832"/>
            <a:ext cx="38404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830568" y="4379976"/>
            <a:ext cx="52120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1A"/>
                </a:solidFill>
                <a:latin typeface="Calibri"/>
              </a:rPr>
              <a:t>75%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55080" y="4901184"/>
            <a:ext cx="5669280" cy="49377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6373368" y="4928616"/>
            <a:ext cx="384048" cy="384048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6373368" y="4928616"/>
            <a:ext cx="38404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830568" y="4937760"/>
            <a:ext cx="52120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1A"/>
                </a:solidFill>
                <a:latin typeface="Calibri"/>
              </a:rPr>
              <a:t>85%</a:t>
            </a:r>
          </a:p>
        </p:txBody>
      </p:sp>
      <p:sp>
        <p:nvSpPr>
          <p:cNvPr id="72" name="Rectangle 71"/>
          <p:cNvSpPr/>
          <p:nvPr/>
        </p:nvSpPr>
        <p:spPr>
          <a:xfrm>
            <a:off x="6355080" y="5458968"/>
            <a:ext cx="5669280" cy="493776"/>
          </a:xfrm>
          <a:prstGeom prst="rect">
            <a:avLst/>
          </a:prstGeom>
          <a:solidFill>
            <a:srgbClr val="F0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6373368" y="5486400"/>
            <a:ext cx="384048" cy="384048"/>
          </a:xfrm>
          <a:prstGeom prst="rect">
            <a:avLst/>
          </a:prstGeom>
          <a:solidFill>
            <a:srgbClr val="00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6373368" y="5486400"/>
            <a:ext cx="38404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830568" y="5495544"/>
            <a:ext cx="52120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1A"/>
                </a:solidFill>
                <a:latin typeface="Calibri"/>
              </a:rPr>
              <a:t>93%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55080" y="6016752"/>
            <a:ext cx="5669280" cy="49377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6373368" y="6044184"/>
            <a:ext cx="384048" cy="384048"/>
          </a:xfrm>
          <a:prstGeom prst="rect">
            <a:avLst/>
          </a:prstGeom>
          <a:solidFill>
            <a:srgbClr val="00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373368" y="6044184"/>
            <a:ext cx="38404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6830568" y="6053328"/>
            <a:ext cx="52120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1A"/>
                </a:solidFill>
                <a:latin typeface="Calibri"/>
              </a:rPr>
              <a:t>100%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004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274320" y="6199632"/>
            <a:ext cx="11612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SHY-Performance  ×  FIDELIS  ×  UNICEF France — Quiz FIM 40 Questions</a:t>
            </a:r>
          </a:p>
        </p:txBody>
      </p:sp>
      <p:sp>
        <p:nvSpPr>
          <p:cNvPr id="82" name="Rectangle 81"/>
          <p:cNvSpPr/>
          <p:nvPr/>
        </p:nvSpPr>
        <p:spPr>
          <a:xfrm>
            <a:off x="0" y="6172200"/>
            <a:ext cx="12188952" cy="347472"/>
          </a:xfrm>
          <a:prstGeom prst="rect">
            <a:avLst/>
          </a:prstGeom>
          <a:solidFill>
            <a:srgbClr val="004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0" y="6172200"/>
            <a:ext cx="12188952" cy="27432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274320" y="6199632"/>
            <a:ext cx="1164031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1">
                <a:solidFill>
                  <a:srgbClr val="FFFFFF"/>
                </a:solidFill>
                <a:latin typeface="Calibri"/>
              </a:rPr>
              <a:t>Toute modification, rectification ou ajout est strictement interdit(e). Élaboré par Tamou Eljerrari — Ingénieure en Formation — sur ordre de la Directrice Générale, Mme Salima Negrao. Seules la DG SHY-Performance ou une personne mandatée sont autorisées.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4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9144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QUIZ FIM — Partie B — Monde Associatif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91440"/>
            <a:ext cx="2560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Calibri"/>
              </a:rPr>
              <a:t>Q5–Q8  |  Nom : ________________________</a:t>
            </a:r>
          </a:p>
        </p:txBody>
      </p:sp>
      <p:pic>
        <p:nvPicPr>
          <p:cNvPr id="7" name="Picture 6" descr="sh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0" y="91440"/>
            <a:ext cx="1447800" cy="64008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274320" y="960120"/>
            <a:ext cx="5852160" cy="475488"/>
          </a:xfrm>
          <a:prstGeom prst="rect">
            <a:avLst/>
          </a:prstGeom>
          <a:solidFill>
            <a:srgbClr val="00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996696"/>
            <a:ext cx="566928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Q5 — En quelle année l'UNICEF a-t-il reçu le Prix Nobel de la Paix ?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508760"/>
            <a:ext cx="5669280" cy="493776"/>
          </a:xfrm>
          <a:prstGeom prst="rect">
            <a:avLst/>
          </a:prstGeom>
          <a:solidFill>
            <a:srgbClr val="F0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84048" y="1536192"/>
            <a:ext cx="384048" cy="384048"/>
          </a:xfrm>
          <a:prstGeom prst="rect">
            <a:avLst/>
          </a:prstGeom>
          <a:solidFill>
            <a:srgbClr val="004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84048" y="1536192"/>
            <a:ext cx="38404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" y="1545336"/>
            <a:ext cx="52120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1A"/>
                </a:solidFill>
                <a:latin typeface="Calibri"/>
              </a:rPr>
              <a:t>1955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2066544"/>
            <a:ext cx="5669280" cy="49377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84048" y="2093976"/>
            <a:ext cx="384048" cy="384048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84048" y="2093976"/>
            <a:ext cx="38404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" y="2103120"/>
            <a:ext cx="52120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1A"/>
                </a:solidFill>
                <a:latin typeface="Calibri"/>
              </a:rPr>
              <a:t>1965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624328"/>
            <a:ext cx="5669280" cy="493776"/>
          </a:xfrm>
          <a:prstGeom prst="rect">
            <a:avLst/>
          </a:prstGeom>
          <a:solidFill>
            <a:srgbClr val="F0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84048" y="2651760"/>
            <a:ext cx="384048" cy="384048"/>
          </a:xfrm>
          <a:prstGeom prst="rect">
            <a:avLst/>
          </a:prstGeom>
          <a:solidFill>
            <a:srgbClr val="00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84048" y="2651760"/>
            <a:ext cx="38404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1248" y="2660904"/>
            <a:ext cx="52120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1A"/>
                </a:solidFill>
                <a:latin typeface="Calibri"/>
              </a:rPr>
              <a:t>1975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5760" y="3182112"/>
            <a:ext cx="5669280" cy="49377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84048" y="3209544"/>
            <a:ext cx="384048" cy="384048"/>
          </a:xfrm>
          <a:prstGeom prst="rect">
            <a:avLst/>
          </a:prstGeom>
          <a:solidFill>
            <a:srgbClr val="00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84048" y="3209544"/>
            <a:ext cx="38404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1248" y="3218688"/>
            <a:ext cx="52120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1A"/>
                </a:solidFill>
                <a:latin typeface="Calibri"/>
              </a:rPr>
              <a:t>1985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63640" y="960120"/>
            <a:ext cx="5852160" cy="475488"/>
          </a:xfrm>
          <a:prstGeom prst="rect">
            <a:avLst/>
          </a:prstGeom>
          <a:solidFill>
            <a:srgbClr val="00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355080" y="996696"/>
            <a:ext cx="566928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Q6 — Quel % des enfants du monde l'UNICEF vaccine-t-il ?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355080" y="1508760"/>
            <a:ext cx="5669280" cy="493776"/>
          </a:xfrm>
          <a:prstGeom prst="rect">
            <a:avLst/>
          </a:prstGeom>
          <a:solidFill>
            <a:srgbClr val="F0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373368" y="1536192"/>
            <a:ext cx="384048" cy="384048"/>
          </a:xfrm>
          <a:prstGeom prst="rect">
            <a:avLst/>
          </a:prstGeom>
          <a:solidFill>
            <a:srgbClr val="004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73368" y="1536192"/>
            <a:ext cx="38404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30568" y="1545336"/>
            <a:ext cx="52120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1A"/>
                </a:solidFill>
                <a:latin typeface="Calibri"/>
              </a:rPr>
              <a:t>25%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355080" y="2066544"/>
            <a:ext cx="5669280" cy="49377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373368" y="2093976"/>
            <a:ext cx="384048" cy="384048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73368" y="2093976"/>
            <a:ext cx="38404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30568" y="2103120"/>
            <a:ext cx="52120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1A"/>
                </a:solidFill>
                <a:latin typeface="Calibri"/>
              </a:rPr>
              <a:t>35%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355080" y="2624328"/>
            <a:ext cx="5669280" cy="493776"/>
          </a:xfrm>
          <a:prstGeom prst="rect">
            <a:avLst/>
          </a:prstGeom>
          <a:solidFill>
            <a:srgbClr val="F0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373368" y="2651760"/>
            <a:ext cx="384048" cy="384048"/>
          </a:xfrm>
          <a:prstGeom prst="rect">
            <a:avLst/>
          </a:prstGeom>
          <a:solidFill>
            <a:srgbClr val="00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373368" y="2651760"/>
            <a:ext cx="38404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830568" y="2660904"/>
            <a:ext cx="52120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1A"/>
                </a:solidFill>
                <a:latin typeface="Calibri"/>
              </a:rPr>
              <a:t>45%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355080" y="3182112"/>
            <a:ext cx="5669280" cy="49377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6373368" y="3209544"/>
            <a:ext cx="384048" cy="384048"/>
          </a:xfrm>
          <a:prstGeom prst="rect">
            <a:avLst/>
          </a:prstGeom>
          <a:solidFill>
            <a:srgbClr val="00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373368" y="3209544"/>
            <a:ext cx="38404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30568" y="3218688"/>
            <a:ext cx="52120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1A"/>
                </a:solidFill>
                <a:latin typeface="Calibri"/>
              </a:rPr>
              <a:t>55%</a:t>
            </a:r>
          </a:p>
        </p:txBody>
      </p:sp>
      <p:sp>
        <p:nvSpPr>
          <p:cNvPr id="44" name="Rectangle 43"/>
          <p:cNvSpPr/>
          <p:nvPr/>
        </p:nvSpPr>
        <p:spPr>
          <a:xfrm>
            <a:off x="274320" y="3794760"/>
            <a:ext cx="5852160" cy="475488"/>
          </a:xfrm>
          <a:prstGeom prst="rect">
            <a:avLst/>
          </a:prstGeom>
          <a:solidFill>
            <a:srgbClr val="00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65760" y="3831336"/>
            <a:ext cx="566928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Q7 — RUTF signifie Ready-to-Use Therapeutic Food. Quelle est sa composition de base ?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65760" y="4343400"/>
            <a:ext cx="5669280" cy="493776"/>
          </a:xfrm>
          <a:prstGeom prst="rect">
            <a:avLst/>
          </a:prstGeom>
          <a:solidFill>
            <a:srgbClr val="F0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384048" y="4370832"/>
            <a:ext cx="384048" cy="384048"/>
          </a:xfrm>
          <a:prstGeom prst="rect">
            <a:avLst/>
          </a:prstGeom>
          <a:solidFill>
            <a:srgbClr val="004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84048" y="4370832"/>
            <a:ext cx="38404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41248" y="4379976"/>
            <a:ext cx="52120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1A"/>
                </a:solidFill>
                <a:latin typeface="Calibri"/>
              </a:rPr>
              <a:t>Riz, eau, sel, vitamines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65760" y="4901184"/>
            <a:ext cx="5669280" cy="49377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384048" y="4928616"/>
            <a:ext cx="384048" cy="384048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384048" y="4928616"/>
            <a:ext cx="38404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41248" y="4937760"/>
            <a:ext cx="52120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1A"/>
                </a:solidFill>
                <a:latin typeface="Calibri"/>
              </a:rPr>
              <a:t>Pâte d'arachide, matière grasse végétale, lait écrémé, vitamines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5458968"/>
            <a:ext cx="5669280" cy="493776"/>
          </a:xfrm>
          <a:prstGeom prst="rect">
            <a:avLst/>
          </a:prstGeom>
          <a:solidFill>
            <a:srgbClr val="F0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384048" y="5486400"/>
            <a:ext cx="384048" cy="384048"/>
          </a:xfrm>
          <a:prstGeom prst="rect">
            <a:avLst/>
          </a:prstGeom>
          <a:solidFill>
            <a:srgbClr val="00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384048" y="5486400"/>
            <a:ext cx="38404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41248" y="5495544"/>
            <a:ext cx="52120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1A"/>
                </a:solidFill>
                <a:latin typeface="Calibri"/>
              </a:rPr>
              <a:t>Farine de maïs, huile, sucre, minéraux</a:t>
            </a:r>
          </a:p>
        </p:txBody>
      </p:sp>
      <p:sp>
        <p:nvSpPr>
          <p:cNvPr id="58" name="Rectangle 57"/>
          <p:cNvSpPr/>
          <p:nvPr/>
        </p:nvSpPr>
        <p:spPr>
          <a:xfrm>
            <a:off x="365760" y="6016752"/>
            <a:ext cx="5669280" cy="49377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384048" y="6044184"/>
            <a:ext cx="384048" cy="384048"/>
          </a:xfrm>
          <a:prstGeom prst="rect">
            <a:avLst/>
          </a:prstGeom>
          <a:solidFill>
            <a:srgbClr val="00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384048" y="6044184"/>
            <a:ext cx="38404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41248" y="6053328"/>
            <a:ext cx="52120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1A"/>
                </a:solidFill>
                <a:latin typeface="Calibri"/>
              </a:rPr>
              <a:t>Lait entier, beurre de cacao, protéines végétales</a:t>
            </a:r>
          </a:p>
        </p:txBody>
      </p:sp>
      <p:sp>
        <p:nvSpPr>
          <p:cNvPr id="62" name="Rectangle 61"/>
          <p:cNvSpPr/>
          <p:nvPr/>
        </p:nvSpPr>
        <p:spPr>
          <a:xfrm>
            <a:off x="6263640" y="3794760"/>
            <a:ext cx="5852160" cy="475488"/>
          </a:xfrm>
          <a:prstGeom prst="rect">
            <a:avLst/>
          </a:prstGeom>
          <a:solidFill>
            <a:srgbClr val="00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355080" y="3831336"/>
            <a:ext cx="566928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Q8 — De quoi n'a PAS besoin le sachet RUTF pour être consommé ?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355080" y="4343400"/>
            <a:ext cx="5669280" cy="493776"/>
          </a:xfrm>
          <a:prstGeom prst="rect">
            <a:avLst/>
          </a:prstGeom>
          <a:solidFill>
            <a:srgbClr val="F0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6373368" y="4370832"/>
            <a:ext cx="384048" cy="384048"/>
          </a:xfrm>
          <a:prstGeom prst="rect">
            <a:avLst/>
          </a:prstGeom>
          <a:solidFill>
            <a:srgbClr val="004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373368" y="4370832"/>
            <a:ext cx="38404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830568" y="4379976"/>
            <a:ext cx="52120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1A"/>
                </a:solidFill>
                <a:latin typeface="Calibri"/>
              </a:rPr>
              <a:t>D'être ouvert avant consommation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55080" y="4901184"/>
            <a:ext cx="5669280" cy="49377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6373368" y="4928616"/>
            <a:ext cx="384048" cy="384048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6373368" y="4928616"/>
            <a:ext cx="38404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830568" y="4937760"/>
            <a:ext cx="52120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1A"/>
                </a:solidFill>
                <a:latin typeface="Calibri"/>
              </a:rPr>
              <a:t>D'eau, d'électricité ni de cuisson</a:t>
            </a:r>
          </a:p>
        </p:txBody>
      </p:sp>
      <p:sp>
        <p:nvSpPr>
          <p:cNvPr id="72" name="Rectangle 71"/>
          <p:cNvSpPr/>
          <p:nvPr/>
        </p:nvSpPr>
        <p:spPr>
          <a:xfrm>
            <a:off x="6355080" y="5458968"/>
            <a:ext cx="5669280" cy="493776"/>
          </a:xfrm>
          <a:prstGeom prst="rect">
            <a:avLst/>
          </a:prstGeom>
          <a:solidFill>
            <a:srgbClr val="F0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6373368" y="5486400"/>
            <a:ext cx="384048" cy="384048"/>
          </a:xfrm>
          <a:prstGeom prst="rect">
            <a:avLst/>
          </a:prstGeom>
          <a:solidFill>
            <a:srgbClr val="00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6373368" y="5486400"/>
            <a:ext cx="38404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830568" y="5495544"/>
            <a:ext cx="52120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1A"/>
                </a:solidFill>
                <a:latin typeface="Calibri"/>
              </a:rPr>
              <a:t>D'un enfant de moins de 5 ans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55080" y="6016752"/>
            <a:ext cx="5669280" cy="49377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6373368" y="6044184"/>
            <a:ext cx="384048" cy="384048"/>
          </a:xfrm>
          <a:prstGeom prst="rect">
            <a:avLst/>
          </a:prstGeom>
          <a:solidFill>
            <a:srgbClr val="00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373368" y="6044184"/>
            <a:ext cx="38404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6830568" y="6053328"/>
            <a:ext cx="52120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1A"/>
                </a:solidFill>
                <a:latin typeface="Calibri"/>
              </a:rPr>
              <a:t>D'un stockage à température ambiante</a:t>
            </a:r>
          </a:p>
        </p:txBody>
      </p:sp>
      <p:sp>
        <p:nvSpPr>
          <p:cNvPr id="80" name="Rectangle 79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004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274320" y="6199632"/>
            <a:ext cx="11612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SHY-Performance  ×  FIDELIS  ×  UNICEF France — Quiz FIM 40 Questions</a:t>
            </a:r>
          </a:p>
        </p:txBody>
      </p:sp>
      <p:sp>
        <p:nvSpPr>
          <p:cNvPr id="82" name="Rectangle 81"/>
          <p:cNvSpPr/>
          <p:nvPr/>
        </p:nvSpPr>
        <p:spPr>
          <a:xfrm>
            <a:off x="0" y="6172200"/>
            <a:ext cx="12188952" cy="347472"/>
          </a:xfrm>
          <a:prstGeom prst="rect">
            <a:avLst/>
          </a:prstGeom>
          <a:solidFill>
            <a:srgbClr val="004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0" y="6172200"/>
            <a:ext cx="12188952" cy="27432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274320" y="6199632"/>
            <a:ext cx="1164031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1">
                <a:solidFill>
                  <a:srgbClr val="FFFFFF"/>
                </a:solidFill>
                <a:latin typeface="Calibri"/>
              </a:rPr>
              <a:t>Toute modification, rectification ou ajout est strictement interdit(e). Élaboré par Tamou Eljerrari — Ingénieure en Formation — sur ordre de la Directrice Générale, Mme Salima Negrao. Seules la DG SHY-Performance ou une personne mandatée sont autorisées.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4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9144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QUIZ FIM — Partie C — Script &amp; Accroche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91440"/>
            <a:ext cx="2560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Calibri"/>
              </a:rPr>
              <a:t>Q9–Q12  |  Nom : ________________________</a:t>
            </a:r>
          </a:p>
        </p:txBody>
      </p:sp>
      <p:pic>
        <p:nvPicPr>
          <p:cNvPr id="7" name="Picture 6" descr="sh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0" y="91440"/>
            <a:ext cx="1447800" cy="64008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274320" y="960120"/>
            <a:ext cx="5852160" cy="475488"/>
          </a:xfrm>
          <a:prstGeom prst="rect">
            <a:avLst/>
          </a:prstGeom>
          <a:solidFill>
            <a:srgbClr val="00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996696"/>
            <a:ext cx="566928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Q9 — Combien d'associations actives compte la France ?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508760"/>
            <a:ext cx="5669280" cy="493776"/>
          </a:xfrm>
          <a:prstGeom prst="rect">
            <a:avLst/>
          </a:prstGeom>
          <a:solidFill>
            <a:srgbClr val="F0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84048" y="1536192"/>
            <a:ext cx="384048" cy="384048"/>
          </a:xfrm>
          <a:prstGeom prst="rect">
            <a:avLst/>
          </a:prstGeom>
          <a:solidFill>
            <a:srgbClr val="004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84048" y="1536192"/>
            <a:ext cx="38404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" y="1545336"/>
            <a:ext cx="52120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1A"/>
                </a:solidFill>
                <a:latin typeface="Calibri"/>
              </a:rPr>
              <a:t>500 000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2066544"/>
            <a:ext cx="5669280" cy="49377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84048" y="2093976"/>
            <a:ext cx="384048" cy="384048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84048" y="2093976"/>
            <a:ext cx="38404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" y="2103120"/>
            <a:ext cx="52120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1A"/>
                </a:solidFill>
                <a:latin typeface="Calibri"/>
              </a:rPr>
              <a:t>1 million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624328"/>
            <a:ext cx="5669280" cy="493776"/>
          </a:xfrm>
          <a:prstGeom prst="rect">
            <a:avLst/>
          </a:prstGeom>
          <a:solidFill>
            <a:srgbClr val="F0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84048" y="2651760"/>
            <a:ext cx="384048" cy="384048"/>
          </a:xfrm>
          <a:prstGeom prst="rect">
            <a:avLst/>
          </a:prstGeom>
          <a:solidFill>
            <a:srgbClr val="00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84048" y="2651760"/>
            <a:ext cx="38404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1248" y="2660904"/>
            <a:ext cx="52120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1A"/>
                </a:solidFill>
                <a:latin typeface="Calibri"/>
              </a:rPr>
              <a:t>1,5 million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5760" y="3182112"/>
            <a:ext cx="5669280" cy="49377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84048" y="3209544"/>
            <a:ext cx="384048" cy="384048"/>
          </a:xfrm>
          <a:prstGeom prst="rect">
            <a:avLst/>
          </a:prstGeom>
          <a:solidFill>
            <a:srgbClr val="00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84048" y="3209544"/>
            <a:ext cx="38404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1248" y="3218688"/>
            <a:ext cx="52120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1A"/>
                </a:solidFill>
                <a:latin typeface="Calibri"/>
              </a:rPr>
              <a:t>2 millions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63640" y="960120"/>
            <a:ext cx="5852160" cy="475488"/>
          </a:xfrm>
          <a:prstGeom prst="rect">
            <a:avLst/>
          </a:prstGeom>
          <a:solidFill>
            <a:srgbClr val="00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355080" y="996696"/>
            <a:ext cx="566928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Q10 — La Loi 1901 a été adoptée le :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355080" y="1508760"/>
            <a:ext cx="5669280" cy="493776"/>
          </a:xfrm>
          <a:prstGeom prst="rect">
            <a:avLst/>
          </a:prstGeom>
          <a:solidFill>
            <a:srgbClr val="F0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373368" y="1536192"/>
            <a:ext cx="384048" cy="384048"/>
          </a:xfrm>
          <a:prstGeom prst="rect">
            <a:avLst/>
          </a:prstGeom>
          <a:solidFill>
            <a:srgbClr val="004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73368" y="1536192"/>
            <a:ext cx="38404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30568" y="1545336"/>
            <a:ext cx="52120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1A"/>
                </a:solidFill>
                <a:latin typeface="Calibri"/>
              </a:rPr>
              <a:t>1er juillet 1901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355080" y="2066544"/>
            <a:ext cx="5669280" cy="49377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373368" y="2093976"/>
            <a:ext cx="384048" cy="384048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73368" y="2093976"/>
            <a:ext cx="38404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30568" y="2103120"/>
            <a:ext cx="52120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1A"/>
                </a:solidFill>
                <a:latin typeface="Calibri"/>
              </a:rPr>
              <a:t>14 juillet 1901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355080" y="2624328"/>
            <a:ext cx="5669280" cy="493776"/>
          </a:xfrm>
          <a:prstGeom prst="rect">
            <a:avLst/>
          </a:prstGeom>
          <a:solidFill>
            <a:srgbClr val="F0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373368" y="2651760"/>
            <a:ext cx="384048" cy="384048"/>
          </a:xfrm>
          <a:prstGeom prst="rect">
            <a:avLst/>
          </a:prstGeom>
          <a:solidFill>
            <a:srgbClr val="00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373368" y="2651760"/>
            <a:ext cx="38404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830568" y="2660904"/>
            <a:ext cx="52120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1A"/>
                </a:solidFill>
                <a:latin typeface="Calibri"/>
              </a:rPr>
              <a:t>1er janvier 1901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355080" y="3182112"/>
            <a:ext cx="5669280" cy="49377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6373368" y="3209544"/>
            <a:ext cx="384048" cy="384048"/>
          </a:xfrm>
          <a:prstGeom prst="rect">
            <a:avLst/>
          </a:prstGeom>
          <a:solidFill>
            <a:srgbClr val="00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373368" y="3209544"/>
            <a:ext cx="38404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30568" y="3218688"/>
            <a:ext cx="52120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1A"/>
                </a:solidFill>
                <a:latin typeface="Calibri"/>
              </a:rPr>
              <a:t>1er mars 1901</a:t>
            </a:r>
          </a:p>
        </p:txBody>
      </p:sp>
      <p:sp>
        <p:nvSpPr>
          <p:cNvPr id="44" name="Rectangle 43"/>
          <p:cNvSpPr/>
          <p:nvPr/>
        </p:nvSpPr>
        <p:spPr>
          <a:xfrm>
            <a:off x="274320" y="3794760"/>
            <a:ext cx="5852160" cy="475488"/>
          </a:xfrm>
          <a:prstGeom prst="rect">
            <a:avLst/>
          </a:prstGeom>
          <a:solidFill>
            <a:srgbClr val="00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65760" y="3831336"/>
            <a:ext cx="566928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Q11 — La bataille de Solférino a eu lieu en :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65760" y="4343400"/>
            <a:ext cx="5669280" cy="493776"/>
          </a:xfrm>
          <a:prstGeom prst="rect">
            <a:avLst/>
          </a:prstGeom>
          <a:solidFill>
            <a:srgbClr val="F0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384048" y="4370832"/>
            <a:ext cx="384048" cy="384048"/>
          </a:xfrm>
          <a:prstGeom prst="rect">
            <a:avLst/>
          </a:prstGeom>
          <a:solidFill>
            <a:srgbClr val="004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84048" y="4370832"/>
            <a:ext cx="38404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41248" y="4379976"/>
            <a:ext cx="52120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1A"/>
                </a:solidFill>
                <a:latin typeface="Calibri"/>
              </a:rPr>
              <a:t>1845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65760" y="4901184"/>
            <a:ext cx="5669280" cy="49377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384048" y="4928616"/>
            <a:ext cx="384048" cy="384048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384048" y="4928616"/>
            <a:ext cx="38404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41248" y="4937760"/>
            <a:ext cx="52120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1A"/>
                </a:solidFill>
                <a:latin typeface="Calibri"/>
              </a:rPr>
              <a:t>1859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5458968"/>
            <a:ext cx="5669280" cy="493776"/>
          </a:xfrm>
          <a:prstGeom prst="rect">
            <a:avLst/>
          </a:prstGeom>
          <a:solidFill>
            <a:srgbClr val="F0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384048" y="5486400"/>
            <a:ext cx="384048" cy="384048"/>
          </a:xfrm>
          <a:prstGeom prst="rect">
            <a:avLst/>
          </a:prstGeom>
          <a:solidFill>
            <a:srgbClr val="00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384048" y="5486400"/>
            <a:ext cx="38404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41248" y="5495544"/>
            <a:ext cx="52120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1A"/>
                </a:solidFill>
                <a:latin typeface="Calibri"/>
              </a:rPr>
              <a:t>1871</a:t>
            </a:r>
          </a:p>
        </p:txBody>
      </p:sp>
      <p:sp>
        <p:nvSpPr>
          <p:cNvPr id="58" name="Rectangle 57"/>
          <p:cNvSpPr/>
          <p:nvPr/>
        </p:nvSpPr>
        <p:spPr>
          <a:xfrm>
            <a:off x="365760" y="6016752"/>
            <a:ext cx="5669280" cy="49377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384048" y="6044184"/>
            <a:ext cx="384048" cy="384048"/>
          </a:xfrm>
          <a:prstGeom prst="rect">
            <a:avLst/>
          </a:prstGeom>
          <a:solidFill>
            <a:srgbClr val="00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384048" y="6044184"/>
            <a:ext cx="38404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41248" y="6053328"/>
            <a:ext cx="52120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1A"/>
                </a:solidFill>
                <a:latin typeface="Calibri"/>
              </a:rPr>
              <a:t>1889</a:t>
            </a:r>
          </a:p>
        </p:txBody>
      </p:sp>
      <p:sp>
        <p:nvSpPr>
          <p:cNvPr id="62" name="Rectangle 61"/>
          <p:cNvSpPr/>
          <p:nvPr/>
        </p:nvSpPr>
        <p:spPr>
          <a:xfrm>
            <a:off x="6263640" y="3794760"/>
            <a:ext cx="5852160" cy="475488"/>
          </a:xfrm>
          <a:prstGeom prst="rect">
            <a:avLst/>
          </a:prstGeom>
          <a:solidFill>
            <a:srgbClr val="00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355080" y="3831336"/>
            <a:ext cx="566928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Q12 — Qui est à l'origine de la création de la Croix-Rouge ?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355080" y="4343400"/>
            <a:ext cx="5669280" cy="493776"/>
          </a:xfrm>
          <a:prstGeom prst="rect">
            <a:avLst/>
          </a:prstGeom>
          <a:solidFill>
            <a:srgbClr val="F0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6373368" y="4370832"/>
            <a:ext cx="384048" cy="384048"/>
          </a:xfrm>
          <a:prstGeom prst="rect">
            <a:avLst/>
          </a:prstGeom>
          <a:solidFill>
            <a:srgbClr val="004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373368" y="4370832"/>
            <a:ext cx="38404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830568" y="4379976"/>
            <a:ext cx="52120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1A"/>
                </a:solidFill>
                <a:latin typeface="Calibri"/>
              </a:rPr>
              <a:t>Florence Nightingale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55080" y="4901184"/>
            <a:ext cx="5669280" cy="49377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6373368" y="4928616"/>
            <a:ext cx="384048" cy="384048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6373368" y="4928616"/>
            <a:ext cx="38404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830568" y="4937760"/>
            <a:ext cx="52120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1A"/>
                </a:solidFill>
                <a:latin typeface="Calibri"/>
              </a:rPr>
              <a:t>Jean-Henri Dunant</a:t>
            </a:r>
          </a:p>
        </p:txBody>
      </p:sp>
      <p:sp>
        <p:nvSpPr>
          <p:cNvPr id="72" name="Rectangle 71"/>
          <p:cNvSpPr/>
          <p:nvPr/>
        </p:nvSpPr>
        <p:spPr>
          <a:xfrm>
            <a:off x="6355080" y="5458968"/>
            <a:ext cx="5669280" cy="493776"/>
          </a:xfrm>
          <a:prstGeom prst="rect">
            <a:avLst/>
          </a:prstGeom>
          <a:solidFill>
            <a:srgbClr val="F0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6373368" y="5486400"/>
            <a:ext cx="384048" cy="384048"/>
          </a:xfrm>
          <a:prstGeom prst="rect">
            <a:avLst/>
          </a:prstGeom>
          <a:solidFill>
            <a:srgbClr val="00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6373368" y="5486400"/>
            <a:ext cx="38404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830568" y="5495544"/>
            <a:ext cx="52120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1A"/>
                </a:solidFill>
                <a:latin typeface="Calibri"/>
              </a:rPr>
              <a:t>Louis Pasteur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55080" y="6016752"/>
            <a:ext cx="5669280" cy="49377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6373368" y="6044184"/>
            <a:ext cx="384048" cy="384048"/>
          </a:xfrm>
          <a:prstGeom prst="rect">
            <a:avLst/>
          </a:prstGeom>
          <a:solidFill>
            <a:srgbClr val="00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373368" y="6044184"/>
            <a:ext cx="38404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6830568" y="6053328"/>
            <a:ext cx="52120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1A"/>
                </a:solidFill>
                <a:latin typeface="Calibri"/>
              </a:rPr>
              <a:t>Albert Schweitzer</a:t>
            </a:r>
          </a:p>
        </p:txBody>
      </p:sp>
      <p:sp>
        <p:nvSpPr>
          <p:cNvPr id="80" name="Rectangle 79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004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274320" y="6199632"/>
            <a:ext cx="11612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SHY-Performance  ×  FIDELIS  ×  UNICEF France — Quiz FIM 40 Questions</a:t>
            </a:r>
          </a:p>
        </p:txBody>
      </p:sp>
      <p:sp>
        <p:nvSpPr>
          <p:cNvPr id="82" name="Rectangle 81"/>
          <p:cNvSpPr/>
          <p:nvPr/>
        </p:nvSpPr>
        <p:spPr>
          <a:xfrm>
            <a:off x="0" y="6172200"/>
            <a:ext cx="12188952" cy="347472"/>
          </a:xfrm>
          <a:prstGeom prst="rect">
            <a:avLst/>
          </a:prstGeom>
          <a:solidFill>
            <a:srgbClr val="004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0" y="6172200"/>
            <a:ext cx="12188952" cy="27432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274320" y="6199632"/>
            <a:ext cx="1164031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1">
                <a:solidFill>
                  <a:srgbClr val="FFFFFF"/>
                </a:solidFill>
                <a:latin typeface="Calibri"/>
              </a:rPr>
              <a:t>Toute modification, rectification ou ajout est strictement interdit(e). Élaboré par Tamou Eljerrari — Ingénieure en Formation — sur ordre de la Directrice Générale, Mme Salima Negrao. Seules la DG SHY-Performance ou une personne mandatée sont autorisées.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4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9144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QUIZ FIM — Partie D — KPIs &amp; Nomenclature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91440"/>
            <a:ext cx="2560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Calibri"/>
              </a:rPr>
              <a:t>Q13–Q16  |  Nom : ________________________</a:t>
            </a:r>
          </a:p>
        </p:txBody>
      </p:sp>
      <p:pic>
        <p:nvPicPr>
          <p:cNvPr id="7" name="Picture 6" descr="sh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0" y="91440"/>
            <a:ext cx="1447800" cy="64008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274320" y="960120"/>
            <a:ext cx="5852160" cy="475488"/>
          </a:xfrm>
          <a:prstGeom prst="rect">
            <a:avLst/>
          </a:prstGeom>
          <a:solidFill>
            <a:srgbClr val="00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996696"/>
            <a:ext cx="566928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Q13 — Qu'est-ce que le label 'Don en Confiance' ?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508760"/>
            <a:ext cx="5669280" cy="493776"/>
          </a:xfrm>
          <a:prstGeom prst="rect">
            <a:avLst/>
          </a:prstGeom>
          <a:solidFill>
            <a:srgbClr val="F0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84048" y="1536192"/>
            <a:ext cx="384048" cy="384048"/>
          </a:xfrm>
          <a:prstGeom prst="rect">
            <a:avLst/>
          </a:prstGeom>
          <a:solidFill>
            <a:srgbClr val="004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84048" y="1536192"/>
            <a:ext cx="38404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" y="1545336"/>
            <a:ext cx="52120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1A"/>
                </a:solidFill>
                <a:latin typeface="Calibri"/>
              </a:rPr>
              <a:t>Un label commercial pour les boutiques caritatives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2066544"/>
            <a:ext cx="5669280" cy="49377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84048" y="2093976"/>
            <a:ext cx="384048" cy="384048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84048" y="2093976"/>
            <a:ext cx="38404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" y="2103120"/>
            <a:ext cx="52120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1A"/>
                </a:solidFill>
                <a:latin typeface="Calibri"/>
              </a:rPr>
              <a:t>Une garantie que l'association est sérieuse et contrôlée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624328"/>
            <a:ext cx="5669280" cy="493776"/>
          </a:xfrm>
          <a:prstGeom prst="rect">
            <a:avLst/>
          </a:prstGeom>
          <a:solidFill>
            <a:srgbClr val="F0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84048" y="2651760"/>
            <a:ext cx="384048" cy="384048"/>
          </a:xfrm>
          <a:prstGeom prst="rect">
            <a:avLst/>
          </a:prstGeom>
          <a:solidFill>
            <a:srgbClr val="00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84048" y="2651760"/>
            <a:ext cx="38404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1248" y="2660904"/>
            <a:ext cx="52120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1A"/>
                </a:solidFill>
                <a:latin typeface="Calibri"/>
              </a:rPr>
              <a:t>Un statut fiscal accordé par l'État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5760" y="3182112"/>
            <a:ext cx="5669280" cy="49377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84048" y="3209544"/>
            <a:ext cx="384048" cy="384048"/>
          </a:xfrm>
          <a:prstGeom prst="rect">
            <a:avLst/>
          </a:prstGeom>
          <a:solidFill>
            <a:srgbClr val="00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84048" y="3209544"/>
            <a:ext cx="38404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1248" y="3218688"/>
            <a:ext cx="52120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1A"/>
                </a:solidFill>
                <a:latin typeface="Calibri"/>
              </a:rPr>
              <a:t>Un label délivré par l'ONU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63640" y="960120"/>
            <a:ext cx="5852160" cy="475488"/>
          </a:xfrm>
          <a:prstGeom prst="rect">
            <a:avLst/>
          </a:prstGeom>
          <a:solidFill>
            <a:srgbClr val="00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355080" y="996696"/>
            <a:ext cx="566928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Q14 — Combien de bénévoles mobilise le secteur associatif français ?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355080" y="1508760"/>
            <a:ext cx="5669280" cy="493776"/>
          </a:xfrm>
          <a:prstGeom prst="rect">
            <a:avLst/>
          </a:prstGeom>
          <a:solidFill>
            <a:srgbClr val="F0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373368" y="1536192"/>
            <a:ext cx="384048" cy="384048"/>
          </a:xfrm>
          <a:prstGeom prst="rect">
            <a:avLst/>
          </a:prstGeom>
          <a:solidFill>
            <a:srgbClr val="004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73368" y="1536192"/>
            <a:ext cx="38404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30568" y="1545336"/>
            <a:ext cx="52120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1A"/>
                </a:solidFill>
                <a:latin typeface="Calibri"/>
              </a:rPr>
              <a:t>5 millions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355080" y="2066544"/>
            <a:ext cx="5669280" cy="49377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373368" y="2093976"/>
            <a:ext cx="384048" cy="384048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73368" y="2093976"/>
            <a:ext cx="38404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30568" y="2103120"/>
            <a:ext cx="52120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1A"/>
                </a:solidFill>
                <a:latin typeface="Calibri"/>
              </a:rPr>
              <a:t>12 millions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355080" y="2624328"/>
            <a:ext cx="5669280" cy="493776"/>
          </a:xfrm>
          <a:prstGeom prst="rect">
            <a:avLst/>
          </a:prstGeom>
          <a:solidFill>
            <a:srgbClr val="F0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373368" y="2651760"/>
            <a:ext cx="384048" cy="384048"/>
          </a:xfrm>
          <a:prstGeom prst="rect">
            <a:avLst/>
          </a:prstGeom>
          <a:solidFill>
            <a:srgbClr val="00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373368" y="2651760"/>
            <a:ext cx="38404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830568" y="2660904"/>
            <a:ext cx="52120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1A"/>
                </a:solidFill>
                <a:latin typeface="Calibri"/>
              </a:rPr>
              <a:t>22 millions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355080" y="3182112"/>
            <a:ext cx="5669280" cy="49377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6373368" y="3209544"/>
            <a:ext cx="384048" cy="384048"/>
          </a:xfrm>
          <a:prstGeom prst="rect">
            <a:avLst/>
          </a:prstGeom>
          <a:solidFill>
            <a:srgbClr val="00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373368" y="3209544"/>
            <a:ext cx="38404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30568" y="3218688"/>
            <a:ext cx="52120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1A"/>
                </a:solidFill>
                <a:latin typeface="Calibri"/>
              </a:rPr>
              <a:t>35 millions</a:t>
            </a:r>
          </a:p>
        </p:txBody>
      </p:sp>
      <p:sp>
        <p:nvSpPr>
          <p:cNvPr id="44" name="Rectangle 43"/>
          <p:cNvSpPr/>
          <p:nvPr/>
        </p:nvSpPr>
        <p:spPr>
          <a:xfrm>
            <a:off x="274320" y="3794760"/>
            <a:ext cx="5852160" cy="475488"/>
          </a:xfrm>
          <a:prstGeom prst="rect">
            <a:avLst/>
          </a:prstGeom>
          <a:solidFill>
            <a:srgbClr val="00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65760" y="3831336"/>
            <a:ext cx="566928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Q15 — Quel organisme a été créé en 1989 pour renforcer le contrôle des associations ?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65760" y="4343400"/>
            <a:ext cx="5669280" cy="493776"/>
          </a:xfrm>
          <a:prstGeom prst="rect">
            <a:avLst/>
          </a:prstGeom>
          <a:solidFill>
            <a:srgbClr val="F0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384048" y="4370832"/>
            <a:ext cx="384048" cy="384048"/>
          </a:xfrm>
          <a:prstGeom prst="rect">
            <a:avLst/>
          </a:prstGeom>
          <a:solidFill>
            <a:srgbClr val="004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84048" y="4370832"/>
            <a:ext cx="38404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41248" y="4379976"/>
            <a:ext cx="52120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1A"/>
                </a:solidFill>
                <a:latin typeface="Calibri"/>
              </a:rPr>
              <a:t>Le Comité de la Charte du Don en Confiance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65760" y="4901184"/>
            <a:ext cx="5669280" cy="49377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384048" y="4928616"/>
            <a:ext cx="384048" cy="384048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384048" y="4928616"/>
            <a:ext cx="38404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41248" y="4937760"/>
            <a:ext cx="52120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1A"/>
                </a:solidFill>
                <a:latin typeface="Calibri"/>
              </a:rPr>
              <a:t>L'Autorité des Marchés Financiers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5458968"/>
            <a:ext cx="5669280" cy="493776"/>
          </a:xfrm>
          <a:prstGeom prst="rect">
            <a:avLst/>
          </a:prstGeom>
          <a:solidFill>
            <a:srgbClr val="F0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384048" y="5486400"/>
            <a:ext cx="384048" cy="384048"/>
          </a:xfrm>
          <a:prstGeom prst="rect">
            <a:avLst/>
          </a:prstGeom>
          <a:solidFill>
            <a:srgbClr val="00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384048" y="5486400"/>
            <a:ext cx="38404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41248" y="5495544"/>
            <a:ext cx="52120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1A"/>
                </a:solidFill>
                <a:latin typeface="Calibri"/>
              </a:rPr>
              <a:t>La Direction Générale des Finances Publiques</a:t>
            </a:r>
          </a:p>
        </p:txBody>
      </p:sp>
      <p:sp>
        <p:nvSpPr>
          <p:cNvPr id="58" name="Rectangle 57"/>
          <p:cNvSpPr/>
          <p:nvPr/>
        </p:nvSpPr>
        <p:spPr>
          <a:xfrm>
            <a:off x="365760" y="6016752"/>
            <a:ext cx="5669280" cy="49377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384048" y="6044184"/>
            <a:ext cx="384048" cy="384048"/>
          </a:xfrm>
          <a:prstGeom prst="rect">
            <a:avLst/>
          </a:prstGeom>
          <a:solidFill>
            <a:srgbClr val="00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384048" y="6044184"/>
            <a:ext cx="38404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41248" y="6053328"/>
            <a:ext cx="52120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1A"/>
                </a:solidFill>
                <a:latin typeface="Calibri"/>
              </a:rPr>
              <a:t>Le Haut Commissariat aux Associations</a:t>
            </a:r>
          </a:p>
        </p:txBody>
      </p:sp>
      <p:sp>
        <p:nvSpPr>
          <p:cNvPr id="62" name="Rectangle 61"/>
          <p:cNvSpPr/>
          <p:nvPr/>
        </p:nvSpPr>
        <p:spPr>
          <a:xfrm>
            <a:off x="6263640" y="3794760"/>
            <a:ext cx="5852160" cy="475488"/>
          </a:xfrm>
          <a:prstGeom prst="rect">
            <a:avLst/>
          </a:prstGeom>
          <a:solidFill>
            <a:srgbClr val="00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355080" y="3831336"/>
            <a:ext cx="566928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Q16 — Combien d'étapes comporte le script officiel UNICEF ?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355080" y="4343400"/>
            <a:ext cx="5669280" cy="493776"/>
          </a:xfrm>
          <a:prstGeom prst="rect">
            <a:avLst/>
          </a:prstGeom>
          <a:solidFill>
            <a:srgbClr val="F0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6373368" y="4370832"/>
            <a:ext cx="384048" cy="384048"/>
          </a:xfrm>
          <a:prstGeom prst="rect">
            <a:avLst/>
          </a:prstGeom>
          <a:solidFill>
            <a:srgbClr val="004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373368" y="4370832"/>
            <a:ext cx="38404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830568" y="4379976"/>
            <a:ext cx="52120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1A"/>
                </a:solidFill>
                <a:latin typeface="Calibri"/>
              </a:rPr>
              <a:t>5 étapes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55080" y="4901184"/>
            <a:ext cx="5669280" cy="49377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6373368" y="4928616"/>
            <a:ext cx="384048" cy="384048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6373368" y="4928616"/>
            <a:ext cx="38404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830568" y="4937760"/>
            <a:ext cx="52120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1A"/>
                </a:solidFill>
                <a:latin typeface="Calibri"/>
              </a:rPr>
              <a:t>6 étapes</a:t>
            </a:r>
          </a:p>
        </p:txBody>
      </p:sp>
      <p:sp>
        <p:nvSpPr>
          <p:cNvPr id="72" name="Rectangle 71"/>
          <p:cNvSpPr/>
          <p:nvPr/>
        </p:nvSpPr>
        <p:spPr>
          <a:xfrm>
            <a:off x="6355080" y="5458968"/>
            <a:ext cx="5669280" cy="493776"/>
          </a:xfrm>
          <a:prstGeom prst="rect">
            <a:avLst/>
          </a:prstGeom>
          <a:solidFill>
            <a:srgbClr val="F0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6373368" y="5486400"/>
            <a:ext cx="384048" cy="384048"/>
          </a:xfrm>
          <a:prstGeom prst="rect">
            <a:avLst/>
          </a:prstGeom>
          <a:solidFill>
            <a:srgbClr val="00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6373368" y="5486400"/>
            <a:ext cx="38404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830568" y="5495544"/>
            <a:ext cx="52120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1A"/>
                </a:solidFill>
                <a:latin typeface="Calibri"/>
              </a:rPr>
              <a:t>7 étapes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55080" y="6016752"/>
            <a:ext cx="5669280" cy="49377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6373368" y="6044184"/>
            <a:ext cx="384048" cy="384048"/>
          </a:xfrm>
          <a:prstGeom prst="rect">
            <a:avLst/>
          </a:prstGeom>
          <a:solidFill>
            <a:srgbClr val="00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373368" y="6044184"/>
            <a:ext cx="38404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6830568" y="6053328"/>
            <a:ext cx="52120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1A"/>
                </a:solidFill>
                <a:latin typeface="Calibri"/>
              </a:rPr>
              <a:t>8 étapes</a:t>
            </a:r>
          </a:p>
        </p:txBody>
      </p:sp>
      <p:sp>
        <p:nvSpPr>
          <p:cNvPr id="80" name="Rectangle 79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004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274320" y="6199632"/>
            <a:ext cx="11612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SHY-Performance  ×  FIDELIS  ×  UNICEF France — Quiz FIM 40 Questions</a:t>
            </a:r>
          </a:p>
        </p:txBody>
      </p:sp>
      <p:sp>
        <p:nvSpPr>
          <p:cNvPr id="82" name="Rectangle 81"/>
          <p:cNvSpPr/>
          <p:nvPr/>
        </p:nvSpPr>
        <p:spPr>
          <a:xfrm>
            <a:off x="0" y="6172200"/>
            <a:ext cx="12188952" cy="347472"/>
          </a:xfrm>
          <a:prstGeom prst="rect">
            <a:avLst/>
          </a:prstGeom>
          <a:solidFill>
            <a:srgbClr val="004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0" y="6172200"/>
            <a:ext cx="12188952" cy="27432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274320" y="6199632"/>
            <a:ext cx="1164031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1">
                <a:solidFill>
                  <a:srgbClr val="FFFFFF"/>
                </a:solidFill>
                <a:latin typeface="Calibri"/>
              </a:rPr>
              <a:t>Toute modification, rectification ou ajout est strictement interdit(e). Élaboré par Tamou Eljerrari — Ingénieure en Formation — sur ordre de la Directrice Générale, Mme Salima Negrao. Seules la DG SHY-Performance ou une personne mandatée sont autorisées.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4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9144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QUIZ FIM — Partie E — Objections &amp; AAR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91440"/>
            <a:ext cx="2560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Calibri"/>
              </a:rPr>
              <a:t>Q17–Q20  |  Nom : ________________________</a:t>
            </a:r>
          </a:p>
        </p:txBody>
      </p:sp>
      <p:pic>
        <p:nvPicPr>
          <p:cNvPr id="7" name="Picture 6" descr="sh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0" y="91440"/>
            <a:ext cx="1447800" cy="64008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274320" y="960120"/>
            <a:ext cx="5852160" cy="475488"/>
          </a:xfrm>
          <a:prstGeom prst="rect">
            <a:avLst/>
          </a:prstGeom>
          <a:solidFill>
            <a:srgbClr val="00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996696"/>
            <a:ext cx="566928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Q17 — Quelle est la 1ère règle officielle de l'accroche ?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508760"/>
            <a:ext cx="5669280" cy="493776"/>
          </a:xfrm>
          <a:prstGeom prst="rect">
            <a:avLst/>
          </a:prstGeom>
          <a:solidFill>
            <a:srgbClr val="F0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84048" y="1536192"/>
            <a:ext cx="384048" cy="384048"/>
          </a:xfrm>
          <a:prstGeom prst="rect">
            <a:avLst/>
          </a:prstGeom>
          <a:solidFill>
            <a:srgbClr val="004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84048" y="1536192"/>
            <a:ext cx="38404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" y="1545336"/>
            <a:ext cx="52120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1A"/>
                </a:solidFill>
                <a:latin typeface="Calibri"/>
              </a:rPr>
              <a:t>Se présenter immédiatement avec son prénom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2066544"/>
            <a:ext cx="5669280" cy="49377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84048" y="2093976"/>
            <a:ext cx="384048" cy="384048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84048" y="2093976"/>
            <a:ext cx="38404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" y="2103120"/>
            <a:ext cx="52120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1A"/>
                </a:solidFill>
                <a:latin typeface="Calibri"/>
              </a:rPr>
              <a:t>Dire 'Allô ?' et attendre la réponse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624328"/>
            <a:ext cx="5669280" cy="493776"/>
          </a:xfrm>
          <a:prstGeom prst="rect">
            <a:avLst/>
          </a:prstGeom>
          <a:solidFill>
            <a:srgbClr val="F0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84048" y="2651760"/>
            <a:ext cx="384048" cy="384048"/>
          </a:xfrm>
          <a:prstGeom prst="rect">
            <a:avLst/>
          </a:prstGeom>
          <a:solidFill>
            <a:srgbClr val="00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84048" y="2651760"/>
            <a:ext cx="38404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1248" y="2660904"/>
            <a:ext cx="52120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1A"/>
                </a:solidFill>
                <a:latin typeface="Calibri"/>
              </a:rPr>
              <a:t>Annoncer l'enregistrement de l'appel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5760" y="3182112"/>
            <a:ext cx="5669280" cy="49377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84048" y="3209544"/>
            <a:ext cx="384048" cy="384048"/>
          </a:xfrm>
          <a:prstGeom prst="rect">
            <a:avLst/>
          </a:prstGeom>
          <a:solidFill>
            <a:srgbClr val="00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84048" y="3209544"/>
            <a:ext cx="38404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1248" y="3218688"/>
            <a:ext cx="52120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1A"/>
                </a:solidFill>
                <a:latin typeface="Calibri"/>
              </a:rPr>
              <a:t>Demander si la personne connaît l'UNICEF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63640" y="960120"/>
            <a:ext cx="5852160" cy="475488"/>
          </a:xfrm>
          <a:prstGeom prst="rect">
            <a:avLst/>
          </a:prstGeom>
          <a:solidFill>
            <a:srgbClr val="00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355080" y="996696"/>
            <a:ext cx="566928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Q18 — À quelle étape du script propose-t-on les paliers de don ?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355080" y="1508760"/>
            <a:ext cx="5669280" cy="493776"/>
          </a:xfrm>
          <a:prstGeom prst="rect">
            <a:avLst/>
          </a:prstGeom>
          <a:solidFill>
            <a:srgbClr val="F0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373368" y="1536192"/>
            <a:ext cx="384048" cy="384048"/>
          </a:xfrm>
          <a:prstGeom prst="rect">
            <a:avLst/>
          </a:prstGeom>
          <a:solidFill>
            <a:srgbClr val="004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73368" y="1536192"/>
            <a:ext cx="38404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30568" y="1545336"/>
            <a:ext cx="52120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1A"/>
                </a:solidFill>
                <a:latin typeface="Calibri"/>
              </a:rPr>
              <a:t>Étape 2 — La Malnutrition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355080" y="2066544"/>
            <a:ext cx="5669280" cy="49377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373368" y="2093976"/>
            <a:ext cx="384048" cy="384048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73368" y="2093976"/>
            <a:ext cx="38404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30568" y="2103120"/>
            <a:ext cx="52120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1A"/>
                </a:solidFill>
                <a:latin typeface="Calibri"/>
              </a:rPr>
              <a:t>Étape 3 — Les Sachets RUTF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355080" y="2624328"/>
            <a:ext cx="5669280" cy="493776"/>
          </a:xfrm>
          <a:prstGeom prst="rect">
            <a:avLst/>
          </a:prstGeom>
          <a:solidFill>
            <a:srgbClr val="F0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373368" y="2651760"/>
            <a:ext cx="384048" cy="384048"/>
          </a:xfrm>
          <a:prstGeom prst="rect">
            <a:avLst/>
          </a:prstGeom>
          <a:solidFill>
            <a:srgbClr val="00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373368" y="2651760"/>
            <a:ext cx="38404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830568" y="2660904"/>
            <a:ext cx="52120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1A"/>
                </a:solidFill>
                <a:latin typeface="Calibri"/>
              </a:rPr>
              <a:t>Étape 4 — L'Appel au Soutien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355080" y="3182112"/>
            <a:ext cx="5669280" cy="49377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6373368" y="3209544"/>
            <a:ext cx="384048" cy="384048"/>
          </a:xfrm>
          <a:prstGeom prst="rect">
            <a:avLst/>
          </a:prstGeom>
          <a:solidFill>
            <a:srgbClr val="00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373368" y="3209544"/>
            <a:ext cx="38404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30568" y="3218688"/>
            <a:ext cx="52120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1A"/>
                </a:solidFill>
                <a:latin typeface="Calibri"/>
              </a:rPr>
              <a:t>Étape 7 — Validation des coordonnées</a:t>
            </a:r>
          </a:p>
        </p:txBody>
      </p:sp>
      <p:sp>
        <p:nvSpPr>
          <p:cNvPr id="44" name="Rectangle 43"/>
          <p:cNvSpPr/>
          <p:nvPr/>
        </p:nvSpPr>
        <p:spPr>
          <a:xfrm>
            <a:off x="274320" y="3794760"/>
            <a:ext cx="5852160" cy="475488"/>
          </a:xfrm>
          <a:prstGeom prst="rect">
            <a:avLst/>
          </a:prstGeom>
          <a:solidFill>
            <a:srgbClr val="00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65760" y="3831336"/>
            <a:ext cx="566928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Q19 — Quel montant correspond à 50 centimes d'euros par jour ?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65760" y="4343400"/>
            <a:ext cx="5669280" cy="493776"/>
          </a:xfrm>
          <a:prstGeom prst="rect">
            <a:avLst/>
          </a:prstGeom>
          <a:solidFill>
            <a:srgbClr val="F0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384048" y="4370832"/>
            <a:ext cx="384048" cy="384048"/>
          </a:xfrm>
          <a:prstGeom prst="rect">
            <a:avLst/>
          </a:prstGeom>
          <a:solidFill>
            <a:srgbClr val="004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84048" y="4370832"/>
            <a:ext cx="38404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41248" y="4379976"/>
            <a:ext cx="52120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1A"/>
                </a:solidFill>
                <a:latin typeface="Calibri"/>
              </a:rPr>
              <a:t>10€/mois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65760" y="4901184"/>
            <a:ext cx="5669280" cy="49377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384048" y="4928616"/>
            <a:ext cx="384048" cy="384048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384048" y="4928616"/>
            <a:ext cx="38404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41248" y="4937760"/>
            <a:ext cx="52120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1A"/>
                </a:solidFill>
                <a:latin typeface="Calibri"/>
              </a:rPr>
              <a:t>12€/mois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5458968"/>
            <a:ext cx="5669280" cy="493776"/>
          </a:xfrm>
          <a:prstGeom prst="rect">
            <a:avLst/>
          </a:prstGeom>
          <a:solidFill>
            <a:srgbClr val="F0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384048" y="5486400"/>
            <a:ext cx="384048" cy="384048"/>
          </a:xfrm>
          <a:prstGeom prst="rect">
            <a:avLst/>
          </a:prstGeom>
          <a:solidFill>
            <a:srgbClr val="00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384048" y="5486400"/>
            <a:ext cx="38404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41248" y="5495544"/>
            <a:ext cx="52120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1A"/>
                </a:solidFill>
                <a:latin typeface="Calibri"/>
              </a:rPr>
              <a:t>15€/mois</a:t>
            </a:r>
          </a:p>
        </p:txBody>
      </p:sp>
      <p:sp>
        <p:nvSpPr>
          <p:cNvPr id="58" name="Rectangle 57"/>
          <p:cNvSpPr/>
          <p:nvPr/>
        </p:nvSpPr>
        <p:spPr>
          <a:xfrm>
            <a:off x="365760" y="6016752"/>
            <a:ext cx="5669280" cy="49377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384048" y="6044184"/>
            <a:ext cx="384048" cy="384048"/>
          </a:xfrm>
          <a:prstGeom prst="rect">
            <a:avLst/>
          </a:prstGeom>
          <a:solidFill>
            <a:srgbClr val="00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384048" y="6044184"/>
            <a:ext cx="38404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41248" y="6053328"/>
            <a:ext cx="52120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1A"/>
                </a:solidFill>
                <a:latin typeface="Calibri"/>
              </a:rPr>
              <a:t>20€/mois</a:t>
            </a:r>
          </a:p>
        </p:txBody>
      </p:sp>
      <p:sp>
        <p:nvSpPr>
          <p:cNvPr id="62" name="Rectangle 61"/>
          <p:cNvSpPr/>
          <p:nvPr/>
        </p:nvSpPr>
        <p:spPr>
          <a:xfrm>
            <a:off x="6263640" y="3794760"/>
            <a:ext cx="5852160" cy="475488"/>
          </a:xfrm>
          <a:prstGeom prst="rect">
            <a:avLst/>
          </a:prstGeom>
          <a:solidFill>
            <a:srgbClr val="00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355080" y="3831336"/>
            <a:ext cx="566928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Q20 — Quel est le coût réel de 15€/mois après déduction fiscale à 75% ?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355080" y="4343400"/>
            <a:ext cx="5669280" cy="493776"/>
          </a:xfrm>
          <a:prstGeom prst="rect">
            <a:avLst/>
          </a:prstGeom>
          <a:solidFill>
            <a:srgbClr val="F0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6373368" y="4370832"/>
            <a:ext cx="384048" cy="384048"/>
          </a:xfrm>
          <a:prstGeom prst="rect">
            <a:avLst/>
          </a:prstGeom>
          <a:solidFill>
            <a:srgbClr val="004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373368" y="4370832"/>
            <a:ext cx="38404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830568" y="4379976"/>
            <a:ext cx="52120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1A"/>
                </a:solidFill>
                <a:latin typeface="Calibri"/>
              </a:rPr>
              <a:t>2,50€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55080" y="4901184"/>
            <a:ext cx="5669280" cy="49377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6373368" y="4928616"/>
            <a:ext cx="384048" cy="384048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6373368" y="4928616"/>
            <a:ext cx="38404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830568" y="4937760"/>
            <a:ext cx="52120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1A"/>
                </a:solidFill>
                <a:latin typeface="Calibri"/>
              </a:rPr>
              <a:t>3,75€</a:t>
            </a:r>
          </a:p>
        </p:txBody>
      </p:sp>
      <p:sp>
        <p:nvSpPr>
          <p:cNvPr id="72" name="Rectangle 71"/>
          <p:cNvSpPr/>
          <p:nvPr/>
        </p:nvSpPr>
        <p:spPr>
          <a:xfrm>
            <a:off x="6355080" y="5458968"/>
            <a:ext cx="5669280" cy="493776"/>
          </a:xfrm>
          <a:prstGeom prst="rect">
            <a:avLst/>
          </a:prstGeom>
          <a:solidFill>
            <a:srgbClr val="F0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6373368" y="5486400"/>
            <a:ext cx="384048" cy="384048"/>
          </a:xfrm>
          <a:prstGeom prst="rect">
            <a:avLst/>
          </a:prstGeom>
          <a:solidFill>
            <a:srgbClr val="00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6373368" y="5486400"/>
            <a:ext cx="38404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830568" y="5495544"/>
            <a:ext cx="52120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1A"/>
                </a:solidFill>
                <a:latin typeface="Calibri"/>
              </a:rPr>
              <a:t>5€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55080" y="6016752"/>
            <a:ext cx="5669280" cy="49377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6373368" y="6044184"/>
            <a:ext cx="384048" cy="384048"/>
          </a:xfrm>
          <a:prstGeom prst="rect">
            <a:avLst/>
          </a:prstGeom>
          <a:solidFill>
            <a:srgbClr val="00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373368" y="6044184"/>
            <a:ext cx="38404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6830568" y="6053328"/>
            <a:ext cx="52120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1A"/>
                </a:solidFill>
                <a:latin typeface="Calibri"/>
              </a:rPr>
              <a:t>7,50€</a:t>
            </a:r>
          </a:p>
        </p:txBody>
      </p:sp>
      <p:sp>
        <p:nvSpPr>
          <p:cNvPr id="80" name="Rectangle 79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004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274320" y="6199632"/>
            <a:ext cx="11612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SHY-Performance  ×  FIDELIS  ×  UNICEF France — Quiz FIM 40 Questions</a:t>
            </a:r>
          </a:p>
        </p:txBody>
      </p:sp>
      <p:sp>
        <p:nvSpPr>
          <p:cNvPr id="82" name="Rectangle 81"/>
          <p:cNvSpPr/>
          <p:nvPr/>
        </p:nvSpPr>
        <p:spPr>
          <a:xfrm>
            <a:off x="0" y="6172200"/>
            <a:ext cx="12188952" cy="347472"/>
          </a:xfrm>
          <a:prstGeom prst="rect">
            <a:avLst/>
          </a:prstGeom>
          <a:solidFill>
            <a:srgbClr val="004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0" y="6172200"/>
            <a:ext cx="12188952" cy="27432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274320" y="6199632"/>
            <a:ext cx="1164031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1">
                <a:solidFill>
                  <a:srgbClr val="FFFFFF"/>
                </a:solidFill>
                <a:latin typeface="Calibri"/>
              </a:rPr>
              <a:t>Toute modification, rectification ou ajout est strictement interdit(e). Élaboré par Tamou Eljerrari — Ingénieure en Formation — sur ordre de la Directrice Générale, Mme Salima Negrao. Seules la DG SHY-Performance ou une personne mandatée sont autorisées.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4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9144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QUIZ FIM — Partie F — Closing &amp; Validation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91440"/>
            <a:ext cx="2560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Calibri"/>
              </a:rPr>
              <a:t>Q21–Q24  |  Nom : ________________________</a:t>
            </a:r>
          </a:p>
        </p:txBody>
      </p:sp>
      <p:pic>
        <p:nvPicPr>
          <p:cNvPr id="7" name="Picture 6" descr="sh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0" y="91440"/>
            <a:ext cx="1447800" cy="64008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274320" y="960120"/>
            <a:ext cx="5852160" cy="475488"/>
          </a:xfrm>
          <a:prstGeom prst="rect">
            <a:avLst/>
          </a:prstGeom>
          <a:solidFill>
            <a:srgbClr val="00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996696"/>
            <a:ext cx="566928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Q21 — En mode PA À CHAUD, que recueille-t-on auprès du donateur ?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508760"/>
            <a:ext cx="5669280" cy="493776"/>
          </a:xfrm>
          <a:prstGeom prst="rect">
            <a:avLst/>
          </a:prstGeom>
          <a:solidFill>
            <a:srgbClr val="F0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84048" y="1536192"/>
            <a:ext cx="384048" cy="384048"/>
          </a:xfrm>
          <a:prstGeom prst="rect">
            <a:avLst/>
          </a:prstGeom>
          <a:solidFill>
            <a:srgbClr val="004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84048" y="1536192"/>
            <a:ext cx="38404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" y="1545336"/>
            <a:ext cx="52120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1A"/>
                </a:solidFill>
                <a:latin typeface="Calibri"/>
              </a:rPr>
              <a:t>Son numéro de carte bancaire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2066544"/>
            <a:ext cx="5669280" cy="49377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84048" y="2093976"/>
            <a:ext cx="384048" cy="384048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84048" y="2093976"/>
            <a:ext cx="38404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" y="2103120"/>
            <a:ext cx="52120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1A"/>
                </a:solidFill>
                <a:latin typeface="Calibri"/>
              </a:rPr>
              <a:t>Son numéro de sécurité sociale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624328"/>
            <a:ext cx="5669280" cy="493776"/>
          </a:xfrm>
          <a:prstGeom prst="rect">
            <a:avLst/>
          </a:prstGeom>
          <a:solidFill>
            <a:srgbClr val="F0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84048" y="2651760"/>
            <a:ext cx="384048" cy="384048"/>
          </a:xfrm>
          <a:prstGeom prst="rect">
            <a:avLst/>
          </a:prstGeom>
          <a:solidFill>
            <a:srgbClr val="00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84048" y="2651760"/>
            <a:ext cx="38404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1248" y="2660904"/>
            <a:ext cx="52120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1A"/>
                </a:solidFill>
                <a:latin typeface="Calibri"/>
              </a:rPr>
              <a:t>Son IBAN (série de 27 chiffres commençant par FR)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5760" y="3182112"/>
            <a:ext cx="5669280" cy="49377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84048" y="3209544"/>
            <a:ext cx="384048" cy="384048"/>
          </a:xfrm>
          <a:prstGeom prst="rect">
            <a:avLst/>
          </a:prstGeom>
          <a:solidFill>
            <a:srgbClr val="00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84048" y="3209544"/>
            <a:ext cx="38404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1248" y="3218688"/>
            <a:ext cx="52120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1A"/>
                </a:solidFill>
                <a:latin typeface="Calibri"/>
              </a:rPr>
              <a:t>Son numéro de compte client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63640" y="960120"/>
            <a:ext cx="5852160" cy="475488"/>
          </a:xfrm>
          <a:prstGeom prst="rect">
            <a:avLst/>
          </a:prstGeom>
          <a:solidFill>
            <a:srgbClr val="00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355080" y="996696"/>
            <a:ext cx="566928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Q22 — Combien de modes de validation du don existent dans le script ?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355080" y="1508760"/>
            <a:ext cx="5669280" cy="493776"/>
          </a:xfrm>
          <a:prstGeom prst="rect">
            <a:avLst/>
          </a:prstGeom>
          <a:solidFill>
            <a:srgbClr val="F0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373368" y="1536192"/>
            <a:ext cx="384048" cy="384048"/>
          </a:xfrm>
          <a:prstGeom prst="rect">
            <a:avLst/>
          </a:prstGeom>
          <a:solidFill>
            <a:srgbClr val="004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73368" y="1536192"/>
            <a:ext cx="38404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30568" y="1545336"/>
            <a:ext cx="52120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1A"/>
                </a:solidFill>
                <a:latin typeface="Calibri"/>
              </a:rPr>
              <a:t>2 modes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355080" y="2066544"/>
            <a:ext cx="5669280" cy="49377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373368" y="2093976"/>
            <a:ext cx="384048" cy="384048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73368" y="2093976"/>
            <a:ext cx="38404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30568" y="2103120"/>
            <a:ext cx="52120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1A"/>
                </a:solidFill>
                <a:latin typeface="Calibri"/>
              </a:rPr>
              <a:t>3 modes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355080" y="2624328"/>
            <a:ext cx="5669280" cy="493776"/>
          </a:xfrm>
          <a:prstGeom prst="rect">
            <a:avLst/>
          </a:prstGeom>
          <a:solidFill>
            <a:srgbClr val="F0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373368" y="2651760"/>
            <a:ext cx="384048" cy="384048"/>
          </a:xfrm>
          <a:prstGeom prst="rect">
            <a:avLst/>
          </a:prstGeom>
          <a:solidFill>
            <a:srgbClr val="00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373368" y="2651760"/>
            <a:ext cx="38404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830568" y="2660904"/>
            <a:ext cx="52120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1A"/>
                </a:solidFill>
                <a:latin typeface="Calibri"/>
              </a:rPr>
              <a:t>4 modes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355080" y="3182112"/>
            <a:ext cx="5669280" cy="49377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6373368" y="3209544"/>
            <a:ext cx="384048" cy="384048"/>
          </a:xfrm>
          <a:prstGeom prst="rect">
            <a:avLst/>
          </a:prstGeom>
          <a:solidFill>
            <a:srgbClr val="00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373368" y="3209544"/>
            <a:ext cx="38404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30568" y="3218688"/>
            <a:ext cx="52120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1A"/>
                </a:solidFill>
                <a:latin typeface="Calibri"/>
              </a:rPr>
              <a:t>5 modes</a:t>
            </a:r>
          </a:p>
        </p:txBody>
      </p:sp>
      <p:sp>
        <p:nvSpPr>
          <p:cNvPr id="44" name="Rectangle 43"/>
          <p:cNvSpPr/>
          <p:nvPr/>
        </p:nvSpPr>
        <p:spPr>
          <a:xfrm>
            <a:off x="274320" y="3794760"/>
            <a:ext cx="5852160" cy="475488"/>
          </a:xfrm>
          <a:prstGeom prst="rect">
            <a:avLst/>
          </a:prstGeom>
          <a:solidFill>
            <a:srgbClr val="00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65760" y="3831336"/>
            <a:ext cx="566928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Q23 — Que signifie CU/H ?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65760" y="4343400"/>
            <a:ext cx="5669280" cy="493776"/>
          </a:xfrm>
          <a:prstGeom prst="rect">
            <a:avLst/>
          </a:prstGeom>
          <a:solidFill>
            <a:srgbClr val="F0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384048" y="4370832"/>
            <a:ext cx="384048" cy="384048"/>
          </a:xfrm>
          <a:prstGeom prst="rect">
            <a:avLst/>
          </a:prstGeom>
          <a:solidFill>
            <a:srgbClr val="004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84048" y="4370832"/>
            <a:ext cx="38404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41248" y="4379976"/>
            <a:ext cx="52120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1A"/>
                </a:solidFill>
                <a:latin typeface="Calibri"/>
              </a:rPr>
              <a:t>Chiffre d'Utilité Horaire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65760" y="4901184"/>
            <a:ext cx="5669280" cy="49377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384048" y="4928616"/>
            <a:ext cx="384048" cy="384048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384048" y="4928616"/>
            <a:ext cx="38404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41248" y="4937760"/>
            <a:ext cx="52120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1A"/>
                </a:solidFill>
                <a:latin typeface="Calibri"/>
              </a:rPr>
              <a:t>Contacts Utiles par Heure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5458968"/>
            <a:ext cx="5669280" cy="493776"/>
          </a:xfrm>
          <a:prstGeom prst="rect">
            <a:avLst/>
          </a:prstGeom>
          <a:solidFill>
            <a:srgbClr val="F0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384048" y="5486400"/>
            <a:ext cx="384048" cy="384048"/>
          </a:xfrm>
          <a:prstGeom prst="rect">
            <a:avLst/>
          </a:prstGeom>
          <a:solidFill>
            <a:srgbClr val="00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384048" y="5486400"/>
            <a:ext cx="38404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41248" y="5495544"/>
            <a:ext cx="52120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1A"/>
                </a:solidFill>
                <a:latin typeface="Calibri"/>
              </a:rPr>
              <a:t>Coût Unitaire par Heure</a:t>
            </a:r>
          </a:p>
        </p:txBody>
      </p:sp>
      <p:sp>
        <p:nvSpPr>
          <p:cNvPr id="58" name="Rectangle 57"/>
          <p:cNvSpPr/>
          <p:nvPr/>
        </p:nvSpPr>
        <p:spPr>
          <a:xfrm>
            <a:off x="365760" y="6016752"/>
            <a:ext cx="5669280" cy="49377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384048" y="6044184"/>
            <a:ext cx="384048" cy="384048"/>
          </a:xfrm>
          <a:prstGeom prst="rect">
            <a:avLst/>
          </a:prstGeom>
          <a:solidFill>
            <a:srgbClr val="00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384048" y="6044184"/>
            <a:ext cx="38404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41248" y="6053328"/>
            <a:ext cx="52120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1A"/>
                </a:solidFill>
                <a:latin typeface="Calibri"/>
              </a:rPr>
              <a:t>Collecte Utile Hebdomadaire</a:t>
            </a:r>
          </a:p>
        </p:txBody>
      </p:sp>
      <p:sp>
        <p:nvSpPr>
          <p:cNvPr id="62" name="Rectangle 61"/>
          <p:cNvSpPr/>
          <p:nvPr/>
        </p:nvSpPr>
        <p:spPr>
          <a:xfrm>
            <a:off x="6263640" y="3794760"/>
            <a:ext cx="5852160" cy="475488"/>
          </a:xfrm>
          <a:prstGeom prst="rect">
            <a:avLst/>
          </a:prstGeom>
          <a:solidFill>
            <a:srgbClr val="00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355080" y="3831336"/>
            <a:ext cx="566928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Q24 — Quel est l'objectif minimum de CU/H fixé par Fidelis ?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355080" y="4343400"/>
            <a:ext cx="5669280" cy="493776"/>
          </a:xfrm>
          <a:prstGeom prst="rect">
            <a:avLst/>
          </a:prstGeom>
          <a:solidFill>
            <a:srgbClr val="F0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6373368" y="4370832"/>
            <a:ext cx="384048" cy="384048"/>
          </a:xfrm>
          <a:prstGeom prst="rect">
            <a:avLst/>
          </a:prstGeom>
          <a:solidFill>
            <a:srgbClr val="004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373368" y="4370832"/>
            <a:ext cx="38404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830568" y="4379976"/>
            <a:ext cx="52120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1A"/>
                </a:solidFill>
                <a:latin typeface="Calibri"/>
              </a:rPr>
              <a:t>6 CU/H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55080" y="4901184"/>
            <a:ext cx="5669280" cy="49377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6373368" y="4928616"/>
            <a:ext cx="384048" cy="384048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6373368" y="4928616"/>
            <a:ext cx="38404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830568" y="4937760"/>
            <a:ext cx="52120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1A"/>
                </a:solidFill>
                <a:latin typeface="Calibri"/>
              </a:rPr>
              <a:t>7 CU/H</a:t>
            </a:r>
          </a:p>
        </p:txBody>
      </p:sp>
      <p:sp>
        <p:nvSpPr>
          <p:cNvPr id="72" name="Rectangle 71"/>
          <p:cNvSpPr/>
          <p:nvPr/>
        </p:nvSpPr>
        <p:spPr>
          <a:xfrm>
            <a:off x="6355080" y="5458968"/>
            <a:ext cx="5669280" cy="493776"/>
          </a:xfrm>
          <a:prstGeom prst="rect">
            <a:avLst/>
          </a:prstGeom>
          <a:solidFill>
            <a:srgbClr val="F0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6373368" y="5486400"/>
            <a:ext cx="384048" cy="384048"/>
          </a:xfrm>
          <a:prstGeom prst="rect">
            <a:avLst/>
          </a:prstGeom>
          <a:solidFill>
            <a:srgbClr val="00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6373368" y="5486400"/>
            <a:ext cx="38404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830568" y="5495544"/>
            <a:ext cx="52120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1A"/>
                </a:solidFill>
                <a:latin typeface="Calibri"/>
              </a:rPr>
              <a:t>9 CU/H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55080" y="6016752"/>
            <a:ext cx="5669280" cy="49377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6373368" y="6044184"/>
            <a:ext cx="384048" cy="384048"/>
          </a:xfrm>
          <a:prstGeom prst="rect">
            <a:avLst/>
          </a:prstGeom>
          <a:solidFill>
            <a:srgbClr val="00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373368" y="6044184"/>
            <a:ext cx="38404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6830568" y="6053328"/>
            <a:ext cx="52120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1A"/>
                </a:solidFill>
                <a:latin typeface="Calibri"/>
              </a:rPr>
              <a:t>12 CU/H</a:t>
            </a:r>
          </a:p>
        </p:txBody>
      </p:sp>
      <p:sp>
        <p:nvSpPr>
          <p:cNvPr id="80" name="Rectangle 79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004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274320" y="6199632"/>
            <a:ext cx="11612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SHY-Performance  ×  FIDELIS  ×  UNICEF France — Quiz FIM 40 Questions</a:t>
            </a:r>
          </a:p>
        </p:txBody>
      </p:sp>
      <p:sp>
        <p:nvSpPr>
          <p:cNvPr id="82" name="Rectangle 81"/>
          <p:cNvSpPr/>
          <p:nvPr/>
        </p:nvSpPr>
        <p:spPr>
          <a:xfrm>
            <a:off x="0" y="6172200"/>
            <a:ext cx="12188952" cy="347472"/>
          </a:xfrm>
          <a:prstGeom prst="rect">
            <a:avLst/>
          </a:prstGeom>
          <a:solidFill>
            <a:srgbClr val="004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0" y="6172200"/>
            <a:ext cx="12188952" cy="27432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274320" y="6199632"/>
            <a:ext cx="1164031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1">
                <a:solidFill>
                  <a:srgbClr val="FFFFFF"/>
                </a:solidFill>
                <a:latin typeface="Calibri"/>
              </a:rPr>
              <a:t>Toute modification, rectification ou ajout est strictement interdit(e). Élaboré par Tamou Eljerrari — Ingénieure en Formation — sur ordre de la Directrice Générale, Mme Salima Negrao. Seules la DG SHY-Performance ou une personne mandatée sont autorisées.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4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9144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QUIZ FIM — Partie 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91440"/>
            <a:ext cx="2560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Calibri"/>
              </a:rPr>
              <a:t>Q25–Q28  |  Nom : ________________________</a:t>
            </a:r>
          </a:p>
        </p:txBody>
      </p:sp>
      <p:pic>
        <p:nvPicPr>
          <p:cNvPr id="7" name="Picture 6" descr="sh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0" y="91440"/>
            <a:ext cx="1447800" cy="64008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274320" y="960120"/>
            <a:ext cx="5852160" cy="475488"/>
          </a:xfrm>
          <a:prstGeom prst="rect">
            <a:avLst/>
          </a:prstGeom>
          <a:solidFill>
            <a:srgbClr val="00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996696"/>
            <a:ext cx="566928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Q25 — Un appel est qualifié Contact Utile (CU) s'il dure au minimum :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508760"/>
            <a:ext cx="5669280" cy="493776"/>
          </a:xfrm>
          <a:prstGeom prst="rect">
            <a:avLst/>
          </a:prstGeom>
          <a:solidFill>
            <a:srgbClr val="F0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84048" y="1536192"/>
            <a:ext cx="384048" cy="384048"/>
          </a:xfrm>
          <a:prstGeom prst="rect">
            <a:avLst/>
          </a:prstGeom>
          <a:solidFill>
            <a:srgbClr val="004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84048" y="1536192"/>
            <a:ext cx="38404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" y="1545336"/>
            <a:ext cx="52120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1A"/>
                </a:solidFill>
                <a:latin typeface="Calibri"/>
              </a:rPr>
              <a:t>30 secondes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2066544"/>
            <a:ext cx="5669280" cy="49377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84048" y="2093976"/>
            <a:ext cx="384048" cy="384048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84048" y="2093976"/>
            <a:ext cx="38404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" y="2103120"/>
            <a:ext cx="52120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1A"/>
                </a:solidFill>
                <a:latin typeface="Calibri"/>
              </a:rPr>
              <a:t>45 secondes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624328"/>
            <a:ext cx="5669280" cy="493776"/>
          </a:xfrm>
          <a:prstGeom prst="rect">
            <a:avLst/>
          </a:prstGeom>
          <a:solidFill>
            <a:srgbClr val="F0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84048" y="2651760"/>
            <a:ext cx="384048" cy="384048"/>
          </a:xfrm>
          <a:prstGeom prst="rect">
            <a:avLst/>
          </a:prstGeom>
          <a:solidFill>
            <a:srgbClr val="00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84048" y="2651760"/>
            <a:ext cx="38404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1248" y="2660904"/>
            <a:ext cx="52120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1A"/>
                </a:solidFill>
                <a:latin typeface="Calibri"/>
              </a:rPr>
              <a:t>60 secondes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5760" y="3182112"/>
            <a:ext cx="5669280" cy="49377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84048" y="3209544"/>
            <a:ext cx="384048" cy="384048"/>
          </a:xfrm>
          <a:prstGeom prst="rect">
            <a:avLst/>
          </a:prstGeom>
          <a:solidFill>
            <a:srgbClr val="00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84048" y="3209544"/>
            <a:ext cx="38404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1248" y="3218688"/>
            <a:ext cx="52120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1A"/>
                </a:solidFill>
                <a:latin typeface="Calibri"/>
              </a:rPr>
              <a:t>90 secondes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63640" y="960120"/>
            <a:ext cx="5852160" cy="475488"/>
          </a:xfrm>
          <a:prstGeom prst="rect">
            <a:avLst/>
          </a:prstGeom>
          <a:solidFill>
            <a:srgbClr val="00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355080" y="996696"/>
            <a:ext cx="566928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Q26 — Que signifie TX Transfo ?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355080" y="1508760"/>
            <a:ext cx="5669280" cy="493776"/>
          </a:xfrm>
          <a:prstGeom prst="rect">
            <a:avLst/>
          </a:prstGeom>
          <a:solidFill>
            <a:srgbClr val="F0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373368" y="1536192"/>
            <a:ext cx="384048" cy="384048"/>
          </a:xfrm>
          <a:prstGeom prst="rect">
            <a:avLst/>
          </a:prstGeom>
          <a:solidFill>
            <a:srgbClr val="004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73368" y="1536192"/>
            <a:ext cx="38404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30568" y="1545336"/>
            <a:ext cx="52120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1A"/>
                </a:solidFill>
                <a:latin typeface="Calibri"/>
              </a:rPr>
              <a:t>Taux de Transfert des fonds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355080" y="2066544"/>
            <a:ext cx="5669280" cy="49377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373368" y="2093976"/>
            <a:ext cx="384048" cy="384048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73368" y="2093976"/>
            <a:ext cx="38404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30568" y="2103120"/>
            <a:ext cx="52120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1A"/>
                </a:solidFill>
                <a:latin typeface="Calibri"/>
              </a:rPr>
              <a:t>Taux de Transformation des CU en dons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355080" y="2624328"/>
            <a:ext cx="5669280" cy="493776"/>
          </a:xfrm>
          <a:prstGeom prst="rect">
            <a:avLst/>
          </a:prstGeom>
          <a:solidFill>
            <a:srgbClr val="F0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373368" y="2651760"/>
            <a:ext cx="384048" cy="384048"/>
          </a:xfrm>
          <a:prstGeom prst="rect">
            <a:avLst/>
          </a:prstGeom>
          <a:solidFill>
            <a:srgbClr val="00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373368" y="2651760"/>
            <a:ext cx="38404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830568" y="2660904"/>
            <a:ext cx="52120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1A"/>
                </a:solidFill>
                <a:latin typeface="Calibri"/>
              </a:rPr>
              <a:t>Taxe de Transaction en ligne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355080" y="3182112"/>
            <a:ext cx="5669280" cy="49377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6373368" y="3209544"/>
            <a:ext cx="384048" cy="384048"/>
          </a:xfrm>
          <a:prstGeom prst="rect">
            <a:avLst/>
          </a:prstGeom>
          <a:solidFill>
            <a:srgbClr val="00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373368" y="3209544"/>
            <a:ext cx="38404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30568" y="3218688"/>
            <a:ext cx="52120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1A"/>
                </a:solidFill>
                <a:latin typeface="Calibri"/>
              </a:rPr>
              <a:t>Temps de Traitement des formulaires</a:t>
            </a:r>
          </a:p>
        </p:txBody>
      </p:sp>
      <p:sp>
        <p:nvSpPr>
          <p:cNvPr id="44" name="Rectangle 43"/>
          <p:cNvSpPr/>
          <p:nvPr/>
        </p:nvSpPr>
        <p:spPr>
          <a:xfrm>
            <a:off x="274320" y="3794760"/>
            <a:ext cx="5852160" cy="475488"/>
          </a:xfrm>
          <a:prstGeom prst="rect">
            <a:avLst/>
          </a:prstGeom>
          <a:solidFill>
            <a:srgbClr val="00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65760" y="3831336"/>
            <a:ext cx="566928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Q27 — PDC signifie :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65760" y="4343400"/>
            <a:ext cx="5669280" cy="493776"/>
          </a:xfrm>
          <a:prstGeom prst="rect">
            <a:avLst/>
          </a:prstGeom>
          <a:solidFill>
            <a:srgbClr val="F0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384048" y="4370832"/>
            <a:ext cx="384048" cy="384048"/>
          </a:xfrm>
          <a:prstGeom prst="rect">
            <a:avLst/>
          </a:prstGeom>
          <a:solidFill>
            <a:srgbClr val="004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84048" y="4370832"/>
            <a:ext cx="38404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41248" y="4379976"/>
            <a:ext cx="52120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1A"/>
                </a:solidFill>
                <a:latin typeface="Calibri"/>
              </a:rPr>
              <a:t>Prélèvement Direct Campagne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65760" y="4901184"/>
            <a:ext cx="5669280" cy="49377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384048" y="4928616"/>
            <a:ext cx="384048" cy="384048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384048" y="4928616"/>
            <a:ext cx="38404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41248" y="4937760"/>
            <a:ext cx="52120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1A"/>
                </a:solidFill>
                <a:latin typeface="Calibri"/>
              </a:rPr>
              <a:t>Projet De Collecte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5458968"/>
            <a:ext cx="5669280" cy="493776"/>
          </a:xfrm>
          <a:prstGeom prst="rect">
            <a:avLst/>
          </a:prstGeom>
          <a:solidFill>
            <a:srgbClr val="F0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384048" y="5486400"/>
            <a:ext cx="384048" cy="384048"/>
          </a:xfrm>
          <a:prstGeom prst="rect">
            <a:avLst/>
          </a:prstGeom>
          <a:solidFill>
            <a:srgbClr val="00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384048" y="5486400"/>
            <a:ext cx="38404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41248" y="5495544"/>
            <a:ext cx="52120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1A"/>
                </a:solidFill>
                <a:latin typeface="Calibri"/>
              </a:rPr>
              <a:t>Plan de Charge mensuel</a:t>
            </a:r>
          </a:p>
        </p:txBody>
      </p:sp>
      <p:sp>
        <p:nvSpPr>
          <p:cNvPr id="58" name="Rectangle 57"/>
          <p:cNvSpPr/>
          <p:nvPr/>
        </p:nvSpPr>
        <p:spPr>
          <a:xfrm>
            <a:off x="365760" y="6016752"/>
            <a:ext cx="5669280" cy="49377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384048" y="6044184"/>
            <a:ext cx="384048" cy="384048"/>
          </a:xfrm>
          <a:prstGeom prst="rect">
            <a:avLst/>
          </a:prstGeom>
          <a:solidFill>
            <a:srgbClr val="00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384048" y="6044184"/>
            <a:ext cx="38404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41248" y="6053328"/>
            <a:ext cx="52120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1A"/>
                </a:solidFill>
                <a:latin typeface="Calibri"/>
              </a:rPr>
              <a:t>Paramètre De Contact</a:t>
            </a:r>
          </a:p>
        </p:txBody>
      </p:sp>
      <p:sp>
        <p:nvSpPr>
          <p:cNvPr id="62" name="Rectangle 61"/>
          <p:cNvSpPr/>
          <p:nvPr/>
        </p:nvSpPr>
        <p:spPr>
          <a:xfrm>
            <a:off x="6263640" y="3794760"/>
            <a:ext cx="5852160" cy="475488"/>
          </a:xfrm>
          <a:prstGeom prst="rect">
            <a:avLst/>
          </a:prstGeom>
          <a:solidFill>
            <a:srgbClr val="00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355080" y="3831336"/>
            <a:ext cx="566928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Q28 — Quel % de la qualité Fidelis repose sur une qualification conforme ?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355080" y="4343400"/>
            <a:ext cx="5669280" cy="493776"/>
          </a:xfrm>
          <a:prstGeom prst="rect">
            <a:avLst/>
          </a:prstGeom>
          <a:solidFill>
            <a:srgbClr val="F0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6373368" y="4370832"/>
            <a:ext cx="384048" cy="384048"/>
          </a:xfrm>
          <a:prstGeom prst="rect">
            <a:avLst/>
          </a:prstGeom>
          <a:solidFill>
            <a:srgbClr val="004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373368" y="4370832"/>
            <a:ext cx="38404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830568" y="4379976"/>
            <a:ext cx="52120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1A"/>
                </a:solidFill>
                <a:latin typeface="Calibri"/>
              </a:rPr>
              <a:t>25%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55080" y="4901184"/>
            <a:ext cx="5669280" cy="49377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6373368" y="4928616"/>
            <a:ext cx="384048" cy="384048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6373368" y="4928616"/>
            <a:ext cx="38404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830568" y="4937760"/>
            <a:ext cx="52120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1A"/>
                </a:solidFill>
                <a:latin typeface="Calibri"/>
              </a:rPr>
              <a:t>35%</a:t>
            </a:r>
          </a:p>
        </p:txBody>
      </p:sp>
      <p:sp>
        <p:nvSpPr>
          <p:cNvPr id="72" name="Rectangle 71"/>
          <p:cNvSpPr/>
          <p:nvPr/>
        </p:nvSpPr>
        <p:spPr>
          <a:xfrm>
            <a:off x="6355080" y="5458968"/>
            <a:ext cx="5669280" cy="493776"/>
          </a:xfrm>
          <a:prstGeom prst="rect">
            <a:avLst/>
          </a:prstGeom>
          <a:solidFill>
            <a:srgbClr val="F0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6373368" y="5486400"/>
            <a:ext cx="384048" cy="384048"/>
          </a:xfrm>
          <a:prstGeom prst="rect">
            <a:avLst/>
          </a:prstGeom>
          <a:solidFill>
            <a:srgbClr val="00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6373368" y="5486400"/>
            <a:ext cx="38404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830568" y="5495544"/>
            <a:ext cx="52120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1A"/>
                </a:solidFill>
                <a:latin typeface="Calibri"/>
              </a:rPr>
              <a:t>50%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55080" y="6016752"/>
            <a:ext cx="5669280" cy="49377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6373368" y="6044184"/>
            <a:ext cx="384048" cy="384048"/>
          </a:xfrm>
          <a:prstGeom prst="rect">
            <a:avLst/>
          </a:prstGeom>
          <a:solidFill>
            <a:srgbClr val="00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373368" y="6044184"/>
            <a:ext cx="38404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6830568" y="6053328"/>
            <a:ext cx="52120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1A"/>
                </a:solidFill>
                <a:latin typeface="Calibri"/>
              </a:rPr>
              <a:t>75%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004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274320" y="6199632"/>
            <a:ext cx="11612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SHY-Performance  ×  FIDELIS  ×  UNICEF France — Quiz FIM 40 Questions</a:t>
            </a:r>
          </a:p>
        </p:txBody>
      </p:sp>
      <p:sp>
        <p:nvSpPr>
          <p:cNvPr id="82" name="Rectangle 81"/>
          <p:cNvSpPr/>
          <p:nvPr/>
        </p:nvSpPr>
        <p:spPr>
          <a:xfrm>
            <a:off x="0" y="6172200"/>
            <a:ext cx="12188952" cy="347472"/>
          </a:xfrm>
          <a:prstGeom prst="rect">
            <a:avLst/>
          </a:prstGeom>
          <a:solidFill>
            <a:srgbClr val="004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0" y="6172200"/>
            <a:ext cx="12188952" cy="27432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274320" y="6199632"/>
            <a:ext cx="1164031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1">
                <a:solidFill>
                  <a:srgbClr val="FFFFFF"/>
                </a:solidFill>
                <a:latin typeface="Calibri"/>
              </a:rPr>
              <a:t>Toute modification, rectification ou ajout est strictement interdit(e). Élaboré par Tamou Eljerrari — Ingénieure en Formation — sur ordre de la Directrice Générale, Mme Salima Negrao. Seules la DG SHY-Performance ou une personne mandatée sont autorisées.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4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9144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QUIZ FIM — Partie 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91440"/>
            <a:ext cx="2560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Calibri"/>
              </a:rPr>
              <a:t>Q29–Q32  |  Nom : ________________________</a:t>
            </a:r>
          </a:p>
        </p:txBody>
      </p:sp>
      <p:pic>
        <p:nvPicPr>
          <p:cNvPr id="7" name="Picture 6" descr="sh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0" y="91440"/>
            <a:ext cx="1447800" cy="64008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274320" y="960120"/>
            <a:ext cx="5852160" cy="475488"/>
          </a:xfrm>
          <a:prstGeom prst="rect">
            <a:avLst/>
          </a:prstGeom>
          <a:solidFill>
            <a:srgbClr val="00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996696"/>
            <a:ext cx="566928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Q29 — Que signifie la méthode AAR ?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508760"/>
            <a:ext cx="5669280" cy="493776"/>
          </a:xfrm>
          <a:prstGeom prst="rect">
            <a:avLst/>
          </a:prstGeom>
          <a:solidFill>
            <a:srgbClr val="F0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84048" y="1536192"/>
            <a:ext cx="384048" cy="384048"/>
          </a:xfrm>
          <a:prstGeom prst="rect">
            <a:avLst/>
          </a:prstGeom>
          <a:solidFill>
            <a:srgbClr val="004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84048" y="1536192"/>
            <a:ext cx="38404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" y="1545336"/>
            <a:ext cx="52120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1A"/>
                </a:solidFill>
                <a:latin typeface="Calibri"/>
              </a:rPr>
              <a:t>Argumenter, Accepter, Relancer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2066544"/>
            <a:ext cx="5669280" cy="49377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84048" y="2093976"/>
            <a:ext cx="384048" cy="384048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84048" y="2093976"/>
            <a:ext cx="38404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" y="2103120"/>
            <a:ext cx="52120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1A"/>
                </a:solidFill>
                <a:latin typeface="Calibri"/>
              </a:rPr>
              <a:t>Accuser réception, Argumenter, Relancer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624328"/>
            <a:ext cx="5669280" cy="493776"/>
          </a:xfrm>
          <a:prstGeom prst="rect">
            <a:avLst/>
          </a:prstGeom>
          <a:solidFill>
            <a:srgbClr val="F0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84048" y="2651760"/>
            <a:ext cx="384048" cy="384048"/>
          </a:xfrm>
          <a:prstGeom prst="rect">
            <a:avLst/>
          </a:prstGeom>
          <a:solidFill>
            <a:srgbClr val="00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84048" y="2651760"/>
            <a:ext cx="38404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1248" y="2660904"/>
            <a:ext cx="52120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1A"/>
                </a:solidFill>
                <a:latin typeface="Calibri"/>
              </a:rPr>
              <a:t>Analyser, Adapter, Répondre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5760" y="3182112"/>
            <a:ext cx="5669280" cy="49377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84048" y="3209544"/>
            <a:ext cx="384048" cy="384048"/>
          </a:xfrm>
          <a:prstGeom prst="rect">
            <a:avLst/>
          </a:prstGeom>
          <a:solidFill>
            <a:srgbClr val="00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84048" y="3209544"/>
            <a:ext cx="38404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1248" y="3218688"/>
            <a:ext cx="52120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1A"/>
                </a:solidFill>
                <a:latin typeface="Calibri"/>
              </a:rPr>
              <a:t>Accrocher, Aborder, Résoudre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63640" y="960120"/>
            <a:ext cx="5852160" cy="475488"/>
          </a:xfrm>
          <a:prstGeom prst="rect">
            <a:avLst/>
          </a:prstGeom>
          <a:solidFill>
            <a:srgbClr val="00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355080" y="996696"/>
            <a:ext cx="566928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Q30 — Face à 'C'est une arnaque !', quelle est la réponse recommandée ?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355080" y="1508760"/>
            <a:ext cx="5669280" cy="493776"/>
          </a:xfrm>
          <a:prstGeom prst="rect">
            <a:avLst/>
          </a:prstGeom>
          <a:solidFill>
            <a:srgbClr val="F0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373368" y="1536192"/>
            <a:ext cx="384048" cy="384048"/>
          </a:xfrm>
          <a:prstGeom prst="rect">
            <a:avLst/>
          </a:prstGeom>
          <a:solidFill>
            <a:srgbClr val="004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73368" y="1536192"/>
            <a:ext cx="38404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30568" y="1545336"/>
            <a:ext cx="52120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1A"/>
                </a:solidFill>
                <a:latin typeface="Calibri"/>
              </a:rPr>
              <a:t>Raccrocher immédiatement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355080" y="2066544"/>
            <a:ext cx="5669280" cy="49377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373368" y="2093976"/>
            <a:ext cx="384048" cy="384048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73368" y="2093976"/>
            <a:ext cx="38404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30568" y="2103120"/>
            <a:ext cx="52120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1A"/>
                </a:solidFill>
                <a:latin typeface="Calibri"/>
              </a:rPr>
              <a:t>Confirmer l'identité UNICEF France + proposer unicef.fr pour vérification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355080" y="2624328"/>
            <a:ext cx="5669280" cy="493776"/>
          </a:xfrm>
          <a:prstGeom prst="rect">
            <a:avLst/>
          </a:prstGeom>
          <a:solidFill>
            <a:srgbClr val="F0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373368" y="2651760"/>
            <a:ext cx="384048" cy="384048"/>
          </a:xfrm>
          <a:prstGeom prst="rect">
            <a:avLst/>
          </a:prstGeom>
          <a:solidFill>
            <a:srgbClr val="00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373368" y="2651760"/>
            <a:ext cx="38404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830568" y="2660904"/>
            <a:ext cx="52120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1A"/>
                </a:solidFill>
                <a:latin typeface="Calibri"/>
              </a:rPr>
              <a:t>Transférer l'appel au superviseur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355080" y="3182112"/>
            <a:ext cx="5669280" cy="49377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6373368" y="3209544"/>
            <a:ext cx="384048" cy="384048"/>
          </a:xfrm>
          <a:prstGeom prst="rect">
            <a:avLst/>
          </a:prstGeom>
          <a:solidFill>
            <a:srgbClr val="00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373368" y="3209544"/>
            <a:ext cx="38404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30568" y="3218688"/>
            <a:ext cx="52120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1A"/>
                </a:solidFill>
                <a:latin typeface="Calibri"/>
              </a:rPr>
              <a:t>Proposer d'envoyer un courrier</a:t>
            </a:r>
          </a:p>
        </p:txBody>
      </p:sp>
      <p:sp>
        <p:nvSpPr>
          <p:cNvPr id="44" name="Rectangle 43"/>
          <p:cNvSpPr/>
          <p:nvPr/>
        </p:nvSpPr>
        <p:spPr>
          <a:xfrm>
            <a:off x="274320" y="3794760"/>
            <a:ext cx="5852160" cy="475488"/>
          </a:xfrm>
          <a:prstGeom prst="rect">
            <a:avLst/>
          </a:prstGeom>
          <a:solidFill>
            <a:srgbClr val="00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65760" y="3831336"/>
            <a:ext cx="566928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Q31 — Combien d'objections le module J4 couvre-t-il ?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65760" y="4343400"/>
            <a:ext cx="5669280" cy="493776"/>
          </a:xfrm>
          <a:prstGeom prst="rect">
            <a:avLst/>
          </a:prstGeom>
          <a:solidFill>
            <a:srgbClr val="F0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384048" y="4370832"/>
            <a:ext cx="384048" cy="384048"/>
          </a:xfrm>
          <a:prstGeom prst="rect">
            <a:avLst/>
          </a:prstGeom>
          <a:solidFill>
            <a:srgbClr val="004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84048" y="4370832"/>
            <a:ext cx="38404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41248" y="4379976"/>
            <a:ext cx="52120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1A"/>
                </a:solidFill>
                <a:latin typeface="Calibri"/>
              </a:rPr>
              <a:t>8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65760" y="4901184"/>
            <a:ext cx="5669280" cy="49377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384048" y="4928616"/>
            <a:ext cx="384048" cy="384048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384048" y="4928616"/>
            <a:ext cx="38404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41248" y="4937760"/>
            <a:ext cx="52120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1A"/>
                </a:solidFill>
                <a:latin typeface="Calibri"/>
              </a:rPr>
              <a:t>10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5458968"/>
            <a:ext cx="5669280" cy="493776"/>
          </a:xfrm>
          <a:prstGeom prst="rect">
            <a:avLst/>
          </a:prstGeom>
          <a:solidFill>
            <a:srgbClr val="F0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384048" y="5486400"/>
            <a:ext cx="384048" cy="384048"/>
          </a:xfrm>
          <a:prstGeom prst="rect">
            <a:avLst/>
          </a:prstGeom>
          <a:solidFill>
            <a:srgbClr val="00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384048" y="5486400"/>
            <a:ext cx="38404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41248" y="5495544"/>
            <a:ext cx="52120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1A"/>
                </a:solidFill>
                <a:latin typeface="Calibri"/>
              </a:rPr>
              <a:t>12</a:t>
            </a:r>
          </a:p>
        </p:txBody>
      </p:sp>
      <p:sp>
        <p:nvSpPr>
          <p:cNvPr id="58" name="Rectangle 57"/>
          <p:cNvSpPr/>
          <p:nvPr/>
        </p:nvSpPr>
        <p:spPr>
          <a:xfrm>
            <a:off x="365760" y="6016752"/>
            <a:ext cx="5669280" cy="49377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384048" y="6044184"/>
            <a:ext cx="384048" cy="384048"/>
          </a:xfrm>
          <a:prstGeom prst="rect">
            <a:avLst/>
          </a:prstGeom>
          <a:solidFill>
            <a:srgbClr val="00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384048" y="6044184"/>
            <a:ext cx="38404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41248" y="6053328"/>
            <a:ext cx="52120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1A"/>
                </a:solidFill>
                <a:latin typeface="Calibri"/>
              </a:rPr>
              <a:t>15</a:t>
            </a:r>
          </a:p>
        </p:txBody>
      </p:sp>
      <p:sp>
        <p:nvSpPr>
          <p:cNvPr id="62" name="Rectangle 61"/>
          <p:cNvSpPr/>
          <p:nvPr/>
        </p:nvSpPr>
        <p:spPr>
          <a:xfrm>
            <a:off x="6263640" y="3794760"/>
            <a:ext cx="5852160" cy="475488"/>
          </a:xfrm>
          <a:prstGeom prst="rect">
            <a:avLst/>
          </a:prstGeom>
          <a:solidFill>
            <a:srgbClr val="00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355080" y="3831336"/>
            <a:ext cx="566928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Q32 — En combien de catégories les objections sont-elles regroupées ?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355080" y="4343400"/>
            <a:ext cx="5669280" cy="493776"/>
          </a:xfrm>
          <a:prstGeom prst="rect">
            <a:avLst/>
          </a:prstGeom>
          <a:solidFill>
            <a:srgbClr val="F0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6373368" y="4370832"/>
            <a:ext cx="384048" cy="384048"/>
          </a:xfrm>
          <a:prstGeom prst="rect">
            <a:avLst/>
          </a:prstGeom>
          <a:solidFill>
            <a:srgbClr val="004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373368" y="4370832"/>
            <a:ext cx="38404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830568" y="4379976"/>
            <a:ext cx="52120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1A"/>
                </a:solidFill>
                <a:latin typeface="Calibri"/>
              </a:rPr>
              <a:t>3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55080" y="4901184"/>
            <a:ext cx="5669280" cy="49377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6373368" y="4928616"/>
            <a:ext cx="384048" cy="384048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6373368" y="4928616"/>
            <a:ext cx="38404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830568" y="4937760"/>
            <a:ext cx="52120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1A"/>
                </a:solidFill>
                <a:latin typeface="Calibri"/>
              </a:rPr>
              <a:t>4</a:t>
            </a:r>
          </a:p>
        </p:txBody>
      </p:sp>
      <p:sp>
        <p:nvSpPr>
          <p:cNvPr id="72" name="Rectangle 71"/>
          <p:cNvSpPr/>
          <p:nvPr/>
        </p:nvSpPr>
        <p:spPr>
          <a:xfrm>
            <a:off x="6355080" y="5458968"/>
            <a:ext cx="5669280" cy="493776"/>
          </a:xfrm>
          <a:prstGeom prst="rect">
            <a:avLst/>
          </a:prstGeom>
          <a:solidFill>
            <a:srgbClr val="F0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6373368" y="5486400"/>
            <a:ext cx="384048" cy="384048"/>
          </a:xfrm>
          <a:prstGeom prst="rect">
            <a:avLst/>
          </a:prstGeom>
          <a:solidFill>
            <a:srgbClr val="00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6373368" y="5486400"/>
            <a:ext cx="38404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830568" y="5495544"/>
            <a:ext cx="52120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1A"/>
                </a:solidFill>
                <a:latin typeface="Calibri"/>
              </a:rPr>
              <a:t>5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55080" y="6016752"/>
            <a:ext cx="5669280" cy="49377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6373368" y="6044184"/>
            <a:ext cx="384048" cy="384048"/>
          </a:xfrm>
          <a:prstGeom prst="rect">
            <a:avLst/>
          </a:prstGeom>
          <a:solidFill>
            <a:srgbClr val="00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373368" y="6044184"/>
            <a:ext cx="38404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6830568" y="6053328"/>
            <a:ext cx="52120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1A"/>
                </a:solidFill>
                <a:latin typeface="Calibri"/>
              </a:rPr>
              <a:t>6</a:t>
            </a:r>
          </a:p>
        </p:txBody>
      </p:sp>
      <p:sp>
        <p:nvSpPr>
          <p:cNvPr id="80" name="Rectangle 79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004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274320" y="6199632"/>
            <a:ext cx="11612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SHY-Performance  ×  FIDELIS  ×  UNICEF France — Quiz FIM 40 Questions</a:t>
            </a:r>
          </a:p>
        </p:txBody>
      </p:sp>
      <p:sp>
        <p:nvSpPr>
          <p:cNvPr id="82" name="Rectangle 81"/>
          <p:cNvSpPr/>
          <p:nvPr/>
        </p:nvSpPr>
        <p:spPr>
          <a:xfrm>
            <a:off x="0" y="6172200"/>
            <a:ext cx="12188952" cy="347472"/>
          </a:xfrm>
          <a:prstGeom prst="rect">
            <a:avLst/>
          </a:prstGeom>
          <a:solidFill>
            <a:srgbClr val="004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0" y="6172200"/>
            <a:ext cx="12188952" cy="27432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274320" y="6199632"/>
            <a:ext cx="1164031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1">
                <a:solidFill>
                  <a:srgbClr val="FFFFFF"/>
                </a:solidFill>
                <a:latin typeface="Calibri"/>
              </a:rPr>
              <a:t>Toute modification, rectification ou ajout est strictement interdit(e). Élaboré par Tamou Eljerrari — Ingénieure en Formation — sur ordre de la Directrice Générale, Mme Salima Negrao. Seules la DG SHY-Performance ou une personne mandatée sont autorisées.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4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9144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QUIZ FIM — Partie 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91440"/>
            <a:ext cx="2560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Calibri"/>
              </a:rPr>
              <a:t>Q33–Q36  |  Nom : ________________________</a:t>
            </a:r>
          </a:p>
        </p:txBody>
      </p:sp>
      <p:pic>
        <p:nvPicPr>
          <p:cNvPr id="7" name="Picture 6" descr="sh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0" y="91440"/>
            <a:ext cx="1447800" cy="64008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274320" y="960120"/>
            <a:ext cx="5852160" cy="475488"/>
          </a:xfrm>
          <a:prstGeom prst="rect">
            <a:avLst/>
          </a:prstGeom>
          <a:solidFill>
            <a:srgbClr val="00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996696"/>
            <a:ext cx="566928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Q33 — Face à 'Je suis sur liste Bloctel', que répondre ?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508760"/>
            <a:ext cx="5669280" cy="493776"/>
          </a:xfrm>
          <a:prstGeom prst="rect">
            <a:avLst/>
          </a:prstGeom>
          <a:solidFill>
            <a:srgbClr val="F0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84048" y="1536192"/>
            <a:ext cx="384048" cy="384048"/>
          </a:xfrm>
          <a:prstGeom prst="rect">
            <a:avLst/>
          </a:prstGeom>
          <a:solidFill>
            <a:srgbClr val="004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84048" y="1536192"/>
            <a:ext cx="38404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" y="1545336"/>
            <a:ext cx="52120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1A"/>
                </a:solidFill>
                <a:latin typeface="Calibri"/>
              </a:rPr>
              <a:t>S'excuser et raccrocher immédiatement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2066544"/>
            <a:ext cx="5669280" cy="49377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84048" y="2093976"/>
            <a:ext cx="384048" cy="384048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84048" y="2093976"/>
            <a:ext cx="38404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" y="2103120"/>
            <a:ext cx="52120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1A"/>
                </a:solidFill>
                <a:latin typeface="Calibri"/>
              </a:rPr>
              <a:t>Les associations à but non lucratif sont autorisées par Bloctel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624328"/>
            <a:ext cx="5669280" cy="493776"/>
          </a:xfrm>
          <a:prstGeom prst="rect">
            <a:avLst/>
          </a:prstGeom>
          <a:solidFill>
            <a:srgbClr val="F0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84048" y="2651760"/>
            <a:ext cx="384048" cy="384048"/>
          </a:xfrm>
          <a:prstGeom prst="rect">
            <a:avLst/>
          </a:prstGeom>
          <a:solidFill>
            <a:srgbClr val="00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84048" y="2651760"/>
            <a:ext cx="38404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1248" y="2660904"/>
            <a:ext cx="52120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1A"/>
                </a:solidFill>
                <a:latin typeface="Calibri"/>
              </a:rPr>
              <a:t>Demander de se désincrire de Bloctel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5760" y="3182112"/>
            <a:ext cx="5669280" cy="49377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84048" y="3209544"/>
            <a:ext cx="384048" cy="384048"/>
          </a:xfrm>
          <a:prstGeom prst="rect">
            <a:avLst/>
          </a:prstGeom>
          <a:solidFill>
            <a:srgbClr val="00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84048" y="3209544"/>
            <a:ext cx="38404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1248" y="3218688"/>
            <a:ext cx="52120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1A"/>
                </a:solidFill>
                <a:latin typeface="Calibri"/>
              </a:rPr>
              <a:t>Transférer au service juridique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63640" y="960120"/>
            <a:ext cx="5852160" cy="475488"/>
          </a:xfrm>
          <a:prstGeom prst="rect">
            <a:avLst/>
          </a:prstGeom>
          <a:solidFill>
            <a:srgbClr val="00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355080" y="996696"/>
            <a:ext cx="566928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Q34 — Pour la méfiance IBAN, quel est l'argument principal ?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355080" y="1508760"/>
            <a:ext cx="5669280" cy="493776"/>
          </a:xfrm>
          <a:prstGeom prst="rect">
            <a:avLst/>
          </a:prstGeom>
          <a:solidFill>
            <a:srgbClr val="F0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373368" y="1536192"/>
            <a:ext cx="384048" cy="384048"/>
          </a:xfrm>
          <a:prstGeom prst="rect">
            <a:avLst/>
          </a:prstGeom>
          <a:solidFill>
            <a:srgbClr val="004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73368" y="1536192"/>
            <a:ext cx="38404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30568" y="1545336"/>
            <a:ext cx="52120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1A"/>
                </a:solidFill>
                <a:latin typeface="Calibri"/>
              </a:rPr>
              <a:t>L'IBAN permet d'accéder au compte bancaire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355080" y="2066544"/>
            <a:ext cx="5669280" cy="49377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373368" y="2093976"/>
            <a:ext cx="384048" cy="384048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73368" y="2093976"/>
            <a:ext cx="38404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30568" y="2103120"/>
            <a:ext cx="52120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1A"/>
                </a:solidFill>
                <a:latin typeface="Calibri"/>
              </a:rPr>
              <a:t>L'IBAN ne permet pas d'accéder au compte — il autorise uniquement un virement SEPA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355080" y="2624328"/>
            <a:ext cx="5669280" cy="493776"/>
          </a:xfrm>
          <a:prstGeom prst="rect">
            <a:avLst/>
          </a:prstGeom>
          <a:solidFill>
            <a:srgbClr val="F0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373368" y="2651760"/>
            <a:ext cx="384048" cy="384048"/>
          </a:xfrm>
          <a:prstGeom prst="rect">
            <a:avLst/>
          </a:prstGeom>
          <a:solidFill>
            <a:srgbClr val="00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373368" y="2651760"/>
            <a:ext cx="38404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830568" y="2660904"/>
            <a:ext cx="52120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1A"/>
                </a:solidFill>
                <a:latin typeface="Calibri"/>
              </a:rPr>
              <a:t>L'IBAN est facultatif pour valider un don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355080" y="3182112"/>
            <a:ext cx="5669280" cy="49377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6373368" y="3209544"/>
            <a:ext cx="384048" cy="384048"/>
          </a:xfrm>
          <a:prstGeom prst="rect">
            <a:avLst/>
          </a:prstGeom>
          <a:solidFill>
            <a:srgbClr val="00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373368" y="3209544"/>
            <a:ext cx="38404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30568" y="3218688"/>
            <a:ext cx="52120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1A"/>
                </a:solidFill>
                <a:latin typeface="Calibri"/>
              </a:rPr>
              <a:t>L'IBAN sera supprimé après le premier prélèvement</a:t>
            </a:r>
          </a:p>
        </p:txBody>
      </p:sp>
      <p:sp>
        <p:nvSpPr>
          <p:cNvPr id="44" name="Rectangle 43"/>
          <p:cNvSpPr/>
          <p:nvPr/>
        </p:nvSpPr>
        <p:spPr>
          <a:xfrm>
            <a:off x="274320" y="3794760"/>
            <a:ext cx="5852160" cy="475488"/>
          </a:xfrm>
          <a:prstGeom prst="rect">
            <a:avLst/>
          </a:prstGeom>
          <a:solidFill>
            <a:srgbClr val="00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65760" y="3831336"/>
            <a:ext cx="566928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Q35 — Face à 'Je n'ai pas les moyens', quel montant peut-on proposer en dernier recours ?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65760" y="4343400"/>
            <a:ext cx="5669280" cy="493776"/>
          </a:xfrm>
          <a:prstGeom prst="rect">
            <a:avLst/>
          </a:prstGeom>
          <a:solidFill>
            <a:srgbClr val="F0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384048" y="4370832"/>
            <a:ext cx="384048" cy="384048"/>
          </a:xfrm>
          <a:prstGeom prst="rect">
            <a:avLst/>
          </a:prstGeom>
          <a:solidFill>
            <a:srgbClr val="004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84048" y="4370832"/>
            <a:ext cx="38404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41248" y="4379976"/>
            <a:ext cx="52120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1A"/>
                </a:solidFill>
                <a:latin typeface="Calibri"/>
              </a:rPr>
              <a:t>5€/mois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65760" y="4901184"/>
            <a:ext cx="5669280" cy="49377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384048" y="4928616"/>
            <a:ext cx="384048" cy="384048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384048" y="4928616"/>
            <a:ext cx="38404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41248" y="4937760"/>
            <a:ext cx="52120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1A"/>
                </a:solidFill>
                <a:latin typeface="Calibri"/>
              </a:rPr>
              <a:t>6€/mois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5458968"/>
            <a:ext cx="5669280" cy="493776"/>
          </a:xfrm>
          <a:prstGeom prst="rect">
            <a:avLst/>
          </a:prstGeom>
          <a:solidFill>
            <a:srgbClr val="F0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384048" y="5486400"/>
            <a:ext cx="384048" cy="384048"/>
          </a:xfrm>
          <a:prstGeom prst="rect">
            <a:avLst/>
          </a:prstGeom>
          <a:solidFill>
            <a:srgbClr val="00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384048" y="5486400"/>
            <a:ext cx="38404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41248" y="5495544"/>
            <a:ext cx="52120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1A"/>
                </a:solidFill>
                <a:latin typeface="Calibri"/>
              </a:rPr>
              <a:t>8€/mois</a:t>
            </a:r>
          </a:p>
        </p:txBody>
      </p:sp>
      <p:sp>
        <p:nvSpPr>
          <p:cNvPr id="58" name="Rectangle 57"/>
          <p:cNvSpPr/>
          <p:nvPr/>
        </p:nvSpPr>
        <p:spPr>
          <a:xfrm>
            <a:off x="365760" y="6016752"/>
            <a:ext cx="5669280" cy="49377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384048" y="6044184"/>
            <a:ext cx="384048" cy="384048"/>
          </a:xfrm>
          <a:prstGeom prst="rect">
            <a:avLst/>
          </a:prstGeom>
          <a:solidFill>
            <a:srgbClr val="00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384048" y="6044184"/>
            <a:ext cx="38404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41248" y="6053328"/>
            <a:ext cx="52120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1A"/>
                </a:solidFill>
                <a:latin typeface="Calibri"/>
              </a:rPr>
              <a:t>10€/mois</a:t>
            </a:r>
          </a:p>
        </p:txBody>
      </p:sp>
      <p:sp>
        <p:nvSpPr>
          <p:cNvPr id="62" name="Rectangle 61"/>
          <p:cNvSpPr/>
          <p:nvPr/>
        </p:nvSpPr>
        <p:spPr>
          <a:xfrm>
            <a:off x="6263640" y="3794760"/>
            <a:ext cx="5852160" cy="475488"/>
          </a:xfrm>
          <a:prstGeom prst="rect">
            <a:avLst/>
          </a:prstGeom>
          <a:solidFill>
            <a:srgbClr val="00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355080" y="3831336"/>
            <a:ext cx="566928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Q36 — Le 1er prélèvement a lieu :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355080" y="4343400"/>
            <a:ext cx="5669280" cy="493776"/>
          </a:xfrm>
          <a:prstGeom prst="rect">
            <a:avLst/>
          </a:prstGeom>
          <a:solidFill>
            <a:srgbClr val="F0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6373368" y="4370832"/>
            <a:ext cx="384048" cy="384048"/>
          </a:xfrm>
          <a:prstGeom prst="rect">
            <a:avLst/>
          </a:prstGeom>
          <a:solidFill>
            <a:srgbClr val="004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373368" y="4370832"/>
            <a:ext cx="38404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830568" y="4379976"/>
            <a:ext cx="52120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1A"/>
                </a:solidFill>
                <a:latin typeface="Calibri"/>
              </a:rPr>
              <a:t>Immédiatement après l'accord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55080" y="4901184"/>
            <a:ext cx="5669280" cy="49377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6373368" y="4928616"/>
            <a:ext cx="384048" cy="384048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6373368" y="4928616"/>
            <a:ext cx="38404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830568" y="4937760"/>
            <a:ext cx="52120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1A"/>
                </a:solidFill>
                <a:latin typeface="Calibri"/>
              </a:rPr>
              <a:t>Le 1er du mois suivant</a:t>
            </a:r>
          </a:p>
        </p:txBody>
      </p:sp>
      <p:sp>
        <p:nvSpPr>
          <p:cNvPr id="72" name="Rectangle 71"/>
          <p:cNvSpPr/>
          <p:nvPr/>
        </p:nvSpPr>
        <p:spPr>
          <a:xfrm>
            <a:off x="6355080" y="5458968"/>
            <a:ext cx="5669280" cy="493776"/>
          </a:xfrm>
          <a:prstGeom prst="rect">
            <a:avLst/>
          </a:prstGeom>
          <a:solidFill>
            <a:srgbClr val="F0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6373368" y="5486400"/>
            <a:ext cx="384048" cy="384048"/>
          </a:xfrm>
          <a:prstGeom prst="rect">
            <a:avLst/>
          </a:prstGeom>
          <a:solidFill>
            <a:srgbClr val="00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6373368" y="5486400"/>
            <a:ext cx="38404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830568" y="5495544"/>
            <a:ext cx="52120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1A"/>
                </a:solidFill>
                <a:latin typeface="Calibri"/>
              </a:rPr>
              <a:t>Le 10 du mois suivant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55080" y="6016752"/>
            <a:ext cx="5669280" cy="49377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6373368" y="6044184"/>
            <a:ext cx="384048" cy="384048"/>
          </a:xfrm>
          <a:prstGeom prst="rect">
            <a:avLst/>
          </a:prstGeom>
          <a:solidFill>
            <a:srgbClr val="00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373368" y="6044184"/>
            <a:ext cx="38404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6830568" y="6053328"/>
            <a:ext cx="52120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1A"/>
                </a:solidFill>
                <a:latin typeface="Calibri"/>
              </a:rPr>
              <a:t>Le dernier jour du mois suivant</a:t>
            </a:r>
          </a:p>
        </p:txBody>
      </p:sp>
      <p:sp>
        <p:nvSpPr>
          <p:cNvPr id="80" name="Rectangle 79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004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274320" y="6199632"/>
            <a:ext cx="11612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SHY-Performance  ×  FIDELIS  ×  UNICEF France — Quiz FIM 40 Questions</a:t>
            </a:r>
          </a:p>
        </p:txBody>
      </p:sp>
      <p:sp>
        <p:nvSpPr>
          <p:cNvPr id="82" name="Rectangle 81"/>
          <p:cNvSpPr/>
          <p:nvPr/>
        </p:nvSpPr>
        <p:spPr>
          <a:xfrm>
            <a:off x="0" y="6172200"/>
            <a:ext cx="12188952" cy="347472"/>
          </a:xfrm>
          <a:prstGeom prst="rect">
            <a:avLst/>
          </a:prstGeom>
          <a:solidFill>
            <a:srgbClr val="004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0" y="6172200"/>
            <a:ext cx="12188952" cy="27432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274320" y="6199632"/>
            <a:ext cx="1164031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1">
                <a:solidFill>
                  <a:srgbClr val="FFFFFF"/>
                </a:solidFill>
                <a:latin typeface="Calibri"/>
              </a:rPr>
              <a:t>Toute modification, rectification ou ajout est strictement interdit(e). Élaboré par Tamou Eljerrari — Ingénieure en Formation — sur ordre de la Directrice Générale, Mme Salima Negrao. Seules la DG SHY-Performance ou une personne mandatée sont autorisées.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4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9144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QUIZ FIM — Partie J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91440"/>
            <a:ext cx="2560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Calibri"/>
              </a:rPr>
              <a:t>Q37–Q40  |  Nom : ________________________</a:t>
            </a:r>
          </a:p>
        </p:txBody>
      </p:sp>
      <p:pic>
        <p:nvPicPr>
          <p:cNvPr id="7" name="Picture 6" descr="sh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0" y="91440"/>
            <a:ext cx="1447800" cy="64008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274320" y="960120"/>
            <a:ext cx="5852160" cy="475488"/>
          </a:xfrm>
          <a:prstGeom prst="rect">
            <a:avLst/>
          </a:prstGeom>
          <a:solidFill>
            <a:srgbClr val="00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996696"/>
            <a:ext cx="566928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Q37 — Qu'est-ce que le 'Blindage' dans le script ?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508760"/>
            <a:ext cx="5669280" cy="493776"/>
          </a:xfrm>
          <a:prstGeom prst="rect">
            <a:avLst/>
          </a:prstGeom>
          <a:solidFill>
            <a:srgbClr val="F0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84048" y="1536192"/>
            <a:ext cx="384048" cy="384048"/>
          </a:xfrm>
          <a:prstGeom prst="rect">
            <a:avLst/>
          </a:prstGeom>
          <a:solidFill>
            <a:srgbClr val="004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84048" y="1536192"/>
            <a:ext cx="38404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" y="1545336"/>
            <a:ext cx="52120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1A"/>
                </a:solidFill>
                <a:latin typeface="Calibri"/>
              </a:rPr>
              <a:t>Une technique d'enregistrement audio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2066544"/>
            <a:ext cx="5669280" cy="49377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84048" y="2093976"/>
            <a:ext cx="384048" cy="384048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84048" y="2093976"/>
            <a:ext cx="38404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" y="2103120"/>
            <a:ext cx="52120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1A"/>
                </a:solidFill>
                <a:latin typeface="Calibri"/>
              </a:rPr>
              <a:t>La demande d'autorisation explicite avant de valider le prélèvement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624328"/>
            <a:ext cx="5669280" cy="493776"/>
          </a:xfrm>
          <a:prstGeom prst="rect">
            <a:avLst/>
          </a:prstGeom>
          <a:solidFill>
            <a:srgbClr val="F0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84048" y="2651760"/>
            <a:ext cx="384048" cy="384048"/>
          </a:xfrm>
          <a:prstGeom prst="rect">
            <a:avLst/>
          </a:prstGeom>
          <a:solidFill>
            <a:srgbClr val="00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84048" y="2651760"/>
            <a:ext cx="38404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1248" y="2660904"/>
            <a:ext cx="52120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1A"/>
                </a:solidFill>
                <a:latin typeface="Calibri"/>
              </a:rPr>
              <a:t>Un outil de vérification anti-fraude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5760" y="3182112"/>
            <a:ext cx="5669280" cy="49377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84048" y="3209544"/>
            <a:ext cx="384048" cy="384048"/>
          </a:xfrm>
          <a:prstGeom prst="rect">
            <a:avLst/>
          </a:prstGeom>
          <a:solidFill>
            <a:srgbClr val="00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84048" y="3209544"/>
            <a:ext cx="38404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1248" y="3218688"/>
            <a:ext cx="52120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1A"/>
                </a:solidFill>
                <a:latin typeface="Calibri"/>
              </a:rPr>
              <a:t>La mise en attente du prospect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63640" y="960120"/>
            <a:ext cx="5852160" cy="475488"/>
          </a:xfrm>
          <a:prstGeom prst="rect">
            <a:avLst/>
          </a:prstGeom>
          <a:solidFill>
            <a:srgbClr val="00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355080" y="996696"/>
            <a:ext cx="566928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Q38 — En mode PA en ligne en direct, le fundraiser doit :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355080" y="1508760"/>
            <a:ext cx="5669280" cy="493776"/>
          </a:xfrm>
          <a:prstGeom prst="rect">
            <a:avLst/>
          </a:prstGeom>
          <a:solidFill>
            <a:srgbClr val="F0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373368" y="1536192"/>
            <a:ext cx="384048" cy="384048"/>
          </a:xfrm>
          <a:prstGeom prst="rect">
            <a:avLst/>
          </a:prstGeom>
          <a:solidFill>
            <a:srgbClr val="004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73368" y="1536192"/>
            <a:ext cx="38404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30568" y="1545336"/>
            <a:ext cx="52120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1A"/>
                </a:solidFill>
                <a:latin typeface="Calibri"/>
              </a:rPr>
              <a:t>Demander les coordonnées bancaires oralement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355080" y="2066544"/>
            <a:ext cx="5669280" cy="49377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373368" y="2093976"/>
            <a:ext cx="384048" cy="384048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73368" y="2093976"/>
            <a:ext cx="38404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30568" y="2103120"/>
            <a:ext cx="52120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1A"/>
                </a:solidFill>
                <a:latin typeface="Calibri"/>
              </a:rPr>
              <a:t>Guider le donateur sur le site sans demander ses coordonnées bancaires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355080" y="2624328"/>
            <a:ext cx="5669280" cy="493776"/>
          </a:xfrm>
          <a:prstGeom prst="rect">
            <a:avLst/>
          </a:prstGeom>
          <a:solidFill>
            <a:srgbClr val="F0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373368" y="2651760"/>
            <a:ext cx="384048" cy="384048"/>
          </a:xfrm>
          <a:prstGeom prst="rect">
            <a:avLst/>
          </a:prstGeom>
          <a:solidFill>
            <a:srgbClr val="00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373368" y="2651760"/>
            <a:ext cx="38404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830568" y="2660904"/>
            <a:ext cx="52120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1A"/>
                </a:solidFill>
                <a:latin typeface="Calibri"/>
              </a:rPr>
              <a:t>Raccrocher et attendre la confirmation par mail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355080" y="3182112"/>
            <a:ext cx="5669280" cy="49377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6373368" y="3209544"/>
            <a:ext cx="384048" cy="384048"/>
          </a:xfrm>
          <a:prstGeom prst="rect">
            <a:avLst/>
          </a:prstGeom>
          <a:solidFill>
            <a:srgbClr val="00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373368" y="3209544"/>
            <a:ext cx="38404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30568" y="3218688"/>
            <a:ext cx="52120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1A"/>
                </a:solidFill>
                <a:latin typeface="Calibri"/>
              </a:rPr>
              <a:t>Transférer l'appel au service en ligne</a:t>
            </a:r>
          </a:p>
        </p:txBody>
      </p:sp>
      <p:sp>
        <p:nvSpPr>
          <p:cNvPr id="44" name="Rectangle 43"/>
          <p:cNvSpPr/>
          <p:nvPr/>
        </p:nvSpPr>
        <p:spPr>
          <a:xfrm>
            <a:off x="274320" y="3794760"/>
            <a:ext cx="5852160" cy="475488"/>
          </a:xfrm>
          <a:prstGeom prst="rect">
            <a:avLst/>
          </a:prstGeom>
          <a:solidFill>
            <a:srgbClr val="00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65760" y="3831336"/>
            <a:ext cx="566928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Q39 — La qualification 'INDÉCIS' correspond à :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65760" y="4343400"/>
            <a:ext cx="5669280" cy="493776"/>
          </a:xfrm>
          <a:prstGeom prst="rect">
            <a:avLst/>
          </a:prstGeom>
          <a:solidFill>
            <a:srgbClr val="F0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384048" y="4370832"/>
            <a:ext cx="384048" cy="384048"/>
          </a:xfrm>
          <a:prstGeom prst="rect">
            <a:avLst/>
          </a:prstGeom>
          <a:solidFill>
            <a:srgbClr val="004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84048" y="4370832"/>
            <a:ext cx="38404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41248" y="4379976"/>
            <a:ext cx="52120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1A"/>
                </a:solidFill>
                <a:latin typeface="Calibri"/>
              </a:rPr>
              <a:t>Un prospect qui a raccroché sans répondre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65760" y="4901184"/>
            <a:ext cx="5669280" cy="49377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384048" y="4928616"/>
            <a:ext cx="384048" cy="384048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384048" y="4928616"/>
            <a:ext cx="38404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41248" y="4937760"/>
            <a:ext cx="52120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1A"/>
                </a:solidFill>
                <a:latin typeface="Calibri"/>
              </a:rPr>
              <a:t>Un prospect intéressé mais qui n'a pas validé son don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5458968"/>
            <a:ext cx="5669280" cy="493776"/>
          </a:xfrm>
          <a:prstGeom prst="rect">
            <a:avLst/>
          </a:prstGeom>
          <a:solidFill>
            <a:srgbClr val="F0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384048" y="5486400"/>
            <a:ext cx="384048" cy="384048"/>
          </a:xfrm>
          <a:prstGeom prst="rect">
            <a:avLst/>
          </a:prstGeom>
          <a:solidFill>
            <a:srgbClr val="00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384048" y="5486400"/>
            <a:ext cx="38404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41248" y="5495544"/>
            <a:ext cx="52120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1A"/>
                </a:solidFill>
                <a:latin typeface="Calibri"/>
              </a:rPr>
              <a:t>Un prospect qui a refusé catégoriquement</a:t>
            </a:r>
          </a:p>
        </p:txBody>
      </p:sp>
      <p:sp>
        <p:nvSpPr>
          <p:cNvPr id="58" name="Rectangle 57"/>
          <p:cNvSpPr/>
          <p:nvPr/>
        </p:nvSpPr>
        <p:spPr>
          <a:xfrm>
            <a:off x="365760" y="6016752"/>
            <a:ext cx="5669280" cy="49377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384048" y="6044184"/>
            <a:ext cx="384048" cy="384048"/>
          </a:xfrm>
          <a:prstGeom prst="rect">
            <a:avLst/>
          </a:prstGeom>
          <a:solidFill>
            <a:srgbClr val="00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384048" y="6044184"/>
            <a:ext cx="38404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41248" y="6053328"/>
            <a:ext cx="52120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1A"/>
                </a:solidFill>
                <a:latin typeface="Calibri"/>
              </a:rPr>
              <a:t>Un prospect absent lors du rappel</a:t>
            </a:r>
          </a:p>
        </p:txBody>
      </p:sp>
      <p:sp>
        <p:nvSpPr>
          <p:cNvPr id="62" name="Rectangle 61"/>
          <p:cNvSpPr/>
          <p:nvPr/>
        </p:nvSpPr>
        <p:spPr>
          <a:xfrm>
            <a:off x="6263640" y="3794760"/>
            <a:ext cx="5852160" cy="475488"/>
          </a:xfrm>
          <a:prstGeom prst="rect">
            <a:avLst/>
          </a:prstGeom>
          <a:solidFill>
            <a:srgbClr val="00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355080" y="3831336"/>
            <a:ext cx="566928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Q40 — Que doit faire le fundraiser si un prospect dit 'Je suis sur liste rouge' ?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355080" y="4343400"/>
            <a:ext cx="5669280" cy="493776"/>
          </a:xfrm>
          <a:prstGeom prst="rect">
            <a:avLst/>
          </a:prstGeom>
          <a:solidFill>
            <a:srgbClr val="F0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6373368" y="4370832"/>
            <a:ext cx="384048" cy="384048"/>
          </a:xfrm>
          <a:prstGeom prst="rect">
            <a:avLst/>
          </a:prstGeom>
          <a:solidFill>
            <a:srgbClr val="004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373368" y="4370832"/>
            <a:ext cx="38404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830568" y="4379976"/>
            <a:ext cx="52120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1A"/>
                </a:solidFill>
                <a:latin typeface="Calibri"/>
              </a:rPr>
              <a:t>Proposer quand même le don en continuant le script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55080" y="4901184"/>
            <a:ext cx="5669280" cy="49377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6373368" y="4928616"/>
            <a:ext cx="384048" cy="384048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6373368" y="4928616"/>
            <a:ext cx="38404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830568" y="4937760"/>
            <a:ext cx="52120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1A"/>
                </a:solidFill>
                <a:latin typeface="Calibri"/>
              </a:rPr>
              <a:t>S'excuser, remonter l'info, prendre congé sans insister</a:t>
            </a:r>
          </a:p>
        </p:txBody>
      </p:sp>
      <p:sp>
        <p:nvSpPr>
          <p:cNvPr id="72" name="Rectangle 71"/>
          <p:cNvSpPr/>
          <p:nvPr/>
        </p:nvSpPr>
        <p:spPr>
          <a:xfrm>
            <a:off x="6355080" y="5458968"/>
            <a:ext cx="5669280" cy="493776"/>
          </a:xfrm>
          <a:prstGeom prst="rect">
            <a:avLst/>
          </a:prstGeom>
          <a:solidFill>
            <a:srgbClr val="F0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6373368" y="5486400"/>
            <a:ext cx="384048" cy="384048"/>
          </a:xfrm>
          <a:prstGeom prst="rect">
            <a:avLst/>
          </a:prstGeom>
          <a:solidFill>
            <a:srgbClr val="00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6373368" y="5486400"/>
            <a:ext cx="38404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830568" y="5495544"/>
            <a:ext cx="52120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1A"/>
                </a:solidFill>
                <a:latin typeface="Calibri"/>
              </a:rPr>
              <a:t>Demander confirmation écrite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55080" y="6016752"/>
            <a:ext cx="5669280" cy="49377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6373368" y="6044184"/>
            <a:ext cx="384048" cy="384048"/>
          </a:xfrm>
          <a:prstGeom prst="rect">
            <a:avLst/>
          </a:prstGeom>
          <a:solidFill>
            <a:srgbClr val="00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373368" y="6044184"/>
            <a:ext cx="38404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6830568" y="6053328"/>
            <a:ext cx="52120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1A"/>
                </a:solidFill>
                <a:latin typeface="Calibri"/>
              </a:rPr>
              <a:t>Transférer à un superviseur</a:t>
            </a:r>
          </a:p>
        </p:txBody>
      </p:sp>
      <p:sp>
        <p:nvSpPr>
          <p:cNvPr id="80" name="Rectangle 79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004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274320" y="6199632"/>
            <a:ext cx="11612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SHY-Performance  ×  FIDELIS  ×  UNICEF France — Quiz FIM 40 Questions</a:t>
            </a:r>
          </a:p>
        </p:txBody>
      </p:sp>
      <p:sp>
        <p:nvSpPr>
          <p:cNvPr id="82" name="Rectangle 81"/>
          <p:cNvSpPr/>
          <p:nvPr/>
        </p:nvSpPr>
        <p:spPr>
          <a:xfrm>
            <a:off x="0" y="6172200"/>
            <a:ext cx="12188952" cy="347472"/>
          </a:xfrm>
          <a:prstGeom prst="rect">
            <a:avLst/>
          </a:prstGeom>
          <a:solidFill>
            <a:srgbClr val="004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0" y="6172200"/>
            <a:ext cx="12188952" cy="27432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274320" y="6199632"/>
            <a:ext cx="1164031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1">
                <a:solidFill>
                  <a:srgbClr val="FFFFFF"/>
                </a:solidFill>
                <a:latin typeface="Calibri"/>
              </a:rPr>
              <a:t>Toute modification, rectification ou ajout est strictement interdit(e). Élaboré par Tamou Eljerrari — Ingénieure en Formation — sur ordre de la Directrice Générale, Mme Salima Negrao. Seules la DG SHY-Performance ou une personne mandatée sont autorisées.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4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137160"/>
            <a:ext cx="9601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FFFFFF"/>
                </a:solidFill>
                <a:latin typeface="Calibri"/>
              </a:rPr>
              <a:t>GRILLE FORMATEUR — Correction Quiz 40 Questions</a:t>
            </a:r>
          </a:p>
        </p:txBody>
      </p:sp>
      <p:pic>
        <p:nvPicPr>
          <p:cNvPr id="6" name="Picture 5" descr="sh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0" y="91440"/>
            <a:ext cx="1447800" cy="64008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10896" y="1133856"/>
            <a:ext cx="1371600" cy="804672"/>
          </a:xfrm>
          <a:prstGeom prst="rect">
            <a:avLst/>
          </a:prstGeom>
          <a:solidFill>
            <a:srgbClr val="CCE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1097280"/>
            <a:ext cx="1371600" cy="8046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" y="1097280"/>
            <a:ext cx="1371600" cy="256032"/>
          </a:xfrm>
          <a:prstGeom prst="rect">
            <a:avLst/>
          </a:prstGeom>
          <a:solidFill>
            <a:srgbClr val="F0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0040" y="1115568"/>
            <a:ext cx="12801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04D4D"/>
                </a:solidFill>
                <a:latin typeface="Calibri"/>
              </a:rPr>
              <a:t>Q1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1399032"/>
            <a:ext cx="548640" cy="438912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1399032"/>
            <a:ext cx="5486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773936" y="1133856"/>
            <a:ext cx="1371600" cy="804672"/>
          </a:xfrm>
          <a:prstGeom prst="rect">
            <a:avLst/>
          </a:prstGeom>
          <a:solidFill>
            <a:srgbClr val="CCE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737360" y="1097280"/>
            <a:ext cx="1371600" cy="8046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737360" y="1097280"/>
            <a:ext cx="1371600" cy="256032"/>
          </a:xfrm>
          <a:prstGeom prst="rect">
            <a:avLst/>
          </a:prstGeom>
          <a:solidFill>
            <a:srgbClr val="F0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783080" y="1115568"/>
            <a:ext cx="12801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04D4D"/>
                </a:solidFill>
                <a:latin typeface="Calibri"/>
              </a:rPr>
              <a:t>Q2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148840" y="1399032"/>
            <a:ext cx="548640" cy="438912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148840" y="1399032"/>
            <a:ext cx="5486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236976" y="1133856"/>
            <a:ext cx="1371600" cy="804672"/>
          </a:xfrm>
          <a:prstGeom prst="rect">
            <a:avLst/>
          </a:prstGeom>
          <a:solidFill>
            <a:srgbClr val="CCE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200400" y="1097280"/>
            <a:ext cx="1371600" cy="8046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200400" y="1097280"/>
            <a:ext cx="1371600" cy="256032"/>
          </a:xfrm>
          <a:prstGeom prst="rect">
            <a:avLst/>
          </a:prstGeom>
          <a:solidFill>
            <a:srgbClr val="F0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246120" y="1115568"/>
            <a:ext cx="12801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04D4D"/>
                </a:solidFill>
                <a:latin typeface="Calibri"/>
              </a:rPr>
              <a:t>Q3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11880" y="1399032"/>
            <a:ext cx="548640" cy="438912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611880" y="1399032"/>
            <a:ext cx="5486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700016" y="1133856"/>
            <a:ext cx="1371600" cy="804672"/>
          </a:xfrm>
          <a:prstGeom prst="rect">
            <a:avLst/>
          </a:prstGeom>
          <a:solidFill>
            <a:srgbClr val="CCE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663440" y="1097280"/>
            <a:ext cx="1371600" cy="8046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663440" y="1097280"/>
            <a:ext cx="1371600" cy="256032"/>
          </a:xfrm>
          <a:prstGeom prst="rect">
            <a:avLst/>
          </a:prstGeom>
          <a:solidFill>
            <a:srgbClr val="F0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709160" y="1115568"/>
            <a:ext cx="12801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04D4D"/>
                </a:solidFill>
                <a:latin typeface="Calibri"/>
              </a:rPr>
              <a:t>Q4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074920" y="1399032"/>
            <a:ext cx="548640" cy="438912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074920" y="1399032"/>
            <a:ext cx="5486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163056" y="1133856"/>
            <a:ext cx="1371600" cy="804672"/>
          </a:xfrm>
          <a:prstGeom prst="rect">
            <a:avLst/>
          </a:prstGeom>
          <a:solidFill>
            <a:srgbClr val="CCE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126480" y="1097280"/>
            <a:ext cx="1371600" cy="8046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26480" y="1097280"/>
            <a:ext cx="1371600" cy="256032"/>
          </a:xfrm>
          <a:prstGeom prst="rect">
            <a:avLst/>
          </a:prstGeom>
          <a:solidFill>
            <a:srgbClr val="F0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172200" y="1115568"/>
            <a:ext cx="12801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04D4D"/>
                </a:solidFill>
                <a:latin typeface="Calibri"/>
              </a:rPr>
              <a:t>Q5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537960" y="1399032"/>
            <a:ext cx="548640" cy="438912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537960" y="1399032"/>
            <a:ext cx="5486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626096" y="1133856"/>
            <a:ext cx="1371600" cy="804672"/>
          </a:xfrm>
          <a:prstGeom prst="rect">
            <a:avLst/>
          </a:prstGeom>
          <a:solidFill>
            <a:srgbClr val="CCE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589520" y="1097280"/>
            <a:ext cx="1371600" cy="8046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7589520" y="1097280"/>
            <a:ext cx="1371600" cy="256032"/>
          </a:xfrm>
          <a:prstGeom prst="rect">
            <a:avLst/>
          </a:prstGeom>
          <a:solidFill>
            <a:srgbClr val="F0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635240" y="1115568"/>
            <a:ext cx="12801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04D4D"/>
                </a:solidFill>
                <a:latin typeface="Calibri"/>
              </a:rPr>
              <a:t>Q6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001000" y="1399032"/>
            <a:ext cx="548640" cy="438912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001000" y="1399032"/>
            <a:ext cx="5486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43" name="Rectangle 42"/>
          <p:cNvSpPr/>
          <p:nvPr/>
        </p:nvSpPr>
        <p:spPr>
          <a:xfrm>
            <a:off x="9089136" y="1133856"/>
            <a:ext cx="1371600" cy="804672"/>
          </a:xfrm>
          <a:prstGeom prst="rect">
            <a:avLst/>
          </a:prstGeom>
          <a:solidFill>
            <a:srgbClr val="CCE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9052560" y="1097280"/>
            <a:ext cx="1371600" cy="8046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9052560" y="1097280"/>
            <a:ext cx="1371600" cy="256032"/>
          </a:xfrm>
          <a:prstGeom prst="rect">
            <a:avLst/>
          </a:prstGeom>
          <a:solidFill>
            <a:srgbClr val="F0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098280" y="1115568"/>
            <a:ext cx="12801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04D4D"/>
                </a:solidFill>
                <a:latin typeface="Calibri"/>
              </a:rPr>
              <a:t>Q7</a:t>
            </a:r>
          </a:p>
        </p:txBody>
      </p:sp>
      <p:sp>
        <p:nvSpPr>
          <p:cNvPr id="47" name="Rectangle 46"/>
          <p:cNvSpPr/>
          <p:nvPr/>
        </p:nvSpPr>
        <p:spPr>
          <a:xfrm>
            <a:off x="9464040" y="1399032"/>
            <a:ext cx="548640" cy="438912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464040" y="1399032"/>
            <a:ext cx="5486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0552176" y="1133856"/>
            <a:ext cx="1371600" cy="804672"/>
          </a:xfrm>
          <a:prstGeom prst="rect">
            <a:avLst/>
          </a:prstGeom>
          <a:solidFill>
            <a:srgbClr val="CCE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10515600" y="1097280"/>
            <a:ext cx="1371600" cy="8046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10515600" y="1097280"/>
            <a:ext cx="1371600" cy="256032"/>
          </a:xfrm>
          <a:prstGeom prst="rect">
            <a:avLst/>
          </a:prstGeom>
          <a:solidFill>
            <a:srgbClr val="F0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0561320" y="1115568"/>
            <a:ext cx="12801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04D4D"/>
                </a:solidFill>
                <a:latin typeface="Calibri"/>
              </a:rPr>
              <a:t>Q8</a:t>
            </a:r>
          </a:p>
        </p:txBody>
      </p:sp>
      <p:sp>
        <p:nvSpPr>
          <p:cNvPr id="53" name="Rectangle 52"/>
          <p:cNvSpPr/>
          <p:nvPr/>
        </p:nvSpPr>
        <p:spPr>
          <a:xfrm>
            <a:off x="10927080" y="1399032"/>
            <a:ext cx="548640" cy="438912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0927080" y="1399032"/>
            <a:ext cx="5486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55" name="Rectangle 54"/>
          <p:cNvSpPr/>
          <p:nvPr/>
        </p:nvSpPr>
        <p:spPr>
          <a:xfrm>
            <a:off x="310896" y="2093976"/>
            <a:ext cx="1371600" cy="804672"/>
          </a:xfrm>
          <a:prstGeom prst="rect">
            <a:avLst/>
          </a:prstGeom>
          <a:solidFill>
            <a:srgbClr val="CCE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274320" y="2057400"/>
            <a:ext cx="1371600" cy="8046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274320" y="2057400"/>
            <a:ext cx="1371600" cy="256032"/>
          </a:xfrm>
          <a:prstGeom prst="rect">
            <a:avLst/>
          </a:prstGeom>
          <a:solidFill>
            <a:srgbClr val="F0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320040" y="2075688"/>
            <a:ext cx="12801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04D4D"/>
                </a:solidFill>
                <a:latin typeface="Calibri"/>
              </a:rPr>
              <a:t>Q9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85800" y="2359152"/>
            <a:ext cx="548640" cy="438912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85800" y="2359152"/>
            <a:ext cx="5486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61" name="Rectangle 60"/>
          <p:cNvSpPr/>
          <p:nvPr/>
        </p:nvSpPr>
        <p:spPr>
          <a:xfrm>
            <a:off x="1773936" y="2093976"/>
            <a:ext cx="1371600" cy="804672"/>
          </a:xfrm>
          <a:prstGeom prst="rect">
            <a:avLst/>
          </a:prstGeom>
          <a:solidFill>
            <a:srgbClr val="CCE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1737360" y="2057400"/>
            <a:ext cx="1371600" cy="8046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1737360" y="2057400"/>
            <a:ext cx="1371600" cy="256032"/>
          </a:xfrm>
          <a:prstGeom prst="rect">
            <a:avLst/>
          </a:prstGeom>
          <a:solidFill>
            <a:srgbClr val="F0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1783080" y="2075688"/>
            <a:ext cx="12801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04D4D"/>
                </a:solidFill>
                <a:latin typeface="Calibri"/>
              </a:rPr>
              <a:t>Q10</a:t>
            </a:r>
          </a:p>
        </p:txBody>
      </p:sp>
      <p:sp>
        <p:nvSpPr>
          <p:cNvPr id="65" name="Rectangle 64"/>
          <p:cNvSpPr/>
          <p:nvPr/>
        </p:nvSpPr>
        <p:spPr>
          <a:xfrm>
            <a:off x="2148840" y="2359152"/>
            <a:ext cx="548640" cy="438912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2148840" y="2359152"/>
            <a:ext cx="5486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67" name="Rectangle 66"/>
          <p:cNvSpPr/>
          <p:nvPr/>
        </p:nvSpPr>
        <p:spPr>
          <a:xfrm>
            <a:off x="3236976" y="2093976"/>
            <a:ext cx="1371600" cy="804672"/>
          </a:xfrm>
          <a:prstGeom prst="rect">
            <a:avLst/>
          </a:prstGeom>
          <a:solidFill>
            <a:srgbClr val="CCE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3200400" y="2057400"/>
            <a:ext cx="1371600" cy="8046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3200400" y="2057400"/>
            <a:ext cx="1371600" cy="256032"/>
          </a:xfrm>
          <a:prstGeom prst="rect">
            <a:avLst/>
          </a:prstGeom>
          <a:solidFill>
            <a:srgbClr val="F0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3246120" y="2075688"/>
            <a:ext cx="12801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04D4D"/>
                </a:solidFill>
                <a:latin typeface="Calibri"/>
              </a:rPr>
              <a:t>Q11</a:t>
            </a:r>
          </a:p>
        </p:txBody>
      </p:sp>
      <p:sp>
        <p:nvSpPr>
          <p:cNvPr id="71" name="Rectangle 70"/>
          <p:cNvSpPr/>
          <p:nvPr/>
        </p:nvSpPr>
        <p:spPr>
          <a:xfrm>
            <a:off x="3611880" y="2359152"/>
            <a:ext cx="548640" cy="438912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3611880" y="2359152"/>
            <a:ext cx="5486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73" name="Rectangle 72"/>
          <p:cNvSpPr/>
          <p:nvPr/>
        </p:nvSpPr>
        <p:spPr>
          <a:xfrm>
            <a:off x="4700016" y="2093976"/>
            <a:ext cx="1371600" cy="804672"/>
          </a:xfrm>
          <a:prstGeom prst="rect">
            <a:avLst/>
          </a:prstGeom>
          <a:solidFill>
            <a:srgbClr val="CCE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4663440" y="2057400"/>
            <a:ext cx="1371600" cy="8046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4663440" y="2057400"/>
            <a:ext cx="1371600" cy="256032"/>
          </a:xfrm>
          <a:prstGeom prst="rect">
            <a:avLst/>
          </a:prstGeom>
          <a:solidFill>
            <a:srgbClr val="F0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4709160" y="2075688"/>
            <a:ext cx="12801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04D4D"/>
                </a:solidFill>
                <a:latin typeface="Calibri"/>
              </a:rPr>
              <a:t>Q12</a:t>
            </a:r>
          </a:p>
        </p:txBody>
      </p:sp>
      <p:sp>
        <p:nvSpPr>
          <p:cNvPr id="77" name="Rectangle 76"/>
          <p:cNvSpPr/>
          <p:nvPr/>
        </p:nvSpPr>
        <p:spPr>
          <a:xfrm>
            <a:off x="5074920" y="2359152"/>
            <a:ext cx="548640" cy="438912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5074920" y="2359152"/>
            <a:ext cx="5486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79" name="Rectangle 78"/>
          <p:cNvSpPr/>
          <p:nvPr/>
        </p:nvSpPr>
        <p:spPr>
          <a:xfrm>
            <a:off x="6163056" y="2093976"/>
            <a:ext cx="1371600" cy="804672"/>
          </a:xfrm>
          <a:prstGeom prst="rect">
            <a:avLst/>
          </a:prstGeom>
          <a:solidFill>
            <a:srgbClr val="CCE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6126480" y="2057400"/>
            <a:ext cx="1371600" cy="8046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6126480" y="2057400"/>
            <a:ext cx="1371600" cy="256032"/>
          </a:xfrm>
          <a:prstGeom prst="rect">
            <a:avLst/>
          </a:prstGeom>
          <a:solidFill>
            <a:srgbClr val="F0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6172200" y="2075688"/>
            <a:ext cx="12801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04D4D"/>
                </a:solidFill>
                <a:latin typeface="Calibri"/>
              </a:rPr>
              <a:t>Q13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537960" y="2359152"/>
            <a:ext cx="548640" cy="438912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537960" y="2359152"/>
            <a:ext cx="5486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85" name="Rectangle 84"/>
          <p:cNvSpPr/>
          <p:nvPr/>
        </p:nvSpPr>
        <p:spPr>
          <a:xfrm>
            <a:off x="7626096" y="2093976"/>
            <a:ext cx="1371600" cy="804672"/>
          </a:xfrm>
          <a:prstGeom prst="rect">
            <a:avLst/>
          </a:prstGeom>
          <a:solidFill>
            <a:srgbClr val="CCE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7589520" y="2057400"/>
            <a:ext cx="1371600" cy="8046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7589520" y="2057400"/>
            <a:ext cx="1371600" cy="256032"/>
          </a:xfrm>
          <a:prstGeom prst="rect">
            <a:avLst/>
          </a:prstGeom>
          <a:solidFill>
            <a:srgbClr val="F0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7635240" y="2075688"/>
            <a:ext cx="12801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04D4D"/>
                </a:solidFill>
                <a:latin typeface="Calibri"/>
              </a:rPr>
              <a:t>Q14</a:t>
            </a:r>
          </a:p>
        </p:txBody>
      </p:sp>
      <p:sp>
        <p:nvSpPr>
          <p:cNvPr id="89" name="Rectangle 88"/>
          <p:cNvSpPr/>
          <p:nvPr/>
        </p:nvSpPr>
        <p:spPr>
          <a:xfrm>
            <a:off x="8001000" y="2359152"/>
            <a:ext cx="548640" cy="438912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8001000" y="2359152"/>
            <a:ext cx="5486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91" name="Rectangle 90"/>
          <p:cNvSpPr/>
          <p:nvPr/>
        </p:nvSpPr>
        <p:spPr>
          <a:xfrm>
            <a:off x="9089136" y="2093976"/>
            <a:ext cx="1371600" cy="804672"/>
          </a:xfrm>
          <a:prstGeom prst="rect">
            <a:avLst/>
          </a:prstGeom>
          <a:solidFill>
            <a:srgbClr val="CCE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9052560" y="2057400"/>
            <a:ext cx="1371600" cy="8046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9052560" y="2057400"/>
            <a:ext cx="1371600" cy="256032"/>
          </a:xfrm>
          <a:prstGeom prst="rect">
            <a:avLst/>
          </a:prstGeom>
          <a:solidFill>
            <a:srgbClr val="F0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9098280" y="2075688"/>
            <a:ext cx="12801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04D4D"/>
                </a:solidFill>
                <a:latin typeface="Calibri"/>
              </a:rPr>
              <a:t>Q15</a:t>
            </a:r>
          </a:p>
        </p:txBody>
      </p:sp>
      <p:sp>
        <p:nvSpPr>
          <p:cNvPr id="95" name="Rectangle 94"/>
          <p:cNvSpPr/>
          <p:nvPr/>
        </p:nvSpPr>
        <p:spPr>
          <a:xfrm>
            <a:off x="9464040" y="2359152"/>
            <a:ext cx="548640" cy="438912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9464040" y="2359152"/>
            <a:ext cx="5486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97" name="Rectangle 96"/>
          <p:cNvSpPr/>
          <p:nvPr/>
        </p:nvSpPr>
        <p:spPr>
          <a:xfrm>
            <a:off x="10552176" y="2093976"/>
            <a:ext cx="1371600" cy="804672"/>
          </a:xfrm>
          <a:prstGeom prst="rect">
            <a:avLst/>
          </a:prstGeom>
          <a:solidFill>
            <a:srgbClr val="CCE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10515600" y="2057400"/>
            <a:ext cx="1371600" cy="8046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10515600" y="2057400"/>
            <a:ext cx="1371600" cy="256032"/>
          </a:xfrm>
          <a:prstGeom prst="rect">
            <a:avLst/>
          </a:prstGeom>
          <a:solidFill>
            <a:srgbClr val="F0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10561320" y="2075688"/>
            <a:ext cx="12801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04D4D"/>
                </a:solidFill>
                <a:latin typeface="Calibri"/>
              </a:rPr>
              <a:t>Q16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10927080" y="2359152"/>
            <a:ext cx="548640" cy="438912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10927080" y="2359152"/>
            <a:ext cx="5486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310896" y="3054096"/>
            <a:ext cx="1371600" cy="804672"/>
          </a:xfrm>
          <a:prstGeom prst="rect">
            <a:avLst/>
          </a:prstGeom>
          <a:solidFill>
            <a:srgbClr val="CCE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274320" y="3017520"/>
            <a:ext cx="1371600" cy="8046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274320" y="3017520"/>
            <a:ext cx="1371600" cy="256032"/>
          </a:xfrm>
          <a:prstGeom prst="rect">
            <a:avLst/>
          </a:prstGeom>
          <a:solidFill>
            <a:srgbClr val="F0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320040" y="3035808"/>
            <a:ext cx="12801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04D4D"/>
                </a:solidFill>
                <a:latin typeface="Calibri"/>
              </a:rPr>
              <a:t>Q17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685800" y="3319272"/>
            <a:ext cx="548640" cy="438912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685800" y="3319272"/>
            <a:ext cx="5486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1773936" y="3054096"/>
            <a:ext cx="1371600" cy="804672"/>
          </a:xfrm>
          <a:prstGeom prst="rect">
            <a:avLst/>
          </a:prstGeom>
          <a:solidFill>
            <a:srgbClr val="CCE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1737360" y="3017520"/>
            <a:ext cx="1371600" cy="8046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1737360" y="3017520"/>
            <a:ext cx="1371600" cy="256032"/>
          </a:xfrm>
          <a:prstGeom prst="rect">
            <a:avLst/>
          </a:prstGeom>
          <a:solidFill>
            <a:srgbClr val="F0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1783080" y="3035808"/>
            <a:ext cx="12801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04D4D"/>
                </a:solidFill>
                <a:latin typeface="Calibri"/>
              </a:rPr>
              <a:t>Q18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2148840" y="3319272"/>
            <a:ext cx="548640" cy="438912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2148840" y="3319272"/>
            <a:ext cx="5486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3236976" y="3054096"/>
            <a:ext cx="1371600" cy="804672"/>
          </a:xfrm>
          <a:prstGeom prst="rect">
            <a:avLst/>
          </a:prstGeom>
          <a:solidFill>
            <a:srgbClr val="CCE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3200400" y="3017520"/>
            <a:ext cx="1371600" cy="8046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3200400" y="3017520"/>
            <a:ext cx="1371600" cy="256032"/>
          </a:xfrm>
          <a:prstGeom prst="rect">
            <a:avLst/>
          </a:prstGeom>
          <a:solidFill>
            <a:srgbClr val="F0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3246120" y="3035808"/>
            <a:ext cx="12801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04D4D"/>
                </a:solidFill>
                <a:latin typeface="Calibri"/>
              </a:rPr>
              <a:t>Q19</a:t>
            </a:r>
          </a:p>
        </p:txBody>
      </p:sp>
      <p:sp>
        <p:nvSpPr>
          <p:cNvPr id="119" name="Rectangle 118"/>
          <p:cNvSpPr/>
          <p:nvPr/>
        </p:nvSpPr>
        <p:spPr>
          <a:xfrm>
            <a:off x="3611880" y="3319272"/>
            <a:ext cx="548640" cy="438912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3611880" y="3319272"/>
            <a:ext cx="5486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21" name="Rectangle 120"/>
          <p:cNvSpPr/>
          <p:nvPr/>
        </p:nvSpPr>
        <p:spPr>
          <a:xfrm>
            <a:off x="4700016" y="3054096"/>
            <a:ext cx="1371600" cy="804672"/>
          </a:xfrm>
          <a:prstGeom prst="rect">
            <a:avLst/>
          </a:prstGeom>
          <a:solidFill>
            <a:srgbClr val="CCE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Rectangle 121"/>
          <p:cNvSpPr/>
          <p:nvPr/>
        </p:nvSpPr>
        <p:spPr>
          <a:xfrm>
            <a:off x="4663440" y="3017520"/>
            <a:ext cx="1371600" cy="8046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Rectangle 122"/>
          <p:cNvSpPr/>
          <p:nvPr/>
        </p:nvSpPr>
        <p:spPr>
          <a:xfrm>
            <a:off x="4663440" y="3017520"/>
            <a:ext cx="1371600" cy="256032"/>
          </a:xfrm>
          <a:prstGeom prst="rect">
            <a:avLst/>
          </a:prstGeom>
          <a:solidFill>
            <a:srgbClr val="F0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4709160" y="3035808"/>
            <a:ext cx="12801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04D4D"/>
                </a:solidFill>
                <a:latin typeface="Calibri"/>
              </a:rPr>
              <a:t>Q20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5074920" y="3319272"/>
            <a:ext cx="548640" cy="438912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5074920" y="3319272"/>
            <a:ext cx="5486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27" name="Rectangle 126"/>
          <p:cNvSpPr/>
          <p:nvPr/>
        </p:nvSpPr>
        <p:spPr>
          <a:xfrm>
            <a:off x="6163056" y="3054096"/>
            <a:ext cx="1371600" cy="804672"/>
          </a:xfrm>
          <a:prstGeom prst="rect">
            <a:avLst/>
          </a:prstGeom>
          <a:solidFill>
            <a:srgbClr val="CCE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Rectangle 127"/>
          <p:cNvSpPr/>
          <p:nvPr/>
        </p:nvSpPr>
        <p:spPr>
          <a:xfrm>
            <a:off x="6126480" y="3017520"/>
            <a:ext cx="1371600" cy="8046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Rectangle 128"/>
          <p:cNvSpPr/>
          <p:nvPr/>
        </p:nvSpPr>
        <p:spPr>
          <a:xfrm>
            <a:off x="6126480" y="3017520"/>
            <a:ext cx="1371600" cy="256032"/>
          </a:xfrm>
          <a:prstGeom prst="rect">
            <a:avLst/>
          </a:prstGeom>
          <a:solidFill>
            <a:srgbClr val="F0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6172200" y="3035808"/>
            <a:ext cx="12801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04D4D"/>
                </a:solidFill>
                <a:latin typeface="Calibri"/>
              </a:rPr>
              <a:t>Q21</a:t>
            </a:r>
          </a:p>
        </p:txBody>
      </p:sp>
      <p:sp>
        <p:nvSpPr>
          <p:cNvPr id="131" name="Rectangle 130"/>
          <p:cNvSpPr/>
          <p:nvPr/>
        </p:nvSpPr>
        <p:spPr>
          <a:xfrm>
            <a:off x="6537960" y="3319272"/>
            <a:ext cx="548640" cy="438912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TextBox 131"/>
          <p:cNvSpPr txBox="1"/>
          <p:nvPr/>
        </p:nvSpPr>
        <p:spPr>
          <a:xfrm>
            <a:off x="6537960" y="3319272"/>
            <a:ext cx="5486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7626096" y="3054096"/>
            <a:ext cx="1371600" cy="804672"/>
          </a:xfrm>
          <a:prstGeom prst="rect">
            <a:avLst/>
          </a:prstGeom>
          <a:solidFill>
            <a:srgbClr val="CCE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Rectangle 133"/>
          <p:cNvSpPr/>
          <p:nvPr/>
        </p:nvSpPr>
        <p:spPr>
          <a:xfrm>
            <a:off x="7589520" y="3017520"/>
            <a:ext cx="1371600" cy="8046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Rectangle 134"/>
          <p:cNvSpPr/>
          <p:nvPr/>
        </p:nvSpPr>
        <p:spPr>
          <a:xfrm>
            <a:off x="7589520" y="3017520"/>
            <a:ext cx="1371600" cy="256032"/>
          </a:xfrm>
          <a:prstGeom prst="rect">
            <a:avLst/>
          </a:prstGeom>
          <a:solidFill>
            <a:srgbClr val="F0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TextBox 135"/>
          <p:cNvSpPr txBox="1"/>
          <p:nvPr/>
        </p:nvSpPr>
        <p:spPr>
          <a:xfrm>
            <a:off x="7635240" y="3035808"/>
            <a:ext cx="12801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04D4D"/>
                </a:solidFill>
                <a:latin typeface="Calibri"/>
              </a:rPr>
              <a:t>Q22</a:t>
            </a:r>
          </a:p>
        </p:txBody>
      </p:sp>
      <p:sp>
        <p:nvSpPr>
          <p:cNvPr id="137" name="Rectangle 136"/>
          <p:cNvSpPr/>
          <p:nvPr/>
        </p:nvSpPr>
        <p:spPr>
          <a:xfrm>
            <a:off x="8001000" y="3319272"/>
            <a:ext cx="548640" cy="438912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TextBox 137"/>
          <p:cNvSpPr txBox="1"/>
          <p:nvPr/>
        </p:nvSpPr>
        <p:spPr>
          <a:xfrm>
            <a:off x="8001000" y="3319272"/>
            <a:ext cx="5486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9089136" y="3054096"/>
            <a:ext cx="1371600" cy="804672"/>
          </a:xfrm>
          <a:prstGeom prst="rect">
            <a:avLst/>
          </a:prstGeom>
          <a:solidFill>
            <a:srgbClr val="CCE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Rectangle 139"/>
          <p:cNvSpPr/>
          <p:nvPr/>
        </p:nvSpPr>
        <p:spPr>
          <a:xfrm>
            <a:off x="9052560" y="3017520"/>
            <a:ext cx="1371600" cy="8046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Rectangle 140"/>
          <p:cNvSpPr/>
          <p:nvPr/>
        </p:nvSpPr>
        <p:spPr>
          <a:xfrm>
            <a:off x="9052560" y="3017520"/>
            <a:ext cx="1371600" cy="256032"/>
          </a:xfrm>
          <a:prstGeom prst="rect">
            <a:avLst/>
          </a:prstGeom>
          <a:solidFill>
            <a:srgbClr val="F0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9098280" y="3035808"/>
            <a:ext cx="12801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04D4D"/>
                </a:solidFill>
                <a:latin typeface="Calibri"/>
              </a:rPr>
              <a:t>Q23</a:t>
            </a:r>
          </a:p>
        </p:txBody>
      </p:sp>
      <p:sp>
        <p:nvSpPr>
          <p:cNvPr id="143" name="Rectangle 142"/>
          <p:cNvSpPr/>
          <p:nvPr/>
        </p:nvSpPr>
        <p:spPr>
          <a:xfrm>
            <a:off x="9464040" y="3319272"/>
            <a:ext cx="548640" cy="438912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TextBox 143"/>
          <p:cNvSpPr txBox="1"/>
          <p:nvPr/>
        </p:nvSpPr>
        <p:spPr>
          <a:xfrm>
            <a:off x="9464040" y="3319272"/>
            <a:ext cx="5486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45" name="Rectangle 144"/>
          <p:cNvSpPr/>
          <p:nvPr/>
        </p:nvSpPr>
        <p:spPr>
          <a:xfrm>
            <a:off x="10552176" y="3054096"/>
            <a:ext cx="1371600" cy="804672"/>
          </a:xfrm>
          <a:prstGeom prst="rect">
            <a:avLst/>
          </a:prstGeom>
          <a:solidFill>
            <a:srgbClr val="CCE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Rectangle 145"/>
          <p:cNvSpPr/>
          <p:nvPr/>
        </p:nvSpPr>
        <p:spPr>
          <a:xfrm>
            <a:off x="10515600" y="3017520"/>
            <a:ext cx="1371600" cy="8046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Rectangle 146"/>
          <p:cNvSpPr/>
          <p:nvPr/>
        </p:nvSpPr>
        <p:spPr>
          <a:xfrm>
            <a:off x="10515600" y="3017520"/>
            <a:ext cx="1371600" cy="256032"/>
          </a:xfrm>
          <a:prstGeom prst="rect">
            <a:avLst/>
          </a:prstGeom>
          <a:solidFill>
            <a:srgbClr val="F0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TextBox 147"/>
          <p:cNvSpPr txBox="1"/>
          <p:nvPr/>
        </p:nvSpPr>
        <p:spPr>
          <a:xfrm>
            <a:off x="10561320" y="3035808"/>
            <a:ext cx="12801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04D4D"/>
                </a:solidFill>
                <a:latin typeface="Calibri"/>
              </a:rPr>
              <a:t>Q24</a:t>
            </a:r>
          </a:p>
        </p:txBody>
      </p:sp>
      <p:sp>
        <p:nvSpPr>
          <p:cNvPr id="149" name="Rectangle 148"/>
          <p:cNvSpPr/>
          <p:nvPr/>
        </p:nvSpPr>
        <p:spPr>
          <a:xfrm>
            <a:off x="10927080" y="3319272"/>
            <a:ext cx="548640" cy="438912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10927080" y="3319272"/>
            <a:ext cx="5486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51" name="Rectangle 150"/>
          <p:cNvSpPr/>
          <p:nvPr/>
        </p:nvSpPr>
        <p:spPr>
          <a:xfrm>
            <a:off x="310896" y="4014216"/>
            <a:ext cx="1371600" cy="804672"/>
          </a:xfrm>
          <a:prstGeom prst="rect">
            <a:avLst/>
          </a:prstGeom>
          <a:solidFill>
            <a:srgbClr val="CCE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Rectangle 151"/>
          <p:cNvSpPr/>
          <p:nvPr/>
        </p:nvSpPr>
        <p:spPr>
          <a:xfrm>
            <a:off x="274320" y="3977640"/>
            <a:ext cx="1371600" cy="8046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Rectangle 152"/>
          <p:cNvSpPr/>
          <p:nvPr/>
        </p:nvSpPr>
        <p:spPr>
          <a:xfrm>
            <a:off x="274320" y="3977640"/>
            <a:ext cx="1371600" cy="256032"/>
          </a:xfrm>
          <a:prstGeom prst="rect">
            <a:avLst/>
          </a:prstGeom>
          <a:solidFill>
            <a:srgbClr val="F0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TextBox 153"/>
          <p:cNvSpPr txBox="1"/>
          <p:nvPr/>
        </p:nvSpPr>
        <p:spPr>
          <a:xfrm>
            <a:off x="320040" y="3995928"/>
            <a:ext cx="12801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04D4D"/>
                </a:solidFill>
                <a:latin typeface="Calibri"/>
              </a:rPr>
              <a:t>Q25</a:t>
            </a:r>
          </a:p>
        </p:txBody>
      </p:sp>
      <p:sp>
        <p:nvSpPr>
          <p:cNvPr id="155" name="Rectangle 154"/>
          <p:cNvSpPr/>
          <p:nvPr/>
        </p:nvSpPr>
        <p:spPr>
          <a:xfrm>
            <a:off x="685800" y="4279392"/>
            <a:ext cx="548640" cy="438912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TextBox 155"/>
          <p:cNvSpPr txBox="1"/>
          <p:nvPr/>
        </p:nvSpPr>
        <p:spPr>
          <a:xfrm>
            <a:off x="685800" y="4279392"/>
            <a:ext cx="5486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57" name="Rectangle 156"/>
          <p:cNvSpPr/>
          <p:nvPr/>
        </p:nvSpPr>
        <p:spPr>
          <a:xfrm>
            <a:off x="1773936" y="4014216"/>
            <a:ext cx="1371600" cy="804672"/>
          </a:xfrm>
          <a:prstGeom prst="rect">
            <a:avLst/>
          </a:prstGeom>
          <a:solidFill>
            <a:srgbClr val="CCE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Rectangle 157"/>
          <p:cNvSpPr/>
          <p:nvPr/>
        </p:nvSpPr>
        <p:spPr>
          <a:xfrm>
            <a:off x="1737360" y="3977640"/>
            <a:ext cx="1371600" cy="8046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Rectangle 158"/>
          <p:cNvSpPr/>
          <p:nvPr/>
        </p:nvSpPr>
        <p:spPr>
          <a:xfrm>
            <a:off x="1737360" y="3977640"/>
            <a:ext cx="1371600" cy="256032"/>
          </a:xfrm>
          <a:prstGeom prst="rect">
            <a:avLst/>
          </a:prstGeom>
          <a:solidFill>
            <a:srgbClr val="F0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1783080" y="3995928"/>
            <a:ext cx="12801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04D4D"/>
                </a:solidFill>
                <a:latin typeface="Calibri"/>
              </a:rPr>
              <a:t>Q26</a:t>
            </a:r>
          </a:p>
        </p:txBody>
      </p:sp>
      <p:sp>
        <p:nvSpPr>
          <p:cNvPr id="161" name="Rectangle 160"/>
          <p:cNvSpPr/>
          <p:nvPr/>
        </p:nvSpPr>
        <p:spPr>
          <a:xfrm>
            <a:off x="2148840" y="4279392"/>
            <a:ext cx="548640" cy="438912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TextBox 161"/>
          <p:cNvSpPr txBox="1"/>
          <p:nvPr/>
        </p:nvSpPr>
        <p:spPr>
          <a:xfrm>
            <a:off x="2148840" y="4279392"/>
            <a:ext cx="5486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3236976" y="4014216"/>
            <a:ext cx="1371600" cy="804672"/>
          </a:xfrm>
          <a:prstGeom prst="rect">
            <a:avLst/>
          </a:prstGeom>
          <a:solidFill>
            <a:srgbClr val="CCE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Rectangle 163"/>
          <p:cNvSpPr/>
          <p:nvPr/>
        </p:nvSpPr>
        <p:spPr>
          <a:xfrm>
            <a:off x="3200400" y="3977640"/>
            <a:ext cx="1371600" cy="8046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Rectangle 164"/>
          <p:cNvSpPr/>
          <p:nvPr/>
        </p:nvSpPr>
        <p:spPr>
          <a:xfrm>
            <a:off x="3200400" y="3977640"/>
            <a:ext cx="1371600" cy="256032"/>
          </a:xfrm>
          <a:prstGeom prst="rect">
            <a:avLst/>
          </a:prstGeom>
          <a:solidFill>
            <a:srgbClr val="F0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3246120" y="3995928"/>
            <a:ext cx="12801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04D4D"/>
                </a:solidFill>
                <a:latin typeface="Calibri"/>
              </a:rPr>
              <a:t>Q27</a:t>
            </a:r>
          </a:p>
        </p:txBody>
      </p:sp>
      <p:sp>
        <p:nvSpPr>
          <p:cNvPr id="167" name="Rectangle 166"/>
          <p:cNvSpPr/>
          <p:nvPr/>
        </p:nvSpPr>
        <p:spPr>
          <a:xfrm>
            <a:off x="3611880" y="4279392"/>
            <a:ext cx="548640" cy="438912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3611880" y="4279392"/>
            <a:ext cx="5486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4700016" y="4014216"/>
            <a:ext cx="1371600" cy="804672"/>
          </a:xfrm>
          <a:prstGeom prst="rect">
            <a:avLst/>
          </a:prstGeom>
          <a:solidFill>
            <a:srgbClr val="CCE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Rectangle 169"/>
          <p:cNvSpPr/>
          <p:nvPr/>
        </p:nvSpPr>
        <p:spPr>
          <a:xfrm>
            <a:off x="4663440" y="3977640"/>
            <a:ext cx="1371600" cy="8046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Rectangle 170"/>
          <p:cNvSpPr/>
          <p:nvPr/>
        </p:nvSpPr>
        <p:spPr>
          <a:xfrm>
            <a:off x="4663440" y="3977640"/>
            <a:ext cx="1371600" cy="256032"/>
          </a:xfrm>
          <a:prstGeom prst="rect">
            <a:avLst/>
          </a:prstGeom>
          <a:solidFill>
            <a:srgbClr val="F0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709160" y="3995928"/>
            <a:ext cx="12801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04D4D"/>
                </a:solidFill>
                <a:latin typeface="Calibri"/>
              </a:rPr>
              <a:t>Q28</a:t>
            </a:r>
          </a:p>
        </p:txBody>
      </p:sp>
      <p:sp>
        <p:nvSpPr>
          <p:cNvPr id="173" name="Rectangle 172"/>
          <p:cNvSpPr/>
          <p:nvPr/>
        </p:nvSpPr>
        <p:spPr>
          <a:xfrm>
            <a:off x="5074920" y="4279392"/>
            <a:ext cx="548640" cy="438912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TextBox 173"/>
          <p:cNvSpPr txBox="1"/>
          <p:nvPr/>
        </p:nvSpPr>
        <p:spPr>
          <a:xfrm>
            <a:off x="5074920" y="4279392"/>
            <a:ext cx="5486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75" name="Rectangle 174"/>
          <p:cNvSpPr/>
          <p:nvPr/>
        </p:nvSpPr>
        <p:spPr>
          <a:xfrm>
            <a:off x="6163056" y="4014216"/>
            <a:ext cx="1371600" cy="804672"/>
          </a:xfrm>
          <a:prstGeom prst="rect">
            <a:avLst/>
          </a:prstGeom>
          <a:solidFill>
            <a:srgbClr val="CCE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Rectangle 175"/>
          <p:cNvSpPr/>
          <p:nvPr/>
        </p:nvSpPr>
        <p:spPr>
          <a:xfrm>
            <a:off x="6126480" y="3977640"/>
            <a:ext cx="1371600" cy="8046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Rectangle 176"/>
          <p:cNvSpPr/>
          <p:nvPr/>
        </p:nvSpPr>
        <p:spPr>
          <a:xfrm>
            <a:off x="6126480" y="3977640"/>
            <a:ext cx="1371600" cy="256032"/>
          </a:xfrm>
          <a:prstGeom prst="rect">
            <a:avLst/>
          </a:prstGeom>
          <a:solidFill>
            <a:srgbClr val="F0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TextBox 177"/>
          <p:cNvSpPr txBox="1"/>
          <p:nvPr/>
        </p:nvSpPr>
        <p:spPr>
          <a:xfrm>
            <a:off x="6172200" y="3995928"/>
            <a:ext cx="12801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04D4D"/>
                </a:solidFill>
                <a:latin typeface="Calibri"/>
              </a:rPr>
              <a:t>Q29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6537960" y="4279392"/>
            <a:ext cx="548640" cy="438912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6537960" y="4279392"/>
            <a:ext cx="5486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81" name="Rectangle 180"/>
          <p:cNvSpPr/>
          <p:nvPr/>
        </p:nvSpPr>
        <p:spPr>
          <a:xfrm>
            <a:off x="7626096" y="4014216"/>
            <a:ext cx="1371600" cy="804672"/>
          </a:xfrm>
          <a:prstGeom prst="rect">
            <a:avLst/>
          </a:prstGeom>
          <a:solidFill>
            <a:srgbClr val="CCE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Rectangle 181"/>
          <p:cNvSpPr/>
          <p:nvPr/>
        </p:nvSpPr>
        <p:spPr>
          <a:xfrm>
            <a:off x="7589520" y="3977640"/>
            <a:ext cx="1371600" cy="8046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Rectangle 182"/>
          <p:cNvSpPr/>
          <p:nvPr/>
        </p:nvSpPr>
        <p:spPr>
          <a:xfrm>
            <a:off x="7589520" y="3977640"/>
            <a:ext cx="1371600" cy="256032"/>
          </a:xfrm>
          <a:prstGeom prst="rect">
            <a:avLst/>
          </a:prstGeom>
          <a:solidFill>
            <a:srgbClr val="F0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TextBox 183"/>
          <p:cNvSpPr txBox="1"/>
          <p:nvPr/>
        </p:nvSpPr>
        <p:spPr>
          <a:xfrm>
            <a:off x="7635240" y="3995928"/>
            <a:ext cx="12801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04D4D"/>
                </a:solidFill>
                <a:latin typeface="Calibri"/>
              </a:rPr>
              <a:t>Q30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8001000" y="4279392"/>
            <a:ext cx="548640" cy="438912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8001000" y="4279392"/>
            <a:ext cx="5486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87" name="Rectangle 186"/>
          <p:cNvSpPr/>
          <p:nvPr/>
        </p:nvSpPr>
        <p:spPr>
          <a:xfrm>
            <a:off x="9089136" y="4014216"/>
            <a:ext cx="1371600" cy="804672"/>
          </a:xfrm>
          <a:prstGeom prst="rect">
            <a:avLst/>
          </a:prstGeom>
          <a:solidFill>
            <a:srgbClr val="CCE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Rectangle 187"/>
          <p:cNvSpPr/>
          <p:nvPr/>
        </p:nvSpPr>
        <p:spPr>
          <a:xfrm>
            <a:off x="9052560" y="3977640"/>
            <a:ext cx="1371600" cy="8046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Rectangle 188"/>
          <p:cNvSpPr/>
          <p:nvPr/>
        </p:nvSpPr>
        <p:spPr>
          <a:xfrm>
            <a:off x="9052560" y="3977640"/>
            <a:ext cx="1371600" cy="256032"/>
          </a:xfrm>
          <a:prstGeom prst="rect">
            <a:avLst/>
          </a:prstGeom>
          <a:solidFill>
            <a:srgbClr val="F0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TextBox 189"/>
          <p:cNvSpPr txBox="1"/>
          <p:nvPr/>
        </p:nvSpPr>
        <p:spPr>
          <a:xfrm>
            <a:off x="9098280" y="3995928"/>
            <a:ext cx="12801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04D4D"/>
                </a:solidFill>
                <a:latin typeface="Calibri"/>
              </a:rPr>
              <a:t>Q31</a:t>
            </a:r>
          </a:p>
        </p:txBody>
      </p:sp>
      <p:sp>
        <p:nvSpPr>
          <p:cNvPr id="191" name="Rectangle 190"/>
          <p:cNvSpPr/>
          <p:nvPr/>
        </p:nvSpPr>
        <p:spPr>
          <a:xfrm>
            <a:off x="9464040" y="4279392"/>
            <a:ext cx="548640" cy="438912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TextBox 191"/>
          <p:cNvSpPr txBox="1"/>
          <p:nvPr/>
        </p:nvSpPr>
        <p:spPr>
          <a:xfrm>
            <a:off x="9464040" y="4279392"/>
            <a:ext cx="5486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193" name="Rectangle 192"/>
          <p:cNvSpPr/>
          <p:nvPr/>
        </p:nvSpPr>
        <p:spPr>
          <a:xfrm>
            <a:off x="10552176" y="4014216"/>
            <a:ext cx="1371600" cy="804672"/>
          </a:xfrm>
          <a:prstGeom prst="rect">
            <a:avLst/>
          </a:prstGeom>
          <a:solidFill>
            <a:srgbClr val="CCE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Rectangle 193"/>
          <p:cNvSpPr/>
          <p:nvPr/>
        </p:nvSpPr>
        <p:spPr>
          <a:xfrm>
            <a:off x="10515600" y="3977640"/>
            <a:ext cx="1371600" cy="8046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Rectangle 194"/>
          <p:cNvSpPr/>
          <p:nvPr/>
        </p:nvSpPr>
        <p:spPr>
          <a:xfrm>
            <a:off x="10515600" y="3977640"/>
            <a:ext cx="1371600" cy="256032"/>
          </a:xfrm>
          <a:prstGeom prst="rect">
            <a:avLst/>
          </a:prstGeom>
          <a:solidFill>
            <a:srgbClr val="F0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TextBox 195"/>
          <p:cNvSpPr txBox="1"/>
          <p:nvPr/>
        </p:nvSpPr>
        <p:spPr>
          <a:xfrm>
            <a:off x="10561320" y="3995928"/>
            <a:ext cx="12801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04D4D"/>
                </a:solidFill>
                <a:latin typeface="Calibri"/>
              </a:rPr>
              <a:t>Q32</a:t>
            </a:r>
          </a:p>
        </p:txBody>
      </p:sp>
      <p:sp>
        <p:nvSpPr>
          <p:cNvPr id="197" name="Rectangle 196"/>
          <p:cNvSpPr/>
          <p:nvPr/>
        </p:nvSpPr>
        <p:spPr>
          <a:xfrm>
            <a:off x="10927080" y="4279392"/>
            <a:ext cx="548640" cy="438912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TextBox 197"/>
          <p:cNvSpPr txBox="1"/>
          <p:nvPr/>
        </p:nvSpPr>
        <p:spPr>
          <a:xfrm>
            <a:off x="10927080" y="4279392"/>
            <a:ext cx="5486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9" name="Rectangle 198"/>
          <p:cNvSpPr/>
          <p:nvPr/>
        </p:nvSpPr>
        <p:spPr>
          <a:xfrm>
            <a:off x="310896" y="4974336"/>
            <a:ext cx="1371600" cy="804672"/>
          </a:xfrm>
          <a:prstGeom prst="rect">
            <a:avLst/>
          </a:prstGeom>
          <a:solidFill>
            <a:srgbClr val="CCE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Rectangle 199"/>
          <p:cNvSpPr/>
          <p:nvPr/>
        </p:nvSpPr>
        <p:spPr>
          <a:xfrm>
            <a:off x="274320" y="4937760"/>
            <a:ext cx="1371600" cy="8046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Rectangle 200"/>
          <p:cNvSpPr/>
          <p:nvPr/>
        </p:nvSpPr>
        <p:spPr>
          <a:xfrm>
            <a:off x="274320" y="4937760"/>
            <a:ext cx="1371600" cy="256032"/>
          </a:xfrm>
          <a:prstGeom prst="rect">
            <a:avLst/>
          </a:prstGeom>
          <a:solidFill>
            <a:srgbClr val="F0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TextBox 201"/>
          <p:cNvSpPr txBox="1"/>
          <p:nvPr/>
        </p:nvSpPr>
        <p:spPr>
          <a:xfrm>
            <a:off x="320040" y="4956048"/>
            <a:ext cx="12801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04D4D"/>
                </a:solidFill>
                <a:latin typeface="Calibri"/>
              </a:rPr>
              <a:t>Q33</a:t>
            </a:r>
          </a:p>
        </p:txBody>
      </p:sp>
      <p:sp>
        <p:nvSpPr>
          <p:cNvPr id="203" name="Rectangle 202"/>
          <p:cNvSpPr/>
          <p:nvPr/>
        </p:nvSpPr>
        <p:spPr>
          <a:xfrm>
            <a:off x="685800" y="5239512"/>
            <a:ext cx="548640" cy="438912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TextBox 203"/>
          <p:cNvSpPr txBox="1"/>
          <p:nvPr/>
        </p:nvSpPr>
        <p:spPr>
          <a:xfrm>
            <a:off x="685800" y="5239512"/>
            <a:ext cx="5486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205" name="Rectangle 204"/>
          <p:cNvSpPr/>
          <p:nvPr/>
        </p:nvSpPr>
        <p:spPr>
          <a:xfrm>
            <a:off x="1773936" y="4974336"/>
            <a:ext cx="1371600" cy="804672"/>
          </a:xfrm>
          <a:prstGeom prst="rect">
            <a:avLst/>
          </a:prstGeom>
          <a:solidFill>
            <a:srgbClr val="CCE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Rectangle 205"/>
          <p:cNvSpPr/>
          <p:nvPr/>
        </p:nvSpPr>
        <p:spPr>
          <a:xfrm>
            <a:off x="1737360" y="4937760"/>
            <a:ext cx="1371600" cy="8046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Rectangle 206"/>
          <p:cNvSpPr/>
          <p:nvPr/>
        </p:nvSpPr>
        <p:spPr>
          <a:xfrm>
            <a:off x="1737360" y="4937760"/>
            <a:ext cx="1371600" cy="256032"/>
          </a:xfrm>
          <a:prstGeom prst="rect">
            <a:avLst/>
          </a:prstGeom>
          <a:solidFill>
            <a:srgbClr val="F0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TextBox 207"/>
          <p:cNvSpPr txBox="1"/>
          <p:nvPr/>
        </p:nvSpPr>
        <p:spPr>
          <a:xfrm>
            <a:off x="1783080" y="4956048"/>
            <a:ext cx="12801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04D4D"/>
                </a:solidFill>
                <a:latin typeface="Calibri"/>
              </a:rPr>
              <a:t>Q34</a:t>
            </a:r>
          </a:p>
        </p:txBody>
      </p:sp>
      <p:sp>
        <p:nvSpPr>
          <p:cNvPr id="209" name="Rectangle 208"/>
          <p:cNvSpPr/>
          <p:nvPr/>
        </p:nvSpPr>
        <p:spPr>
          <a:xfrm>
            <a:off x="2148840" y="5239512"/>
            <a:ext cx="548640" cy="438912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TextBox 209"/>
          <p:cNvSpPr txBox="1"/>
          <p:nvPr/>
        </p:nvSpPr>
        <p:spPr>
          <a:xfrm>
            <a:off x="2148840" y="5239512"/>
            <a:ext cx="5486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211" name="Rectangle 210"/>
          <p:cNvSpPr/>
          <p:nvPr/>
        </p:nvSpPr>
        <p:spPr>
          <a:xfrm>
            <a:off x="3236976" y="4974336"/>
            <a:ext cx="1371600" cy="804672"/>
          </a:xfrm>
          <a:prstGeom prst="rect">
            <a:avLst/>
          </a:prstGeom>
          <a:solidFill>
            <a:srgbClr val="CCE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Rectangle 211"/>
          <p:cNvSpPr/>
          <p:nvPr/>
        </p:nvSpPr>
        <p:spPr>
          <a:xfrm>
            <a:off x="3200400" y="4937760"/>
            <a:ext cx="1371600" cy="8046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Rectangle 212"/>
          <p:cNvSpPr/>
          <p:nvPr/>
        </p:nvSpPr>
        <p:spPr>
          <a:xfrm>
            <a:off x="3200400" y="4937760"/>
            <a:ext cx="1371600" cy="256032"/>
          </a:xfrm>
          <a:prstGeom prst="rect">
            <a:avLst/>
          </a:prstGeom>
          <a:solidFill>
            <a:srgbClr val="F0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TextBox 213"/>
          <p:cNvSpPr txBox="1"/>
          <p:nvPr/>
        </p:nvSpPr>
        <p:spPr>
          <a:xfrm>
            <a:off x="3246120" y="4956048"/>
            <a:ext cx="12801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04D4D"/>
                </a:solidFill>
                <a:latin typeface="Calibri"/>
              </a:rPr>
              <a:t>Q35</a:t>
            </a:r>
          </a:p>
        </p:txBody>
      </p:sp>
      <p:sp>
        <p:nvSpPr>
          <p:cNvPr id="215" name="Rectangle 214"/>
          <p:cNvSpPr/>
          <p:nvPr/>
        </p:nvSpPr>
        <p:spPr>
          <a:xfrm>
            <a:off x="3611880" y="5239512"/>
            <a:ext cx="548640" cy="438912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TextBox 215"/>
          <p:cNvSpPr txBox="1"/>
          <p:nvPr/>
        </p:nvSpPr>
        <p:spPr>
          <a:xfrm>
            <a:off x="3611880" y="5239512"/>
            <a:ext cx="5486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217" name="Rectangle 216"/>
          <p:cNvSpPr/>
          <p:nvPr/>
        </p:nvSpPr>
        <p:spPr>
          <a:xfrm>
            <a:off x="4700016" y="4974336"/>
            <a:ext cx="1371600" cy="804672"/>
          </a:xfrm>
          <a:prstGeom prst="rect">
            <a:avLst/>
          </a:prstGeom>
          <a:solidFill>
            <a:srgbClr val="CCE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Rectangle 217"/>
          <p:cNvSpPr/>
          <p:nvPr/>
        </p:nvSpPr>
        <p:spPr>
          <a:xfrm>
            <a:off x="4663440" y="4937760"/>
            <a:ext cx="1371600" cy="8046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Rectangle 218"/>
          <p:cNvSpPr/>
          <p:nvPr/>
        </p:nvSpPr>
        <p:spPr>
          <a:xfrm>
            <a:off x="4663440" y="4937760"/>
            <a:ext cx="1371600" cy="256032"/>
          </a:xfrm>
          <a:prstGeom prst="rect">
            <a:avLst/>
          </a:prstGeom>
          <a:solidFill>
            <a:srgbClr val="F0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TextBox 219"/>
          <p:cNvSpPr txBox="1"/>
          <p:nvPr/>
        </p:nvSpPr>
        <p:spPr>
          <a:xfrm>
            <a:off x="4709160" y="4956048"/>
            <a:ext cx="12801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04D4D"/>
                </a:solidFill>
                <a:latin typeface="Calibri"/>
              </a:rPr>
              <a:t>Q36</a:t>
            </a:r>
          </a:p>
        </p:txBody>
      </p:sp>
      <p:sp>
        <p:nvSpPr>
          <p:cNvPr id="221" name="Rectangle 220"/>
          <p:cNvSpPr/>
          <p:nvPr/>
        </p:nvSpPr>
        <p:spPr>
          <a:xfrm>
            <a:off x="5074920" y="5239512"/>
            <a:ext cx="548640" cy="438912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TextBox 221"/>
          <p:cNvSpPr txBox="1"/>
          <p:nvPr/>
        </p:nvSpPr>
        <p:spPr>
          <a:xfrm>
            <a:off x="5074920" y="5239512"/>
            <a:ext cx="5486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223" name="Rectangle 222"/>
          <p:cNvSpPr/>
          <p:nvPr/>
        </p:nvSpPr>
        <p:spPr>
          <a:xfrm>
            <a:off x="6163056" y="4974336"/>
            <a:ext cx="1371600" cy="804672"/>
          </a:xfrm>
          <a:prstGeom prst="rect">
            <a:avLst/>
          </a:prstGeom>
          <a:solidFill>
            <a:srgbClr val="CCE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Rectangle 223"/>
          <p:cNvSpPr/>
          <p:nvPr/>
        </p:nvSpPr>
        <p:spPr>
          <a:xfrm>
            <a:off x="6126480" y="4937760"/>
            <a:ext cx="1371600" cy="8046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Rectangle 224"/>
          <p:cNvSpPr/>
          <p:nvPr/>
        </p:nvSpPr>
        <p:spPr>
          <a:xfrm>
            <a:off x="6126480" y="4937760"/>
            <a:ext cx="1371600" cy="256032"/>
          </a:xfrm>
          <a:prstGeom prst="rect">
            <a:avLst/>
          </a:prstGeom>
          <a:solidFill>
            <a:srgbClr val="F0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TextBox 225"/>
          <p:cNvSpPr txBox="1"/>
          <p:nvPr/>
        </p:nvSpPr>
        <p:spPr>
          <a:xfrm>
            <a:off x="6172200" y="4956048"/>
            <a:ext cx="12801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04D4D"/>
                </a:solidFill>
                <a:latin typeface="Calibri"/>
              </a:rPr>
              <a:t>Q37</a:t>
            </a:r>
          </a:p>
        </p:txBody>
      </p:sp>
      <p:sp>
        <p:nvSpPr>
          <p:cNvPr id="227" name="Rectangle 226"/>
          <p:cNvSpPr/>
          <p:nvPr/>
        </p:nvSpPr>
        <p:spPr>
          <a:xfrm>
            <a:off x="6537960" y="5239512"/>
            <a:ext cx="548640" cy="438912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TextBox 227"/>
          <p:cNvSpPr txBox="1"/>
          <p:nvPr/>
        </p:nvSpPr>
        <p:spPr>
          <a:xfrm>
            <a:off x="6537960" y="5239512"/>
            <a:ext cx="5486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229" name="Rectangle 228"/>
          <p:cNvSpPr/>
          <p:nvPr/>
        </p:nvSpPr>
        <p:spPr>
          <a:xfrm>
            <a:off x="7626096" y="4974336"/>
            <a:ext cx="1371600" cy="804672"/>
          </a:xfrm>
          <a:prstGeom prst="rect">
            <a:avLst/>
          </a:prstGeom>
          <a:solidFill>
            <a:srgbClr val="CCE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Rectangle 229"/>
          <p:cNvSpPr/>
          <p:nvPr/>
        </p:nvSpPr>
        <p:spPr>
          <a:xfrm>
            <a:off x="7589520" y="4937760"/>
            <a:ext cx="1371600" cy="8046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Rectangle 230"/>
          <p:cNvSpPr/>
          <p:nvPr/>
        </p:nvSpPr>
        <p:spPr>
          <a:xfrm>
            <a:off x="7589520" y="4937760"/>
            <a:ext cx="1371600" cy="256032"/>
          </a:xfrm>
          <a:prstGeom prst="rect">
            <a:avLst/>
          </a:prstGeom>
          <a:solidFill>
            <a:srgbClr val="F0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TextBox 231"/>
          <p:cNvSpPr txBox="1"/>
          <p:nvPr/>
        </p:nvSpPr>
        <p:spPr>
          <a:xfrm>
            <a:off x="7635240" y="4956048"/>
            <a:ext cx="12801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04D4D"/>
                </a:solidFill>
                <a:latin typeface="Calibri"/>
              </a:rPr>
              <a:t>Q38</a:t>
            </a:r>
          </a:p>
        </p:txBody>
      </p:sp>
      <p:sp>
        <p:nvSpPr>
          <p:cNvPr id="233" name="Rectangle 232"/>
          <p:cNvSpPr/>
          <p:nvPr/>
        </p:nvSpPr>
        <p:spPr>
          <a:xfrm>
            <a:off x="8001000" y="5239512"/>
            <a:ext cx="548640" cy="438912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" name="TextBox 233"/>
          <p:cNvSpPr txBox="1"/>
          <p:nvPr/>
        </p:nvSpPr>
        <p:spPr>
          <a:xfrm>
            <a:off x="8001000" y="5239512"/>
            <a:ext cx="5486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235" name="Rectangle 234"/>
          <p:cNvSpPr/>
          <p:nvPr/>
        </p:nvSpPr>
        <p:spPr>
          <a:xfrm>
            <a:off x="9089136" y="4974336"/>
            <a:ext cx="1371600" cy="804672"/>
          </a:xfrm>
          <a:prstGeom prst="rect">
            <a:avLst/>
          </a:prstGeom>
          <a:solidFill>
            <a:srgbClr val="CCE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" name="Rectangle 235"/>
          <p:cNvSpPr/>
          <p:nvPr/>
        </p:nvSpPr>
        <p:spPr>
          <a:xfrm>
            <a:off x="9052560" y="4937760"/>
            <a:ext cx="1371600" cy="8046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Rectangle 236"/>
          <p:cNvSpPr/>
          <p:nvPr/>
        </p:nvSpPr>
        <p:spPr>
          <a:xfrm>
            <a:off x="9052560" y="4937760"/>
            <a:ext cx="1371600" cy="256032"/>
          </a:xfrm>
          <a:prstGeom prst="rect">
            <a:avLst/>
          </a:prstGeom>
          <a:solidFill>
            <a:srgbClr val="F0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" name="TextBox 237"/>
          <p:cNvSpPr txBox="1"/>
          <p:nvPr/>
        </p:nvSpPr>
        <p:spPr>
          <a:xfrm>
            <a:off x="9098280" y="4956048"/>
            <a:ext cx="12801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04D4D"/>
                </a:solidFill>
                <a:latin typeface="Calibri"/>
              </a:rPr>
              <a:t>Q39</a:t>
            </a:r>
          </a:p>
        </p:txBody>
      </p:sp>
      <p:sp>
        <p:nvSpPr>
          <p:cNvPr id="239" name="Rectangle 238"/>
          <p:cNvSpPr/>
          <p:nvPr/>
        </p:nvSpPr>
        <p:spPr>
          <a:xfrm>
            <a:off x="9464040" y="5239512"/>
            <a:ext cx="548640" cy="438912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" name="TextBox 239"/>
          <p:cNvSpPr txBox="1"/>
          <p:nvPr/>
        </p:nvSpPr>
        <p:spPr>
          <a:xfrm>
            <a:off x="9464040" y="5239512"/>
            <a:ext cx="5486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241" name="Rectangle 240"/>
          <p:cNvSpPr/>
          <p:nvPr/>
        </p:nvSpPr>
        <p:spPr>
          <a:xfrm>
            <a:off x="10552176" y="4974336"/>
            <a:ext cx="1371600" cy="804672"/>
          </a:xfrm>
          <a:prstGeom prst="rect">
            <a:avLst/>
          </a:prstGeom>
          <a:solidFill>
            <a:srgbClr val="CCE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" name="Rectangle 241"/>
          <p:cNvSpPr/>
          <p:nvPr/>
        </p:nvSpPr>
        <p:spPr>
          <a:xfrm>
            <a:off x="10515600" y="4937760"/>
            <a:ext cx="1371600" cy="8046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Rectangle 242"/>
          <p:cNvSpPr/>
          <p:nvPr/>
        </p:nvSpPr>
        <p:spPr>
          <a:xfrm>
            <a:off x="10515600" y="4937760"/>
            <a:ext cx="1371600" cy="256032"/>
          </a:xfrm>
          <a:prstGeom prst="rect">
            <a:avLst/>
          </a:prstGeom>
          <a:solidFill>
            <a:srgbClr val="F0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" name="TextBox 243"/>
          <p:cNvSpPr txBox="1"/>
          <p:nvPr/>
        </p:nvSpPr>
        <p:spPr>
          <a:xfrm>
            <a:off x="10561320" y="4956048"/>
            <a:ext cx="12801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04D4D"/>
                </a:solidFill>
                <a:latin typeface="Calibri"/>
              </a:rPr>
              <a:t>Q40</a:t>
            </a:r>
          </a:p>
        </p:txBody>
      </p:sp>
      <p:sp>
        <p:nvSpPr>
          <p:cNvPr id="245" name="Rectangle 244"/>
          <p:cNvSpPr/>
          <p:nvPr/>
        </p:nvSpPr>
        <p:spPr>
          <a:xfrm>
            <a:off x="10927080" y="5239512"/>
            <a:ext cx="548640" cy="438912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TextBox 245"/>
          <p:cNvSpPr txBox="1"/>
          <p:nvPr/>
        </p:nvSpPr>
        <p:spPr>
          <a:xfrm>
            <a:off x="10927080" y="5239512"/>
            <a:ext cx="5486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247" name="Rectangle 246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004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TextBox 247"/>
          <p:cNvSpPr txBox="1"/>
          <p:nvPr/>
        </p:nvSpPr>
        <p:spPr>
          <a:xfrm>
            <a:off x="274320" y="6199632"/>
            <a:ext cx="11612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SHY-Performance  ×  FIDELIS  ×  UNICEF France</a:t>
            </a:r>
          </a:p>
        </p:txBody>
      </p:sp>
      <p:sp>
        <p:nvSpPr>
          <p:cNvPr id="249" name="Rectangle 248"/>
          <p:cNvSpPr/>
          <p:nvPr/>
        </p:nvSpPr>
        <p:spPr>
          <a:xfrm>
            <a:off x="0" y="6172200"/>
            <a:ext cx="12188952" cy="347472"/>
          </a:xfrm>
          <a:prstGeom prst="rect">
            <a:avLst/>
          </a:prstGeom>
          <a:solidFill>
            <a:srgbClr val="004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Rectangle 249"/>
          <p:cNvSpPr/>
          <p:nvPr/>
        </p:nvSpPr>
        <p:spPr>
          <a:xfrm>
            <a:off x="0" y="6172200"/>
            <a:ext cx="12188952" cy="27432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" name="TextBox 250"/>
          <p:cNvSpPr txBox="1"/>
          <p:nvPr/>
        </p:nvSpPr>
        <p:spPr>
          <a:xfrm>
            <a:off x="274320" y="6199632"/>
            <a:ext cx="1164031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1">
                <a:solidFill>
                  <a:srgbClr val="FFFFFF"/>
                </a:solidFill>
                <a:latin typeface="Calibri"/>
              </a:rPr>
              <a:t>Toute modification, rectification ou ajout est strictement interdit(e). Élaboré par Tamou Eljerrari — Ingénieure en Formation — sur ordre de la Directrice Générale, Mme Salima Negrao. Seules la DG SHY-Performance ou une personne mandatée sont autorisées.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04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411480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446520"/>
            <a:ext cx="12188952" cy="411480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645920"/>
            <a:ext cx="112471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200" b="1" i="0">
                <a:solidFill>
                  <a:srgbClr val="FFFFFF"/>
                </a:solidFill>
                <a:latin typeface="Calibri"/>
              </a:rPr>
              <a:t>MERCI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92608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0" i="0">
                <a:solidFill>
                  <a:srgbClr val="D4A017"/>
                </a:solidFill>
                <a:latin typeface="Calibri"/>
              </a:rPr>
              <a:t>POUR VOTRE PARTICIPATION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0" y="2743200"/>
            <a:ext cx="5760720" cy="54864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365760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CCE5E5"/>
                </a:solidFill>
                <a:latin typeface="Calibri"/>
              </a:rPr>
              <a:t>SHY-Performance  ×  FIDELIS  ×  UNICEF France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" y="4754880"/>
            <a:ext cx="11612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>
                <a:solidFill>
                  <a:srgbClr val="CCE5E5"/>
                </a:solidFill>
                <a:latin typeface="Calibri"/>
              </a:rPr>
              <a:t>Élaboré par Tamou Eljerrari  |  Sur ordre de Mme Salima Negrao, DG</a:t>
            </a:r>
          </a:p>
        </p:txBody>
      </p:sp>
      <p:pic>
        <p:nvPicPr>
          <p:cNvPr id="10" name="Picture 9" descr="sh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39847" y="5029200"/>
            <a:ext cx="3309257" cy="146304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0" y="6172200"/>
            <a:ext cx="12188952" cy="347472"/>
          </a:xfrm>
          <a:prstGeom prst="rect">
            <a:avLst/>
          </a:prstGeom>
          <a:solidFill>
            <a:srgbClr val="004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0" y="6172200"/>
            <a:ext cx="12188952" cy="27432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74320" y="6199632"/>
            <a:ext cx="1164031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1">
                <a:solidFill>
                  <a:srgbClr val="FFFFFF"/>
                </a:solidFill>
                <a:latin typeface="Calibri"/>
              </a:rPr>
              <a:t>Toute modification, rectification ou ajout est strictement interdit(e). Élaboré par Tamou Eljerrari — Ingénieure en Formation — sur ordre de la Directrice Générale, Mme Salima Negrao. Seules la DG SHY-Performance ou une personne mandatée sont autorisées.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04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457200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400800"/>
            <a:ext cx="12188952" cy="457200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548640"/>
            <a:ext cx="112471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 i="0">
                <a:solidFill>
                  <a:srgbClr val="D4A017"/>
                </a:solidFill>
                <a:latin typeface="Calibri"/>
              </a:rPr>
              <a:t>★  ★  ★  ★  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280160"/>
            <a:ext cx="112471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0" b="1" i="0">
                <a:solidFill>
                  <a:srgbClr val="FFFFFF"/>
                </a:solidFill>
                <a:latin typeface="Calibri"/>
              </a:rPr>
              <a:t>FÉLICITATIONS !</a:t>
            </a:r>
          </a:p>
        </p:txBody>
      </p:sp>
      <p:sp>
        <p:nvSpPr>
          <p:cNvPr id="7" name="Rectangle 6"/>
          <p:cNvSpPr/>
          <p:nvPr/>
        </p:nvSpPr>
        <p:spPr>
          <a:xfrm>
            <a:off x="1828800" y="2606040"/>
            <a:ext cx="8503920" cy="64008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743200"/>
            <a:ext cx="103327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1">
                <a:solidFill>
                  <a:srgbClr val="FFFFFF"/>
                </a:solidFill>
                <a:latin typeface="Calibri"/>
              </a:rPr>
              <a:t>Vous avez complété avec succès la Formation Initiale Module (FIM)
Fundraiser UNICEF — SHY-Performance × FIDELIS
Votre engagement, votre sérieux et votre conviction
font de vous des fundraisers prêts à changer des vies.
Chaque appel que vous passerez contribue directement
à protéger des enfants à travers le monde.
L'équipe SHY-Performance est fière de vous.
Bonne continuation et beau terrain à toutes et à tous !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80644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0">
                <a:solidFill>
                  <a:srgbClr val="D4A017"/>
                </a:solidFill>
                <a:latin typeface="Calibri"/>
              </a:rPr>
              <a:t>★  ★  ★  ★  ★</a:t>
            </a:r>
          </a:p>
        </p:txBody>
      </p:sp>
      <p:pic>
        <p:nvPicPr>
          <p:cNvPr id="10" name="Picture 9" descr="sh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39847" y="5029200"/>
            <a:ext cx="3309257" cy="146304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0" y="6172200"/>
            <a:ext cx="12188952" cy="347472"/>
          </a:xfrm>
          <a:prstGeom prst="rect">
            <a:avLst/>
          </a:prstGeom>
          <a:solidFill>
            <a:srgbClr val="004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0" y="6172200"/>
            <a:ext cx="12188952" cy="27432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74320" y="6199632"/>
            <a:ext cx="1164031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1">
                <a:solidFill>
                  <a:srgbClr val="FFFFFF"/>
                </a:solidFill>
                <a:latin typeface="Calibri"/>
              </a:rPr>
              <a:t>Toute modification, rectification ou ajout est strictement interdit(e). Élaboré par Tamou Eljerrari — Ingénieure en Formation — sur ordre de la Directrice Générale, Mme Salima Negrao. Seules la DG SHY-Performance ou une personne mandatée sont autorisées.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