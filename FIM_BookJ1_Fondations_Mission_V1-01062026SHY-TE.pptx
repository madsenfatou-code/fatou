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Calibri"/>
              </a:rPr>
              <a:t>JOUR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8080"/>
                </a:solidFill>
                <a:latin typeface="Calibri"/>
              </a:rPr>
              <a:t>JOUR 1
FONDATIONS &amp; 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251960"/>
            <a:ext cx="758952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Mission, KPIs, Nomenclature &amp; Script d'Accroche
SHY-Performance × FIDELIS × UNICEF 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FIDELIS  ×  UNICEF France  |  Formation Initiale Module  |  © SHY-Performance 2025</a:t>
            </a:r>
          </a:p>
        </p:txBody>
      </p:sp>
      <p:pic>
        <p:nvPicPr>
          <p:cNvPr id="13" name="Picture 1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Mission &amp; Finalité de la Campagne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Finalité officielle : obtenir des prélèvements automatiques réguliers (PA)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Permettre à l'UNICEF de CONTINUER son action humanitaire sur le terrain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AUGMENTER durablement le taux de dons pour la lutte contre la malnutrition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L'UNICEF intervient dans 190 pays — 75 ans d'action humanitaire depuis 1946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Chaque don finance directement : sachets RUTF, vaccins, eau potable, protection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Campagne opérée par SHY-Performance, mandatée par FIDELIS pour l'UNICEF France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Nomenclature Métier — Définitions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CU — Contact Utile : appel de plus de 60 secondes correctement qualifié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CU/H — Contacts Utiles par Heure : mesure de la productivité horaire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TX Transfo — Taux de Transformation : % de PEL ou PA parmi les CU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PDC — Plan de Charge : volume mensuel de CU à produire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PA — Prélèvement Automatique : don mensuel régulier du donateur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PEL — Prélèvement En Ligne : validation PA via formulaire en ligne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DON — qualification : le contact accepte le prélèvement automatique régulier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Maîtriser ces termes avant le premier appel — évalués au Quiz J5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Nomenclature Métier — Définitions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INDÉCIS — qualification : contact intéressé mais n'a pas validé son don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REFUS — qualification : contact ne souhaite pas soutenir l'UNICEF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NON CONTACTÉ — qualification : appel &lt; 60 secondes ou pas d'identification réelle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ABSENT — qualification : répondeur, NRP, raccroché sans identification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CONQUÊTE — appeler pour la 1ère fois des prospects non encore donateurs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FIDÉLISATION / RÉACTIVATION — relancer d'anciens donateurs ou contacts indécis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50% de la qualité Fidelis repose sur une qualification CONFORME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KPI 1 — Contacts Utiles par Heure (CU/H)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Définition : nombre de contacts utiles réalisés en une heure de production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Objectif minimum : 9 CU/H — seuil de performance attendu par Fidelis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Mesure la productivité horaire du fundraiser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Un appel est Utile (CU) s'il dure plus de 60 secondes et est correctement qualifié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En dessous de 9 CU/H → identifier les blocages : tempo, transitions, décrochage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Suivi en temps réel sur l'outil CRM — visible par le superviseur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9 CU/H minimum — sous ce seuil, un accompagnement superviseur est déclenché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KPI 2 &amp; 3 — Taux de Transformation &amp; Plan de Charge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TX Transfo : % de PEL ou PA obtenus parmi les Contacts Utiles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TX Transfo cible : défini par l'association selon la campagne en cours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Un TX Transfo élevé = argumentation efficace + bon traitement des objections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PDC — Plan de Charge : volume mensuel global de CU à produire par l'équipe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Le PDC est calculé par Fidelis en fonction des objectifs campagne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Pilotage collectif : chaque fundraiser contribue au PDC de l'équipe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Les 2 Types d'Opérations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 CONQUÊTE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Appeler pour la 1ère fois des prospects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Présenter les missions de l'UNICEF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Convaincre d'adhérer à la cause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Inciter au soutien : PA en ligne ou DON en ligne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Dossier : conquête PA ou conquête DON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486400" cy="4572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 FIDÉLISATION / RÉACTIVATION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Relancer d'anciens donateurs ou contacts indécis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Maintenir et renforcer l'engagement existant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Réactiver les donateurs inactifs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Proposer une augmentation du montant du don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Dossier : fidélisation ou réactivation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3" name="Picture 1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Le Produit — RÈGLE D'OR DE LA CAMPAGNE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SEUL le prélèvement automatique régulier (PA) est proposé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Aucun don ponctuel — uniquement le PA mensuel régulier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MODE A — Prélèvement À CHAUD : IBAN recueilli en direct lors de l'appel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MODE B — PA en ligne en direct : guider le donateur sur unicef.fr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MODE C — Promesse PA en ligne : engagement + rappel prévu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MODE D — PA Courrier (exceptionnel) : autorisation par courrier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Paliers proposés : 10€ / 15€ / 20€ par mois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23560"/>
            <a:ext cx="11274552" cy="50292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4184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Rappel déduction fiscale : 15€/mois = 3,75€ réels après déduction à 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1" name="Picture 10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Les 5 Règles Officielles de l'Accroche — RÈGLE D'OR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RÈGLE 1 — Dire 'Allô ?' et attendre la réponse : ne jamais parler en premier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RÈGLE 2 — Identifier le genre : voix masculine → M. / voix féminine → Mme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RÈGLE 3 — Annoncer l'enregistrement de l'appel à des fins de qualité et formation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RÈGLE 4 — Se présenter : prénom + pour l'UNICEF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RÈGLE 5 — Accroche cause : 'Je suppose que vous connaissez bien l'UNICEF ?'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23560"/>
            <a:ext cx="11274552" cy="50292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4184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Ces 5 règles sont OBLIGATOIRES — leur non-respect constitue une faute qualité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1" name="Picture 10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Organisation de la Journée de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9h30 — Prise de poste + briefing équipe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9h45 — Début de la production téléphonique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11h00 — Pause matin (15 min)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13h00 — Pause déjeuner (1 heure)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14h00 — Reprise de la production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15h30 — Pause après-midi (15 min)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17h15 — Fin de production + débriefing superviseur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17h30 — Fin de journée officielle | Durée production effective : 6h40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09728" cy="6126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1">
                <a:solidFill>
                  <a:srgbClr val="FFFFFF"/>
                </a:solidFill>
                <a:latin typeface="Calibri"/>
              </a:rPr>
              <a:t>Le refus d'aujourd'hui
peut être le don de demain.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— Mantra Fundraiser SHY-Performance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MERCI POUR VOTRE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017520"/>
            <a:ext cx="75895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Élaboré par Tamou Eljerrari | Sur ordre de Mme Salima Negrao, DG SHY-Performance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