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37744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31720"/>
            <a:ext cx="12188952" cy="91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</a:rPr>
              <a:t>BOOK 0 · UM6P/CMC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FIM — Fil Conducteur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DDEEEE"/>
                </a:solidFill>
              </a:rPr>
              <a:t>Document de gouvernance pédagogique · 5 jours · 35h · V6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SHY-Performance · V6-01062026SHY-TE · Référentiel UM6P/CMC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5050"/>
                </a:solidFill>
              </a:rPr>
              <a:t>Programme Fundraiser Impact 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063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Ce document pilote l'ensemble de la formation :
séquençage des 5 journées · contrat pédagogique · tableau de bord · règles de vie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23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8888"/>
                </a:solidFill>
              </a:rPr>
              <a:t>Référentiels : UM6P CCE · CMC 2025 Niveau 3 · ADDIE · Andragogie Knowles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73152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Objectifs &amp; Structure du Fil Conducteur V6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88888"/>
                </a:solidFill>
              </a:rPr>
              <a:t>SHY-Performance · V6-01062026SHY-TE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68680"/>
            <a:ext cx="5486400" cy="34747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052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Objectifs pédagogiques V6 (Bloom 2-3)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868680"/>
            <a:ext cx="5486400" cy="34747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9052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Ajouts V6 vs V5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Expliquer la logique pédagogique des 5 jours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64591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Utiliser le tableau de bord pour piloter la progression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01167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Appliquer les règles de vie pour un cadre sécurisant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37743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Lire et compléter le Livret de Formation Individuel (LFI)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2801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Fiche de diagnostic d'entrée (auto-positionnement C1–C7)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64591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Contrat pédagogique signé formateur ↔ apprenant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01167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Calendrier des évaluations formatives J1→J5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37743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Protocole de suivi post-formation J+15, J+30, J+90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486400"/>
            <a:ext cx="11612880" cy="2743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5522976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050"/>
                </a:solidFill>
              </a:rPr>
              <a:t>🎯 Évaluation diagnostique — J1 matin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779008"/>
            <a:ext cx="371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✓ Quiz 10 questions (diagnostic d'entrée)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75760" y="5779008"/>
            <a:ext cx="371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✓ Auto-positionnement C1–C7 dans le LFI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85760" y="5779008"/>
            <a:ext cx="371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✓ Signature du contrat pédagogique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50474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5050"/>
                </a:solidFill>
              </a:rPr>
              <a:t>Taxonomie de Bloom :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303520"/>
            <a:ext cx="1920240" cy="320040"/>
          </a:xfrm>
          <a:prstGeom prst="rect">
            <a:avLst/>
          </a:prstGeom>
          <a:solidFill>
            <a:srgbClr val="78A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534009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1 Se souvenir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12848" y="5303520"/>
            <a:ext cx="1920240" cy="320040"/>
          </a:xfrm>
          <a:prstGeom prst="rect">
            <a:avLst/>
          </a:prstGeom>
          <a:solidFill>
            <a:srgbClr val="5D9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58568" y="534009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2 Comprendre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51376" y="5303520"/>
            <a:ext cx="1920240" cy="320040"/>
          </a:xfrm>
          <a:prstGeom prst="rect">
            <a:avLst/>
          </a:prstGeom>
          <a:solidFill>
            <a:srgbClr val="4A9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97096" y="534009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3 Appliquer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9904" y="5303520"/>
            <a:ext cx="1920240" cy="3200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35624" y="534009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4 Analyser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28432" y="5303520"/>
            <a:ext cx="1920240" cy="320040"/>
          </a:xfrm>
          <a:prstGeom prst="rect">
            <a:avLst/>
          </a:prstGeom>
          <a:solidFill>
            <a:srgbClr val="D27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74152" y="534009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5 Évaluer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60" y="5303520"/>
            <a:ext cx="1920240" cy="3200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12680" y="534009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6 Créer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73152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Planning 5 jours FIM V6 — Séquençage Kolb intégré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2286000" cy="32004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804672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J1 — Fondations &amp; Mission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097280"/>
            <a:ext cx="22860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143000"/>
            <a:ext cx="2103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EC : Témoignage bénéficiaire
OR : Debriefing émotionnel
CA : UNICEF + cadre légal
EA : Pitch 60s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4937760"/>
            <a:ext cx="2286000" cy="594360"/>
          </a:xfrm>
          <a:prstGeom prst="rect">
            <a:avLst/>
          </a:prstGeom>
          <a:solidFill>
            <a:srgbClr val="FDF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" y="4974336"/>
            <a:ext cx="2148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5050"/>
                </a:solidFill>
              </a:rPr>
              <a:t>🎯 Éval. diag. + Quiz 5Q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78608" y="777240"/>
            <a:ext cx="2286000" cy="32004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1760" y="804672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J2 — Monde Associatif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8608" y="1097280"/>
            <a:ext cx="22860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70048" y="1143000"/>
            <a:ext cx="2103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EC : Étude de cas ONG
OR : Analyse facteurs succès
CA : Loi, économie du don
EA : Simulation budgétaire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78608" y="4937760"/>
            <a:ext cx="2286000" cy="594360"/>
          </a:xfrm>
          <a:prstGeom prst="rect">
            <a:avLst/>
          </a:prstGeom>
          <a:solidFill>
            <a:srgbClr val="FDF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51760" y="4974336"/>
            <a:ext cx="2148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5050"/>
                </a:solidFill>
              </a:rPr>
              <a:t>🎯 Restitution orale + Fiche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74336" y="777240"/>
            <a:ext cx="2286000" cy="32004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47488" y="804672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J3 — Script &amp; Discours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74336" y="1097280"/>
            <a:ext cx="22860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65776" y="1143000"/>
            <a:ext cx="2103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EC : Démo formateur live
OR : Grille observation
CA : 5 étapes du script
EA : Trinômes 90 min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74336" y="4937760"/>
            <a:ext cx="2286000" cy="594360"/>
          </a:xfrm>
          <a:prstGeom prst="rect">
            <a:avLst/>
          </a:prstGeom>
          <a:solidFill>
            <a:srgbClr val="FDF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488" y="4974336"/>
            <a:ext cx="2148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5050"/>
                </a:solidFill>
              </a:rPr>
              <a:t>🎯 Grille C1+C2+C5 — seuil 12/20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70064" y="777240"/>
            <a:ext cx="2286000" cy="32004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43216" y="804672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J4 — Gestion Objections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70064" y="1097280"/>
            <a:ext cx="22860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61504" y="1143000"/>
            <a:ext cx="2103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EC : Cas filmés analyse
OR : Identification patterns
CA : Méthode CROC/CAP
EA : Battle objections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70064" y="4937760"/>
            <a:ext cx="2286000" cy="594360"/>
          </a:xfrm>
          <a:prstGeom prst="rect">
            <a:avLst/>
          </a:prstGeom>
          <a:solidFill>
            <a:srgbClr val="FDF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43216" y="4974336"/>
            <a:ext cx="2148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5050"/>
                </a:solidFill>
              </a:rPr>
              <a:t>🎯 Grille C3+C4 — seuil 14/20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765792" y="777240"/>
            <a:ext cx="2286000" cy="320040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38944" y="804672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J5 — Synthèse &amp; Certif.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65792" y="1097280"/>
            <a:ext cx="228600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57232" y="1143000"/>
            <a:ext cx="2103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Simulation ×2 rounds
Debriefing collectif
Éval. sommative
Construction PAP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765792" y="4937760"/>
            <a:ext cx="2286000" cy="594360"/>
          </a:xfrm>
          <a:prstGeom prst="rect">
            <a:avLst/>
          </a:prstGeom>
          <a:solidFill>
            <a:srgbClr val="FDF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38944" y="4974336"/>
            <a:ext cx="2148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5050"/>
                </a:solidFill>
              </a:rPr>
              <a:t>🎯 Grille 28 pts — seuil 20/28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88888"/>
                </a:solidFill>
              </a:rPr>
              <a:t>SHY-Performance · V6-01062026SHY-TE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73152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Contrat Pédagogique &amp; Livret de Formation Individuel (LFI)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88888"/>
                </a:solidFill>
              </a:rPr>
              <a:t>SHY-Performance · V6-01062026SHY-TE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68680"/>
            <a:ext cx="5486400" cy="34747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052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Contrat pédagogique — Engagements réciproques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868680"/>
            <a:ext cx="5486400" cy="34747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9052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Livret de Formation Individuel (LFI) — 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Le formateur s'engage à donner un feedback individuel chaque jour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64591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L'apprenant s'engage à participer activement aux simulations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01167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Le formateur respecte le rythme de chaque profil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37743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L'apprenant complète son LFI chaque soir (5 min)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74319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Confidentialité des échanges de groupe garantie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2801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Page d'ouverture : auto-positionnement C1–C7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164591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1 page par demi-journée : apprentissages + insights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01167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Grilles d'évaluation formative J1–J4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37743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Plan d'Action Personnel (PAP) J5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274319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Page bilan : évolution C1–C7 avant/après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5486400"/>
            <a:ext cx="11612880" cy="2743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5522976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5050"/>
                </a:solidFill>
              </a:rPr>
              <a:t>🎯 Points de contrôle Fil Conducteur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5779008"/>
            <a:ext cx="371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✓ Contrat signé en début de J1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5760" y="5779008"/>
            <a:ext cx="371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✓ LFI distribué J1 matin, complété chaque soir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85760" y="5779008"/>
            <a:ext cx="371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✓ Vérification LFI par formateur à J3 et J5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73152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Règles de vie &amp; Alignement CMC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88888"/>
                </a:solidFill>
              </a:rPr>
              <a:t>SHY-Performance · V6-01062026SHY-TE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868680"/>
            <a:ext cx="5486400" cy="34747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052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Règles de vie — Cadre sécurisant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868680"/>
            <a:ext cx="5486400" cy="347472"/>
          </a:xfrm>
          <a:prstGeom prst="rect">
            <a:avLst/>
          </a:prstGeom>
          <a:solidFill>
            <a:srgbClr val="00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90525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Conformité CMC 2025 — Niveau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Droit à l'erreur : toute simulation ratée est une donnée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64591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Feedback bienveillant : 1 force + 1 axe + 1 conseil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01167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Téléphones en mode silencieux pendant les exercices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37743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Ponctualité : le groupe démarre à l'heure prévue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74319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Pas de moquerie : la vulnérabilité crée la progression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28016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✓ Durée ≥ 35h (FIM = 35h contact + 6h terrain)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164591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✓ LFI individuel tracé et archivé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01167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✓ Évaluation en situation de travail (J5 simulation)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37743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⚠ Jury externe — à intégrer en V7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274319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• ⚠ Reconnaissance UM6P CCE — dossier à déposer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539496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5050"/>
                </a:solidFill>
              </a:rPr>
              <a:t>Ratio pratique/théorie V6 : 65% pratique / 35% théorie  (V5 : 45%/55%) — Standard UM6P atteint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