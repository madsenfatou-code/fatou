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955280" y="-1188720"/>
            <a:ext cx="5120640" cy="5120640"/>
          </a:xfrm>
          <a:prstGeom prst="ellipse">
            <a:avLst/>
          </a:prstGeom>
          <a:solidFill>
            <a:srgbClr val="007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784080" y="3383280"/>
            <a:ext cx="3291840" cy="3291840"/>
          </a:xfrm>
          <a:prstGeom prst="ellipse">
            <a:avLst/>
          </a:prstGeom>
          <a:solidFill>
            <a:srgbClr val="005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280160"/>
            <a:ext cx="10058400" cy="457200"/>
          </a:xfrm>
          <a:prstGeom prst="rect">
            <a:avLst/>
          </a:prstGeom>
          <a:noFill/>
        </p:spPr>
        <p:txBody>
          <a:bodyPr wrap="square">
            <a:spAutoFit/>
          </a:bodyPr>
          <a:lstStyle/>
          <a:p>
            <a:pPr algn="l"/>
            <a:r>
              <a:rPr b="1" i="0" sz="1300">
                <a:solidFill>
                  <a:srgbClr val="009EDB"/>
                </a:solidFill>
              </a:rPr>
              <a:t>UNICEF FRANCE — PPA</a:t>
            </a:r>
          </a:p>
        </p:txBody>
      </p:sp>
      <p:sp>
        <p:nvSpPr>
          <p:cNvPr id="7" name="TextBox 6"/>
          <p:cNvSpPr txBox="1"/>
          <p:nvPr/>
        </p:nvSpPr>
        <p:spPr>
          <a:xfrm>
            <a:off x="731520" y="1737360"/>
            <a:ext cx="9144000" cy="2194560"/>
          </a:xfrm>
          <a:prstGeom prst="rect">
            <a:avLst/>
          </a:prstGeom>
          <a:noFill/>
        </p:spPr>
        <p:txBody>
          <a:bodyPr wrap="square">
            <a:spAutoFit/>
          </a:bodyPr>
          <a:lstStyle/>
          <a:p>
            <a:pPr algn="l"/>
            <a:r>
              <a:rPr b="1" i="0" sz="4400">
                <a:solidFill>
                  <a:srgbClr val="FFFFFF"/>
                </a:solidFill>
              </a:rPr>
              <a:t>Module Traitement
des Objections</a:t>
            </a:r>
          </a:p>
        </p:txBody>
      </p:sp>
      <p:sp>
        <p:nvSpPr>
          <p:cNvPr id="8" name="TextBox 7"/>
          <p:cNvSpPr txBox="1"/>
          <p:nvPr/>
        </p:nvSpPr>
        <p:spPr>
          <a:xfrm>
            <a:off x="731520" y="3977639"/>
            <a:ext cx="9144000" cy="502920"/>
          </a:xfrm>
          <a:prstGeom prst="rect">
            <a:avLst/>
          </a:prstGeom>
          <a:noFill/>
        </p:spPr>
        <p:txBody>
          <a:bodyPr wrap="square">
            <a:spAutoFit/>
          </a:bodyPr>
          <a:lstStyle/>
          <a:p>
            <a:pPr algn="l"/>
            <a:r>
              <a:rPr b="0" i="0" sz="1600">
                <a:solidFill>
                  <a:srgbClr val="B0D8F0"/>
                </a:solidFill>
              </a:rPr>
              <a:t>Guide complet — Prélèvement Automatique &amp; Don Régulier</a:t>
            </a:r>
          </a:p>
        </p:txBody>
      </p:sp>
      <p:sp>
        <p:nvSpPr>
          <p:cNvPr id="9" name="Rectangle 8"/>
          <p:cNvSpPr/>
          <p:nvPr/>
        </p:nvSpPr>
        <p:spPr>
          <a:xfrm>
            <a:off x="731520" y="4663440"/>
            <a:ext cx="3474720" cy="594360"/>
          </a:xfrm>
          <a:prstGeom prst="rect">
            <a:avLst/>
          </a:prstGeom>
          <a:solidFill>
            <a:srgbClr val="005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681728"/>
            <a:ext cx="3291840" cy="548640"/>
          </a:xfrm>
          <a:prstGeom prst="rect">
            <a:avLst/>
          </a:prstGeom>
          <a:noFill/>
        </p:spPr>
        <p:txBody>
          <a:bodyPr wrap="square">
            <a:spAutoFit/>
          </a:bodyPr>
          <a:lstStyle/>
          <a:p>
            <a:pPr algn="ctr"/>
            <a:r>
              <a:rPr b="0" i="0" sz="1200">
                <a:solidFill>
                  <a:srgbClr val="FFFFFF"/>
                </a:solidFill>
              </a:rPr>
              <a:t>📞  Campagne nationale</a:t>
            </a:r>
          </a:p>
        </p:txBody>
      </p:sp>
      <p:sp>
        <p:nvSpPr>
          <p:cNvPr id="11" name="Rectangle 10"/>
          <p:cNvSpPr/>
          <p:nvPr/>
        </p:nvSpPr>
        <p:spPr>
          <a:xfrm>
            <a:off x="4480559" y="4663440"/>
            <a:ext cx="3474720" cy="594360"/>
          </a:xfrm>
          <a:prstGeom prst="rect">
            <a:avLst/>
          </a:prstGeom>
          <a:solidFill>
            <a:srgbClr val="005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4681728"/>
            <a:ext cx="3291840" cy="548640"/>
          </a:xfrm>
          <a:prstGeom prst="rect">
            <a:avLst/>
          </a:prstGeom>
          <a:noFill/>
        </p:spPr>
        <p:txBody>
          <a:bodyPr wrap="square">
            <a:spAutoFit/>
          </a:bodyPr>
          <a:lstStyle/>
          <a:p>
            <a:pPr algn="ctr"/>
            <a:r>
              <a:rPr b="0" i="0" sz="1200">
                <a:solidFill>
                  <a:srgbClr val="FFFFFF"/>
                </a:solidFill>
              </a:rPr>
              <a:t>🌍  Protection de l'enfance</a:t>
            </a:r>
          </a:p>
        </p:txBody>
      </p:sp>
      <p:sp>
        <p:nvSpPr>
          <p:cNvPr id="13" name="Rectangle 12"/>
          <p:cNvSpPr/>
          <p:nvPr/>
        </p:nvSpPr>
        <p:spPr>
          <a:xfrm>
            <a:off x="8229600" y="4663440"/>
            <a:ext cx="3474720" cy="594360"/>
          </a:xfrm>
          <a:prstGeom prst="rect">
            <a:avLst/>
          </a:prstGeom>
          <a:solidFill>
            <a:srgbClr val="005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4681728"/>
            <a:ext cx="3291840" cy="548640"/>
          </a:xfrm>
          <a:prstGeom prst="rect">
            <a:avLst/>
          </a:prstGeom>
          <a:noFill/>
        </p:spPr>
        <p:txBody>
          <a:bodyPr wrap="square">
            <a:spAutoFit/>
          </a:bodyPr>
          <a:lstStyle/>
          <a:p>
            <a:pPr algn="ctr"/>
            <a:r>
              <a:rPr b="0" i="0" sz="1200">
                <a:solidFill>
                  <a:srgbClr val="FFFFFF"/>
                </a:solidFill>
              </a:rPr>
              <a:t>💡  15 objections couvertes</a:t>
            </a:r>
          </a:p>
        </p:txBody>
      </p:sp>
      <p:sp>
        <p:nvSpPr>
          <p:cNvPr id="15" name="Rectangle 14"/>
          <p:cNvSpPr/>
          <p:nvPr/>
        </p:nvSpPr>
        <p:spPr>
          <a:xfrm>
            <a:off x="0" y="6583680"/>
            <a:ext cx="12188952" cy="274320"/>
          </a:xfrm>
          <a:prstGeom prst="rect">
            <a:avLst/>
          </a:prstGeom>
          <a:solidFill>
            <a:srgbClr val="001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601968"/>
            <a:ext cx="11640312" cy="256032"/>
          </a:xfrm>
          <a:prstGeom prst="rect">
            <a:avLst/>
          </a:prstGeom>
          <a:noFill/>
        </p:spPr>
        <p:txBody>
          <a:bodyPr wrap="square">
            <a:spAutoFit/>
          </a:bodyPr>
          <a:lstStyle/>
          <a:p>
            <a:pPr algn="ctr"/>
            <a:r>
              <a:rPr b="0" i="0" sz="800">
                <a:solidFill>
                  <a:srgbClr val="90B8D0"/>
                </a:solidFill>
              </a:rPr>
              <a:t>Usage interne — Agents téléphoniques UNICEF PPA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887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760"/>
            <a:ext cx="10972800" cy="548640"/>
          </a:xfrm>
          <a:prstGeom prst="rect">
            <a:avLst/>
          </a:prstGeom>
          <a:noFill/>
        </p:spPr>
        <p:txBody>
          <a:bodyPr wrap="square">
            <a:spAutoFit/>
          </a:bodyPr>
          <a:lstStyle/>
          <a:p>
            <a:pPr algn="l"/>
            <a:r>
              <a:rPr b="1" i="0" sz="2000">
                <a:solidFill>
                  <a:srgbClr val="FFFFFF"/>
                </a:solidFill>
              </a:rPr>
              <a:t>SOMMAIRE — 5 CATÉGORIES D'OBJECTIONS</a:t>
            </a:r>
          </a:p>
        </p:txBody>
      </p:sp>
      <p:sp>
        <p:nvSpPr>
          <p:cNvPr id="5" name="Rectangle 4"/>
          <p:cNvSpPr/>
          <p:nvPr/>
        </p:nvSpPr>
        <p:spPr>
          <a:xfrm>
            <a:off x="274320" y="1371600"/>
            <a:ext cx="11640312" cy="914400"/>
          </a:xfrm>
          <a:prstGeom prst="rect">
            <a:avLst/>
          </a:prstGeom>
          <a:solidFill>
            <a:srgbClr val="E8F5FB"/>
          </a:solidFill>
          <a:ln w="12700">
            <a:solidFill>
              <a:srgbClr val="009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71600"/>
            <a:ext cx="109728" cy="914400"/>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81328"/>
            <a:ext cx="548640" cy="640080"/>
          </a:xfrm>
          <a:prstGeom prst="rect">
            <a:avLst/>
          </a:prstGeom>
          <a:noFill/>
        </p:spPr>
        <p:txBody>
          <a:bodyPr wrap="square">
            <a:spAutoFit/>
          </a:bodyPr>
          <a:lstStyle/>
          <a:p>
            <a:pPr algn="l"/>
            <a:r>
              <a:rPr b="0" i="0" sz="2200">
                <a:solidFill>
                  <a:srgbClr val="1A2332"/>
                </a:solidFill>
              </a:rPr>
              <a:t>🔵</a:t>
            </a:r>
          </a:p>
        </p:txBody>
      </p:sp>
      <p:sp>
        <p:nvSpPr>
          <p:cNvPr id="8" name="TextBox 7"/>
          <p:cNvSpPr txBox="1"/>
          <p:nvPr/>
        </p:nvSpPr>
        <p:spPr>
          <a:xfrm>
            <a:off x="1143000" y="1463040"/>
            <a:ext cx="6858000" cy="384048"/>
          </a:xfrm>
          <a:prstGeom prst="rect">
            <a:avLst/>
          </a:prstGeom>
          <a:noFill/>
        </p:spPr>
        <p:txBody>
          <a:bodyPr wrap="square">
            <a:spAutoFit/>
          </a:bodyPr>
          <a:lstStyle/>
          <a:p>
            <a:pPr algn="l"/>
            <a:r>
              <a:rPr b="1" i="0" sz="1500">
                <a:solidFill>
                  <a:srgbClr val="009EDB"/>
                </a:solidFill>
              </a:rPr>
              <a:t>Objections Initiales</a:t>
            </a:r>
          </a:p>
        </p:txBody>
      </p:sp>
      <p:sp>
        <p:nvSpPr>
          <p:cNvPr id="9" name="TextBox 8"/>
          <p:cNvSpPr txBox="1"/>
          <p:nvPr/>
        </p:nvSpPr>
        <p:spPr>
          <a:xfrm>
            <a:off x="1143000" y="1847088"/>
            <a:ext cx="6858000" cy="347472"/>
          </a:xfrm>
          <a:prstGeom prst="rect">
            <a:avLst/>
          </a:prstGeom>
          <a:noFill/>
        </p:spPr>
        <p:txBody>
          <a:bodyPr wrap="square">
            <a:spAutoFit/>
          </a:bodyPr>
          <a:lstStyle/>
          <a:p>
            <a:pPr algn="l"/>
            <a:r>
              <a:rPr b="0" i="0" sz="1100">
                <a:solidFill>
                  <a:srgbClr val="6B7280"/>
                </a:solidFill>
              </a:rPr>
              <a:t>Avant le script — Pas intéressé, faux numéro, arnaque…</a:t>
            </a:r>
          </a:p>
        </p:txBody>
      </p:sp>
      <p:sp>
        <p:nvSpPr>
          <p:cNvPr id="10" name="Rectangle 9"/>
          <p:cNvSpPr/>
          <p:nvPr/>
        </p:nvSpPr>
        <p:spPr>
          <a:xfrm>
            <a:off x="10177272" y="1600200"/>
            <a:ext cx="1645920" cy="457200"/>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77272" y="1600200"/>
            <a:ext cx="1645920" cy="457200"/>
          </a:xfrm>
          <a:prstGeom prst="rect">
            <a:avLst/>
          </a:prstGeom>
          <a:noFill/>
        </p:spPr>
        <p:txBody>
          <a:bodyPr wrap="square">
            <a:spAutoFit/>
          </a:bodyPr>
          <a:lstStyle/>
          <a:p>
            <a:pPr algn="ctr"/>
            <a:r>
              <a:rPr b="1" i="0" sz="1200">
                <a:solidFill>
                  <a:srgbClr val="FFFFFF"/>
                </a:solidFill>
              </a:rPr>
              <a:t>8 objections</a:t>
            </a:r>
          </a:p>
        </p:txBody>
      </p:sp>
      <p:sp>
        <p:nvSpPr>
          <p:cNvPr id="12" name="Rectangle 11"/>
          <p:cNvSpPr/>
          <p:nvPr/>
        </p:nvSpPr>
        <p:spPr>
          <a:xfrm>
            <a:off x="274320" y="2377440"/>
            <a:ext cx="11640312" cy="914400"/>
          </a:xfrm>
          <a:prstGeom prst="rect">
            <a:avLst/>
          </a:prstGeom>
          <a:solidFill>
            <a:srgbClr val="FFF4E0"/>
          </a:solidFill>
          <a:ln w="12700">
            <a:solidFill>
              <a:srgbClr val="E07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2377440"/>
            <a:ext cx="109728" cy="914400"/>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487168"/>
            <a:ext cx="548640" cy="640080"/>
          </a:xfrm>
          <a:prstGeom prst="rect">
            <a:avLst/>
          </a:prstGeom>
          <a:noFill/>
        </p:spPr>
        <p:txBody>
          <a:bodyPr wrap="square">
            <a:spAutoFit/>
          </a:bodyPr>
          <a:lstStyle/>
          <a:p>
            <a:pPr algn="l"/>
            <a:r>
              <a:rPr b="0" i="0" sz="2200">
                <a:solidFill>
                  <a:srgbClr val="1A2332"/>
                </a:solidFill>
              </a:rPr>
              <a:t>🟠</a:t>
            </a:r>
          </a:p>
        </p:txBody>
      </p:sp>
      <p:sp>
        <p:nvSpPr>
          <p:cNvPr id="15" name="TextBox 14"/>
          <p:cNvSpPr txBox="1"/>
          <p:nvPr/>
        </p:nvSpPr>
        <p:spPr>
          <a:xfrm>
            <a:off x="1143000" y="2468880"/>
            <a:ext cx="6858000" cy="384048"/>
          </a:xfrm>
          <a:prstGeom prst="rect">
            <a:avLst/>
          </a:prstGeom>
          <a:noFill/>
        </p:spPr>
        <p:txBody>
          <a:bodyPr wrap="square">
            <a:spAutoFit/>
          </a:bodyPr>
          <a:lstStyle/>
          <a:p>
            <a:pPr algn="l"/>
            <a:r>
              <a:rPr b="1" i="0" sz="1500">
                <a:solidFill>
                  <a:srgbClr val="E07B00"/>
                </a:solidFill>
              </a:rPr>
              <a:t>Objections Financières</a:t>
            </a:r>
          </a:p>
        </p:txBody>
      </p:sp>
      <p:sp>
        <p:nvSpPr>
          <p:cNvPr id="16" name="TextBox 15"/>
          <p:cNvSpPr txBox="1"/>
          <p:nvPr/>
        </p:nvSpPr>
        <p:spPr>
          <a:xfrm>
            <a:off x="1143000" y="2852928"/>
            <a:ext cx="6858000" cy="347472"/>
          </a:xfrm>
          <a:prstGeom prst="rect">
            <a:avLst/>
          </a:prstGeom>
          <a:noFill/>
        </p:spPr>
        <p:txBody>
          <a:bodyPr wrap="square">
            <a:spAutoFit/>
          </a:bodyPr>
          <a:lstStyle/>
          <a:p>
            <a:pPr algn="l"/>
            <a:r>
              <a:rPr b="0" i="0" sz="1100">
                <a:solidFill>
                  <a:srgbClr val="6B7280"/>
                </a:solidFill>
              </a:rPr>
              <a:t>Après appel au don — Pas les moyens, donne déjà ailleurs</a:t>
            </a:r>
          </a:p>
        </p:txBody>
      </p:sp>
      <p:sp>
        <p:nvSpPr>
          <p:cNvPr id="17" name="Rectangle 16"/>
          <p:cNvSpPr/>
          <p:nvPr/>
        </p:nvSpPr>
        <p:spPr>
          <a:xfrm>
            <a:off x="10177272" y="2606040"/>
            <a:ext cx="1645920" cy="457200"/>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77272" y="2606040"/>
            <a:ext cx="1645920" cy="457200"/>
          </a:xfrm>
          <a:prstGeom prst="rect">
            <a:avLst/>
          </a:prstGeom>
          <a:noFill/>
        </p:spPr>
        <p:txBody>
          <a:bodyPr wrap="square">
            <a:spAutoFit/>
          </a:bodyPr>
          <a:lstStyle/>
          <a:p>
            <a:pPr algn="ctr"/>
            <a:r>
              <a:rPr b="1" i="0" sz="1200">
                <a:solidFill>
                  <a:srgbClr val="FFFFFF"/>
                </a:solidFill>
              </a:rPr>
              <a:t>3 cas</a:t>
            </a:r>
          </a:p>
        </p:txBody>
      </p:sp>
      <p:sp>
        <p:nvSpPr>
          <p:cNvPr id="19" name="Rectangle 18"/>
          <p:cNvSpPr/>
          <p:nvPr/>
        </p:nvSpPr>
        <p:spPr>
          <a:xfrm>
            <a:off x="274320" y="3383280"/>
            <a:ext cx="11640312" cy="914400"/>
          </a:xfrm>
          <a:prstGeom prst="rect">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3383280"/>
            <a:ext cx="109728" cy="9144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493008"/>
            <a:ext cx="548640" cy="640080"/>
          </a:xfrm>
          <a:prstGeom prst="rect">
            <a:avLst/>
          </a:prstGeom>
          <a:noFill/>
        </p:spPr>
        <p:txBody>
          <a:bodyPr wrap="square">
            <a:spAutoFit/>
          </a:bodyPr>
          <a:lstStyle/>
          <a:p>
            <a:pPr algn="l"/>
            <a:r>
              <a:rPr b="0" i="0" sz="2200">
                <a:solidFill>
                  <a:srgbClr val="1A2332"/>
                </a:solidFill>
              </a:rPr>
              <a:t>🟣</a:t>
            </a:r>
          </a:p>
        </p:txBody>
      </p:sp>
      <p:sp>
        <p:nvSpPr>
          <p:cNvPr id="22" name="TextBox 21"/>
          <p:cNvSpPr txBox="1"/>
          <p:nvPr/>
        </p:nvSpPr>
        <p:spPr>
          <a:xfrm>
            <a:off x="1143000" y="3474720"/>
            <a:ext cx="6858000" cy="384048"/>
          </a:xfrm>
          <a:prstGeom prst="rect">
            <a:avLst/>
          </a:prstGeom>
          <a:noFill/>
        </p:spPr>
        <p:txBody>
          <a:bodyPr wrap="square">
            <a:spAutoFit/>
          </a:bodyPr>
          <a:lstStyle/>
          <a:p>
            <a:pPr algn="l"/>
            <a:r>
              <a:rPr b="1" i="0" sz="1500">
                <a:solidFill>
                  <a:srgbClr val="6D28D9"/>
                </a:solidFill>
              </a:rPr>
              <a:t>Contre le Don Régulier (PA)</a:t>
            </a:r>
          </a:p>
        </p:txBody>
      </p:sp>
      <p:sp>
        <p:nvSpPr>
          <p:cNvPr id="23" name="TextBox 22"/>
          <p:cNvSpPr txBox="1"/>
          <p:nvPr/>
        </p:nvSpPr>
        <p:spPr>
          <a:xfrm>
            <a:off x="1143000" y="3858768"/>
            <a:ext cx="6858000" cy="347472"/>
          </a:xfrm>
          <a:prstGeom prst="rect">
            <a:avLst/>
          </a:prstGeom>
          <a:noFill/>
        </p:spPr>
        <p:txBody>
          <a:bodyPr wrap="square">
            <a:spAutoFit/>
          </a:bodyPr>
          <a:lstStyle/>
          <a:p>
            <a:pPr algn="l"/>
            <a:r>
              <a:rPr b="0" i="0" sz="1100">
                <a:solidFill>
                  <a:srgbClr val="6B7280"/>
                </a:solidFill>
              </a:rPr>
              <a:t>Préfère ponctuel, n'aime pas l'engagement mensuel</a:t>
            </a:r>
          </a:p>
        </p:txBody>
      </p:sp>
      <p:sp>
        <p:nvSpPr>
          <p:cNvPr id="24" name="Rectangle 23"/>
          <p:cNvSpPr/>
          <p:nvPr/>
        </p:nvSpPr>
        <p:spPr>
          <a:xfrm>
            <a:off x="10177272" y="3611880"/>
            <a:ext cx="1645920" cy="4572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77272" y="3611880"/>
            <a:ext cx="1645920" cy="457200"/>
          </a:xfrm>
          <a:prstGeom prst="rect">
            <a:avLst/>
          </a:prstGeom>
          <a:noFill/>
        </p:spPr>
        <p:txBody>
          <a:bodyPr wrap="square">
            <a:spAutoFit/>
          </a:bodyPr>
          <a:lstStyle/>
          <a:p>
            <a:pPr algn="ctr"/>
            <a:r>
              <a:rPr b="1" i="0" sz="1200">
                <a:solidFill>
                  <a:srgbClr val="FFFFFF"/>
                </a:solidFill>
              </a:rPr>
              <a:t>3 cas</a:t>
            </a:r>
          </a:p>
        </p:txBody>
      </p:sp>
      <p:sp>
        <p:nvSpPr>
          <p:cNvPr id="26" name="Rectangle 25"/>
          <p:cNvSpPr/>
          <p:nvPr/>
        </p:nvSpPr>
        <p:spPr>
          <a:xfrm>
            <a:off x="274320" y="4389120"/>
            <a:ext cx="11640312" cy="914400"/>
          </a:xfrm>
          <a:prstGeom prst="rect">
            <a:avLst/>
          </a:prstGeom>
          <a:solidFill>
            <a:srgbClr val="D1FAE5"/>
          </a:solidFill>
          <a:ln w="127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4389120"/>
            <a:ext cx="109728" cy="914400"/>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4498848"/>
            <a:ext cx="548640" cy="640080"/>
          </a:xfrm>
          <a:prstGeom prst="rect">
            <a:avLst/>
          </a:prstGeom>
          <a:noFill/>
        </p:spPr>
        <p:txBody>
          <a:bodyPr wrap="square">
            <a:spAutoFit/>
          </a:bodyPr>
          <a:lstStyle/>
          <a:p>
            <a:pPr algn="l"/>
            <a:r>
              <a:rPr b="0" i="0" sz="2200">
                <a:solidFill>
                  <a:srgbClr val="1A2332"/>
                </a:solidFill>
              </a:rPr>
              <a:t>🟢</a:t>
            </a:r>
          </a:p>
        </p:txBody>
      </p:sp>
      <p:sp>
        <p:nvSpPr>
          <p:cNvPr id="29" name="TextBox 28"/>
          <p:cNvSpPr txBox="1"/>
          <p:nvPr/>
        </p:nvSpPr>
        <p:spPr>
          <a:xfrm>
            <a:off x="1143000" y="4480560"/>
            <a:ext cx="6858000" cy="384048"/>
          </a:xfrm>
          <a:prstGeom prst="rect">
            <a:avLst/>
          </a:prstGeom>
          <a:noFill/>
        </p:spPr>
        <p:txBody>
          <a:bodyPr wrap="square">
            <a:spAutoFit/>
          </a:bodyPr>
          <a:lstStyle/>
          <a:p>
            <a:pPr algn="l"/>
            <a:r>
              <a:rPr b="1" i="0" sz="1500">
                <a:solidFill>
                  <a:srgbClr val="065F46"/>
                </a:solidFill>
              </a:rPr>
              <a:t>Méfiance IBAN</a:t>
            </a:r>
          </a:p>
        </p:txBody>
      </p:sp>
      <p:sp>
        <p:nvSpPr>
          <p:cNvPr id="30" name="TextBox 29"/>
          <p:cNvSpPr txBox="1"/>
          <p:nvPr/>
        </p:nvSpPr>
        <p:spPr>
          <a:xfrm>
            <a:off x="1143000" y="4864608"/>
            <a:ext cx="6858000" cy="347472"/>
          </a:xfrm>
          <a:prstGeom prst="rect">
            <a:avLst/>
          </a:prstGeom>
          <a:noFill/>
        </p:spPr>
        <p:txBody>
          <a:bodyPr wrap="square">
            <a:spAutoFit/>
          </a:bodyPr>
          <a:lstStyle/>
          <a:p>
            <a:pPr algn="l"/>
            <a:r>
              <a:rPr b="0" i="0" sz="1100">
                <a:solidFill>
                  <a:srgbClr val="6B7280"/>
                </a:solidFill>
              </a:rPr>
              <a:t>Sécurisation du prélèvement SEPA</a:t>
            </a:r>
          </a:p>
        </p:txBody>
      </p:sp>
      <p:sp>
        <p:nvSpPr>
          <p:cNvPr id="31" name="Rectangle 30"/>
          <p:cNvSpPr/>
          <p:nvPr/>
        </p:nvSpPr>
        <p:spPr>
          <a:xfrm>
            <a:off x="10177272" y="4617720"/>
            <a:ext cx="1645920" cy="457200"/>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77272" y="4617720"/>
            <a:ext cx="1645920" cy="457200"/>
          </a:xfrm>
          <a:prstGeom prst="rect">
            <a:avLst/>
          </a:prstGeom>
          <a:noFill/>
        </p:spPr>
        <p:txBody>
          <a:bodyPr wrap="square">
            <a:spAutoFit/>
          </a:bodyPr>
          <a:lstStyle/>
          <a:p>
            <a:pPr algn="ctr"/>
            <a:r>
              <a:rPr b="1" i="0" sz="1200">
                <a:solidFill>
                  <a:srgbClr val="FFFFFF"/>
                </a:solidFill>
              </a:rPr>
              <a:t>1 cas</a:t>
            </a:r>
          </a:p>
        </p:txBody>
      </p:sp>
      <p:sp>
        <p:nvSpPr>
          <p:cNvPr id="33" name="Rectangle 32"/>
          <p:cNvSpPr/>
          <p:nvPr/>
        </p:nvSpPr>
        <p:spPr>
          <a:xfrm>
            <a:off x="274320" y="5394960"/>
            <a:ext cx="11640312" cy="914400"/>
          </a:xfrm>
          <a:prstGeom prst="rect">
            <a:avLst/>
          </a:prstGeom>
          <a:solidFill>
            <a:srgbClr val="FEE2E2"/>
          </a:solidFill>
          <a:ln w="1270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4320" y="5394960"/>
            <a:ext cx="109728" cy="9144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5504688"/>
            <a:ext cx="548640" cy="640080"/>
          </a:xfrm>
          <a:prstGeom prst="rect">
            <a:avLst/>
          </a:prstGeom>
          <a:noFill/>
        </p:spPr>
        <p:txBody>
          <a:bodyPr wrap="square">
            <a:spAutoFit/>
          </a:bodyPr>
          <a:lstStyle/>
          <a:p>
            <a:pPr algn="l"/>
            <a:r>
              <a:rPr b="0" i="0" sz="2200">
                <a:solidFill>
                  <a:srgbClr val="1A2332"/>
                </a:solidFill>
              </a:rPr>
              <a:t>🔴</a:t>
            </a:r>
          </a:p>
        </p:txBody>
      </p:sp>
      <p:sp>
        <p:nvSpPr>
          <p:cNvPr id="36" name="TextBox 35"/>
          <p:cNvSpPr txBox="1"/>
          <p:nvPr/>
        </p:nvSpPr>
        <p:spPr>
          <a:xfrm>
            <a:off x="1143000" y="5486400"/>
            <a:ext cx="6858000" cy="384048"/>
          </a:xfrm>
          <a:prstGeom prst="rect">
            <a:avLst/>
          </a:prstGeom>
          <a:noFill/>
        </p:spPr>
        <p:txBody>
          <a:bodyPr wrap="square">
            <a:spAutoFit/>
          </a:bodyPr>
          <a:lstStyle/>
          <a:p>
            <a:pPr algn="l"/>
            <a:r>
              <a:rPr b="1" i="0" sz="1500">
                <a:solidFill>
                  <a:srgbClr val="B91C1C"/>
                </a:solidFill>
              </a:rPr>
              <a:t>Objections Conflictuelles</a:t>
            </a:r>
          </a:p>
        </p:txBody>
      </p:sp>
      <p:sp>
        <p:nvSpPr>
          <p:cNvPr id="37" name="TextBox 36"/>
          <p:cNvSpPr txBox="1"/>
          <p:nvPr/>
        </p:nvSpPr>
        <p:spPr>
          <a:xfrm>
            <a:off x="1143000" y="5870448"/>
            <a:ext cx="6858000" cy="347472"/>
          </a:xfrm>
          <a:prstGeom prst="rect">
            <a:avLst/>
          </a:prstGeom>
          <a:noFill/>
        </p:spPr>
        <p:txBody>
          <a:bodyPr wrap="square">
            <a:spAutoFit/>
          </a:bodyPr>
          <a:lstStyle/>
          <a:p>
            <a:pPr algn="l"/>
            <a:r>
              <a:rPr b="0" i="0" sz="1100">
                <a:solidFill>
                  <a:srgbClr val="6B7280"/>
                </a:solidFill>
              </a:rPr>
              <a:t>Origine numéro, Bloctel, liste rouge, RGPD, accent…</a:t>
            </a:r>
          </a:p>
        </p:txBody>
      </p:sp>
      <p:sp>
        <p:nvSpPr>
          <p:cNvPr id="38" name="Rectangle 37"/>
          <p:cNvSpPr/>
          <p:nvPr/>
        </p:nvSpPr>
        <p:spPr>
          <a:xfrm>
            <a:off x="10177272" y="5623560"/>
            <a:ext cx="1645920" cy="4572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77272" y="5623560"/>
            <a:ext cx="1645920" cy="457200"/>
          </a:xfrm>
          <a:prstGeom prst="rect">
            <a:avLst/>
          </a:prstGeom>
          <a:noFill/>
        </p:spPr>
        <p:txBody>
          <a:bodyPr wrap="square">
            <a:spAutoFit/>
          </a:bodyPr>
          <a:lstStyle/>
          <a:p>
            <a:pPr algn="ctr"/>
            <a:r>
              <a:rPr b="1" i="0" sz="1200">
                <a:solidFill>
                  <a:srgbClr val="FFFFFF"/>
                </a:solidFill>
              </a:rPr>
              <a:t>9 cas</a:t>
            </a:r>
          </a:p>
        </p:txBody>
      </p:sp>
      <p:sp>
        <p:nvSpPr>
          <p:cNvPr id="40" name="Rectangle 39"/>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12188952"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331720"/>
            <a:ext cx="1097280" cy="1097280"/>
          </a:xfrm>
          <a:prstGeom prst="rect">
            <a:avLst/>
          </a:prstGeom>
          <a:noFill/>
        </p:spPr>
        <p:txBody>
          <a:bodyPr wrap="square">
            <a:spAutoFit/>
          </a:bodyPr>
          <a:lstStyle/>
          <a:p>
            <a:pPr algn="ctr"/>
            <a:r>
              <a:rPr b="0" i="0" sz="5200">
                <a:solidFill>
                  <a:srgbClr val="1A2332"/>
                </a:solidFill>
              </a:rPr>
              <a:t>🔵</a:t>
            </a:r>
          </a:p>
        </p:txBody>
      </p:sp>
      <p:sp>
        <p:nvSpPr>
          <p:cNvPr id="5" name="TextBox 4"/>
          <p:cNvSpPr txBox="1"/>
          <p:nvPr/>
        </p:nvSpPr>
        <p:spPr>
          <a:xfrm>
            <a:off x="1463040" y="2468880"/>
            <a:ext cx="10177272" cy="914400"/>
          </a:xfrm>
          <a:prstGeom prst="rect">
            <a:avLst/>
          </a:prstGeom>
          <a:noFill/>
        </p:spPr>
        <p:txBody>
          <a:bodyPr wrap="square">
            <a:spAutoFit/>
          </a:bodyPr>
          <a:lstStyle/>
          <a:p>
            <a:pPr algn="l"/>
            <a:r>
              <a:rPr b="1" i="0" sz="2800">
                <a:solidFill>
                  <a:srgbClr val="009EDB"/>
                </a:solidFill>
              </a:rPr>
              <a:t>Section 1 — Objections Initiales</a:t>
            </a:r>
          </a:p>
        </p:txBody>
      </p:sp>
      <p:sp>
        <p:nvSpPr>
          <p:cNvPr id="6" name="TextBox 5"/>
          <p:cNvSpPr txBox="1"/>
          <p:nvPr/>
        </p:nvSpPr>
        <p:spPr>
          <a:xfrm>
            <a:off x="1463040" y="3383280"/>
            <a:ext cx="10177272" cy="640080"/>
          </a:xfrm>
          <a:prstGeom prst="rect">
            <a:avLst/>
          </a:prstGeom>
          <a:noFill/>
        </p:spPr>
        <p:txBody>
          <a:bodyPr wrap="square">
            <a:spAutoFit/>
          </a:bodyPr>
          <a:lstStyle/>
          <a:p>
            <a:pPr algn="l"/>
            <a:r>
              <a:rPr b="0" i="0" sz="1400">
                <a:solidFill>
                  <a:srgbClr val="6B7280"/>
                </a:solidFill>
              </a:rPr>
              <a:t>Phase d'accroche · Avant le script · 8 objections</a:t>
            </a:r>
          </a:p>
        </p:txBody>
      </p:sp>
      <p:sp>
        <p:nvSpPr>
          <p:cNvPr id="7" name="Rectangle 6"/>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E8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1</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OBJECTIONS INITIALES — PHASE D'ACCROCHE</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003D6B"/>
                </a:solidFill>
              </a:rPr>
              <a:t>❝  Je ne suis pas intéressé(e) / Je n'ai pas le temps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Permettez-moi de vous expliquer rapidement ce dont il s'agit,
puis vous me direz ce que vous en pensez…
Votre avis est très important pour nous. Il me tient à cœur de vous
parler brièvement des missions que nous menons en faveur des enfants
du monde entier — je serai très bref(ve).</a:t>
            </a:r>
          </a:p>
        </p:txBody>
      </p:sp>
      <p:sp>
        <p:nvSpPr>
          <p:cNvPr id="11" name="Rectangle 10"/>
          <p:cNvSpPr/>
          <p:nvPr/>
        </p:nvSpPr>
        <p:spPr>
          <a:xfrm>
            <a:off x="201168" y="5276088"/>
            <a:ext cx="11786616" cy="1353312"/>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Enchaîner sur le script</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E8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2</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OBJECTIONS INITIALES — PHASE D'ACCROCHE</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003D6B"/>
                </a:solidFill>
              </a:rPr>
              <a:t>❝  Faux numéro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Très bien — en réalité mon appel n'est pas nominatif :
nous appelons dans toute la France dans le cadre d'une campagne
d'information et de sensibilisation.
Je vous prendrais qu'une toute petite minute 😊</a:t>
            </a:r>
          </a:p>
        </p:txBody>
      </p:sp>
      <p:sp>
        <p:nvSpPr>
          <p:cNvPr id="11" name="Rectangle 10"/>
          <p:cNvSpPr/>
          <p:nvPr/>
        </p:nvSpPr>
        <p:spPr>
          <a:xfrm>
            <a:off x="201168" y="5276088"/>
            <a:ext cx="11786616" cy="1353312"/>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Enchaîner sur le script</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E8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3</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OBJECTIONS INITIALES — PHASE D'ACCROCHE</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003D6B"/>
                </a:solidFill>
              </a:rPr>
              <a:t>❝  Vous m'appelez pour un don ?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Avant toute chose, je vous contacte afin de vous faire part de nos
missions et avoir votre avis 😊
En fait, nous menons une campagne d'information et de sensibilisation
partout en France, et nous savons bien que ce n'est pas tout le monde
qui aura la possibilité de nous soutenir…</a:t>
            </a:r>
          </a:p>
        </p:txBody>
      </p:sp>
      <p:sp>
        <p:nvSpPr>
          <p:cNvPr id="11" name="Rectangle 10"/>
          <p:cNvSpPr/>
          <p:nvPr/>
        </p:nvSpPr>
        <p:spPr>
          <a:xfrm>
            <a:off x="201168" y="5276088"/>
            <a:ext cx="11786616" cy="1353312"/>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Enchaîner : « Comme je vous le disais… »</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E8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4</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OBJECTIONS INITIALES — PHASE D'ACCROCHE</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003D6B"/>
                </a:solidFill>
              </a:rPr>
              <a:t>❝  Je donne déjà à d'autres associations / Je ne peux pas donner plus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Et bien je vous remercie pour ce que vous faites déjà M. / Mme XX,
et je vous rassure — il ne s'agit pas seulement de faire un don.
Je me permets de vous contacter dans le cadre d'une campagne
d'information et de sensibilisation au sujet de la situation des
enfants vulnérables, et votre avis est très important pour nous 😊</a:t>
            </a:r>
          </a:p>
        </p:txBody>
      </p:sp>
      <p:sp>
        <p:nvSpPr>
          <p:cNvPr id="11" name="Rectangle 10"/>
          <p:cNvSpPr/>
          <p:nvPr/>
        </p:nvSpPr>
        <p:spPr>
          <a:xfrm>
            <a:off x="201168" y="5276088"/>
            <a:ext cx="11786616" cy="1353312"/>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Enchaîner sur le script</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E8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5</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OBJECTIONS INITIALES — PHASE D'ACCROCHE</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003D6B"/>
                </a:solidFill>
              </a:rPr>
              <a:t>❝  C'est une arnaque !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Je peux comprendre votre inquiétude M. / Mme (NOM), mais soyez
rassuré(e) — je vous appelle bien de la part d'UNICEF France.
Cette campagne téléphonique est annoncée sur notre site officiel
www.unicef.fr, vous pouvez le constater immédiatement.
Pour plus d'informations : ServiceRelationDonateurs@unicef.fr
ou au 09 69 36 84 68</a:t>
            </a:r>
          </a:p>
        </p:txBody>
      </p:sp>
      <p:sp>
        <p:nvSpPr>
          <p:cNvPr id="11" name="Rectangle 10"/>
          <p:cNvSpPr/>
          <p:nvPr/>
        </p:nvSpPr>
        <p:spPr>
          <a:xfrm>
            <a:off x="201168" y="5276088"/>
            <a:ext cx="11786616" cy="1353312"/>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Enchaîner : « Comme je vous le disais… »</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E8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6</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OBJECTIONS INITIALES — PHASE D'ACCROCHE</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003D6B"/>
                </a:solidFill>
              </a:rPr>
              <a:t>❝  Je ne donne pas d'argent par téléphone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Je vous rassure, il n'est pas question que vous donniez de l'argent
par téléphone.
Le téléphone représente pour nous le moyen le plus simple et le plus
efficace pour porter le message de notre noble cause au plus grand
nombre de personnes.
Cela me permet également de répondre à vos questions 😊</a:t>
            </a:r>
          </a:p>
        </p:txBody>
      </p:sp>
      <p:sp>
        <p:nvSpPr>
          <p:cNvPr id="11" name="Rectangle 10"/>
          <p:cNvSpPr/>
          <p:nvPr/>
        </p:nvSpPr>
        <p:spPr>
          <a:xfrm>
            <a:off x="201168" y="5276088"/>
            <a:ext cx="11786616" cy="1353312"/>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Enchaîner : « Comme je vous le disais… »</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E8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7</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OBJECTIONS INITIALES — PHASE D'ACCROCHE</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003D6B"/>
                </a:solidFill>
              </a:rPr>
              <a:t>❝  Je ne fais pas confiance aux associations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Je comprends que vous vous posiez des questions quant à l'affectation
des dons — permettez-moi de vous rassurer :
✔  UNICEF agit pour les enfants depuis 1946
✔  UNICEF France créée en 1964 — comptes certifiés par un
    commissaire aux comptes indépendant
✔  Notre mission : eau potable, alimentation, formation, santé</a:t>
            </a:r>
          </a:p>
        </p:txBody>
      </p:sp>
      <p:sp>
        <p:nvSpPr>
          <p:cNvPr id="11" name="Rectangle 10"/>
          <p:cNvSpPr/>
          <p:nvPr/>
        </p:nvSpPr>
        <p:spPr>
          <a:xfrm>
            <a:off x="201168" y="5276088"/>
            <a:ext cx="11786616" cy="1353312"/>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Enchaîner : « Comme je vous le disais… »</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E8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8</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OBJECTIONS INITIALES — PHASE D'ACCROCHE</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003D6B"/>
                </a:solidFill>
              </a:rPr>
              <a:t>❝  Je n'aime pas être contacté(e) par téléphone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Je comprends que vous ne souhaitiez pas être dérangé(e) 😊
Mais si nous nous sommes permis de vous contacter aujourd'hui,
c'est parce que l'UNICEF a un message important à diffuser,
et le téléphone représente le moyen le plus efficace pour rassembler
de nouvelles personnes autour de notre noble cause.
Cela me permet également de répondre à vos questions…</a:t>
            </a:r>
          </a:p>
        </p:txBody>
      </p:sp>
      <p:sp>
        <p:nvSpPr>
          <p:cNvPr id="11" name="Rectangle 10"/>
          <p:cNvSpPr/>
          <p:nvPr/>
        </p:nvSpPr>
        <p:spPr>
          <a:xfrm>
            <a:off x="201168" y="5276088"/>
            <a:ext cx="11786616" cy="1353312"/>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Enchaîner : « Comme je vous le disais… »</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12188952"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331720"/>
            <a:ext cx="1097280" cy="1097280"/>
          </a:xfrm>
          <a:prstGeom prst="rect">
            <a:avLst/>
          </a:prstGeom>
          <a:noFill/>
        </p:spPr>
        <p:txBody>
          <a:bodyPr wrap="square">
            <a:spAutoFit/>
          </a:bodyPr>
          <a:lstStyle/>
          <a:p>
            <a:pPr algn="ctr"/>
            <a:r>
              <a:rPr b="0" i="0" sz="5200">
                <a:solidFill>
                  <a:srgbClr val="1A2332"/>
                </a:solidFill>
              </a:rPr>
              <a:t>🟠</a:t>
            </a:r>
          </a:p>
        </p:txBody>
      </p:sp>
      <p:sp>
        <p:nvSpPr>
          <p:cNvPr id="5" name="TextBox 4"/>
          <p:cNvSpPr txBox="1"/>
          <p:nvPr/>
        </p:nvSpPr>
        <p:spPr>
          <a:xfrm>
            <a:off x="1463040" y="2468880"/>
            <a:ext cx="10177272" cy="914400"/>
          </a:xfrm>
          <a:prstGeom prst="rect">
            <a:avLst/>
          </a:prstGeom>
          <a:noFill/>
        </p:spPr>
        <p:txBody>
          <a:bodyPr wrap="square">
            <a:spAutoFit/>
          </a:bodyPr>
          <a:lstStyle/>
          <a:p>
            <a:pPr algn="l"/>
            <a:r>
              <a:rPr b="1" i="0" sz="2800">
                <a:solidFill>
                  <a:srgbClr val="E07B00"/>
                </a:solidFill>
              </a:rPr>
              <a:t>Section 2 — Objections Financières</a:t>
            </a:r>
          </a:p>
        </p:txBody>
      </p:sp>
      <p:sp>
        <p:nvSpPr>
          <p:cNvPr id="6" name="TextBox 5"/>
          <p:cNvSpPr txBox="1"/>
          <p:nvPr/>
        </p:nvSpPr>
        <p:spPr>
          <a:xfrm>
            <a:off x="1463040" y="3383280"/>
            <a:ext cx="10177272" cy="640080"/>
          </a:xfrm>
          <a:prstGeom prst="rect">
            <a:avLst/>
          </a:prstGeom>
          <a:noFill/>
        </p:spPr>
        <p:txBody>
          <a:bodyPr wrap="square">
            <a:spAutoFit/>
          </a:bodyPr>
          <a:lstStyle/>
          <a:p>
            <a:pPr algn="l"/>
            <a:r>
              <a:rPr b="0" i="0" sz="1400">
                <a:solidFill>
                  <a:srgbClr val="6B7280"/>
                </a:solidFill>
              </a:rPr>
              <a:t>Après appel au don · Pas spécialement contre le PA</a:t>
            </a:r>
          </a:p>
        </p:txBody>
      </p:sp>
      <p:sp>
        <p:nvSpPr>
          <p:cNvPr id="7" name="Rectangle 6"/>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FFF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9</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OBJECTIONS FINANCIÈRES — APRÈS APPEL AU DON (NON CONTRE PA)</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92400E"/>
                </a:solidFill>
              </a:rPr>
              <a:t>❝  Je donne déjà à d'autres associations / Je me suis engagé avec X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Et bien je comprends tout à fait — c'est tout à votre honneur M. / Mme XX.
Nous ne souhaitons en aucun cas modifier vos habitudes caritatives.
15 € par mois n'est pas une somme anodine — mais ce n'était qu'un exemple.
Aujourd'hui, 300 millions de personnes sont en insécurité alimentaire
dans le monde, provoquée par les guerres, les conflits armés,
et les catastrophes naturelles qui réduisent l'accès à l'eau et
à l'alimentation. Chaque don, aussi modeste soit-il, a un impact inestimable.</a:t>
            </a:r>
          </a:p>
        </p:txBody>
      </p:sp>
      <p:sp>
        <p:nvSpPr>
          <p:cNvPr id="11" name="Rectangle 10"/>
          <p:cNvSpPr/>
          <p:nvPr/>
        </p:nvSpPr>
        <p:spPr>
          <a:xfrm>
            <a:off x="201168" y="5276088"/>
            <a:ext cx="11786616" cy="1353312"/>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10 € par mois = 2,50 € après déduction fiscale
     Cela vous semble-t-il plus envisageable ?</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FFF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10</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OBJECTIONS FINANCIÈRES — APRÈS APPEL AU DON (NON CONTRE PA)</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92400E"/>
                </a:solidFill>
              </a:rPr>
              <a:t>❝  Je n'ai pas les moyens (petite retraite, chômage…)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J'entends bien ce que vous dites M. / Mme XX.
15 € par mois n'est pas une somme anodine — mais ce n'était qu'un exemple.
Nous étions contraints de lancer cette campagne à cause du grand chaos
qui touche l'Ukraine, le Congo, le Soudan, le Proche-Orient…
Des millions d'enfants pris au piège des conflits, dont beaucoup ont
moins de 5 ans et souffrent de retards de croissance sévères.</a:t>
            </a:r>
          </a:p>
        </p:txBody>
      </p:sp>
      <p:sp>
        <p:nvSpPr>
          <p:cNvPr id="11" name="Rectangle 10"/>
          <p:cNvSpPr/>
          <p:nvPr/>
        </p:nvSpPr>
        <p:spPr>
          <a:xfrm>
            <a:off x="201168" y="5276088"/>
            <a:ext cx="11786616" cy="1353312"/>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Avec 10 € (= 2,50 € / mois après déduction fiscale),
     vous prenez en charge 4 enfants.
     Peut-on compter sur ce geste de votre part ?</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FFF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OBJECTIONS FINANCIÈRES — APRÈS APPEL AU DON (NON CONTRE PA)</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92400E"/>
                </a:solidFill>
              </a:rPr>
              <a:t>❝  Dernier Positionnement — Si la personne reste hésitante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Je comprends parfaitement que le moment n'est peut-être pas le plus simple.
Si je me permets d'être un peu plus engagé(e), c'est parce que nous
parlons de vies humaines — de milliers d'enfants en insécurité alimentaire
dont la plupart n'ont pas encore cinq ans.
⏱  Une personne meurt de faim dans le monde toutes les 13 secondes.
    Il existe des solutions simples : les aliments thérapeutiques prêts à l'emploi.</a:t>
            </a:r>
          </a:p>
        </p:txBody>
      </p:sp>
      <p:sp>
        <p:nvSpPr>
          <p:cNvPr id="11" name="Rectangle 10"/>
          <p:cNvSpPr/>
          <p:nvPr/>
        </p:nvSpPr>
        <p:spPr>
          <a:xfrm>
            <a:off x="201168" y="5276088"/>
            <a:ext cx="11786616" cy="1353312"/>
          </a:xfrm>
          <a:prstGeom prst="rect">
            <a:avLst/>
          </a:prstGeom>
          <a:solidFill>
            <a:srgbClr val="E0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 Dites-moi simplement ce qui vous semble le plus adapté à votre budget… »
     8 € ou même 6 € par mois ?  →  6 € = 1,50 € après déduction fiscale.</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12188952"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331720"/>
            <a:ext cx="1097280" cy="1097280"/>
          </a:xfrm>
          <a:prstGeom prst="rect">
            <a:avLst/>
          </a:prstGeom>
          <a:noFill/>
        </p:spPr>
        <p:txBody>
          <a:bodyPr wrap="square">
            <a:spAutoFit/>
          </a:bodyPr>
          <a:lstStyle/>
          <a:p>
            <a:pPr algn="ctr"/>
            <a:r>
              <a:rPr b="0" i="0" sz="5200">
                <a:solidFill>
                  <a:srgbClr val="1A2332"/>
                </a:solidFill>
              </a:rPr>
              <a:t>🟣</a:t>
            </a:r>
          </a:p>
        </p:txBody>
      </p:sp>
      <p:sp>
        <p:nvSpPr>
          <p:cNvPr id="5" name="TextBox 4"/>
          <p:cNvSpPr txBox="1"/>
          <p:nvPr/>
        </p:nvSpPr>
        <p:spPr>
          <a:xfrm>
            <a:off x="1463040" y="2468880"/>
            <a:ext cx="10177272" cy="914400"/>
          </a:xfrm>
          <a:prstGeom prst="rect">
            <a:avLst/>
          </a:prstGeom>
          <a:noFill/>
        </p:spPr>
        <p:txBody>
          <a:bodyPr wrap="square">
            <a:spAutoFit/>
          </a:bodyPr>
          <a:lstStyle/>
          <a:p>
            <a:pPr algn="l"/>
            <a:r>
              <a:rPr b="1" i="0" sz="2800">
                <a:solidFill>
                  <a:srgbClr val="6D28D9"/>
                </a:solidFill>
              </a:rPr>
              <a:t>Section 3 — Contre le Don Régulier (PA)</a:t>
            </a:r>
          </a:p>
        </p:txBody>
      </p:sp>
      <p:sp>
        <p:nvSpPr>
          <p:cNvPr id="6" name="TextBox 5"/>
          <p:cNvSpPr txBox="1"/>
          <p:nvPr/>
        </p:nvSpPr>
        <p:spPr>
          <a:xfrm>
            <a:off x="1463040" y="3383280"/>
            <a:ext cx="10177272" cy="640080"/>
          </a:xfrm>
          <a:prstGeom prst="rect">
            <a:avLst/>
          </a:prstGeom>
          <a:noFill/>
        </p:spPr>
        <p:txBody>
          <a:bodyPr wrap="square">
            <a:spAutoFit/>
          </a:bodyPr>
          <a:lstStyle/>
          <a:p>
            <a:pPr algn="l"/>
            <a:r>
              <a:rPr b="0" i="0" sz="1400">
                <a:solidFill>
                  <a:srgbClr val="6B7280"/>
                </a:solidFill>
              </a:rPr>
              <a:t>Prélèvement automatique mensuel — Lever les réticences</a:t>
            </a:r>
          </a:p>
        </p:txBody>
      </p:sp>
      <p:sp>
        <p:nvSpPr>
          <p:cNvPr id="7" name="Rectangle 6"/>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11</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CONTRE LE DON RÉGULIER (PA) — LEVER LES RÉTICENCES</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4C1D95"/>
                </a:solidFill>
              </a:rPr>
              <a:t>❝  Je vous ferai un don ponctuel, pas régulier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C'est déjà formidable, M. / Mme XX, que vous envisagiez de nous aider !
Un don ponctuel, c'est une impulsion précieuse.
Mais un don régulier, même très modeste, c'est ce qui sauve vraiment
sur le long terme — la faim, la maladie, le manque de soins… ça ne
s'arrête pas après une aide ponctuelle.
Et ce qui est génial : vous pouvez stopper ou modifier le montant
à tout moment, par un simple appel au service donateur.</a:t>
            </a:r>
          </a:p>
        </p:txBody>
      </p:sp>
      <p:sp>
        <p:nvSpPr>
          <p:cNvPr id="11" name="Rectangle 10"/>
          <p:cNvSpPr/>
          <p:nvPr/>
        </p:nvSpPr>
        <p:spPr>
          <a:xfrm>
            <a:off x="201168" y="5276088"/>
            <a:ext cx="11786616" cy="135331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10 € / mois = quelques centimes par jour après déduction fiscale
     → Impact inestimable dans le quotidien de ces enfants.
     Peut-on compter sur vous pour poser ce geste simple ?</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12</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CONTRE LE DON RÉGULIER (PA) — LEVER LES RÉTICENCES</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4C1D95"/>
                </a:solidFill>
              </a:rPr>
              <a:t>❝  Je préfère donner quand je le veux / Je n'aime pas l'engagement mensuel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Je l'entends bien M. / Mme XX — c'est bien naturel de vouloir garder
la liberté de donner quand vous le sentez.
Ce que je peux vous dire : le don mensuel n'est en aucun cas un
engagement rigide ou contraignant. Vous pouvez l'ajuster ou l'arrêter
à tout moment — vous gardez un contrôle total.
Ce soutien régulier permet à nos équipes d'agir avec continuité
et d'accompagner un enfant durant toutes les étapes de sa guérison.</a:t>
            </a:r>
          </a:p>
        </p:txBody>
      </p:sp>
      <p:sp>
        <p:nvSpPr>
          <p:cNvPr id="11" name="Rectangle 10"/>
          <p:cNvSpPr/>
          <p:nvPr/>
        </p:nvSpPr>
        <p:spPr>
          <a:xfrm>
            <a:off x="201168" y="5276088"/>
            <a:ext cx="11786616" cy="135331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10 € / mois = 2,50 € après déduction fiscale.
     Tout en sachant que vous pouvez stopper à tout moment,
     peut-on compter sur votre adhésion ?</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EDE9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CONTRE LE DON RÉGULIER (PA) — LEVER LES RÉTICENCES</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4C1D95"/>
                </a:solidFill>
              </a:rPr>
              <a:t>❝  Dernier Positionnement PA — Si la personne reste réticente au don régulier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Je comprends parfaitement votre réticence à l'idée d'un don régulier.
Si je me permets d'être un peu plus engagé(e), c'est parce que nous
parlons de vies humaines — de milliers d'enfants en insécurité alimentaire
dont la plupart n'ont pas encore cinq ans.
⏱  Une personne meurt de faim toutes les 13 secondes dans le monde,
    alors qu'il existe des solutions simples comme l'aliment thérapeutique.
Votre soutien, aussi modeste soit-il, peut tout changer — et vous pouvez
suspendre votre soutien à tout moment.</a:t>
            </a:r>
          </a:p>
        </p:txBody>
      </p:sp>
      <p:sp>
        <p:nvSpPr>
          <p:cNvPr id="11" name="Rectangle 10"/>
          <p:cNvSpPr/>
          <p:nvPr/>
        </p:nvSpPr>
        <p:spPr>
          <a:xfrm>
            <a:off x="201168" y="5276088"/>
            <a:ext cx="11786616" cy="135331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8 € ou même 6 € / mois vous semblent envisageables ?</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12188952"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331720"/>
            <a:ext cx="1097280" cy="1097280"/>
          </a:xfrm>
          <a:prstGeom prst="rect">
            <a:avLst/>
          </a:prstGeom>
          <a:noFill/>
        </p:spPr>
        <p:txBody>
          <a:bodyPr wrap="square">
            <a:spAutoFit/>
          </a:bodyPr>
          <a:lstStyle/>
          <a:p>
            <a:pPr algn="ctr"/>
            <a:r>
              <a:rPr b="0" i="0" sz="5200">
                <a:solidFill>
                  <a:srgbClr val="1A2332"/>
                </a:solidFill>
              </a:rPr>
              <a:t>🟢</a:t>
            </a:r>
          </a:p>
        </p:txBody>
      </p:sp>
      <p:sp>
        <p:nvSpPr>
          <p:cNvPr id="5" name="TextBox 4"/>
          <p:cNvSpPr txBox="1"/>
          <p:nvPr/>
        </p:nvSpPr>
        <p:spPr>
          <a:xfrm>
            <a:off x="1463040" y="2468880"/>
            <a:ext cx="10177272" cy="914400"/>
          </a:xfrm>
          <a:prstGeom prst="rect">
            <a:avLst/>
          </a:prstGeom>
          <a:noFill/>
        </p:spPr>
        <p:txBody>
          <a:bodyPr wrap="square">
            <a:spAutoFit/>
          </a:bodyPr>
          <a:lstStyle/>
          <a:p>
            <a:pPr algn="l"/>
            <a:r>
              <a:rPr b="1" i="0" sz="2800">
                <a:solidFill>
                  <a:srgbClr val="065F46"/>
                </a:solidFill>
              </a:rPr>
              <a:t>Section 4 — Méfiance vis-à-vis de l'IBAN</a:t>
            </a:r>
          </a:p>
        </p:txBody>
      </p:sp>
      <p:sp>
        <p:nvSpPr>
          <p:cNvPr id="6" name="TextBox 5"/>
          <p:cNvSpPr txBox="1"/>
          <p:nvPr/>
        </p:nvSpPr>
        <p:spPr>
          <a:xfrm>
            <a:off x="1463040" y="3383280"/>
            <a:ext cx="10177272" cy="640080"/>
          </a:xfrm>
          <a:prstGeom prst="rect">
            <a:avLst/>
          </a:prstGeom>
          <a:noFill/>
        </p:spPr>
        <p:txBody>
          <a:bodyPr wrap="square">
            <a:spAutoFit/>
          </a:bodyPr>
          <a:lstStyle/>
          <a:p>
            <a:pPr algn="l"/>
            <a:r>
              <a:rPr b="0" i="0" sz="1400">
                <a:solidFill>
                  <a:srgbClr val="6B7280"/>
                </a:solidFill>
              </a:rPr>
              <a:t>Sécurisation du prélèvement SEPA — Rassurer avec précision</a:t>
            </a:r>
          </a:p>
        </p:txBody>
      </p:sp>
      <p:sp>
        <p:nvSpPr>
          <p:cNvPr id="7" name="Rectangle 6"/>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13</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MÉFIANCE IBAN — SÉCURISATION DU PRÉLÈVEMENT</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064E3B"/>
                </a:solidFill>
              </a:rPr>
              <a:t>❝  Je ne veux pas donner mon IBAN / Méfiance IBAN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Je comprends que vous puissiez être prudent(e), c'est tout à fait légitime 😊
• Sans accord verbal clair de votre part, rien n'est possible.
• Votre IBAN ne permet PAS d'accéder à votre compte — il autorise
  uniquement un virement SEPA pour l'UNICEF.
• Procédure encadrée par nos institutions financières, accordée
  exclusivement aux organisations françaises reconnues d'utilité publique.
Votre IBAN figure déjà sur vos factures d'énergie, d'internet,
vos contrats de mutuelle, avis CAF, impôts, Pôle Emploi…</a:t>
            </a:r>
          </a:p>
        </p:txBody>
      </p:sp>
      <p:sp>
        <p:nvSpPr>
          <p:cNvPr id="11" name="Rectangle 10"/>
          <p:cNvSpPr/>
          <p:nvPr/>
        </p:nvSpPr>
        <p:spPr>
          <a:xfrm>
            <a:off x="201168" y="5276088"/>
            <a:ext cx="11786616" cy="1353312"/>
          </a:xfrm>
          <a:prstGeom prst="rect">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Aucun prélèvement aujourd'hui — 1er prélèvement le 10 du mois prochain.
     Vous recevez un récapitulatif par e-mail et SMS avant la clôture.
     (Si PEL en direct : envoyer SMS de félicitations depuis la fiche)</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12188952"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331720"/>
            <a:ext cx="1097280" cy="1097280"/>
          </a:xfrm>
          <a:prstGeom prst="rect">
            <a:avLst/>
          </a:prstGeom>
          <a:noFill/>
        </p:spPr>
        <p:txBody>
          <a:bodyPr wrap="square">
            <a:spAutoFit/>
          </a:bodyPr>
          <a:lstStyle/>
          <a:p>
            <a:pPr algn="ctr"/>
            <a:r>
              <a:rPr b="0" i="0" sz="5200">
                <a:solidFill>
                  <a:srgbClr val="1A2332"/>
                </a:solidFill>
              </a:rPr>
              <a:t>🔴</a:t>
            </a:r>
          </a:p>
        </p:txBody>
      </p:sp>
      <p:sp>
        <p:nvSpPr>
          <p:cNvPr id="5" name="TextBox 4"/>
          <p:cNvSpPr txBox="1"/>
          <p:nvPr/>
        </p:nvSpPr>
        <p:spPr>
          <a:xfrm>
            <a:off x="1463040" y="2468880"/>
            <a:ext cx="10177272" cy="914400"/>
          </a:xfrm>
          <a:prstGeom prst="rect">
            <a:avLst/>
          </a:prstGeom>
          <a:noFill/>
        </p:spPr>
        <p:txBody>
          <a:bodyPr wrap="square">
            <a:spAutoFit/>
          </a:bodyPr>
          <a:lstStyle/>
          <a:p>
            <a:pPr algn="l"/>
            <a:r>
              <a:rPr b="1" i="0" sz="2800">
                <a:solidFill>
                  <a:srgbClr val="B91C1C"/>
                </a:solidFill>
              </a:rPr>
              <a:t>Section 5 — Objections Conflictuelles</a:t>
            </a:r>
          </a:p>
        </p:txBody>
      </p:sp>
      <p:sp>
        <p:nvSpPr>
          <p:cNvPr id="6" name="TextBox 5"/>
          <p:cNvSpPr txBox="1"/>
          <p:nvPr/>
        </p:nvSpPr>
        <p:spPr>
          <a:xfrm>
            <a:off x="1463040" y="3383280"/>
            <a:ext cx="10177272" cy="640080"/>
          </a:xfrm>
          <a:prstGeom prst="rect">
            <a:avLst/>
          </a:prstGeom>
          <a:noFill/>
        </p:spPr>
        <p:txBody>
          <a:bodyPr wrap="square">
            <a:spAutoFit/>
          </a:bodyPr>
          <a:lstStyle/>
          <a:p>
            <a:pPr algn="l"/>
            <a:r>
              <a:rPr b="0" i="0" sz="1400">
                <a:solidFill>
                  <a:srgbClr val="6B7280"/>
                </a:solidFill>
              </a:rPr>
              <a:t>Situations délicates · Rester calme, souriant et professionnel</a:t>
            </a:r>
          </a:p>
        </p:txBody>
      </p:sp>
      <p:sp>
        <p:nvSpPr>
          <p:cNvPr id="7" name="Rectangle 6"/>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14a</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OBJECTIONS CONFLICTUELLES — RESTER CALME ET PROFESSIONNEL</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7F1D1D"/>
                </a:solidFill>
              </a:rPr>
              <a:t>❝  D'où m'appelez-vous ?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De Paris 😊
Si on vous demande où exactement :
→ Dans le 6ème arrondissement — siège UNICEF France,
   3 rue Duguay-Trouin.
Si la personne connaît le secteur :
→ « Ah, moi je viens tout juste d'arriver à Paris, je ne connais
   pas du tout 😊 mais j'ai vraiment hâte de découvrir cette ville ! »</a:t>
            </a:r>
          </a:p>
        </p:txBody>
      </p:sp>
      <p:sp>
        <p:nvSpPr>
          <p:cNvPr id="11" name="Rectangle 10"/>
          <p:cNvSpPr/>
          <p:nvPr/>
        </p:nvSpPr>
        <p:spPr>
          <a:xfrm>
            <a:off x="201168" y="5276088"/>
            <a:ext cx="11786616" cy="135331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Enchaîner sur l'argumentaire sans s'empêtrer dans l'objection 👌</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14b</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OBJECTIONS CONFLICTUELLES — RESTER CALME ET PROFESSIONNEL</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7F1D1D"/>
                </a:solidFill>
              </a:rPr>
              <a:t>❝  D'où avez-vous eu mon numéro ? / Source des coordonnées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Je comprends votre question — elle est tout à fait légitime.
Nous veillons à ce que nos prestataires respectent le RGPD.
• Rakuten, M6 Boutique, Comparez-Economisez… →
  « Vos coordonnées nous ont été transmises par notre partenaire X. »
• Annuaire → « Vos coordonnées sont disponibles sur l'annuaire. »
• Joint Fidelis 2020 (cases vides) → « Je n'ai pas cette information
  en tant que chargé de communication. Pour l'origine précise :
  dpo@groupe-fidelis.fr »</a:t>
            </a:r>
          </a:p>
        </p:txBody>
      </p:sp>
      <p:sp>
        <p:nvSpPr>
          <p:cNvPr id="11" name="Rectangle 10"/>
          <p:cNvSpPr/>
          <p:nvPr/>
        </p:nvSpPr>
        <p:spPr>
          <a:xfrm>
            <a:off x="201168" y="5276088"/>
            <a:ext cx="11786616" cy="135331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Si blocage → Classer en demande SRD
     📞 09 69 36 84 68  |  🌐 www.unicef.fr</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14c</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OBJECTIONS CONFLICTUELLES — RESTER CALME ET PROFESSIONNEL</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7F1D1D"/>
                </a:solidFill>
              </a:rPr>
              <a:t>❝  Vous n'avez pas le droit de m'appeler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Je comprends votre réaction. Sachez que vous pouvez faire une demande
auprès de votre opérateur pour ne plus apparaître dans l'annuaire.</a:t>
            </a:r>
          </a:p>
        </p:txBody>
      </p:sp>
      <p:sp>
        <p:nvSpPr>
          <p:cNvPr id="11" name="Rectangle 10"/>
          <p:cNvSpPr/>
          <p:nvPr/>
        </p:nvSpPr>
        <p:spPr>
          <a:xfrm>
            <a:off x="201168" y="5276088"/>
            <a:ext cx="11786616" cy="135331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Si rassurée → Enchaîner avec le script
❌  Si reste fermée → Prendre congé + confirmer l'exclusion des appels
     (fiche retirée des appels UNICEF CQT PA)</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14d</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OBJECTIONS CONFLICTUELLES — RESTER CALME ET PROFESSIONNEL</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7F1D1D"/>
                </a:solidFill>
              </a:rPr>
              <a:t>❝  Je suis sur liste Bloctel / Opposé tél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Très bien M. / Mme — sachez que les appels émanant d'associations
à but non lucratif (comme l'UNICEF) sont autorisés par Bloctel,
tout comme ceux d'un service public ou d'instituts d'études.
Ces informations sont disponibles sur :
https://www.conso.bloctel.fr/</a:t>
            </a:r>
          </a:p>
        </p:txBody>
      </p:sp>
      <p:sp>
        <p:nvSpPr>
          <p:cNvPr id="11" name="Rectangle 10"/>
          <p:cNvSpPr/>
          <p:nvPr/>
        </p:nvSpPr>
        <p:spPr>
          <a:xfrm>
            <a:off x="201168" y="5276088"/>
            <a:ext cx="11786616" cy="135331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Extrait Bloctel (si insistant) :
     « Pour des motifs ne concernant pas la vente de biens ou services :
      appels d'un service public / instituts de sondage /
      associations à but non lucratif. »</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14e</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OBJECTIONS CONFLICTUELLES — RESTER CALME ET PROFESSIONNEL</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7F1D1D"/>
                </a:solidFill>
              </a:rPr>
              <a:t>❝  Je suis sur liste rouge  ❞</a:t>
            </a:r>
          </a:p>
        </p:txBody>
      </p:sp>
      <p:sp>
        <p:nvSpPr>
          <p:cNvPr id="8" name="Rectangle 7"/>
          <p:cNvSpPr/>
          <p:nvPr/>
        </p:nvSpPr>
        <p:spPr>
          <a:xfrm>
            <a:off x="201168" y="1554480"/>
            <a:ext cx="11786616" cy="507492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4480560"/>
          </a:xfrm>
          <a:prstGeom prst="rect">
            <a:avLst/>
          </a:prstGeom>
          <a:noFill/>
        </p:spPr>
        <p:txBody>
          <a:bodyPr wrap="square">
            <a:spAutoFit/>
          </a:bodyPr>
          <a:lstStyle/>
          <a:p>
            <a:pPr algn="l"/>
            <a:r>
              <a:rPr b="0" i="0" sz="1300">
                <a:solidFill>
                  <a:srgbClr val="1A2332"/>
                </a:solidFill>
              </a:rPr>
              <a:t>Ah, je ne le savais pas — il se pourrait que nos fichiers ne soient
pas mis à jour.
Je vais remonter l'information afin que vous ne soyez plus
recontacté(e) de notre part.
Bonne journée / soirée à vous 🙂</a:t>
            </a:r>
          </a:p>
        </p:txBody>
      </p:sp>
      <p:sp>
        <p:nvSpPr>
          <p:cNvPr id="11" name="Rectangle 10"/>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14f</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OBJECTIONS CONFLICTUELLES — RESTER CALME ET PROFESSIONNEL</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7F1D1D"/>
                </a:solidFill>
              </a:rPr>
              <a:t>❝  Vous avez un accent ! (parfois suivi de : « Vous appelez d'où ? »)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En effet M. / Mme ☺ vous l'avez bien détecté…
Je suis d'ascendance (pays), vous connaissez (le pays) ? ☺</a:t>
            </a:r>
          </a:p>
        </p:txBody>
      </p:sp>
      <p:sp>
        <p:nvSpPr>
          <p:cNvPr id="11" name="Rectangle 10"/>
          <p:cNvSpPr/>
          <p:nvPr/>
        </p:nvSpPr>
        <p:spPr>
          <a:xfrm>
            <a:off x="201168" y="5276088"/>
            <a:ext cx="11786616" cy="135331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Enchaîner sur le script sans s'attarder</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14g</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OBJECTIONS CONFLICTUELLES — RESTER CALME ET PROFESSIONNEL</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7F1D1D"/>
                </a:solidFill>
              </a:rPr>
              <a:t>❝  Je connais personnellement un membre de l'association  ❞</a:t>
            </a:r>
          </a:p>
        </p:txBody>
      </p:sp>
      <p:sp>
        <p:nvSpPr>
          <p:cNvPr id="8" name="Rectangle 7"/>
          <p:cNvSpPr/>
          <p:nvPr/>
        </p:nvSpPr>
        <p:spPr>
          <a:xfrm>
            <a:off x="201168" y="1554480"/>
            <a:ext cx="11786616" cy="507492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4480560"/>
          </a:xfrm>
          <a:prstGeom prst="rect">
            <a:avLst/>
          </a:prstGeom>
          <a:noFill/>
        </p:spPr>
        <p:txBody>
          <a:bodyPr wrap="square">
            <a:spAutoFit/>
          </a:bodyPr>
          <a:lstStyle/>
          <a:p>
            <a:pPr algn="l"/>
            <a:r>
              <a:rPr b="0" i="0" sz="1300">
                <a:solidFill>
                  <a:srgbClr val="1A2332"/>
                </a:solidFill>
              </a:rPr>
              <a:t>Dans ce cas vous devez certainement connaître les actions menées
par l'UNICEF — je ne vous apprendrai rien de nouveau !
Selon l'attitude :
→ Possibilité de poursuivre :
  « Nous menons une campagne afin d'informer et rassembler de nouvelles
   personnes autour de notre cause. »
→ Ou prendre congé :
  « Je vous remercie de votre accueil et vous souhaite une bonne journée. »</a:t>
            </a:r>
          </a:p>
        </p:txBody>
      </p:sp>
      <p:sp>
        <p:nvSpPr>
          <p:cNvPr id="11" name="Rectangle 10"/>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14h</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OBJECTIONS CONFLICTUELLES — RESTER CALME ET PROFESSIONNEL</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7F1D1D"/>
                </a:solidFill>
              </a:rPr>
              <a:t>❝  Qui êtes-vous exactement ?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Je suis mandaté par l'UNICEF M. / Mme, et je vous contacte afin de
vous présenter les actions menées sur le terrain par notre association
depuis sa création en 1946.
Si insistant(e) :
Soyez rassuré(e), je vous appelle bien de la part de l'UNICEF.
Vous pouvez le vérifier sur notre site : www.unicef.fr</a:t>
            </a:r>
          </a:p>
        </p:txBody>
      </p:sp>
      <p:sp>
        <p:nvSpPr>
          <p:cNvPr id="11" name="Rectangle 10"/>
          <p:cNvSpPr/>
          <p:nvPr/>
        </p:nvSpPr>
        <p:spPr>
          <a:xfrm>
            <a:off x="201168" y="5276088"/>
            <a:ext cx="11786616" cy="135331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Procédure délicate — faire bloc avec le SOURIRE sans perdre patience.
     Si la personne veut faire le don en ligne → l'aider sur www.unicef.fr</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1417320"/>
          </a:xfrm>
          <a:prstGeom prst="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320040"/>
            <a:ext cx="777240" cy="777240"/>
          </a:xfrm>
          <a:prstGeom prst="roundRect">
            <a:avLst>
              <a:gd name="adj" fmla="val 50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500">
                <a:solidFill>
                  <a:srgbClr val="FFFFFF"/>
                </a:solidFill>
              </a:rPr>
              <a:t>14i</a:t>
            </a:r>
          </a:p>
        </p:txBody>
      </p:sp>
      <p:sp>
        <p:nvSpPr>
          <p:cNvPr id="6" name="TextBox 5"/>
          <p:cNvSpPr txBox="1"/>
          <p:nvPr/>
        </p:nvSpPr>
        <p:spPr>
          <a:xfrm>
            <a:off x="1280160" y="256032"/>
            <a:ext cx="10515600" cy="256032"/>
          </a:xfrm>
          <a:prstGeom prst="rect">
            <a:avLst/>
          </a:prstGeom>
          <a:noFill/>
        </p:spPr>
        <p:txBody>
          <a:bodyPr wrap="square">
            <a:spAutoFit/>
          </a:bodyPr>
          <a:lstStyle/>
          <a:p>
            <a:pPr algn="l"/>
            <a:r>
              <a:rPr b="1" i="0" sz="900">
                <a:solidFill>
                  <a:srgbClr val="FFFFFF"/>
                </a:solidFill>
              </a:rPr>
              <a:t>OBJECTIONS CONFLICTUELLES — RESTER CALME ET PROFESSIONNEL</a:t>
            </a:r>
          </a:p>
        </p:txBody>
      </p:sp>
      <p:sp>
        <p:nvSpPr>
          <p:cNvPr id="7" name="TextBox 6"/>
          <p:cNvSpPr txBox="1"/>
          <p:nvPr/>
        </p:nvSpPr>
        <p:spPr>
          <a:xfrm>
            <a:off x="1234440" y="475488"/>
            <a:ext cx="10515600" cy="777240"/>
          </a:xfrm>
          <a:prstGeom prst="rect">
            <a:avLst/>
          </a:prstGeom>
          <a:noFill/>
        </p:spPr>
        <p:txBody>
          <a:bodyPr wrap="square">
            <a:spAutoFit/>
          </a:bodyPr>
          <a:lstStyle/>
          <a:p>
            <a:pPr algn="l"/>
            <a:r>
              <a:rPr b="1" i="0" sz="1800">
                <a:solidFill>
                  <a:srgbClr val="7F1D1D"/>
                </a:solidFill>
              </a:rPr>
              <a:t>❝  Si la personne conteste la source ou veut plus de détails  ❞</a:t>
            </a:r>
          </a:p>
        </p:txBody>
      </p:sp>
      <p:sp>
        <p:nvSpPr>
          <p:cNvPr id="8" name="Rectangle 7"/>
          <p:cNvSpPr/>
          <p:nvPr/>
        </p:nvSpPr>
        <p:spPr>
          <a:xfrm>
            <a:off x="201168" y="1554480"/>
            <a:ext cx="11786616" cy="3611880"/>
          </a:xfrm>
          <a:prstGeom prst="rect">
            <a:avLst/>
          </a:prstGeom>
          <a:solidFill>
            <a:srgbClr val="FFFFFF"/>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719072"/>
            <a:ext cx="3657600" cy="256032"/>
          </a:xfrm>
          <a:prstGeom prst="rect">
            <a:avLst/>
          </a:prstGeom>
          <a:noFill/>
        </p:spPr>
        <p:txBody>
          <a:bodyPr wrap="square">
            <a:spAutoFit/>
          </a:bodyPr>
          <a:lstStyle/>
          <a:p>
            <a:pPr algn="l"/>
            <a:r>
              <a:rPr b="1" i="0" sz="900">
                <a:solidFill>
                  <a:srgbClr val="6B7280"/>
                </a:solidFill>
              </a:rPr>
              <a:t>RÉPONSE RECOMMANDÉE</a:t>
            </a:r>
          </a:p>
        </p:txBody>
      </p:sp>
      <p:sp>
        <p:nvSpPr>
          <p:cNvPr id="10" name="TextBox 9"/>
          <p:cNvSpPr txBox="1"/>
          <p:nvPr/>
        </p:nvSpPr>
        <p:spPr>
          <a:xfrm>
            <a:off x="384048" y="2011680"/>
            <a:ext cx="11384280" cy="3017520"/>
          </a:xfrm>
          <a:prstGeom prst="rect">
            <a:avLst/>
          </a:prstGeom>
          <a:noFill/>
        </p:spPr>
        <p:txBody>
          <a:bodyPr wrap="square">
            <a:spAutoFit/>
          </a:bodyPr>
          <a:lstStyle/>
          <a:p>
            <a:pPr algn="l"/>
            <a:r>
              <a:rPr b="0" i="0" sz="1300">
                <a:solidFill>
                  <a:srgbClr val="1A2332"/>
                </a:solidFill>
              </a:rPr>
              <a:t>Vous avez demandé en toute légitimité la source de vos coordonnées
et je vous ai répondu, comme l'exige le RGPD.
J'aurais aimé pouvoir vous renseigner davantage, mais à mon niveau
je n'ai pas plus de détails que ce que je viens de vous donner.</a:t>
            </a:r>
          </a:p>
        </p:txBody>
      </p:sp>
      <p:sp>
        <p:nvSpPr>
          <p:cNvPr id="11" name="Rectangle 10"/>
          <p:cNvSpPr/>
          <p:nvPr/>
        </p:nvSpPr>
        <p:spPr>
          <a:xfrm>
            <a:off x="201168" y="5276088"/>
            <a:ext cx="11786616" cy="135331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5330952"/>
            <a:ext cx="11676888" cy="1243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367528"/>
            <a:ext cx="11384280" cy="1207008"/>
          </a:xfrm>
          <a:prstGeom prst="rect">
            <a:avLst/>
          </a:prstGeom>
          <a:noFill/>
        </p:spPr>
        <p:txBody>
          <a:bodyPr wrap="square">
            <a:spAutoFit/>
          </a:bodyPr>
          <a:lstStyle/>
          <a:p>
            <a:pPr algn="l"/>
            <a:r>
              <a:rPr b="0" i="0" sz="1200">
                <a:solidFill>
                  <a:srgbClr val="1A2332"/>
                </a:solidFill>
              </a:rPr>
              <a:t>✅  Si rassurée → Enchaîner avec le script
❌  Si blocage → SRD : 0969 368 468 | www.unicef.fr
😠  Si agacée → Prendre congé + exclure des appels (fiche CQT PA)
     « Désolé de ne pas avoir pu vous donner plus d'informations,
      en tant qu'agent j'ai accès uniquement aux infos de base.
      Je vous remercie de votre compréhension. »</a:t>
            </a:r>
          </a:p>
        </p:txBody>
      </p:sp>
      <p:sp>
        <p:nvSpPr>
          <p:cNvPr id="14" name="Rectangle 13"/>
          <p:cNvSpPr/>
          <p:nvPr/>
        </p:nvSpPr>
        <p:spPr>
          <a:xfrm>
            <a:off x="0" y="6583680"/>
            <a:ext cx="12188952" cy="27432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601968"/>
            <a:ext cx="11640312" cy="256032"/>
          </a:xfrm>
          <a:prstGeom prst="rect">
            <a:avLst/>
          </a:prstGeom>
          <a:noFill/>
        </p:spPr>
        <p:txBody>
          <a:bodyPr wrap="square">
            <a:spAutoFit/>
          </a:bodyPr>
          <a:lstStyle/>
          <a:p>
            <a:pPr algn="l"/>
            <a:r>
              <a:rPr b="0" i="0" sz="800">
                <a:solidFill>
                  <a:srgbClr val="FFFFFF"/>
                </a:solidFill>
              </a:rPr>
              <a:t>UNICEF France — Module Traitement des Objections PPA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3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80160"/>
          </a:xfrm>
          <a:prstGeom prst="rect">
            <a:avLst/>
          </a:prstGeom>
          <a:solidFill>
            <a:srgbClr val="009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
            <a:ext cx="10972800" cy="548640"/>
          </a:xfrm>
          <a:prstGeom prst="rect">
            <a:avLst/>
          </a:prstGeom>
          <a:noFill/>
        </p:spPr>
        <p:txBody>
          <a:bodyPr wrap="square">
            <a:spAutoFit/>
          </a:bodyPr>
          <a:lstStyle/>
          <a:p>
            <a:pPr algn="l"/>
            <a:r>
              <a:rPr b="1" i="0" sz="1800">
                <a:solidFill>
                  <a:srgbClr val="FFFFFF"/>
                </a:solidFill>
              </a:rPr>
              <a:t>CONTACTS UTILES — SERVICE RELATIONS DONATEURS</a:t>
            </a:r>
          </a:p>
        </p:txBody>
      </p:sp>
      <p:sp>
        <p:nvSpPr>
          <p:cNvPr id="5" name="Rectangle 4"/>
          <p:cNvSpPr/>
          <p:nvPr/>
        </p:nvSpPr>
        <p:spPr>
          <a:xfrm>
            <a:off x="365760" y="1508760"/>
            <a:ext cx="5486400" cy="1188720"/>
          </a:xfrm>
          <a:prstGeom prst="rect">
            <a:avLst/>
          </a:prstGeom>
          <a:solidFill>
            <a:srgbClr val="005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18488"/>
            <a:ext cx="640080" cy="640080"/>
          </a:xfrm>
          <a:prstGeom prst="rect">
            <a:avLst/>
          </a:prstGeom>
          <a:noFill/>
        </p:spPr>
        <p:txBody>
          <a:bodyPr wrap="square">
            <a:spAutoFit/>
          </a:bodyPr>
          <a:lstStyle/>
          <a:p>
            <a:pPr algn="l"/>
            <a:r>
              <a:rPr b="0" i="0" sz="2600">
                <a:solidFill>
                  <a:srgbClr val="FFFFFF"/>
                </a:solidFill>
              </a:rPr>
              <a:t>📞</a:t>
            </a:r>
          </a:p>
        </p:txBody>
      </p:sp>
      <p:sp>
        <p:nvSpPr>
          <p:cNvPr id="7" name="TextBox 6"/>
          <p:cNvSpPr txBox="1"/>
          <p:nvPr/>
        </p:nvSpPr>
        <p:spPr>
          <a:xfrm>
            <a:off x="1234440" y="1600200"/>
            <a:ext cx="4389120" cy="411480"/>
          </a:xfrm>
          <a:prstGeom prst="rect">
            <a:avLst/>
          </a:prstGeom>
          <a:noFill/>
        </p:spPr>
        <p:txBody>
          <a:bodyPr wrap="square">
            <a:spAutoFit/>
          </a:bodyPr>
          <a:lstStyle/>
          <a:p>
            <a:pPr algn="l"/>
            <a:r>
              <a:rPr b="1" i="0" sz="1200">
                <a:solidFill>
                  <a:srgbClr val="B0D8F0"/>
                </a:solidFill>
              </a:rPr>
              <a:t>Téléphone SRD</a:t>
            </a:r>
          </a:p>
        </p:txBody>
      </p:sp>
      <p:sp>
        <p:nvSpPr>
          <p:cNvPr id="8" name="TextBox 7"/>
          <p:cNvSpPr txBox="1"/>
          <p:nvPr/>
        </p:nvSpPr>
        <p:spPr>
          <a:xfrm>
            <a:off x="1234440" y="2011680"/>
            <a:ext cx="4389120" cy="502920"/>
          </a:xfrm>
          <a:prstGeom prst="rect">
            <a:avLst/>
          </a:prstGeom>
          <a:noFill/>
        </p:spPr>
        <p:txBody>
          <a:bodyPr wrap="square">
            <a:spAutoFit/>
          </a:bodyPr>
          <a:lstStyle/>
          <a:p>
            <a:pPr algn="l"/>
            <a:r>
              <a:rPr b="1" i="0" sz="1400">
                <a:solidFill>
                  <a:srgbClr val="FFFFFF"/>
                </a:solidFill>
              </a:rPr>
              <a:t>09 69 36 84 68</a:t>
            </a:r>
          </a:p>
        </p:txBody>
      </p:sp>
      <p:sp>
        <p:nvSpPr>
          <p:cNvPr id="9" name="Rectangle 8"/>
          <p:cNvSpPr/>
          <p:nvPr/>
        </p:nvSpPr>
        <p:spPr>
          <a:xfrm>
            <a:off x="6217920" y="1508760"/>
            <a:ext cx="5486400" cy="1188720"/>
          </a:xfrm>
          <a:prstGeom prst="rect">
            <a:avLst/>
          </a:prstGeom>
          <a:solidFill>
            <a:srgbClr val="005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18488"/>
            <a:ext cx="640080" cy="640080"/>
          </a:xfrm>
          <a:prstGeom prst="rect">
            <a:avLst/>
          </a:prstGeom>
          <a:noFill/>
        </p:spPr>
        <p:txBody>
          <a:bodyPr wrap="square">
            <a:spAutoFit/>
          </a:bodyPr>
          <a:lstStyle/>
          <a:p>
            <a:pPr algn="l"/>
            <a:r>
              <a:rPr b="0" i="0" sz="2600">
                <a:solidFill>
                  <a:srgbClr val="FFFFFF"/>
                </a:solidFill>
              </a:rPr>
              <a:t>📧</a:t>
            </a:r>
          </a:p>
        </p:txBody>
      </p:sp>
      <p:sp>
        <p:nvSpPr>
          <p:cNvPr id="11" name="TextBox 10"/>
          <p:cNvSpPr txBox="1"/>
          <p:nvPr/>
        </p:nvSpPr>
        <p:spPr>
          <a:xfrm>
            <a:off x="7086600" y="1600200"/>
            <a:ext cx="4389120" cy="411480"/>
          </a:xfrm>
          <a:prstGeom prst="rect">
            <a:avLst/>
          </a:prstGeom>
          <a:noFill/>
        </p:spPr>
        <p:txBody>
          <a:bodyPr wrap="square">
            <a:spAutoFit/>
          </a:bodyPr>
          <a:lstStyle/>
          <a:p>
            <a:pPr algn="l"/>
            <a:r>
              <a:rPr b="1" i="0" sz="1200">
                <a:solidFill>
                  <a:srgbClr val="B0D8F0"/>
                </a:solidFill>
              </a:rPr>
              <a:t>E-mail SRD</a:t>
            </a:r>
          </a:p>
        </p:txBody>
      </p:sp>
      <p:sp>
        <p:nvSpPr>
          <p:cNvPr id="12" name="TextBox 11"/>
          <p:cNvSpPr txBox="1"/>
          <p:nvPr/>
        </p:nvSpPr>
        <p:spPr>
          <a:xfrm>
            <a:off x="7086600" y="2011680"/>
            <a:ext cx="4389120" cy="502920"/>
          </a:xfrm>
          <a:prstGeom prst="rect">
            <a:avLst/>
          </a:prstGeom>
          <a:noFill/>
        </p:spPr>
        <p:txBody>
          <a:bodyPr wrap="square">
            <a:spAutoFit/>
          </a:bodyPr>
          <a:lstStyle/>
          <a:p>
            <a:pPr algn="l"/>
            <a:r>
              <a:rPr b="1" i="0" sz="1400">
                <a:solidFill>
                  <a:srgbClr val="FFFFFF"/>
                </a:solidFill>
              </a:rPr>
              <a:t>ServiceRelationDonateurs@unicef.fr</a:t>
            </a:r>
          </a:p>
        </p:txBody>
      </p:sp>
      <p:sp>
        <p:nvSpPr>
          <p:cNvPr id="13" name="Rectangle 12"/>
          <p:cNvSpPr/>
          <p:nvPr/>
        </p:nvSpPr>
        <p:spPr>
          <a:xfrm>
            <a:off x="365760" y="2926080"/>
            <a:ext cx="5486400" cy="1188720"/>
          </a:xfrm>
          <a:prstGeom prst="rect">
            <a:avLst/>
          </a:prstGeom>
          <a:solidFill>
            <a:srgbClr val="005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35808"/>
            <a:ext cx="640080" cy="640080"/>
          </a:xfrm>
          <a:prstGeom prst="rect">
            <a:avLst/>
          </a:prstGeom>
          <a:noFill/>
        </p:spPr>
        <p:txBody>
          <a:bodyPr wrap="square">
            <a:spAutoFit/>
          </a:bodyPr>
          <a:lstStyle/>
          <a:p>
            <a:pPr algn="l"/>
            <a:r>
              <a:rPr b="0" i="0" sz="2600">
                <a:solidFill>
                  <a:srgbClr val="FFFFFF"/>
                </a:solidFill>
              </a:rPr>
              <a:t>🌐</a:t>
            </a:r>
          </a:p>
        </p:txBody>
      </p:sp>
      <p:sp>
        <p:nvSpPr>
          <p:cNvPr id="15" name="TextBox 14"/>
          <p:cNvSpPr txBox="1"/>
          <p:nvPr/>
        </p:nvSpPr>
        <p:spPr>
          <a:xfrm>
            <a:off x="1234440" y="3017520"/>
            <a:ext cx="4389120" cy="411480"/>
          </a:xfrm>
          <a:prstGeom prst="rect">
            <a:avLst/>
          </a:prstGeom>
          <a:noFill/>
        </p:spPr>
        <p:txBody>
          <a:bodyPr wrap="square">
            <a:spAutoFit/>
          </a:bodyPr>
          <a:lstStyle/>
          <a:p>
            <a:pPr algn="l"/>
            <a:r>
              <a:rPr b="1" i="0" sz="1200">
                <a:solidFill>
                  <a:srgbClr val="B0D8F0"/>
                </a:solidFill>
              </a:rPr>
              <a:t>Site officiel</a:t>
            </a:r>
          </a:p>
        </p:txBody>
      </p:sp>
      <p:sp>
        <p:nvSpPr>
          <p:cNvPr id="16" name="TextBox 15"/>
          <p:cNvSpPr txBox="1"/>
          <p:nvPr/>
        </p:nvSpPr>
        <p:spPr>
          <a:xfrm>
            <a:off x="1234440" y="3429000"/>
            <a:ext cx="4389120" cy="502920"/>
          </a:xfrm>
          <a:prstGeom prst="rect">
            <a:avLst/>
          </a:prstGeom>
          <a:noFill/>
        </p:spPr>
        <p:txBody>
          <a:bodyPr wrap="square">
            <a:spAutoFit/>
          </a:bodyPr>
          <a:lstStyle/>
          <a:p>
            <a:pPr algn="l"/>
            <a:r>
              <a:rPr b="1" i="0" sz="1400">
                <a:solidFill>
                  <a:srgbClr val="FFFFFF"/>
                </a:solidFill>
              </a:rPr>
              <a:t>www.unicef.fr</a:t>
            </a:r>
          </a:p>
        </p:txBody>
      </p:sp>
      <p:sp>
        <p:nvSpPr>
          <p:cNvPr id="17" name="Rectangle 16"/>
          <p:cNvSpPr/>
          <p:nvPr/>
        </p:nvSpPr>
        <p:spPr>
          <a:xfrm>
            <a:off x="6217920" y="2926080"/>
            <a:ext cx="5486400" cy="1188720"/>
          </a:xfrm>
          <a:prstGeom prst="rect">
            <a:avLst/>
          </a:prstGeom>
          <a:solidFill>
            <a:srgbClr val="005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035808"/>
            <a:ext cx="640080" cy="640080"/>
          </a:xfrm>
          <a:prstGeom prst="rect">
            <a:avLst/>
          </a:prstGeom>
          <a:noFill/>
        </p:spPr>
        <p:txBody>
          <a:bodyPr wrap="square">
            <a:spAutoFit/>
          </a:bodyPr>
          <a:lstStyle/>
          <a:p>
            <a:pPr algn="l"/>
            <a:r>
              <a:rPr b="0" i="0" sz="2600">
                <a:solidFill>
                  <a:srgbClr val="FFFFFF"/>
                </a:solidFill>
              </a:rPr>
              <a:t>📧</a:t>
            </a:r>
          </a:p>
        </p:txBody>
      </p:sp>
      <p:sp>
        <p:nvSpPr>
          <p:cNvPr id="19" name="TextBox 18"/>
          <p:cNvSpPr txBox="1"/>
          <p:nvPr/>
        </p:nvSpPr>
        <p:spPr>
          <a:xfrm>
            <a:off x="7086600" y="3017520"/>
            <a:ext cx="4389120" cy="411480"/>
          </a:xfrm>
          <a:prstGeom prst="rect">
            <a:avLst/>
          </a:prstGeom>
          <a:noFill/>
        </p:spPr>
        <p:txBody>
          <a:bodyPr wrap="square">
            <a:spAutoFit/>
          </a:bodyPr>
          <a:lstStyle/>
          <a:p>
            <a:pPr algn="l"/>
            <a:r>
              <a:rPr b="1" i="0" sz="1200">
                <a:solidFill>
                  <a:srgbClr val="B0D8F0"/>
                </a:solidFill>
              </a:rPr>
              <a:t>RGPD / Fidelis</a:t>
            </a:r>
          </a:p>
        </p:txBody>
      </p:sp>
      <p:sp>
        <p:nvSpPr>
          <p:cNvPr id="20" name="TextBox 19"/>
          <p:cNvSpPr txBox="1"/>
          <p:nvPr/>
        </p:nvSpPr>
        <p:spPr>
          <a:xfrm>
            <a:off x="7086600" y="3429000"/>
            <a:ext cx="4389120" cy="502920"/>
          </a:xfrm>
          <a:prstGeom prst="rect">
            <a:avLst/>
          </a:prstGeom>
          <a:noFill/>
        </p:spPr>
        <p:txBody>
          <a:bodyPr wrap="square">
            <a:spAutoFit/>
          </a:bodyPr>
          <a:lstStyle/>
          <a:p>
            <a:pPr algn="l"/>
            <a:r>
              <a:rPr b="1" i="0" sz="1400">
                <a:solidFill>
                  <a:srgbClr val="FFFFFF"/>
                </a:solidFill>
              </a:rPr>
              <a:t>dpo@groupe-fidelis.fr</a:t>
            </a:r>
          </a:p>
        </p:txBody>
      </p:sp>
      <p:sp>
        <p:nvSpPr>
          <p:cNvPr id="21" name="Rectangle 20"/>
          <p:cNvSpPr/>
          <p:nvPr/>
        </p:nvSpPr>
        <p:spPr>
          <a:xfrm>
            <a:off x="365760" y="4572000"/>
            <a:ext cx="11457432" cy="1645920"/>
          </a:xfrm>
          <a:prstGeom prst="rect">
            <a:avLst/>
          </a:prstGeom>
          <a:solidFill>
            <a:srgbClr val="00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45152"/>
            <a:ext cx="11091672" cy="1463040"/>
          </a:xfrm>
          <a:prstGeom prst="rect">
            <a:avLst/>
          </a:prstGeom>
          <a:noFill/>
        </p:spPr>
        <p:txBody>
          <a:bodyPr wrap="square">
            <a:spAutoFit/>
          </a:bodyPr>
          <a:lstStyle/>
          <a:p>
            <a:pPr algn="l"/>
            <a:r>
              <a:rPr b="0" i="0" sz="1200">
                <a:solidFill>
                  <a:srgbClr val="B0D8F0"/>
                </a:solidFill>
              </a:rPr>
              <a:t>💡  RAPPELS CLÉS  —  Toujours enchaîner sur le script après l'objection  |  Sourire dans la voix  |  Prendre congé avec bienveillance si blocage persistant  |  Fiche retirée des appels CQT PA en cas d'opposition explicite</a:t>
            </a:r>
          </a:p>
        </p:txBody>
      </p:sp>
      <p:sp>
        <p:nvSpPr>
          <p:cNvPr id="23" name="Rectangle 22"/>
          <p:cNvSpPr/>
          <p:nvPr/>
        </p:nvSpPr>
        <p:spPr>
          <a:xfrm>
            <a:off x="0" y="6583680"/>
            <a:ext cx="12188952" cy="274320"/>
          </a:xfrm>
          <a:prstGeom prst="rect">
            <a:avLst/>
          </a:prstGeom>
          <a:solidFill>
            <a:srgbClr val="001A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6601968"/>
            <a:ext cx="11640312" cy="256032"/>
          </a:xfrm>
          <a:prstGeom prst="rect">
            <a:avLst/>
          </a:prstGeom>
          <a:noFill/>
        </p:spPr>
        <p:txBody>
          <a:bodyPr wrap="square">
            <a:spAutoFit/>
          </a:bodyPr>
          <a:lstStyle/>
          <a:p>
            <a:pPr algn="ctr"/>
            <a:r>
              <a:rPr b="0" i="0" sz="800">
                <a:solidFill>
                  <a:srgbClr val="90B8D0"/>
                </a:solidFill>
              </a:rPr>
              <a:t>Usage interne — Agents téléphoniques UNICEF PPA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